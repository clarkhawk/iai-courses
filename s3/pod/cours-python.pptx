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39.xml" ContentType="application/vnd.openxmlformats-officedocument.presentationml.slide+xml"/>
  <Override PartName="/ppt/slideLayouts/slideLayout2.xml" ContentType="application/vnd.openxmlformats-officedocument.presentationml.slideLayout+xml"/>
  <Override PartName="/ppt/slides/slide38.xml" ContentType="application/vnd.openxmlformats-officedocument.presentationml.slid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s/slide33.xml" ContentType="application/vnd.openxmlformats-officedocument.presentationml.slide+xml"/>
  <Override PartName="/ppt/slideLayouts/slideLayout8.xml" ContentType="application/vnd.openxmlformats-officedocument.presentationml.slideLayout+xml"/>
  <Override PartName="/ppt/slides/slide32.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4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notesMaster" Target="notesMasters/notesMaster1.xml"/><Relationship Id="rId48" Type="http://schemas.openxmlformats.org/officeDocument/2006/relationships/presProps" Target="presProps.xml" /><Relationship Id="rId49" Type="http://schemas.openxmlformats.org/officeDocument/2006/relationships/tableStyles" Target="tableStyles.xml" /><Relationship Id="rId50"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014231277"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lang="cs-CZ"/>
          </a:p>
        </p:txBody>
      </p:sp>
      <p:sp>
        <p:nvSpPr>
          <p:cNvPr id="915664466"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fld id="{B7268E1E-0E44-426D-905E-8AD9B19D2182}" type="datetimeFigureOut">
              <a:rPr lang="cs-CZ"/>
              <a:t>1.7.2013</a:t>
            </a:fld>
            <a:endParaRPr lang="cs-CZ"/>
          </a:p>
        </p:txBody>
      </p:sp>
      <p:sp>
        <p:nvSpPr>
          <p:cNvPr id="2072187377"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lang="cs-CZ"/>
          </a:p>
        </p:txBody>
      </p:sp>
      <p:sp>
        <p:nvSpPr>
          <p:cNvPr id="1213466979"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cs-CZ"/>
          </a:p>
        </p:txBody>
      </p:sp>
      <p:sp>
        <p:nvSpPr>
          <p:cNvPr id="1861769604"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lang="cs-CZ"/>
          </a:p>
        </p:txBody>
      </p:sp>
      <p:sp>
        <p:nvSpPr>
          <p:cNvPr id="79461008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fld id="{871B2431-D351-4C6E-A3CF-9DFAC0E3E050}" type="slidenum">
              <a:rPr lang="cs-CZ"/>
              <a:t>‹#›</a:t>
            </a:fld>
            <a:endParaRPr lang="cs-CZ"/>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8584961"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856167841"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182803782"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9101931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1</a:t>
            </a:r>
            <a:endParaRPr lang="en-US"/>
          </a:p>
        </p:txBody>
      </p:sp>
      <p:sp>
        <p:nvSpPr>
          <p:cNvPr id="556446600"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100198860"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3140607"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782028644"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669272374"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520796658"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2</a:t>
            </a:r>
            <a:endParaRPr lang="en-US"/>
          </a:p>
        </p:txBody>
      </p:sp>
      <p:sp>
        <p:nvSpPr>
          <p:cNvPr id="1948674424"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132824897"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9192232"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940353288"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896304019"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34274974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3</a:t>
            </a:r>
            <a:endParaRPr lang="en-US"/>
          </a:p>
        </p:txBody>
      </p:sp>
      <p:sp>
        <p:nvSpPr>
          <p:cNvPr id="1055462541"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257897706"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3671113"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863150999"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943077906"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280114557"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4</a:t>
            </a:r>
            <a:endParaRPr lang="en-US"/>
          </a:p>
        </p:txBody>
      </p:sp>
      <p:sp>
        <p:nvSpPr>
          <p:cNvPr id="1161677851"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84029231"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503894"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609867041"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2105651915"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826177093"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14235082"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814388703"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6967622"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494641223"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638199428"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54046963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5</a:t>
            </a:r>
            <a:endParaRPr lang="en-US"/>
          </a:p>
        </p:txBody>
      </p:sp>
      <p:sp>
        <p:nvSpPr>
          <p:cNvPr id="1860959961"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50894453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7929886"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608530866"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998729300"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602320120"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6</a:t>
            </a:r>
            <a:endParaRPr lang="en-US"/>
          </a:p>
        </p:txBody>
      </p:sp>
      <p:sp>
        <p:nvSpPr>
          <p:cNvPr id="806228986"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461152875"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9291109"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236973913"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532782218"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510813250"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282338588"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275806670"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4648508"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561866196"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438075770"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878515871"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179728719"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552565568"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0415013"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45369928"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167313267"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272887980"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7</a:t>
            </a:r>
            <a:endParaRPr lang="en-US"/>
          </a:p>
        </p:txBody>
      </p:sp>
      <p:sp>
        <p:nvSpPr>
          <p:cNvPr id="466876940"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598515841"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3550974"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936127222"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2081108066"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202973802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8</a:t>
            </a:r>
            <a:endParaRPr lang="en-US"/>
          </a:p>
        </p:txBody>
      </p:sp>
      <p:sp>
        <p:nvSpPr>
          <p:cNvPr id="704022924"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27533793"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5606386"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696670849"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468756047"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53048872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9</a:t>
            </a:r>
            <a:endParaRPr lang="en-US"/>
          </a:p>
        </p:txBody>
      </p:sp>
      <p:sp>
        <p:nvSpPr>
          <p:cNvPr id="747228845"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545541267"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049962"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749608307"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698543266"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666658810"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r>
              <a:rPr lang="en-US"/>
              <a:t>10</a:t>
            </a:r>
            <a:endParaRPr lang="en-US"/>
          </a:p>
        </p:txBody>
      </p:sp>
      <p:sp>
        <p:nvSpPr>
          <p:cNvPr id="933216826"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417655880"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8955573"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511976712"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421011634"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55589155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258353156"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64981416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1053071"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693536097"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2052013192"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078802536"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259397839"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965553154"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0886604"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577649209"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470927527"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889686852"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1982602174"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230864158"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6944489"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56317844"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036090168"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682877585"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663495151"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1902273286"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8888650" name="Slide Image Placeholder 1"/>
          <p:cNvSpPr>
            <a:spLocks noChangeAspect="1" noGrp="1" noRot="1"/>
          </p:cNvSpPr>
          <p:nvPr>
            <p:ph type="sldImg"/>
          </p:nvPr>
        </p:nvSpPr>
        <p:spPr bwMode="auto"/>
      </p:sp>
      <p:sp>
        <p:nvSpPr>
          <p:cNvPr id="1320305657" name="Notes Placeholder 2"/>
          <p:cNvSpPr>
            <a:spLocks noGrp="1"/>
          </p:cNvSpPr>
          <p:nvPr>
            <p:ph type="body" idx="1"/>
          </p:nvPr>
        </p:nvSpPr>
        <p:spPr bwMode="auto"/>
        <p:txBody>
          <a:bodyPr/>
          <a:lstStyle/>
          <a:p>
            <a:pPr>
              <a:defRPr/>
            </a:pPr>
            <a:endParaRPr/>
          </a:p>
        </p:txBody>
      </p:sp>
      <p:sp>
        <p:nvSpPr>
          <p:cNvPr id="2105156212" name="Slide Number Placeholder 3"/>
          <p:cNvSpPr>
            <a:spLocks noGrp="1"/>
          </p:cNvSpPr>
          <p:nvPr>
            <p:ph type="sldNum" sz="quarter" idx="10"/>
          </p:nvPr>
        </p:nvSpPr>
        <p:spPr bwMode="auto"/>
        <p:txBody>
          <a:bodyPr/>
          <a:lstStyle/>
          <a:p>
            <a:pPr>
              <a:defRPr/>
            </a:pPr>
            <a:fld id="{B10A0E45-7E5E-E9F9-639F-D797103E9951}"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7312103" name="Header Placeholder 1"/>
          <p:cNvSpPr>
            <a:spLocks noGrp="1"/>
          </p:cNvSpPr>
          <p:nvPr>
            <p:ph type="hdr" sz="quarter"/>
          </p:nvPr>
        </p:nvSpPr>
        <p:spPr bwMode="auto">
          <a:xfrm>
            <a:off x="0" y="0"/>
            <a:ext cx="3962400" cy="342900"/>
          </a:xfrm>
          <a:prstGeom prst="rect">
            <a:avLst/>
          </a:prstGeom>
        </p:spPr>
        <p:txBody>
          <a:bodyPr vert="horz" lIns="91440" tIns="45720" rIns="91440" bIns="45720" rtlCol="0"/>
          <a:lstStyle>
            <a:lvl1pPr algn="l">
              <a:defRPr sz="1200"/>
            </a:lvl1pPr>
          </a:lstStyle>
          <a:p>
            <a:pPr>
              <a:defRPr/>
            </a:pPr>
            <a:endParaRPr/>
          </a:p>
        </p:txBody>
      </p:sp>
      <p:sp>
        <p:nvSpPr>
          <p:cNvPr id="1099179126" name="Date Placeholder 2"/>
          <p:cNvSpPr>
            <a:spLocks noGrp="1"/>
          </p:cNvSpPr>
          <p:nvPr>
            <p:ph type="dt" idx="1"/>
          </p:nvPr>
        </p:nvSpPr>
        <p:spPr bwMode="auto">
          <a:xfrm>
            <a:off x="5180013" y="0"/>
            <a:ext cx="3962400"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084133782" name="Slide Image Placeholder 3"/>
          <p:cNvSpPr>
            <a:spLocks noChangeAspect="1" noGrp="1" noRot="1"/>
          </p:cNvSpPr>
          <p:nvPr>
            <p:ph type="sldImg" idx="2"/>
          </p:nvPr>
        </p:nvSpPr>
        <p:spPr bwMode="auto">
          <a:xfrm>
            <a:off x="2857500" y="512763"/>
            <a:ext cx="3429000" cy="2566987"/>
          </a:xfrm>
          <a:prstGeom prst="rect">
            <a:avLst/>
          </a:prstGeom>
          <a:noFill/>
          <a:ln w="12700">
            <a:solidFill>
              <a:prstClr val="black"/>
            </a:solidFill>
          </a:ln>
        </p:spPr>
        <p:txBody>
          <a:bodyPr vert="horz" lIns="91440" tIns="45720" rIns="91440" bIns="45720" rtlCol="0" anchor="ctr"/>
          <a:lstStyle/>
          <a:p>
            <a:pPr>
              <a:defRPr/>
            </a:pPr>
            <a:endParaRPr/>
          </a:p>
        </p:txBody>
      </p:sp>
      <p:sp>
        <p:nvSpPr>
          <p:cNvPr id="1089579502" name="Notes Placeholder 4"/>
          <p:cNvSpPr>
            <a:spLocks noGrp="1"/>
          </p:cNvSpPr>
          <p:nvPr>
            <p:ph type="body" sz="quarter" idx="3"/>
          </p:nvPr>
        </p:nvSpPr>
        <p:spPr bwMode="auto">
          <a:xfrm>
            <a:off x="914400" y="3251200"/>
            <a:ext cx="7315200" cy="3081338"/>
          </a:xfrm>
          <a:prstGeom prst="rect">
            <a:avLst/>
          </a:prstGeom>
        </p:spPr>
        <p:txBody>
          <a:bodyPr vert="horz" lIns="91440" tIns="45720" rIns="91440" bIns="45720" rtlCol="0"/>
          <a:lstStyle/>
          <a:p>
            <a:pPr>
              <a:defRPr/>
            </a:pPr>
            <a:endParaRPr lang="en-US"/>
          </a:p>
        </p:txBody>
      </p:sp>
      <p:sp>
        <p:nvSpPr>
          <p:cNvPr id="1151687352" name="Footer Placeholder 5"/>
          <p:cNvSpPr>
            <a:spLocks noGrp="1"/>
          </p:cNvSpPr>
          <p:nvPr>
            <p:ph type="ftr" sz="quarter" idx="4"/>
          </p:nvPr>
        </p:nvSpPr>
        <p:spPr bwMode="auto">
          <a:xfrm>
            <a:off x="0" y="6502400"/>
            <a:ext cx="3962400" cy="341313"/>
          </a:xfrm>
          <a:prstGeom prst="rect">
            <a:avLst/>
          </a:prstGeom>
        </p:spPr>
        <p:txBody>
          <a:bodyPr vert="horz" lIns="91440" tIns="45720" rIns="91440" bIns="45720" rtlCol="0" anchor="b"/>
          <a:lstStyle>
            <a:lvl1pPr algn="l">
              <a:defRPr sz="1200"/>
            </a:lvl1pPr>
          </a:lstStyle>
          <a:p>
            <a:pPr>
              <a:defRPr/>
            </a:pPr>
            <a:endParaRPr/>
          </a:p>
        </p:txBody>
      </p:sp>
      <p:sp>
        <p:nvSpPr>
          <p:cNvPr id="699710616" name="Slide Number Placeholder 6"/>
          <p:cNvSpPr>
            <a:spLocks noGrp="1"/>
          </p:cNvSpPr>
          <p:nvPr>
            <p:ph type="sldNum" sz="quarter" idx="5"/>
          </p:nvPr>
        </p:nvSpPr>
        <p:spPr bwMode="auto">
          <a:xfrm>
            <a:off x="5180013" y="6502400"/>
            <a:ext cx="3962400" cy="341313"/>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1151147" name="Header Placeholder 1"/>
          <p:cNvSpPr>
            <a:spLocks noGrp="1"/>
          </p:cNvSpPr>
          <p:nvPr>
            <p:ph type="hdr" sz="quarter"/>
          </p:nvPr>
        </p:nvSpPr>
        <p:spPr bwMode="auto">
          <a:xfrm>
            <a:off x="0" y="0"/>
            <a:ext cx="3962399" cy="342900"/>
          </a:xfrm>
          <a:prstGeom prst="rect">
            <a:avLst/>
          </a:prstGeom>
        </p:spPr>
        <p:txBody>
          <a:bodyPr vert="horz" lIns="91440" tIns="45720" rIns="91440" bIns="45720" rtlCol="0"/>
          <a:lstStyle>
            <a:lvl1pPr algn="l">
              <a:defRPr sz="1200"/>
            </a:lvl1pPr>
          </a:lstStyle>
          <a:p>
            <a:pPr>
              <a:defRPr/>
            </a:pPr>
            <a:endParaRPr/>
          </a:p>
        </p:txBody>
      </p:sp>
      <p:sp>
        <p:nvSpPr>
          <p:cNvPr id="57100464" name="Date Placeholder 2"/>
          <p:cNvSpPr>
            <a:spLocks noGrp="1"/>
          </p:cNvSpPr>
          <p:nvPr>
            <p:ph type="dt" idx="1"/>
          </p:nvPr>
        </p:nvSpPr>
        <p:spPr bwMode="auto">
          <a:xfrm>
            <a:off x="5180013" y="0"/>
            <a:ext cx="3962399"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505329973" name="Slide Image Placeholder 3"/>
          <p:cNvSpPr>
            <a:spLocks noChangeAspect="1" noGrp="1" noRot="1"/>
          </p:cNvSpPr>
          <p:nvPr>
            <p:ph type="sldImg" idx="2"/>
          </p:nvPr>
        </p:nvSpPr>
        <p:spPr bwMode="auto">
          <a:xfrm>
            <a:off x="2857500" y="512762"/>
            <a:ext cx="3429000" cy="2566986"/>
          </a:xfrm>
          <a:prstGeom prst="rect">
            <a:avLst/>
          </a:prstGeom>
          <a:noFill/>
          <a:ln w="12700">
            <a:solidFill>
              <a:prstClr val="black"/>
            </a:solidFill>
          </a:ln>
        </p:spPr>
        <p:txBody>
          <a:bodyPr vert="horz" lIns="91440" tIns="45720" rIns="91440" bIns="45720" rtlCol="0" anchor="ctr"/>
          <a:lstStyle/>
          <a:p>
            <a:pPr>
              <a:defRPr/>
            </a:pPr>
            <a:endParaRPr/>
          </a:p>
        </p:txBody>
      </p:sp>
      <p:sp>
        <p:nvSpPr>
          <p:cNvPr id="2067795260" name="Notes Placeholder 4"/>
          <p:cNvSpPr>
            <a:spLocks noGrp="1"/>
          </p:cNvSpPr>
          <p:nvPr>
            <p:ph type="body" sz="quarter" idx="3"/>
          </p:nvPr>
        </p:nvSpPr>
        <p:spPr bwMode="auto">
          <a:xfrm>
            <a:off x="914400" y="3251199"/>
            <a:ext cx="7315200" cy="3081337"/>
          </a:xfrm>
          <a:prstGeom prst="rect">
            <a:avLst/>
          </a:prstGeom>
        </p:spPr>
        <p:txBody>
          <a:bodyPr vert="horz" lIns="91440" tIns="45720" rIns="91440" bIns="45720" rtlCol="0"/>
          <a:lstStyle/>
          <a:p>
            <a:pPr>
              <a:defRPr/>
            </a:pPr>
            <a:endParaRPr lang="en-US"/>
          </a:p>
        </p:txBody>
      </p:sp>
      <p:sp>
        <p:nvSpPr>
          <p:cNvPr id="2128808430" name="Footer Placeholder 5"/>
          <p:cNvSpPr>
            <a:spLocks noGrp="1"/>
          </p:cNvSpPr>
          <p:nvPr>
            <p:ph type="ftr" sz="quarter" idx="4"/>
          </p:nvPr>
        </p:nvSpPr>
        <p:spPr bwMode="auto">
          <a:xfrm>
            <a:off x="0" y="6502399"/>
            <a:ext cx="3962399" cy="341311"/>
          </a:xfrm>
          <a:prstGeom prst="rect">
            <a:avLst/>
          </a:prstGeom>
        </p:spPr>
        <p:txBody>
          <a:bodyPr vert="horz" lIns="91440" tIns="45720" rIns="91440" bIns="45720" rtlCol="0" anchor="b"/>
          <a:lstStyle>
            <a:lvl1pPr algn="l">
              <a:defRPr sz="1200"/>
            </a:lvl1pPr>
          </a:lstStyle>
          <a:p>
            <a:pPr>
              <a:defRPr/>
            </a:pPr>
            <a:endParaRPr/>
          </a:p>
        </p:txBody>
      </p:sp>
      <p:sp>
        <p:nvSpPr>
          <p:cNvPr id="2097473650" name="Slide Number Placeholder 6"/>
          <p:cNvSpPr>
            <a:spLocks noGrp="1"/>
          </p:cNvSpPr>
          <p:nvPr>
            <p:ph type="sldNum" sz="quarter" idx="5"/>
          </p:nvPr>
        </p:nvSpPr>
        <p:spPr bwMode="auto">
          <a:xfrm>
            <a:off x="5180013" y="6502399"/>
            <a:ext cx="3962399" cy="341311"/>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0088509" name="Header Placeholder 1"/>
          <p:cNvSpPr>
            <a:spLocks noGrp="1"/>
          </p:cNvSpPr>
          <p:nvPr>
            <p:ph type="hdr" sz="quarter"/>
          </p:nvPr>
        </p:nvSpPr>
        <p:spPr bwMode="auto">
          <a:xfrm>
            <a:off x="0" y="0"/>
            <a:ext cx="3962399" cy="342900"/>
          </a:xfrm>
          <a:prstGeom prst="rect">
            <a:avLst/>
          </a:prstGeom>
        </p:spPr>
        <p:txBody>
          <a:bodyPr vert="horz" lIns="91440" tIns="45720" rIns="91440" bIns="45720" rtlCol="0"/>
          <a:lstStyle>
            <a:lvl1pPr algn="l">
              <a:defRPr sz="1200"/>
            </a:lvl1pPr>
          </a:lstStyle>
          <a:p>
            <a:pPr>
              <a:defRPr/>
            </a:pPr>
            <a:endParaRPr/>
          </a:p>
        </p:txBody>
      </p:sp>
      <p:sp>
        <p:nvSpPr>
          <p:cNvPr id="1797438099" name="Date Placeholder 2"/>
          <p:cNvSpPr>
            <a:spLocks noGrp="1"/>
          </p:cNvSpPr>
          <p:nvPr>
            <p:ph type="dt" idx="1"/>
          </p:nvPr>
        </p:nvSpPr>
        <p:spPr bwMode="auto">
          <a:xfrm>
            <a:off x="5180013" y="0"/>
            <a:ext cx="3962399"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494541203" name="Slide Image Placeholder 3"/>
          <p:cNvSpPr>
            <a:spLocks noChangeAspect="1" noGrp="1" noRot="1"/>
          </p:cNvSpPr>
          <p:nvPr>
            <p:ph type="sldImg" idx="2"/>
          </p:nvPr>
        </p:nvSpPr>
        <p:spPr bwMode="auto">
          <a:xfrm>
            <a:off x="2857500" y="512762"/>
            <a:ext cx="3429000" cy="2566986"/>
          </a:xfrm>
          <a:prstGeom prst="rect">
            <a:avLst/>
          </a:prstGeom>
          <a:noFill/>
          <a:ln w="12700">
            <a:solidFill>
              <a:prstClr val="black"/>
            </a:solidFill>
          </a:ln>
        </p:spPr>
        <p:txBody>
          <a:bodyPr vert="horz" lIns="91440" tIns="45720" rIns="91440" bIns="45720" rtlCol="0" anchor="ctr"/>
          <a:lstStyle/>
          <a:p>
            <a:pPr>
              <a:defRPr/>
            </a:pPr>
            <a:endParaRPr/>
          </a:p>
        </p:txBody>
      </p:sp>
      <p:sp>
        <p:nvSpPr>
          <p:cNvPr id="327264956" name="Notes Placeholder 4"/>
          <p:cNvSpPr>
            <a:spLocks noGrp="1"/>
          </p:cNvSpPr>
          <p:nvPr>
            <p:ph type="body" sz="quarter" idx="3"/>
          </p:nvPr>
        </p:nvSpPr>
        <p:spPr bwMode="auto">
          <a:xfrm>
            <a:off x="914400" y="3251199"/>
            <a:ext cx="7315200" cy="3081337"/>
          </a:xfrm>
          <a:prstGeom prst="rect">
            <a:avLst/>
          </a:prstGeom>
        </p:spPr>
        <p:txBody>
          <a:bodyPr vert="horz" lIns="91440" tIns="45720" rIns="91440" bIns="45720" rtlCol="0"/>
          <a:lstStyle/>
          <a:p>
            <a:pPr>
              <a:defRPr/>
            </a:pPr>
            <a:endParaRPr lang="en-US"/>
          </a:p>
        </p:txBody>
      </p:sp>
      <p:sp>
        <p:nvSpPr>
          <p:cNvPr id="857240027" name="Footer Placeholder 5"/>
          <p:cNvSpPr>
            <a:spLocks noGrp="1"/>
          </p:cNvSpPr>
          <p:nvPr>
            <p:ph type="ftr" sz="quarter" idx="4"/>
          </p:nvPr>
        </p:nvSpPr>
        <p:spPr bwMode="auto">
          <a:xfrm>
            <a:off x="0" y="6502399"/>
            <a:ext cx="3962399" cy="341311"/>
          </a:xfrm>
          <a:prstGeom prst="rect">
            <a:avLst/>
          </a:prstGeom>
        </p:spPr>
        <p:txBody>
          <a:bodyPr vert="horz" lIns="91440" tIns="45720" rIns="91440" bIns="45720" rtlCol="0" anchor="b"/>
          <a:lstStyle>
            <a:lvl1pPr algn="l">
              <a:defRPr sz="1200"/>
            </a:lvl1pPr>
          </a:lstStyle>
          <a:p>
            <a:pPr>
              <a:defRPr/>
            </a:pPr>
            <a:endParaRPr/>
          </a:p>
        </p:txBody>
      </p:sp>
      <p:sp>
        <p:nvSpPr>
          <p:cNvPr id="241619803" name="Slide Number Placeholder 6"/>
          <p:cNvSpPr>
            <a:spLocks noGrp="1"/>
          </p:cNvSpPr>
          <p:nvPr>
            <p:ph type="sldNum" sz="quarter" idx="5"/>
          </p:nvPr>
        </p:nvSpPr>
        <p:spPr bwMode="auto">
          <a:xfrm>
            <a:off x="5180013" y="6502399"/>
            <a:ext cx="3962399" cy="341311"/>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4488852" name="Header Placeholder 1"/>
          <p:cNvSpPr>
            <a:spLocks noGrp="1"/>
          </p:cNvSpPr>
          <p:nvPr>
            <p:ph type="hdr" sz="quarter"/>
          </p:nvPr>
        </p:nvSpPr>
        <p:spPr bwMode="auto">
          <a:xfrm>
            <a:off x="0" y="0"/>
            <a:ext cx="3962399" cy="342900"/>
          </a:xfrm>
          <a:prstGeom prst="rect">
            <a:avLst/>
          </a:prstGeom>
        </p:spPr>
        <p:txBody>
          <a:bodyPr vert="horz" lIns="91440" tIns="45720" rIns="91440" bIns="45720" rtlCol="0"/>
          <a:lstStyle>
            <a:lvl1pPr algn="l">
              <a:defRPr sz="1200"/>
            </a:lvl1pPr>
          </a:lstStyle>
          <a:p>
            <a:pPr>
              <a:defRPr/>
            </a:pPr>
            <a:endParaRPr/>
          </a:p>
        </p:txBody>
      </p:sp>
      <p:sp>
        <p:nvSpPr>
          <p:cNvPr id="966669032" name="Date Placeholder 2"/>
          <p:cNvSpPr>
            <a:spLocks noGrp="1"/>
          </p:cNvSpPr>
          <p:nvPr>
            <p:ph type="dt" idx="1"/>
          </p:nvPr>
        </p:nvSpPr>
        <p:spPr bwMode="auto">
          <a:xfrm>
            <a:off x="5180013" y="0"/>
            <a:ext cx="3962399"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790781567" name="Slide Image Placeholder 3"/>
          <p:cNvSpPr>
            <a:spLocks noChangeAspect="1" noGrp="1" noRot="1"/>
          </p:cNvSpPr>
          <p:nvPr>
            <p:ph type="sldImg" idx="2"/>
          </p:nvPr>
        </p:nvSpPr>
        <p:spPr bwMode="auto">
          <a:xfrm>
            <a:off x="2857500" y="512762"/>
            <a:ext cx="3429000" cy="2566986"/>
          </a:xfrm>
          <a:prstGeom prst="rect">
            <a:avLst/>
          </a:prstGeom>
          <a:noFill/>
          <a:ln w="12700">
            <a:solidFill>
              <a:prstClr val="black"/>
            </a:solidFill>
          </a:ln>
        </p:spPr>
        <p:txBody>
          <a:bodyPr vert="horz" lIns="91440" tIns="45720" rIns="91440" bIns="45720" rtlCol="0" anchor="ctr"/>
          <a:lstStyle/>
          <a:p>
            <a:pPr>
              <a:defRPr/>
            </a:pPr>
            <a:endParaRPr/>
          </a:p>
        </p:txBody>
      </p:sp>
      <p:sp>
        <p:nvSpPr>
          <p:cNvPr id="1584038624" name="Notes Placeholder 4"/>
          <p:cNvSpPr>
            <a:spLocks noGrp="1"/>
          </p:cNvSpPr>
          <p:nvPr>
            <p:ph type="body" sz="quarter" idx="3"/>
          </p:nvPr>
        </p:nvSpPr>
        <p:spPr bwMode="auto">
          <a:xfrm>
            <a:off x="914400" y="3251199"/>
            <a:ext cx="7315200" cy="3081337"/>
          </a:xfrm>
          <a:prstGeom prst="rect">
            <a:avLst/>
          </a:prstGeom>
        </p:spPr>
        <p:txBody>
          <a:bodyPr vert="horz" lIns="91440" tIns="45720" rIns="91440" bIns="45720" rtlCol="0"/>
          <a:lstStyle/>
          <a:p>
            <a:pPr>
              <a:defRPr/>
            </a:pPr>
            <a:endParaRPr lang="en-US"/>
          </a:p>
        </p:txBody>
      </p:sp>
      <p:sp>
        <p:nvSpPr>
          <p:cNvPr id="462689320" name="Footer Placeholder 5"/>
          <p:cNvSpPr>
            <a:spLocks noGrp="1"/>
          </p:cNvSpPr>
          <p:nvPr>
            <p:ph type="ftr" sz="quarter" idx="4"/>
          </p:nvPr>
        </p:nvSpPr>
        <p:spPr bwMode="auto">
          <a:xfrm>
            <a:off x="0" y="6502399"/>
            <a:ext cx="3962399" cy="341311"/>
          </a:xfrm>
          <a:prstGeom prst="rect">
            <a:avLst/>
          </a:prstGeom>
        </p:spPr>
        <p:txBody>
          <a:bodyPr vert="horz" lIns="91440" tIns="45720" rIns="91440" bIns="45720" rtlCol="0" anchor="b"/>
          <a:lstStyle>
            <a:lvl1pPr algn="l">
              <a:defRPr sz="1200"/>
            </a:lvl1pPr>
          </a:lstStyle>
          <a:p>
            <a:pPr>
              <a:defRPr/>
            </a:pPr>
            <a:endParaRPr/>
          </a:p>
        </p:txBody>
      </p:sp>
      <p:sp>
        <p:nvSpPr>
          <p:cNvPr id="1572526409" name="Slide Number Placeholder 6"/>
          <p:cNvSpPr>
            <a:spLocks noGrp="1"/>
          </p:cNvSpPr>
          <p:nvPr>
            <p:ph type="sldNum" sz="quarter" idx="5"/>
          </p:nvPr>
        </p:nvSpPr>
        <p:spPr bwMode="auto">
          <a:xfrm>
            <a:off x="5180013" y="6502399"/>
            <a:ext cx="3962399" cy="341311"/>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6363916" name="Slide Image Placeholder 1"/>
          <p:cNvSpPr>
            <a:spLocks noChangeAspect="1" noGrp="1" noRot="1"/>
          </p:cNvSpPr>
          <p:nvPr>
            <p:ph type="sldImg"/>
          </p:nvPr>
        </p:nvSpPr>
        <p:spPr bwMode="auto"/>
      </p:sp>
      <p:sp>
        <p:nvSpPr>
          <p:cNvPr id="63853470" name="Notes Placeholder 2"/>
          <p:cNvSpPr>
            <a:spLocks noGrp="1"/>
          </p:cNvSpPr>
          <p:nvPr>
            <p:ph type="body" idx="1"/>
          </p:nvPr>
        </p:nvSpPr>
        <p:spPr bwMode="auto"/>
        <p:txBody>
          <a:bodyPr/>
          <a:lstStyle/>
          <a:p>
            <a:pPr>
              <a:defRPr/>
            </a:pPr>
            <a:endParaRPr/>
          </a:p>
        </p:txBody>
      </p:sp>
      <p:sp>
        <p:nvSpPr>
          <p:cNvPr id="632316024" name="Slide Number Placeholder 3"/>
          <p:cNvSpPr>
            <a:spLocks noGrp="1"/>
          </p:cNvSpPr>
          <p:nvPr>
            <p:ph type="sldNum" sz="quarter" idx="10"/>
          </p:nvPr>
        </p:nvSpPr>
        <p:spPr bwMode="auto"/>
        <p:txBody>
          <a:bodyPr/>
          <a:lstStyle/>
          <a:p>
            <a:pPr>
              <a:defRPr/>
            </a:pPr>
            <a:fld id="{37FAE93D-F779-74D2-21D6-4808A3AB1179}"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7976441" name="Header Placeholder 1"/>
          <p:cNvSpPr>
            <a:spLocks noGrp="1"/>
          </p:cNvSpPr>
          <p:nvPr>
            <p:ph type="hdr" sz="quarter"/>
          </p:nvPr>
        </p:nvSpPr>
        <p:spPr bwMode="auto">
          <a:xfrm>
            <a:off x="0" y="0"/>
            <a:ext cx="3962399" cy="342900"/>
          </a:xfrm>
          <a:prstGeom prst="rect">
            <a:avLst/>
          </a:prstGeom>
        </p:spPr>
        <p:txBody>
          <a:bodyPr vert="horz" lIns="91440" tIns="45720" rIns="91440" bIns="45720" rtlCol="0"/>
          <a:lstStyle>
            <a:lvl1pPr algn="l">
              <a:defRPr sz="1200"/>
            </a:lvl1pPr>
          </a:lstStyle>
          <a:p>
            <a:pPr>
              <a:defRPr/>
            </a:pPr>
            <a:endParaRPr/>
          </a:p>
        </p:txBody>
      </p:sp>
      <p:sp>
        <p:nvSpPr>
          <p:cNvPr id="1804960497" name="Date Placeholder 2"/>
          <p:cNvSpPr>
            <a:spLocks noGrp="1"/>
          </p:cNvSpPr>
          <p:nvPr>
            <p:ph type="dt" idx="1"/>
          </p:nvPr>
        </p:nvSpPr>
        <p:spPr bwMode="auto">
          <a:xfrm>
            <a:off x="5180013" y="0"/>
            <a:ext cx="3962399" cy="342900"/>
          </a:xfrm>
          <a:prstGeom prst="rect">
            <a:avLst/>
          </a:prstGeom>
        </p:spPr>
        <p:txBody>
          <a:bodyPr vert="horz" lIns="91440" tIns="45720" rIns="91440" bIns="45720" rtlCol="0"/>
          <a:lstStyle>
            <a:lvl1pPr algn="r">
              <a:defRPr sz="1200"/>
            </a:lvl1pPr>
          </a:lstStyle>
          <a:p>
            <a:pPr>
              <a:defRPr/>
            </a:pPr>
            <a:r>
              <a:rPr lang="cs-CZ"/>
              <a:t>1.7.2013</a:t>
            </a:r>
            <a:endParaRPr/>
          </a:p>
        </p:txBody>
      </p:sp>
      <p:sp>
        <p:nvSpPr>
          <p:cNvPr id="1494472317" name="Slide Image Placeholder 3"/>
          <p:cNvSpPr>
            <a:spLocks noChangeAspect="1" noGrp="1" noRot="1"/>
          </p:cNvSpPr>
          <p:nvPr>
            <p:ph type="sldImg" idx="2"/>
          </p:nvPr>
        </p:nvSpPr>
        <p:spPr bwMode="auto">
          <a:xfrm>
            <a:off x="2857500" y="512762"/>
            <a:ext cx="3429000" cy="2566986"/>
          </a:xfrm>
          <a:prstGeom prst="rect">
            <a:avLst/>
          </a:prstGeom>
          <a:noFill/>
          <a:ln w="12700">
            <a:solidFill>
              <a:prstClr val="black"/>
            </a:solidFill>
          </a:ln>
        </p:spPr>
        <p:txBody>
          <a:bodyPr vert="horz" lIns="91440" tIns="45720" rIns="91440" bIns="45720" rtlCol="0" anchor="ctr"/>
          <a:lstStyle/>
          <a:p>
            <a:pPr>
              <a:defRPr/>
            </a:pPr>
            <a:endParaRPr/>
          </a:p>
        </p:txBody>
      </p:sp>
      <p:sp>
        <p:nvSpPr>
          <p:cNvPr id="754140501" name="Notes Placeholder 4"/>
          <p:cNvSpPr>
            <a:spLocks noGrp="1"/>
          </p:cNvSpPr>
          <p:nvPr>
            <p:ph type="body" sz="quarter" idx="3"/>
          </p:nvPr>
        </p:nvSpPr>
        <p:spPr bwMode="auto">
          <a:xfrm>
            <a:off x="914400" y="3251199"/>
            <a:ext cx="7315200" cy="3081337"/>
          </a:xfrm>
          <a:prstGeom prst="rect">
            <a:avLst/>
          </a:prstGeom>
        </p:spPr>
        <p:txBody>
          <a:bodyPr vert="horz" lIns="91440" tIns="45720" rIns="91440" bIns="45720" rtlCol="0"/>
          <a:lstStyle/>
          <a:p>
            <a:pPr>
              <a:defRPr/>
            </a:pPr>
            <a:r>
              <a:rPr lang="en-US"/>
              <a:t>1</a:t>
            </a:r>
            <a:endParaRPr lang="en-US"/>
          </a:p>
        </p:txBody>
      </p:sp>
      <p:sp>
        <p:nvSpPr>
          <p:cNvPr id="1803174205" name="Footer Placeholder 5"/>
          <p:cNvSpPr>
            <a:spLocks noGrp="1"/>
          </p:cNvSpPr>
          <p:nvPr>
            <p:ph type="ftr" sz="quarter" idx="4"/>
          </p:nvPr>
        </p:nvSpPr>
        <p:spPr bwMode="auto">
          <a:xfrm>
            <a:off x="0" y="6502399"/>
            <a:ext cx="3962399" cy="341311"/>
          </a:xfrm>
          <a:prstGeom prst="rect">
            <a:avLst/>
          </a:prstGeom>
        </p:spPr>
        <p:txBody>
          <a:bodyPr vert="horz" lIns="91440" tIns="45720" rIns="91440" bIns="45720" rtlCol="0" anchor="b"/>
          <a:lstStyle>
            <a:lvl1pPr algn="l">
              <a:defRPr sz="1200"/>
            </a:lvl1pPr>
          </a:lstStyle>
          <a:p>
            <a:pPr>
              <a:defRPr/>
            </a:pPr>
            <a:endParaRPr/>
          </a:p>
        </p:txBody>
      </p:sp>
      <p:sp>
        <p:nvSpPr>
          <p:cNvPr id="59988131" name="Slide Number Placeholder 6"/>
          <p:cNvSpPr>
            <a:spLocks noGrp="1"/>
          </p:cNvSpPr>
          <p:nvPr>
            <p:ph type="sldNum" sz="quarter" idx="5"/>
          </p:nvPr>
        </p:nvSpPr>
        <p:spPr bwMode="auto">
          <a:xfrm>
            <a:off x="5180013" y="6502399"/>
            <a:ext cx="3962399" cy="341311"/>
          </a:xfrm>
          <a:prstGeom prst="rect">
            <a:avLst/>
          </a:prstGeom>
        </p:spPr>
        <p:txBody>
          <a:bodyPr vert="horz" lIns="91440" tIns="45720" rIns="91440" bIns="45720" rtlCol="0" anchor="b"/>
          <a:lstStyle>
            <a:lvl1pPr algn="r">
              <a:defRPr sz="1200"/>
            </a:lvl1pPr>
          </a:lstStyle>
          <a:p>
            <a:pPr>
              <a:defRPr/>
            </a:pPr>
            <a:r>
              <a:rPr lang="cs-CZ"/>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9746134" name="Slide Image Placeholder 1"/>
          <p:cNvSpPr>
            <a:spLocks noChangeAspect="1" noGrp="1" noRot="1"/>
          </p:cNvSpPr>
          <p:nvPr>
            <p:ph type="sldImg"/>
          </p:nvPr>
        </p:nvSpPr>
        <p:spPr bwMode="auto"/>
      </p:sp>
      <p:sp>
        <p:nvSpPr>
          <p:cNvPr id="1613100644" name="Notes Placeholder 2"/>
          <p:cNvSpPr>
            <a:spLocks noGrp="1"/>
          </p:cNvSpPr>
          <p:nvPr>
            <p:ph type="body" idx="1"/>
          </p:nvPr>
        </p:nvSpPr>
        <p:spPr bwMode="auto"/>
        <p:txBody>
          <a:bodyPr/>
          <a:lstStyle/>
          <a:p>
            <a:pPr>
              <a:defRPr/>
            </a:pPr>
            <a:endParaRPr/>
          </a:p>
        </p:txBody>
      </p:sp>
      <p:sp>
        <p:nvSpPr>
          <p:cNvPr id="497580241" name="Slide Number Placeholder 3"/>
          <p:cNvSpPr>
            <a:spLocks noGrp="1"/>
          </p:cNvSpPr>
          <p:nvPr>
            <p:ph type="sldNum" sz="quarter" idx="10"/>
          </p:nvPr>
        </p:nvSpPr>
        <p:spPr bwMode="auto"/>
        <p:txBody>
          <a:bodyPr/>
          <a:lstStyle/>
          <a:p>
            <a:pPr>
              <a:defRPr/>
            </a:pPr>
            <a:fld id="{65992CFB-0026-BAD8-9046-B12E47D8E671}"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0356824" name="Slide Image Placeholder 1"/>
          <p:cNvSpPr>
            <a:spLocks noChangeAspect="1" noGrp="1" noRot="1"/>
          </p:cNvSpPr>
          <p:nvPr>
            <p:ph type="sldImg"/>
          </p:nvPr>
        </p:nvSpPr>
        <p:spPr bwMode="auto"/>
      </p:sp>
      <p:sp>
        <p:nvSpPr>
          <p:cNvPr id="1211357049" name="Notes Placeholder 2"/>
          <p:cNvSpPr>
            <a:spLocks noGrp="1"/>
          </p:cNvSpPr>
          <p:nvPr>
            <p:ph type="body" idx="1"/>
          </p:nvPr>
        </p:nvSpPr>
        <p:spPr bwMode="auto"/>
        <p:txBody>
          <a:bodyPr/>
          <a:lstStyle/>
          <a:p>
            <a:pPr>
              <a:defRPr/>
            </a:pPr>
            <a:endParaRPr/>
          </a:p>
        </p:txBody>
      </p:sp>
      <p:sp>
        <p:nvSpPr>
          <p:cNvPr id="1153113416" name="Slide Number Placeholder 3"/>
          <p:cNvSpPr>
            <a:spLocks noGrp="1"/>
          </p:cNvSpPr>
          <p:nvPr>
            <p:ph type="sldNum" sz="quarter" idx="10"/>
          </p:nvPr>
        </p:nvSpPr>
        <p:spPr bwMode="auto"/>
        <p:txBody>
          <a:bodyPr/>
          <a:lstStyle/>
          <a:p>
            <a:pPr>
              <a:defRPr/>
            </a:pPr>
            <a:fld id="{90B7EA77-F844-09DC-790F-0CF6CF41E06B}"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6563211" name="Slide Image Placeholder 1"/>
          <p:cNvSpPr>
            <a:spLocks noChangeAspect="1" noGrp="1" noRot="1"/>
          </p:cNvSpPr>
          <p:nvPr>
            <p:ph type="sldImg"/>
          </p:nvPr>
        </p:nvSpPr>
        <p:spPr bwMode="auto"/>
      </p:sp>
      <p:sp>
        <p:nvSpPr>
          <p:cNvPr id="666088499" name="Notes Placeholder 2"/>
          <p:cNvSpPr>
            <a:spLocks noGrp="1"/>
          </p:cNvSpPr>
          <p:nvPr>
            <p:ph type="body" idx="1"/>
          </p:nvPr>
        </p:nvSpPr>
        <p:spPr bwMode="auto"/>
        <p:txBody>
          <a:bodyPr/>
          <a:lstStyle/>
          <a:p>
            <a:pPr>
              <a:defRPr/>
            </a:pPr>
            <a:endParaRPr/>
          </a:p>
        </p:txBody>
      </p:sp>
      <p:sp>
        <p:nvSpPr>
          <p:cNvPr id="1375258349" name="Slide Number Placeholder 3"/>
          <p:cNvSpPr>
            <a:spLocks noGrp="1"/>
          </p:cNvSpPr>
          <p:nvPr>
            <p:ph type="sldNum" sz="quarter" idx="10"/>
          </p:nvPr>
        </p:nvSpPr>
        <p:spPr bwMode="auto"/>
        <p:txBody>
          <a:bodyPr/>
          <a:lstStyle/>
          <a:p>
            <a:pPr>
              <a:defRPr/>
            </a:pPr>
            <a:fld id="{F01D0043-B57E-500D-27F1-6464337F4EB1}"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3373985" name="Slide Image Placeholder 1"/>
          <p:cNvSpPr>
            <a:spLocks noChangeAspect="1" noGrp="1" noRot="1"/>
          </p:cNvSpPr>
          <p:nvPr>
            <p:ph type="sldImg"/>
          </p:nvPr>
        </p:nvSpPr>
        <p:spPr bwMode="auto"/>
      </p:sp>
      <p:sp>
        <p:nvSpPr>
          <p:cNvPr id="1556172345" name="Notes Placeholder 2"/>
          <p:cNvSpPr>
            <a:spLocks noGrp="1"/>
          </p:cNvSpPr>
          <p:nvPr>
            <p:ph type="body" idx="1"/>
          </p:nvPr>
        </p:nvSpPr>
        <p:spPr bwMode="auto"/>
        <p:txBody>
          <a:bodyPr/>
          <a:lstStyle/>
          <a:p>
            <a:pPr>
              <a:defRPr/>
            </a:pPr>
            <a:endParaRPr/>
          </a:p>
        </p:txBody>
      </p:sp>
      <p:sp>
        <p:nvSpPr>
          <p:cNvPr id="731945505" name="Slide Number Placeholder 3"/>
          <p:cNvSpPr>
            <a:spLocks noGrp="1"/>
          </p:cNvSpPr>
          <p:nvPr>
            <p:ph type="sldNum" sz="quarter" idx="10"/>
          </p:nvPr>
        </p:nvSpPr>
        <p:spPr bwMode="auto"/>
        <p:txBody>
          <a:bodyPr/>
          <a:lstStyle/>
          <a:p>
            <a:pPr>
              <a:defRPr/>
            </a:pPr>
            <a:fld id="{70BDD6D9-3298-993B-500E-2AABF913C469}"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6546130" name="Slide Image Placeholder 1"/>
          <p:cNvSpPr>
            <a:spLocks noChangeAspect="1" noGrp="1" noRot="1"/>
          </p:cNvSpPr>
          <p:nvPr>
            <p:ph type="sldImg"/>
          </p:nvPr>
        </p:nvSpPr>
        <p:spPr bwMode="auto"/>
      </p:sp>
      <p:sp>
        <p:nvSpPr>
          <p:cNvPr id="518374450" name="Notes Placeholder 2"/>
          <p:cNvSpPr>
            <a:spLocks noGrp="1"/>
          </p:cNvSpPr>
          <p:nvPr>
            <p:ph type="body" idx="1"/>
          </p:nvPr>
        </p:nvSpPr>
        <p:spPr bwMode="auto"/>
        <p:txBody>
          <a:bodyPr/>
          <a:lstStyle/>
          <a:p>
            <a:pPr>
              <a:defRPr/>
            </a:pPr>
            <a:endParaRPr/>
          </a:p>
        </p:txBody>
      </p:sp>
      <p:sp>
        <p:nvSpPr>
          <p:cNvPr id="1051506535" name="Slide Number Placeholder 3"/>
          <p:cNvSpPr>
            <a:spLocks noGrp="1"/>
          </p:cNvSpPr>
          <p:nvPr>
            <p:ph type="sldNum" sz="quarter" idx="10"/>
          </p:nvPr>
        </p:nvSpPr>
        <p:spPr bwMode="auto"/>
        <p:txBody>
          <a:bodyPr/>
          <a:lstStyle/>
          <a:p>
            <a:pPr>
              <a:defRPr/>
            </a:pPr>
            <a:fld id="{3024770E-C704-44A3-7B46-C70A9484DC05}"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6118140" name="Slide Image Placeholder 1"/>
          <p:cNvSpPr>
            <a:spLocks noChangeAspect="1" noGrp="1" noRot="1"/>
          </p:cNvSpPr>
          <p:nvPr>
            <p:ph type="sldImg"/>
          </p:nvPr>
        </p:nvSpPr>
        <p:spPr bwMode="auto"/>
      </p:sp>
      <p:sp>
        <p:nvSpPr>
          <p:cNvPr id="1253656636" name="Notes Placeholder 2"/>
          <p:cNvSpPr>
            <a:spLocks noGrp="1"/>
          </p:cNvSpPr>
          <p:nvPr>
            <p:ph type="body" idx="1"/>
          </p:nvPr>
        </p:nvSpPr>
        <p:spPr bwMode="auto"/>
        <p:txBody>
          <a:bodyPr/>
          <a:lstStyle/>
          <a:p>
            <a:pPr>
              <a:defRPr/>
            </a:pPr>
            <a:endParaRPr/>
          </a:p>
        </p:txBody>
      </p:sp>
      <p:sp>
        <p:nvSpPr>
          <p:cNvPr id="372835464" name="Slide Number Placeholder 3"/>
          <p:cNvSpPr>
            <a:spLocks noGrp="1"/>
          </p:cNvSpPr>
          <p:nvPr>
            <p:ph type="sldNum" sz="quarter" idx="10"/>
          </p:nvPr>
        </p:nvSpPr>
        <p:spPr bwMode="auto"/>
        <p:txBody>
          <a:bodyPr/>
          <a:lstStyle/>
          <a:p>
            <a:pPr>
              <a:defRPr/>
            </a:pPr>
            <a:fld id="{C57D77AD-01AB-FEED-D6C5-CB14E31A9949}"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6458997" name="Slide Image Placeholder 1"/>
          <p:cNvSpPr>
            <a:spLocks noChangeAspect="1" noGrp="1" noRot="1"/>
          </p:cNvSpPr>
          <p:nvPr>
            <p:ph type="sldImg"/>
          </p:nvPr>
        </p:nvSpPr>
        <p:spPr bwMode="auto"/>
      </p:sp>
      <p:sp>
        <p:nvSpPr>
          <p:cNvPr id="506756411" name="Notes Placeholder 2"/>
          <p:cNvSpPr>
            <a:spLocks noGrp="1"/>
          </p:cNvSpPr>
          <p:nvPr>
            <p:ph type="body" idx="1"/>
          </p:nvPr>
        </p:nvSpPr>
        <p:spPr bwMode="auto"/>
        <p:txBody>
          <a:bodyPr/>
          <a:lstStyle/>
          <a:p>
            <a:pPr>
              <a:defRPr/>
            </a:pPr>
            <a:endParaRPr/>
          </a:p>
        </p:txBody>
      </p:sp>
      <p:sp>
        <p:nvSpPr>
          <p:cNvPr id="75202214" name="Slide Number Placeholder 3"/>
          <p:cNvSpPr>
            <a:spLocks noGrp="1"/>
          </p:cNvSpPr>
          <p:nvPr>
            <p:ph type="sldNum" sz="quarter" idx="10"/>
          </p:nvPr>
        </p:nvSpPr>
        <p:spPr bwMode="auto"/>
        <p:txBody>
          <a:bodyPr/>
          <a:lstStyle/>
          <a:p>
            <a:pPr>
              <a:defRPr/>
            </a:pPr>
            <a:fld id="{C57B9648-5D3C-CACD-4363-2A136A98E533}"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615862" name="Slide Image Placeholder 1"/>
          <p:cNvSpPr>
            <a:spLocks noChangeAspect="1" noGrp="1" noRot="1"/>
          </p:cNvSpPr>
          <p:nvPr>
            <p:ph type="sldImg"/>
          </p:nvPr>
        </p:nvSpPr>
        <p:spPr bwMode="auto"/>
      </p:sp>
      <p:sp>
        <p:nvSpPr>
          <p:cNvPr id="133511064" name="Notes Placeholder 2"/>
          <p:cNvSpPr>
            <a:spLocks noGrp="1"/>
          </p:cNvSpPr>
          <p:nvPr>
            <p:ph type="body" idx="1"/>
          </p:nvPr>
        </p:nvSpPr>
        <p:spPr bwMode="auto"/>
        <p:txBody>
          <a:bodyPr/>
          <a:lstStyle/>
          <a:p>
            <a:pPr>
              <a:defRPr/>
            </a:pPr>
            <a:endParaRPr/>
          </a:p>
        </p:txBody>
      </p:sp>
      <p:sp>
        <p:nvSpPr>
          <p:cNvPr id="238576988" name="Slide Number Placeholder 3"/>
          <p:cNvSpPr>
            <a:spLocks noGrp="1"/>
          </p:cNvSpPr>
          <p:nvPr>
            <p:ph type="sldNum" sz="quarter" idx="10"/>
          </p:nvPr>
        </p:nvSpPr>
        <p:spPr bwMode="auto"/>
        <p:txBody>
          <a:bodyPr/>
          <a:lstStyle/>
          <a:p>
            <a:pPr>
              <a:defRPr/>
            </a:pPr>
            <a:fld id="{217F4555-B935-4CF7-5893-46BF385E8A5D}"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566244" name="Slide Image Placeholder 1"/>
          <p:cNvSpPr>
            <a:spLocks noChangeAspect="1" noGrp="1" noRot="1"/>
          </p:cNvSpPr>
          <p:nvPr>
            <p:ph type="sldImg"/>
          </p:nvPr>
        </p:nvSpPr>
        <p:spPr bwMode="auto"/>
      </p:sp>
      <p:sp>
        <p:nvSpPr>
          <p:cNvPr id="1156007385" name="Notes Placeholder 2"/>
          <p:cNvSpPr>
            <a:spLocks noGrp="1"/>
          </p:cNvSpPr>
          <p:nvPr>
            <p:ph type="body" idx="1"/>
          </p:nvPr>
        </p:nvSpPr>
        <p:spPr bwMode="auto"/>
        <p:txBody>
          <a:bodyPr/>
          <a:lstStyle/>
          <a:p>
            <a:pPr>
              <a:defRPr/>
            </a:pPr>
            <a:endParaRPr/>
          </a:p>
        </p:txBody>
      </p:sp>
      <p:sp>
        <p:nvSpPr>
          <p:cNvPr id="671757997" name="Slide Number Placeholder 3"/>
          <p:cNvSpPr>
            <a:spLocks noGrp="1"/>
          </p:cNvSpPr>
          <p:nvPr>
            <p:ph type="sldNum" sz="quarter" idx="10"/>
          </p:nvPr>
        </p:nvSpPr>
        <p:spPr bwMode="auto"/>
        <p:txBody>
          <a:bodyPr/>
          <a:lstStyle/>
          <a:p>
            <a:pPr>
              <a:defRPr/>
            </a:pPr>
            <a:fld id="{6225905C-1A05-030D-EC61-3A0A8DA1596E}"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6242263" name="Slide Image Placeholder 1"/>
          <p:cNvSpPr>
            <a:spLocks noChangeAspect="1" noGrp="1" noRot="1"/>
          </p:cNvSpPr>
          <p:nvPr>
            <p:ph type="sldImg"/>
          </p:nvPr>
        </p:nvSpPr>
        <p:spPr bwMode="auto"/>
      </p:sp>
      <p:sp>
        <p:nvSpPr>
          <p:cNvPr id="963977724" name="Notes Placeholder 2"/>
          <p:cNvSpPr>
            <a:spLocks noGrp="1"/>
          </p:cNvSpPr>
          <p:nvPr>
            <p:ph type="body" idx="1"/>
          </p:nvPr>
        </p:nvSpPr>
        <p:spPr bwMode="auto"/>
        <p:txBody>
          <a:bodyPr/>
          <a:lstStyle/>
          <a:p>
            <a:pPr>
              <a:defRPr/>
            </a:pPr>
            <a:endParaRPr/>
          </a:p>
        </p:txBody>
      </p:sp>
      <p:sp>
        <p:nvSpPr>
          <p:cNvPr id="529727721" name="Slide Number Placeholder 3"/>
          <p:cNvSpPr>
            <a:spLocks noGrp="1"/>
          </p:cNvSpPr>
          <p:nvPr>
            <p:ph type="sldNum" sz="quarter" idx="10"/>
          </p:nvPr>
        </p:nvSpPr>
        <p:spPr bwMode="auto"/>
        <p:txBody>
          <a:bodyPr/>
          <a:lstStyle/>
          <a:p>
            <a:pPr>
              <a:defRPr/>
            </a:pPr>
            <a:fld id="{939604A4-4C98-993D-43B2-C0A46FD1A782}"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3406568" name="Slide Image Placeholder 1"/>
          <p:cNvSpPr>
            <a:spLocks noChangeAspect="1" noGrp="1" noRot="1"/>
          </p:cNvSpPr>
          <p:nvPr>
            <p:ph type="sldImg"/>
          </p:nvPr>
        </p:nvSpPr>
        <p:spPr bwMode="auto"/>
      </p:sp>
      <p:sp>
        <p:nvSpPr>
          <p:cNvPr id="715591548" name="Notes Placeholder 2"/>
          <p:cNvSpPr>
            <a:spLocks noGrp="1"/>
          </p:cNvSpPr>
          <p:nvPr>
            <p:ph type="body" idx="1"/>
          </p:nvPr>
        </p:nvSpPr>
        <p:spPr bwMode="auto"/>
        <p:txBody>
          <a:bodyPr/>
          <a:lstStyle/>
          <a:p>
            <a:pPr>
              <a:defRPr/>
            </a:pPr>
            <a:endParaRPr/>
          </a:p>
        </p:txBody>
      </p:sp>
      <p:sp>
        <p:nvSpPr>
          <p:cNvPr id="1357269435" name="Slide Number Placeholder 3"/>
          <p:cNvSpPr>
            <a:spLocks noGrp="1"/>
          </p:cNvSpPr>
          <p:nvPr>
            <p:ph type="sldNum" sz="quarter" idx="10"/>
          </p:nvPr>
        </p:nvSpPr>
        <p:spPr bwMode="auto"/>
        <p:txBody>
          <a:bodyPr/>
          <a:lstStyle/>
          <a:p>
            <a:pPr>
              <a:defRPr/>
            </a:pPr>
            <a:fld id="{15472CC1-C146-E15E-0949-8834251AC844}"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8638730" name="Slide Image Placeholder 1"/>
          <p:cNvSpPr>
            <a:spLocks noChangeAspect="1" noGrp="1" noRot="1"/>
          </p:cNvSpPr>
          <p:nvPr>
            <p:ph type="sldImg"/>
          </p:nvPr>
        </p:nvSpPr>
        <p:spPr bwMode="auto"/>
      </p:sp>
      <p:sp>
        <p:nvSpPr>
          <p:cNvPr id="1455182388" name="Notes Placeholder 2"/>
          <p:cNvSpPr>
            <a:spLocks noGrp="1"/>
          </p:cNvSpPr>
          <p:nvPr>
            <p:ph type="body" idx="1"/>
          </p:nvPr>
        </p:nvSpPr>
        <p:spPr bwMode="auto"/>
        <p:txBody>
          <a:bodyPr/>
          <a:lstStyle/>
          <a:p>
            <a:pPr>
              <a:defRPr/>
            </a:pPr>
            <a:endParaRPr/>
          </a:p>
        </p:txBody>
      </p:sp>
      <p:sp>
        <p:nvSpPr>
          <p:cNvPr id="1782679688" name="Slide Number Placeholder 3"/>
          <p:cNvSpPr>
            <a:spLocks noGrp="1"/>
          </p:cNvSpPr>
          <p:nvPr>
            <p:ph type="sldNum" sz="quarter" idx="10"/>
          </p:nvPr>
        </p:nvSpPr>
        <p:spPr bwMode="auto"/>
        <p:txBody>
          <a:bodyPr/>
          <a:lstStyle/>
          <a:p>
            <a:pPr>
              <a:defRPr/>
            </a:pPr>
            <a:fld id="{87EE65E4-D2A0-6A7F-862C-F06D2CC8CA36}"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6674572" name="Slide Image Placeholder 1"/>
          <p:cNvSpPr>
            <a:spLocks noChangeAspect="1" noGrp="1" noRot="1"/>
          </p:cNvSpPr>
          <p:nvPr>
            <p:ph type="sldImg"/>
          </p:nvPr>
        </p:nvSpPr>
        <p:spPr bwMode="auto"/>
      </p:sp>
      <p:sp>
        <p:nvSpPr>
          <p:cNvPr id="2034157616" name="Notes Placeholder 2"/>
          <p:cNvSpPr>
            <a:spLocks noGrp="1"/>
          </p:cNvSpPr>
          <p:nvPr>
            <p:ph type="body" idx="1"/>
          </p:nvPr>
        </p:nvSpPr>
        <p:spPr bwMode="auto"/>
        <p:txBody>
          <a:bodyPr/>
          <a:lstStyle/>
          <a:p>
            <a:pPr>
              <a:defRPr/>
            </a:pPr>
            <a:endParaRPr/>
          </a:p>
        </p:txBody>
      </p:sp>
      <p:sp>
        <p:nvSpPr>
          <p:cNvPr id="1489160760" name="Slide Number Placeholder 3"/>
          <p:cNvSpPr>
            <a:spLocks noGrp="1"/>
          </p:cNvSpPr>
          <p:nvPr>
            <p:ph type="sldNum" sz="quarter" idx="10"/>
          </p:nvPr>
        </p:nvSpPr>
        <p:spPr bwMode="auto"/>
        <p:txBody>
          <a:bodyPr/>
          <a:lstStyle/>
          <a:p>
            <a:pPr>
              <a:defRPr/>
            </a:pPr>
            <a:fld id="{5394038D-ACF7-5487-5066-594365F1DD67}"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9876589" name="Slide Image Placeholder 1"/>
          <p:cNvSpPr>
            <a:spLocks noChangeAspect="1" noGrp="1" noRot="1"/>
          </p:cNvSpPr>
          <p:nvPr>
            <p:ph type="sldImg"/>
          </p:nvPr>
        </p:nvSpPr>
        <p:spPr bwMode="auto"/>
      </p:sp>
      <p:sp>
        <p:nvSpPr>
          <p:cNvPr id="2061336118" name="Notes Placeholder 2"/>
          <p:cNvSpPr>
            <a:spLocks noGrp="1"/>
          </p:cNvSpPr>
          <p:nvPr>
            <p:ph type="body" idx="1"/>
          </p:nvPr>
        </p:nvSpPr>
        <p:spPr bwMode="auto"/>
        <p:txBody>
          <a:bodyPr/>
          <a:lstStyle/>
          <a:p>
            <a:pPr>
              <a:defRPr/>
            </a:pPr>
            <a:endParaRPr/>
          </a:p>
        </p:txBody>
      </p:sp>
      <p:sp>
        <p:nvSpPr>
          <p:cNvPr id="1746269352" name="Slide Number Placeholder 3"/>
          <p:cNvSpPr>
            <a:spLocks noGrp="1"/>
          </p:cNvSpPr>
          <p:nvPr>
            <p:ph type="sldNum" sz="quarter" idx="10"/>
          </p:nvPr>
        </p:nvSpPr>
        <p:spPr bwMode="auto"/>
        <p:txBody>
          <a:bodyPr/>
          <a:lstStyle/>
          <a:p>
            <a:pPr>
              <a:defRPr/>
            </a:pPr>
            <a:fld id="{FECAA11B-12C4-E13D-7951-516184AED548}"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17765" name="Slide Image Placeholder 1"/>
          <p:cNvSpPr>
            <a:spLocks noChangeAspect="1" noGrp="1" noRot="1"/>
          </p:cNvSpPr>
          <p:nvPr>
            <p:ph type="sldImg"/>
          </p:nvPr>
        </p:nvSpPr>
        <p:spPr bwMode="auto"/>
      </p:sp>
      <p:sp>
        <p:nvSpPr>
          <p:cNvPr id="1364778886" name="Notes Placeholder 2"/>
          <p:cNvSpPr>
            <a:spLocks noGrp="1"/>
          </p:cNvSpPr>
          <p:nvPr>
            <p:ph type="body" idx="1"/>
          </p:nvPr>
        </p:nvSpPr>
        <p:spPr bwMode="auto"/>
        <p:txBody>
          <a:bodyPr/>
          <a:lstStyle/>
          <a:p>
            <a:pPr>
              <a:defRPr/>
            </a:pPr>
            <a:endParaRPr/>
          </a:p>
        </p:txBody>
      </p:sp>
      <p:sp>
        <p:nvSpPr>
          <p:cNvPr id="774610316" name="Slide Number Placeholder 3"/>
          <p:cNvSpPr>
            <a:spLocks noGrp="1"/>
          </p:cNvSpPr>
          <p:nvPr>
            <p:ph type="sldNum" sz="quarter" idx="10"/>
          </p:nvPr>
        </p:nvSpPr>
        <p:spPr bwMode="auto"/>
        <p:txBody>
          <a:bodyPr/>
          <a:lstStyle/>
          <a:p>
            <a:pPr>
              <a:defRPr/>
            </a:pPr>
            <a:fld id="{124375EE-A34A-25B7-EA8E-29073CD018D2}"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3259D5-BA64-68E6-A96F-36D978CA6ADD}"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2FD70BE-DB6F-368D-C1EF-D8153E5A78D9}"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D9665C1-62CF-75FD-9E0D-0458C57DC592}"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E8C586-D60E-8041-4377-1770140EA92D}"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31833020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334343299"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7002313"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76604311" name="Footer Placeholder 4"/>
          <p:cNvSpPr>
            <a:spLocks noGrp="1"/>
          </p:cNvSpPr>
          <p:nvPr>
            <p:ph type="ftr" sz="quarter" idx="11"/>
          </p:nvPr>
        </p:nvSpPr>
        <p:spPr bwMode="auto"/>
        <p:txBody>
          <a:bodyPr/>
          <a:lstStyle/>
          <a:p>
            <a:pPr>
              <a:defRPr/>
            </a:pPr>
            <a:endParaRPr lang="en-US"/>
          </a:p>
        </p:txBody>
      </p:sp>
      <p:sp>
        <p:nvSpPr>
          <p:cNvPr id="52703493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634565872" name="Title 1"/>
          <p:cNvSpPr>
            <a:spLocks noGrp="1"/>
          </p:cNvSpPr>
          <p:nvPr>
            <p:ph type="title"/>
          </p:nvPr>
        </p:nvSpPr>
        <p:spPr bwMode="auto"/>
        <p:txBody>
          <a:bodyPr/>
          <a:lstStyle/>
          <a:p>
            <a:pPr>
              <a:defRPr/>
            </a:pPr>
            <a:r>
              <a:rPr lang="en-US"/>
              <a:t>Click to edit Master title style</a:t>
            </a:r>
            <a:endParaRPr lang="en-US"/>
          </a:p>
        </p:txBody>
      </p:sp>
      <p:sp>
        <p:nvSpPr>
          <p:cNvPr id="153915299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10279294"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116079321" name="Footer Placeholder 4"/>
          <p:cNvSpPr>
            <a:spLocks noGrp="1"/>
          </p:cNvSpPr>
          <p:nvPr>
            <p:ph type="ftr" sz="quarter" idx="11"/>
          </p:nvPr>
        </p:nvSpPr>
        <p:spPr bwMode="auto"/>
        <p:txBody>
          <a:bodyPr/>
          <a:lstStyle/>
          <a:p>
            <a:pPr>
              <a:defRPr/>
            </a:pPr>
            <a:endParaRPr lang="en-US"/>
          </a:p>
        </p:txBody>
      </p:sp>
      <p:sp>
        <p:nvSpPr>
          <p:cNvPr id="117981475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04183914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715235839"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2868512"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830886822" name="Footer Placeholder 4"/>
          <p:cNvSpPr>
            <a:spLocks noGrp="1"/>
          </p:cNvSpPr>
          <p:nvPr>
            <p:ph type="ftr" sz="quarter" idx="11"/>
          </p:nvPr>
        </p:nvSpPr>
        <p:spPr bwMode="auto"/>
        <p:txBody>
          <a:bodyPr/>
          <a:lstStyle/>
          <a:p>
            <a:pPr>
              <a:defRPr/>
            </a:pPr>
            <a:endParaRPr lang="en-US"/>
          </a:p>
        </p:txBody>
      </p:sp>
      <p:sp>
        <p:nvSpPr>
          <p:cNvPr id="106447994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317282236" name="Title 1"/>
          <p:cNvSpPr>
            <a:spLocks noGrp="1"/>
          </p:cNvSpPr>
          <p:nvPr>
            <p:ph type="title"/>
          </p:nvPr>
        </p:nvSpPr>
        <p:spPr bwMode="auto"/>
        <p:txBody>
          <a:bodyPr/>
          <a:lstStyle/>
          <a:p>
            <a:pPr>
              <a:defRPr/>
            </a:pPr>
            <a:r>
              <a:rPr lang="en-US"/>
              <a:t>Click to edit Master title style</a:t>
            </a:r>
            <a:endParaRPr lang="en-US"/>
          </a:p>
        </p:txBody>
      </p:sp>
      <p:sp>
        <p:nvSpPr>
          <p:cNvPr id="61590180"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26894745"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953826169"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550093827" name="Footer Placeholder 5"/>
          <p:cNvSpPr>
            <a:spLocks noGrp="1"/>
          </p:cNvSpPr>
          <p:nvPr>
            <p:ph type="ftr" sz="quarter" idx="11"/>
          </p:nvPr>
        </p:nvSpPr>
        <p:spPr bwMode="auto"/>
        <p:txBody>
          <a:bodyPr/>
          <a:lstStyle/>
          <a:p>
            <a:pPr>
              <a:defRPr/>
            </a:pPr>
            <a:endParaRPr lang="en-US"/>
          </a:p>
        </p:txBody>
      </p:sp>
      <p:sp>
        <p:nvSpPr>
          <p:cNvPr id="933472398"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50266213"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559702962"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43293130"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85175312"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8335625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81889834"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637491993" name="Footer Placeholder 7"/>
          <p:cNvSpPr>
            <a:spLocks noGrp="1"/>
          </p:cNvSpPr>
          <p:nvPr>
            <p:ph type="ftr" sz="quarter" idx="11"/>
          </p:nvPr>
        </p:nvSpPr>
        <p:spPr bwMode="auto"/>
        <p:txBody>
          <a:bodyPr/>
          <a:lstStyle/>
          <a:p>
            <a:pPr>
              <a:defRPr/>
            </a:pPr>
            <a:endParaRPr lang="en-US"/>
          </a:p>
        </p:txBody>
      </p:sp>
      <p:sp>
        <p:nvSpPr>
          <p:cNvPr id="560876847"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868298036" name="Title 1"/>
          <p:cNvSpPr>
            <a:spLocks noGrp="1"/>
          </p:cNvSpPr>
          <p:nvPr>
            <p:ph type="title"/>
          </p:nvPr>
        </p:nvSpPr>
        <p:spPr bwMode="auto"/>
        <p:txBody>
          <a:bodyPr/>
          <a:lstStyle/>
          <a:p>
            <a:pPr>
              <a:defRPr/>
            </a:pPr>
            <a:r>
              <a:rPr lang="en-US"/>
              <a:t>Click to edit Master title style</a:t>
            </a:r>
            <a:endParaRPr lang="en-US"/>
          </a:p>
        </p:txBody>
      </p:sp>
      <p:sp>
        <p:nvSpPr>
          <p:cNvPr id="1514013100"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590970204" name="Footer Placeholder 3"/>
          <p:cNvSpPr>
            <a:spLocks noGrp="1"/>
          </p:cNvSpPr>
          <p:nvPr>
            <p:ph type="ftr" sz="quarter" idx="11"/>
          </p:nvPr>
        </p:nvSpPr>
        <p:spPr bwMode="auto"/>
        <p:txBody>
          <a:bodyPr/>
          <a:lstStyle/>
          <a:p>
            <a:pPr>
              <a:defRPr/>
            </a:pPr>
            <a:endParaRPr lang="en-US"/>
          </a:p>
        </p:txBody>
      </p:sp>
      <p:sp>
        <p:nvSpPr>
          <p:cNvPr id="1768232347"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563357315"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926905955" name="Footer Placeholder 2"/>
          <p:cNvSpPr>
            <a:spLocks noGrp="1"/>
          </p:cNvSpPr>
          <p:nvPr>
            <p:ph type="ftr" sz="quarter" idx="11"/>
          </p:nvPr>
        </p:nvSpPr>
        <p:spPr bwMode="auto"/>
        <p:txBody>
          <a:bodyPr/>
          <a:lstStyle/>
          <a:p>
            <a:pPr>
              <a:defRPr/>
            </a:pPr>
            <a:endParaRPr lang="en-US"/>
          </a:p>
        </p:txBody>
      </p:sp>
      <p:sp>
        <p:nvSpPr>
          <p:cNvPr id="495789573"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885582494"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1495554200"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64135916"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215149233"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31698125" name="Footer Placeholder 5"/>
          <p:cNvSpPr>
            <a:spLocks noGrp="1"/>
          </p:cNvSpPr>
          <p:nvPr>
            <p:ph type="ftr" sz="quarter" idx="11"/>
          </p:nvPr>
        </p:nvSpPr>
        <p:spPr bwMode="auto"/>
        <p:txBody>
          <a:bodyPr/>
          <a:lstStyle/>
          <a:p>
            <a:pPr>
              <a:defRPr/>
            </a:pPr>
            <a:endParaRPr lang="en-US"/>
          </a:p>
        </p:txBody>
      </p:sp>
      <p:sp>
        <p:nvSpPr>
          <p:cNvPr id="1274291559"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95913584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54336794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184636998"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870291000"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148884289" name="Footer Placeholder 5"/>
          <p:cNvSpPr>
            <a:spLocks noGrp="1"/>
          </p:cNvSpPr>
          <p:nvPr>
            <p:ph type="ftr" sz="quarter" idx="11"/>
          </p:nvPr>
        </p:nvSpPr>
        <p:spPr bwMode="auto"/>
        <p:txBody>
          <a:bodyPr/>
          <a:lstStyle/>
          <a:p>
            <a:pPr>
              <a:defRPr/>
            </a:pPr>
            <a:endParaRPr lang="en-US"/>
          </a:p>
        </p:txBody>
      </p:sp>
      <p:sp>
        <p:nvSpPr>
          <p:cNvPr id="120356709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3583389" name="Title 1"/>
          <p:cNvSpPr>
            <a:spLocks noGrp="1"/>
          </p:cNvSpPr>
          <p:nvPr>
            <p:ph type="title"/>
          </p:nvPr>
        </p:nvSpPr>
        <p:spPr bwMode="auto"/>
        <p:txBody>
          <a:bodyPr/>
          <a:lstStyle/>
          <a:p>
            <a:pPr>
              <a:defRPr/>
            </a:pPr>
            <a:r>
              <a:rPr lang="en-US"/>
              <a:t>Click to edit Master title style</a:t>
            </a:r>
            <a:endParaRPr lang="en-US"/>
          </a:p>
        </p:txBody>
      </p:sp>
      <p:sp>
        <p:nvSpPr>
          <p:cNvPr id="1351174540"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82844959"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087446088" name="Footer Placeholder 4"/>
          <p:cNvSpPr>
            <a:spLocks noGrp="1"/>
          </p:cNvSpPr>
          <p:nvPr>
            <p:ph type="ftr" sz="quarter" idx="11"/>
          </p:nvPr>
        </p:nvSpPr>
        <p:spPr bwMode="auto"/>
        <p:txBody>
          <a:bodyPr/>
          <a:lstStyle/>
          <a:p>
            <a:pPr>
              <a:defRPr/>
            </a:pPr>
            <a:endParaRPr lang="en-US"/>
          </a:p>
        </p:txBody>
      </p:sp>
      <p:sp>
        <p:nvSpPr>
          <p:cNvPr id="959388683"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256093575"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56068760"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9551272"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03738078" name="Footer Placeholder 4"/>
          <p:cNvSpPr>
            <a:spLocks noGrp="1"/>
          </p:cNvSpPr>
          <p:nvPr>
            <p:ph type="ftr" sz="quarter" idx="11"/>
          </p:nvPr>
        </p:nvSpPr>
        <p:spPr bwMode="auto"/>
        <p:txBody>
          <a:bodyPr/>
          <a:lstStyle/>
          <a:p>
            <a:pPr>
              <a:defRPr/>
            </a:pPr>
            <a:endParaRPr lang="en-US"/>
          </a:p>
        </p:txBody>
      </p:sp>
      <p:sp>
        <p:nvSpPr>
          <p:cNvPr id="47013822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629145053"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656016197"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73787944"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2141564458"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04287023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2.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3.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16567768"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981710483"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79080145" name="TextBox 6"/>
          <p:cNvSpPr txBox="1"/>
          <p:nvPr/>
        </p:nvSpPr>
        <p:spPr bwMode="auto">
          <a:xfrm rot="0">
            <a:off x="557516" y="4240112"/>
            <a:ext cx="10784695" cy="928984"/>
          </a:xfrm>
          <a:prstGeom prst="rect">
            <a:avLst/>
          </a:prstGeom>
        </p:spPr>
        <p:txBody>
          <a:bodyPr lIns="0" tIns="0" rIns="0" bIns="0" rtlCol="0" anchor="t">
            <a:spAutoFit/>
          </a:bodyPr>
          <a:lstStyle/>
          <a:p>
            <a:pPr algn="l">
              <a:lnSpc>
                <a:spcPts val="7000"/>
              </a:lnSpc>
              <a:defRPr/>
            </a:pPr>
            <a:r>
              <a:rPr lang="en-US" sz="5550" b="1">
                <a:solidFill>
                  <a:srgbClr val="2E3C4E"/>
                </a:solidFill>
                <a:latin typeface="Barlow Bold"/>
                <a:ea typeface="Barlow Bold"/>
                <a:cs typeface="Barlow Bold"/>
              </a:rPr>
              <a:t>BASES DU LANGAGE PYTHON</a:t>
            </a:r>
            <a:endParaRPr/>
          </a:p>
        </p:txBody>
      </p:sp>
      <p:sp>
        <p:nvSpPr>
          <p:cNvPr id="1861932110" name="TextBox 9"/>
          <p:cNvSpPr txBox="1"/>
          <p:nvPr/>
        </p:nvSpPr>
        <p:spPr bwMode="auto">
          <a:xfrm rot="0">
            <a:off x="3913288" y="9407255"/>
            <a:ext cx="9997042" cy="597767"/>
          </a:xfrm>
          <a:prstGeom prst="rect">
            <a:avLst/>
          </a:prstGeom>
        </p:spPr>
        <p:txBody>
          <a:bodyPr lIns="0" tIns="0" rIns="0" bIns="0" rtlCol="0" anchor="t">
            <a:spAutoFit/>
          </a:bodyPr>
          <a:lstStyle/>
          <a:p>
            <a:pPr algn="ctr">
              <a:lnSpc>
                <a:spcPts val="4704"/>
              </a:lnSpc>
              <a:spcBef>
                <a:spcPts val="0"/>
              </a:spcBef>
              <a:defRPr/>
            </a:pPr>
            <a:r>
              <a:rPr lang="en-US" sz="1800" b="1">
                <a:solidFill>
                  <a:srgbClr val="2E3C4E"/>
                </a:solidFill>
                <a:latin typeface="Montserrat"/>
                <a:ea typeface="Montserrat"/>
                <a:cs typeface="Montserrat"/>
              </a:rPr>
              <a:t>COURS DE PYTHON                            IAI-TOGO</a:t>
            </a:r>
            <a:endParaRPr sz="1800" b="1"/>
          </a:p>
        </p:txBody>
      </p:sp>
      <p:pic>
        <p:nvPicPr>
          <p:cNvPr id="90603420" name=""/>
          <p:cNvPicPr>
            <a:picLocks noChangeAspect="1"/>
          </p:cNvPicPr>
          <p:nvPr/>
        </p:nvPicPr>
        <p:blipFill>
          <a:blip r:embed="rId4"/>
          <a:stretch/>
        </p:blipFill>
        <p:spPr bwMode="auto">
          <a:xfrm rot="16199969" flipH="0" flipV="0">
            <a:off x="11053915" y="3353592"/>
            <a:ext cx="7292089" cy="340401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631121559"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476064016"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446856256" name="TextBox 6"/>
          <p:cNvSpPr txBox="1"/>
          <p:nvPr/>
        </p:nvSpPr>
        <p:spPr bwMode="auto">
          <a:xfrm rot="0" flipH="0" flipV="0">
            <a:off x="2555229" y="1480938"/>
            <a:ext cx="11100021" cy="706734"/>
          </a:xfrm>
          <a:prstGeom prst="rect">
            <a:avLst/>
          </a:prstGeom>
        </p:spPr>
        <p:txBody>
          <a:bodyPr lIns="0" tIns="0" rIns="0" bIns="0" rtlCol="0" anchor="t">
            <a:spAutoFit/>
          </a:bodyPr>
          <a:lstStyle/>
          <a:p>
            <a:pPr algn="l">
              <a:lnSpc>
                <a:spcPts val="5562"/>
              </a:lnSpc>
              <a:defRPr/>
            </a:pPr>
            <a:r>
              <a:rPr lang="en-US" sz="4450" b="1">
                <a:solidFill>
                  <a:srgbClr val="2E3C4E"/>
                </a:solidFill>
                <a:latin typeface="Barlow Bold"/>
                <a:ea typeface="Barlow Bold"/>
                <a:cs typeface="Barlow Bold"/>
              </a:rPr>
              <a:t>Introduction au langage PYTHON</a:t>
            </a:r>
            <a:endParaRPr/>
          </a:p>
        </p:txBody>
      </p:sp>
      <p:grpSp>
        <p:nvGrpSpPr>
          <p:cNvPr id="1530341793" name="Group 7"/>
          <p:cNvGrpSpPr/>
          <p:nvPr/>
        </p:nvGrpSpPr>
        <p:grpSpPr bwMode="auto">
          <a:xfrm rot="0">
            <a:off x="943124" y="4028926"/>
            <a:ext cx="8070205" cy="1611065"/>
            <a:chOff x="0" y="0"/>
            <a:chExt cx="10760273" cy="2148087"/>
          </a:xfrm>
        </p:grpSpPr>
        <p:sp>
          <p:nvSpPr>
            <p:cNvPr id="8" name="Freeform 8"/>
            <p:cNvSpPr/>
            <p:nvPr/>
          </p:nvSpPr>
          <p:spPr bwMode="auto">
            <a:xfrm rot="0" flipH="0" flipV="0">
              <a:off x="6350" y="6350"/>
              <a:ext cx="10747501" cy="2135378"/>
            </a:xfrm>
            <a:custGeom>
              <a:avLst/>
              <a:gdLst/>
              <a:ahLst/>
              <a:cxnLst/>
              <a:rect l="l" t="t" r="r" b="b"/>
              <a:pathLst>
                <a:path w="10747501" h="2135378" fill="norm" stroke="1" extrusionOk="0">
                  <a:moveTo>
                    <a:pt x="0" y="541655"/>
                  </a:moveTo>
                  <a:cubicBezTo>
                    <a:pt x="0" y="242570"/>
                    <a:pt x="243713" y="0"/>
                    <a:pt x="544195" y="0"/>
                  </a:cubicBezTo>
                  <a:lnTo>
                    <a:pt x="10203307" y="0"/>
                  </a:lnTo>
                  <a:cubicBezTo>
                    <a:pt x="10503915" y="0"/>
                    <a:pt x="10747501" y="242570"/>
                    <a:pt x="10747501" y="541655"/>
                  </a:cubicBezTo>
                  <a:lnTo>
                    <a:pt x="10747501" y="1593723"/>
                  </a:lnTo>
                  <a:cubicBezTo>
                    <a:pt x="10747501" y="1892935"/>
                    <a:pt x="10503788" y="2135378"/>
                    <a:pt x="10203307" y="2135378"/>
                  </a:cubicBezTo>
                  <a:lnTo>
                    <a:pt x="544195" y="2135378"/>
                  </a:lnTo>
                  <a:cubicBezTo>
                    <a:pt x="243713" y="2135378"/>
                    <a:pt x="0" y="1892935"/>
                    <a:pt x="0" y="1593723"/>
                  </a:cubicBezTo>
                  <a:close/>
                </a:path>
              </a:pathLst>
            </a:custGeom>
            <a:solidFill>
              <a:srgbClr val="D4E9F7"/>
            </a:solidFill>
          </p:spPr>
        </p:sp>
        <p:sp>
          <p:nvSpPr>
            <p:cNvPr id="9" name="Freeform 9"/>
            <p:cNvSpPr/>
            <p:nvPr/>
          </p:nvSpPr>
          <p:spPr bwMode="auto">
            <a:xfrm rot="0" flipH="0" flipV="0">
              <a:off x="0" y="0"/>
              <a:ext cx="10760201" cy="2148078"/>
            </a:xfrm>
            <a:custGeom>
              <a:avLst/>
              <a:gdLst/>
              <a:ahLst/>
              <a:cxnLst/>
              <a:rect l="l" t="t" r="r" b="b"/>
              <a:pathLst>
                <a:path w="10760201" h="2148078" fill="norm" stroke="1" extrusionOk="0">
                  <a:moveTo>
                    <a:pt x="0" y="548005"/>
                  </a:moveTo>
                  <a:cubicBezTo>
                    <a:pt x="0" y="245364"/>
                    <a:pt x="246507" y="0"/>
                    <a:pt x="550545" y="0"/>
                  </a:cubicBezTo>
                  <a:lnTo>
                    <a:pt x="10209657" y="0"/>
                  </a:lnTo>
                  <a:lnTo>
                    <a:pt x="10209657" y="6350"/>
                  </a:lnTo>
                  <a:lnTo>
                    <a:pt x="10209657" y="0"/>
                  </a:lnTo>
                  <a:cubicBezTo>
                    <a:pt x="10513695" y="0"/>
                    <a:pt x="10760201" y="245364"/>
                    <a:pt x="10760201" y="548005"/>
                  </a:cubicBezTo>
                  <a:lnTo>
                    <a:pt x="10753851" y="548005"/>
                  </a:lnTo>
                  <a:lnTo>
                    <a:pt x="10760201" y="548005"/>
                  </a:lnTo>
                  <a:lnTo>
                    <a:pt x="10760201" y="1600073"/>
                  </a:lnTo>
                  <a:lnTo>
                    <a:pt x="10753851" y="1600073"/>
                  </a:lnTo>
                  <a:lnTo>
                    <a:pt x="10760201" y="1600073"/>
                  </a:lnTo>
                  <a:cubicBezTo>
                    <a:pt x="10760201" y="1902714"/>
                    <a:pt x="10513695" y="2148078"/>
                    <a:pt x="10209657" y="2148078"/>
                  </a:cubicBezTo>
                  <a:lnTo>
                    <a:pt x="10209657" y="2141728"/>
                  </a:lnTo>
                  <a:lnTo>
                    <a:pt x="10209657"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657" y="2135378"/>
                  </a:lnTo>
                  <a:cubicBezTo>
                    <a:pt x="10506710" y="2135378"/>
                    <a:pt x="10747501" y="1895729"/>
                    <a:pt x="10747501" y="1600073"/>
                  </a:cubicBezTo>
                  <a:lnTo>
                    <a:pt x="10747501" y="548005"/>
                  </a:lnTo>
                  <a:cubicBezTo>
                    <a:pt x="10747629" y="252349"/>
                    <a:pt x="10506837" y="12700"/>
                    <a:pt x="10209657"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id="96735156" name="TextBox 10"/>
          <p:cNvSpPr txBox="1"/>
          <p:nvPr/>
        </p:nvSpPr>
        <p:spPr bwMode="auto">
          <a:xfrm rot="0" flipH="0" flipV="0">
            <a:off x="1228129" y="4285356"/>
            <a:ext cx="7406652" cy="444859"/>
          </a:xfrm>
          <a:prstGeom prst="rect">
            <a:avLst/>
          </a:prstGeom>
        </p:spPr>
        <p:txBody>
          <a:bodyPr lIns="0" tIns="0" rIns="0" bIns="0" rtlCol="0" anchor="t">
            <a:spAutoFit/>
          </a:bodyPr>
          <a:lstStyle/>
          <a:p>
            <a:pPr algn="l">
              <a:lnSpc>
                <a:spcPts val="3500"/>
              </a:lnSpc>
              <a:defRPr/>
            </a:pPr>
            <a:r>
              <a:rPr lang="en-US" sz="2750" b="1">
                <a:solidFill>
                  <a:srgbClr val="384653"/>
                </a:solidFill>
                <a:latin typeface="Barlow Bold"/>
                <a:ea typeface="Barlow Bold"/>
                <a:cs typeface="Barlow Bold"/>
              </a:rPr>
              <a:t>Langage orienté objet</a:t>
            </a:r>
            <a:endParaRPr/>
          </a:p>
        </p:txBody>
      </p:sp>
      <p:sp>
        <p:nvSpPr>
          <p:cNvPr id="1728953466" name="TextBox 11"/>
          <p:cNvSpPr txBox="1"/>
          <p:nvPr/>
        </p:nvSpPr>
        <p:spPr bwMode="auto">
          <a:xfrm rot="0">
            <a:off x="1228130" y="4845398"/>
            <a:ext cx="7500194" cy="509588"/>
          </a:xfrm>
          <a:prstGeom prst="rect">
            <a:avLst/>
          </a:prstGeom>
        </p:spPr>
        <p:txBody>
          <a:bodyPr lIns="0" tIns="0" rIns="0" bIns="0" rtlCol="0" anchor="t">
            <a:spAutoFit/>
          </a:bodyPr>
          <a:lstStyle/>
          <a:p>
            <a:pPr algn="l">
              <a:lnSpc>
                <a:spcPts val="3374"/>
              </a:lnSpc>
              <a:defRPr/>
            </a:pPr>
            <a:r>
              <a:rPr lang="en-US" sz="2150">
                <a:solidFill>
                  <a:srgbClr val="384653"/>
                </a:solidFill>
                <a:latin typeface="Montserrat"/>
                <a:ea typeface="Montserrat"/>
                <a:cs typeface="Montserrat"/>
              </a:rPr>
              <a:t>Paradigme de programmation moderne et flexible</a:t>
            </a:r>
            <a:endParaRPr/>
          </a:p>
        </p:txBody>
      </p:sp>
      <p:grpSp>
        <p:nvGrpSpPr>
          <p:cNvPr id="248921625" name="Group 12"/>
          <p:cNvGrpSpPr/>
          <p:nvPr/>
        </p:nvGrpSpPr>
        <p:grpSpPr bwMode="auto">
          <a:xfrm rot="0">
            <a:off x="9274521" y="4028926"/>
            <a:ext cx="8070354" cy="1611065"/>
            <a:chOff x="0" y="0"/>
            <a:chExt cx="10760472" cy="2148087"/>
          </a:xfrm>
        </p:grpSpPr>
        <p:sp>
          <p:nvSpPr>
            <p:cNvPr id="13" name="Freeform 13"/>
            <p:cNvSpPr/>
            <p:nvPr/>
          </p:nvSpPr>
          <p:spPr bwMode="auto">
            <a:xfrm rot="0" flipH="0" flipV="0">
              <a:off x="6350" y="6350"/>
              <a:ext cx="10747756" cy="2135378"/>
            </a:xfrm>
            <a:custGeom>
              <a:avLst/>
              <a:gdLst/>
              <a:ahLst/>
              <a:cxnLst/>
              <a:rect l="l" t="t" r="r" b="b"/>
              <a:pathLst>
                <a:path w="10747756" h="2135378" fill="norm" stroke="1" extrusionOk="0">
                  <a:moveTo>
                    <a:pt x="0" y="541655"/>
                  </a:moveTo>
                  <a:cubicBezTo>
                    <a:pt x="0" y="242570"/>
                    <a:pt x="243713" y="0"/>
                    <a:pt x="544195" y="0"/>
                  </a:cubicBezTo>
                  <a:lnTo>
                    <a:pt x="10203561" y="0"/>
                  </a:lnTo>
                  <a:cubicBezTo>
                    <a:pt x="10504170" y="0"/>
                    <a:pt x="10747756" y="242570"/>
                    <a:pt x="10747756" y="541655"/>
                  </a:cubicBezTo>
                  <a:lnTo>
                    <a:pt x="10747756" y="1593723"/>
                  </a:lnTo>
                  <a:cubicBezTo>
                    <a:pt x="10747756" y="1892935"/>
                    <a:pt x="10504043" y="2135378"/>
                    <a:pt x="10203561" y="2135378"/>
                  </a:cubicBezTo>
                  <a:lnTo>
                    <a:pt x="544195" y="2135378"/>
                  </a:lnTo>
                  <a:cubicBezTo>
                    <a:pt x="243713" y="2135378"/>
                    <a:pt x="0" y="1892935"/>
                    <a:pt x="0" y="1593723"/>
                  </a:cubicBezTo>
                  <a:close/>
                </a:path>
              </a:pathLst>
            </a:custGeom>
            <a:solidFill>
              <a:srgbClr val="D4E9F7"/>
            </a:solidFill>
          </p:spPr>
        </p:sp>
        <p:sp>
          <p:nvSpPr>
            <p:cNvPr id="14" name="Freeform 14"/>
            <p:cNvSpPr/>
            <p:nvPr/>
          </p:nvSpPr>
          <p:spPr bwMode="auto">
            <a:xfrm rot="0" flipH="0" flipV="0">
              <a:off x="0" y="0"/>
              <a:ext cx="10760456" cy="2148078"/>
            </a:xfrm>
            <a:custGeom>
              <a:avLst/>
              <a:gdLst/>
              <a:ahLst/>
              <a:cxnLst/>
              <a:rect l="l" t="t" r="r" b="b"/>
              <a:pathLst>
                <a:path w="10760456" h="2148078" fill="norm" stroke="1" extrusionOk="0">
                  <a:moveTo>
                    <a:pt x="0" y="548005"/>
                  </a:moveTo>
                  <a:cubicBezTo>
                    <a:pt x="0" y="245364"/>
                    <a:pt x="246507" y="0"/>
                    <a:pt x="550545" y="0"/>
                  </a:cubicBezTo>
                  <a:lnTo>
                    <a:pt x="10209911" y="0"/>
                  </a:lnTo>
                  <a:lnTo>
                    <a:pt x="10209911" y="6350"/>
                  </a:lnTo>
                  <a:lnTo>
                    <a:pt x="10209911" y="0"/>
                  </a:lnTo>
                  <a:cubicBezTo>
                    <a:pt x="10513949" y="0"/>
                    <a:pt x="10760456" y="245364"/>
                    <a:pt x="10760456" y="548005"/>
                  </a:cubicBezTo>
                  <a:lnTo>
                    <a:pt x="10754106" y="548005"/>
                  </a:lnTo>
                  <a:lnTo>
                    <a:pt x="10760456" y="548005"/>
                  </a:lnTo>
                  <a:lnTo>
                    <a:pt x="10760456" y="1600073"/>
                  </a:lnTo>
                  <a:lnTo>
                    <a:pt x="10754106" y="1600073"/>
                  </a:lnTo>
                  <a:lnTo>
                    <a:pt x="10760456" y="1600073"/>
                  </a:lnTo>
                  <a:cubicBezTo>
                    <a:pt x="10760456" y="1902714"/>
                    <a:pt x="10513949" y="2148078"/>
                    <a:pt x="10209911" y="2148078"/>
                  </a:cubicBezTo>
                  <a:lnTo>
                    <a:pt x="10209911" y="2141728"/>
                  </a:lnTo>
                  <a:lnTo>
                    <a:pt x="10209911"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911" y="2135378"/>
                  </a:lnTo>
                  <a:cubicBezTo>
                    <a:pt x="10506964" y="2135378"/>
                    <a:pt x="10747756" y="1895729"/>
                    <a:pt x="10747756" y="1600073"/>
                  </a:cubicBezTo>
                  <a:lnTo>
                    <a:pt x="10747756" y="548005"/>
                  </a:lnTo>
                  <a:cubicBezTo>
                    <a:pt x="10747756" y="252349"/>
                    <a:pt x="10506964" y="12700"/>
                    <a:pt x="10209911"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id="2022829891" name="TextBox 15"/>
          <p:cNvSpPr txBox="1"/>
          <p:nvPr/>
        </p:nvSpPr>
        <p:spPr bwMode="auto">
          <a:xfrm rot="0">
            <a:off x="9559529" y="4285357"/>
            <a:ext cx="3563391" cy="473869"/>
          </a:xfrm>
          <a:prstGeom prst="rect">
            <a:avLst/>
          </a:prstGeom>
        </p:spPr>
        <p:txBody>
          <a:bodyPr lIns="0" tIns="0" rIns="0" bIns="0" rtlCol="0" anchor="t">
            <a:spAutoFit/>
          </a:bodyPr>
          <a:lstStyle/>
          <a:p>
            <a:pPr algn="l">
              <a:lnSpc>
                <a:spcPts val="3500"/>
              </a:lnSpc>
              <a:defRPr/>
            </a:pPr>
            <a:r>
              <a:rPr lang="en-US" sz="2750" b="1">
                <a:solidFill>
                  <a:srgbClr val="384653"/>
                </a:solidFill>
                <a:latin typeface="Barlow Bold"/>
                <a:ea typeface="Barlow Bold"/>
                <a:cs typeface="Barlow Bold"/>
              </a:rPr>
              <a:t>Créé en 1991</a:t>
            </a:r>
            <a:endParaRPr/>
          </a:p>
        </p:txBody>
      </p:sp>
      <p:sp>
        <p:nvSpPr>
          <p:cNvPr id="136151388" name="TextBox 16"/>
          <p:cNvSpPr txBox="1"/>
          <p:nvPr/>
        </p:nvSpPr>
        <p:spPr bwMode="auto">
          <a:xfrm rot="0">
            <a:off x="9559529" y="4845398"/>
            <a:ext cx="7500342" cy="509588"/>
          </a:xfrm>
          <a:prstGeom prst="rect">
            <a:avLst/>
          </a:prstGeom>
        </p:spPr>
        <p:txBody>
          <a:bodyPr lIns="0" tIns="0" rIns="0" bIns="0" rtlCol="0" anchor="t">
            <a:spAutoFit/>
          </a:bodyPr>
          <a:lstStyle/>
          <a:p>
            <a:pPr algn="l">
              <a:lnSpc>
                <a:spcPts val="3374"/>
              </a:lnSpc>
              <a:defRPr/>
            </a:pPr>
            <a:r>
              <a:rPr lang="en-US" sz="2150">
                <a:solidFill>
                  <a:srgbClr val="384653"/>
                </a:solidFill>
                <a:latin typeface="Montserrat"/>
                <a:ea typeface="Montserrat"/>
                <a:cs typeface="Montserrat"/>
              </a:rPr>
              <a:t>Par Guido van Rossum</a:t>
            </a:r>
            <a:endParaRPr/>
          </a:p>
        </p:txBody>
      </p:sp>
      <p:grpSp>
        <p:nvGrpSpPr>
          <p:cNvPr id="1215617792" name="Group 17"/>
          <p:cNvGrpSpPr/>
          <p:nvPr/>
        </p:nvGrpSpPr>
        <p:grpSpPr bwMode="auto">
          <a:xfrm rot="0">
            <a:off x="943124" y="5901184"/>
            <a:ext cx="8070205" cy="1611065"/>
            <a:chOff x="0" y="0"/>
            <a:chExt cx="10760273" cy="2148087"/>
          </a:xfrm>
        </p:grpSpPr>
        <p:sp>
          <p:nvSpPr>
            <p:cNvPr id="18" name="Freeform 18"/>
            <p:cNvSpPr/>
            <p:nvPr/>
          </p:nvSpPr>
          <p:spPr bwMode="auto">
            <a:xfrm rot="0" flipH="0" flipV="0">
              <a:off x="6350" y="6350"/>
              <a:ext cx="10747501" cy="2135378"/>
            </a:xfrm>
            <a:custGeom>
              <a:avLst/>
              <a:gdLst/>
              <a:ahLst/>
              <a:cxnLst/>
              <a:rect l="l" t="t" r="r" b="b"/>
              <a:pathLst>
                <a:path w="10747501" h="2135378" fill="norm" stroke="1" extrusionOk="0">
                  <a:moveTo>
                    <a:pt x="0" y="541655"/>
                  </a:moveTo>
                  <a:cubicBezTo>
                    <a:pt x="0" y="242570"/>
                    <a:pt x="243713" y="0"/>
                    <a:pt x="544195" y="0"/>
                  </a:cubicBezTo>
                  <a:lnTo>
                    <a:pt x="10203307" y="0"/>
                  </a:lnTo>
                  <a:cubicBezTo>
                    <a:pt x="10503915" y="0"/>
                    <a:pt x="10747501" y="242570"/>
                    <a:pt x="10747501" y="541655"/>
                  </a:cubicBezTo>
                  <a:lnTo>
                    <a:pt x="10747501" y="1593723"/>
                  </a:lnTo>
                  <a:cubicBezTo>
                    <a:pt x="10747501" y="1892935"/>
                    <a:pt x="10503788" y="2135378"/>
                    <a:pt x="10203307" y="2135378"/>
                  </a:cubicBezTo>
                  <a:lnTo>
                    <a:pt x="544195" y="2135378"/>
                  </a:lnTo>
                  <a:cubicBezTo>
                    <a:pt x="243713" y="2135378"/>
                    <a:pt x="0" y="1892935"/>
                    <a:pt x="0" y="1593723"/>
                  </a:cubicBezTo>
                  <a:close/>
                </a:path>
              </a:pathLst>
            </a:custGeom>
            <a:solidFill>
              <a:srgbClr val="D4E9F7"/>
            </a:solidFill>
          </p:spPr>
        </p:sp>
        <p:sp>
          <p:nvSpPr>
            <p:cNvPr id="19" name="Freeform 19"/>
            <p:cNvSpPr/>
            <p:nvPr/>
          </p:nvSpPr>
          <p:spPr bwMode="auto">
            <a:xfrm rot="0" flipH="0" flipV="0">
              <a:off x="0" y="0"/>
              <a:ext cx="10760201" cy="2148078"/>
            </a:xfrm>
            <a:custGeom>
              <a:avLst/>
              <a:gdLst/>
              <a:ahLst/>
              <a:cxnLst/>
              <a:rect l="l" t="t" r="r" b="b"/>
              <a:pathLst>
                <a:path w="10760201" h="2148078" fill="norm" stroke="1" extrusionOk="0">
                  <a:moveTo>
                    <a:pt x="0" y="548005"/>
                  </a:moveTo>
                  <a:cubicBezTo>
                    <a:pt x="0" y="245364"/>
                    <a:pt x="246507" y="0"/>
                    <a:pt x="550545" y="0"/>
                  </a:cubicBezTo>
                  <a:lnTo>
                    <a:pt x="10209657" y="0"/>
                  </a:lnTo>
                  <a:lnTo>
                    <a:pt x="10209657" y="6350"/>
                  </a:lnTo>
                  <a:lnTo>
                    <a:pt x="10209657" y="0"/>
                  </a:lnTo>
                  <a:cubicBezTo>
                    <a:pt x="10513695" y="0"/>
                    <a:pt x="10760201" y="245364"/>
                    <a:pt x="10760201" y="548005"/>
                  </a:cubicBezTo>
                  <a:lnTo>
                    <a:pt x="10753851" y="548005"/>
                  </a:lnTo>
                  <a:lnTo>
                    <a:pt x="10760201" y="548005"/>
                  </a:lnTo>
                  <a:lnTo>
                    <a:pt x="10760201" y="1600073"/>
                  </a:lnTo>
                  <a:lnTo>
                    <a:pt x="10753851" y="1600073"/>
                  </a:lnTo>
                  <a:lnTo>
                    <a:pt x="10760201" y="1600073"/>
                  </a:lnTo>
                  <a:cubicBezTo>
                    <a:pt x="10760201" y="1902714"/>
                    <a:pt x="10513695" y="2148078"/>
                    <a:pt x="10209657" y="2148078"/>
                  </a:cubicBezTo>
                  <a:lnTo>
                    <a:pt x="10209657" y="2141728"/>
                  </a:lnTo>
                  <a:lnTo>
                    <a:pt x="10209657"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657" y="2135378"/>
                  </a:lnTo>
                  <a:cubicBezTo>
                    <a:pt x="10506710" y="2135378"/>
                    <a:pt x="10747501" y="1895729"/>
                    <a:pt x="10747501" y="1600073"/>
                  </a:cubicBezTo>
                  <a:lnTo>
                    <a:pt x="10747501" y="548005"/>
                  </a:lnTo>
                  <a:cubicBezTo>
                    <a:pt x="10747629" y="252349"/>
                    <a:pt x="10506837" y="12700"/>
                    <a:pt x="10209657"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id="325442266" name="TextBox 20"/>
          <p:cNvSpPr txBox="1"/>
          <p:nvPr/>
        </p:nvSpPr>
        <p:spPr bwMode="auto">
          <a:xfrm rot="0">
            <a:off x="1228130" y="6157615"/>
            <a:ext cx="3563391" cy="473869"/>
          </a:xfrm>
          <a:prstGeom prst="rect">
            <a:avLst/>
          </a:prstGeom>
        </p:spPr>
        <p:txBody>
          <a:bodyPr lIns="0" tIns="0" rIns="0" bIns="0" rtlCol="0" anchor="t">
            <a:spAutoFit/>
          </a:bodyPr>
          <a:lstStyle/>
          <a:p>
            <a:pPr algn="l">
              <a:lnSpc>
                <a:spcPts val="3500"/>
              </a:lnSpc>
              <a:defRPr/>
            </a:pPr>
            <a:r>
              <a:rPr lang="en-US" sz="2750" b="1">
                <a:solidFill>
                  <a:srgbClr val="384653"/>
                </a:solidFill>
                <a:latin typeface="Barlow Bold"/>
                <a:ea typeface="Barlow Bold"/>
                <a:cs typeface="Barlow Bold"/>
              </a:rPr>
              <a:t>Très populaire</a:t>
            </a:r>
            <a:endParaRPr/>
          </a:p>
        </p:txBody>
      </p:sp>
      <p:sp>
        <p:nvSpPr>
          <p:cNvPr id="633797099" name="TextBox 21"/>
          <p:cNvSpPr txBox="1"/>
          <p:nvPr/>
        </p:nvSpPr>
        <p:spPr bwMode="auto">
          <a:xfrm rot="0">
            <a:off x="1228130" y="6717655"/>
            <a:ext cx="7500194" cy="509588"/>
          </a:xfrm>
          <a:prstGeom prst="rect">
            <a:avLst/>
          </a:prstGeom>
        </p:spPr>
        <p:txBody>
          <a:bodyPr lIns="0" tIns="0" rIns="0" bIns="0" rtlCol="0" anchor="t">
            <a:spAutoFit/>
          </a:bodyPr>
          <a:lstStyle/>
          <a:p>
            <a:pPr algn="l">
              <a:lnSpc>
                <a:spcPts val="3374"/>
              </a:lnSpc>
              <a:defRPr/>
            </a:pPr>
            <a:r>
              <a:rPr lang="en-US" sz="2150">
                <a:solidFill>
                  <a:srgbClr val="384653"/>
                </a:solidFill>
                <a:latin typeface="Montserrat"/>
                <a:ea typeface="Montserrat"/>
                <a:cs typeface="Montserrat"/>
              </a:rPr>
              <a:t>L'un des langages les plus populaires au monde</a:t>
            </a:r>
            <a:endParaRPr/>
          </a:p>
        </p:txBody>
      </p:sp>
      <p:grpSp>
        <p:nvGrpSpPr>
          <p:cNvPr id="61563613" name="Group 22"/>
          <p:cNvGrpSpPr/>
          <p:nvPr/>
        </p:nvGrpSpPr>
        <p:grpSpPr bwMode="auto">
          <a:xfrm rot="0">
            <a:off x="9274521" y="5901184"/>
            <a:ext cx="8070354" cy="1611065"/>
            <a:chOff x="0" y="0"/>
            <a:chExt cx="10760472" cy="2148087"/>
          </a:xfrm>
        </p:grpSpPr>
        <p:sp>
          <p:nvSpPr>
            <p:cNvPr id="23" name="Freeform 23"/>
            <p:cNvSpPr/>
            <p:nvPr/>
          </p:nvSpPr>
          <p:spPr bwMode="auto">
            <a:xfrm rot="0" flipH="0" flipV="0">
              <a:off x="6350" y="6350"/>
              <a:ext cx="10747756" cy="2135378"/>
            </a:xfrm>
            <a:custGeom>
              <a:avLst/>
              <a:gdLst/>
              <a:ahLst/>
              <a:cxnLst/>
              <a:rect l="l" t="t" r="r" b="b"/>
              <a:pathLst>
                <a:path w="10747756" h="2135378" fill="norm" stroke="1" extrusionOk="0">
                  <a:moveTo>
                    <a:pt x="0" y="541655"/>
                  </a:moveTo>
                  <a:cubicBezTo>
                    <a:pt x="0" y="242570"/>
                    <a:pt x="243713" y="0"/>
                    <a:pt x="544195" y="0"/>
                  </a:cubicBezTo>
                  <a:lnTo>
                    <a:pt x="10203561" y="0"/>
                  </a:lnTo>
                  <a:cubicBezTo>
                    <a:pt x="10504170" y="0"/>
                    <a:pt x="10747756" y="242570"/>
                    <a:pt x="10747756" y="541655"/>
                  </a:cubicBezTo>
                  <a:lnTo>
                    <a:pt x="10747756" y="1593723"/>
                  </a:lnTo>
                  <a:cubicBezTo>
                    <a:pt x="10747756" y="1892935"/>
                    <a:pt x="10504043" y="2135378"/>
                    <a:pt x="10203561" y="2135378"/>
                  </a:cubicBezTo>
                  <a:lnTo>
                    <a:pt x="544195" y="2135378"/>
                  </a:lnTo>
                  <a:cubicBezTo>
                    <a:pt x="243713" y="2135378"/>
                    <a:pt x="0" y="1892935"/>
                    <a:pt x="0" y="1593723"/>
                  </a:cubicBezTo>
                  <a:close/>
                </a:path>
              </a:pathLst>
            </a:custGeom>
            <a:solidFill>
              <a:srgbClr val="D4E9F7"/>
            </a:solidFill>
          </p:spPr>
        </p:sp>
        <p:sp>
          <p:nvSpPr>
            <p:cNvPr id="24" name="Freeform 24"/>
            <p:cNvSpPr/>
            <p:nvPr/>
          </p:nvSpPr>
          <p:spPr bwMode="auto">
            <a:xfrm rot="0" flipH="0" flipV="0">
              <a:off x="0" y="0"/>
              <a:ext cx="10760456" cy="2148078"/>
            </a:xfrm>
            <a:custGeom>
              <a:avLst/>
              <a:gdLst/>
              <a:ahLst/>
              <a:cxnLst/>
              <a:rect l="l" t="t" r="r" b="b"/>
              <a:pathLst>
                <a:path w="10760456" h="2148078" fill="norm" stroke="1" extrusionOk="0">
                  <a:moveTo>
                    <a:pt x="0" y="548005"/>
                  </a:moveTo>
                  <a:cubicBezTo>
                    <a:pt x="0" y="245364"/>
                    <a:pt x="246507" y="0"/>
                    <a:pt x="550545" y="0"/>
                  </a:cubicBezTo>
                  <a:lnTo>
                    <a:pt x="10209911" y="0"/>
                  </a:lnTo>
                  <a:lnTo>
                    <a:pt x="10209911" y="6350"/>
                  </a:lnTo>
                  <a:lnTo>
                    <a:pt x="10209911" y="0"/>
                  </a:lnTo>
                  <a:cubicBezTo>
                    <a:pt x="10513949" y="0"/>
                    <a:pt x="10760456" y="245364"/>
                    <a:pt x="10760456" y="548005"/>
                  </a:cubicBezTo>
                  <a:lnTo>
                    <a:pt x="10754106" y="548005"/>
                  </a:lnTo>
                  <a:lnTo>
                    <a:pt x="10760456" y="548005"/>
                  </a:lnTo>
                  <a:lnTo>
                    <a:pt x="10760456" y="1600073"/>
                  </a:lnTo>
                  <a:lnTo>
                    <a:pt x="10754106" y="1600073"/>
                  </a:lnTo>
                  <a:lnTo>
                    <a:pt x="10760456" y="1600073"/>
                  </a:lnTo>
                  <a:cubicBezTo>
                    <a:pt x="10760456" y="1902714"/>
                    <a:pt x="10513949" y="2148078"/>
                    <a:pt x="10209911" y="2148078"/>
                  </a:cubicBezTo>
                  <a:lnTo>
                    <a:pt x="10209911" y="2141728"/>
                  </a:lnTo>
                  <a:lnTo>
                    <a:pt x="10209911" y="2148078"/>
                  </a:lnTo>
                  <a:lnTo>
                    <a:pt x="550545" y="2148078"/>
                  </a:lnTo>
                  <a:lnTo>
                    <a:pt x="550545" y="2141728"/>
                  </a:lnTo>
                  <a:lnTo>
                    <a:pt x="550545" y="2148078"/>
                  </a:lnTo>
                  <a:cubicBezTo>
                    <a:pt x="246507" y="2148078"/>
                    <a:pt x="0" y="1902714"/>
                    <a:pt x="0" y="1600073"/>
                  </a:cubicBezTo>
                  <a:lnTo>
                    <a:pt x="0" y="548005"/>
                  </a:lnTo>
                  <a:lnTo>
                    <a:pt x="6350" y="548005"/>
                  </a:lnTo>
                  <a:lnTo>
                    <a:pt x="0" y="548005"/>
                  </a:lnTo>
                  <a:moveTo>
                    <a:pt x="12700" y="548005"/>
                  </a:moveTo>
                  <a:lnTo>
                    <a:pt x="12700" y="1600073"/>
                  </a:lnTo>
                  <a:lnTo>
                    <a:pt x="6350" y="1600073"/>
                  </a:lnTo>
                  <a:lnTo>
                    <a:pt x="12700" y="1600073"/>
                  </a:lnTo>
                  <a:cubicBezTo>
                    <a:pt x="12700" y="1895729"/>
                    <a:pt x="253492" y="2135378"/>
                    <a:pt x="550545" y="2135378"/>
                  </a:cubicBezTo>
                  <a:lnTo>
                    <a:pt x="10209911" y="2135378"/>
                  </a:lnTo>
                  <a:cubicBezTo>
                    <a:pt x="10506964" y="2135378"/>
                    <a:pt x="10747756" y="1895729"/>
                    <a:pt x="10747756" y="1600073"/>
                  </a:cubicBezTo>
                  <a:lnTo>
                    <a:pt x="10747756" y="548005"/>
                  </a:lnTo>
                  <a:cubicBezTo>
                    <a:pt x="10747756" y="252349"/>
                    <a:pt x="10506964" y="12700"/>
                    <a:pt x="10209911" y="12700"/>
                  </a:cubicBezTo>
                  <a:lnTo>
                    <a:pt x="550545" y="12700"/>
                  </a:lnTo>
                  <a:lnTo>
                    <a:pt x="550545" y="6350"/>
                  </a:lnTo>
                  <a:lnTo>
                    <a:pt x="550545" y="12700"/>
                  </a:lnTo>
                  <a:cubicBezTo>
                    <a:pt x="253492" y="12700"/>
                    <a:pt x="12700" y="252349"/>
                    <a:pt x="12700" y="548005"/>
                  </a:cubicBezTo>
                  <a:close/>
                </a:path>
              </a:pathLst>
            </a:custGeom>
            <a:solidFill>
              <a:srgbClr val="BACFDD"/>
            </a:solidFill>
          </p:spPr>
        </p:sp>
      </p:grpSp>
      <p:sp>
        <p:nvSpPr>
          <p:cNvPr id="1910742645" name="TextBox 25"/>
          <p:cNvSpPr txBox="1"/>
          <p:nvPr/>
        </p:nvSpPr>
        <p:spPr bwMode="auto">
          <a:xfrm rot="0">
            <a:off x="9559529" y="6157615"/>
            <a:ext cx="3563391" cy="473869"/>
          </a:xfrm>
          <a:prstGeom prst="rect">
            <a:avLst/>
          </a:prstGeom>
        </p:spPr>
        <p:txBody>
          <a:bodyPr lIns="0" tIns="0" rIns="0" bIns="0" rtlCol="0" anchor="t">
            <a:spAutoFit/>
          </a:bodyPr>
          <a:lstStyle/>
          <a:p>
            <a:pPr algn="l">
              <a:lnSpc>
                <a:spcPts val="3500"/>
              </a:lnSpc>
              <a:defRPr/>
            </a:pPr>
            <a:r>
              <a:rPr lang="en-US" sz="2750" b="1">
                <a:solidFill>
                  <a:srgbClr val="384653"/>
                </a:solidFill>
                <a:latin typeface="Barlow Bold"/>
                <a:ea typeface="Barlow Bold"/>
                <a:cs typeface="Barlow Bold"/>
              </a:rPr>
              <a:t>Fortement typé</a:t>
            </a:r>
            <a:endParaRPr/>
          </a:p>
        </p:txBody>
      </p:sp>
      <p:sp>
        <p:nvSpPr>
          <p:cNvPr id="2114416603" name="TextBox 26"/>
          <p:cNvSpPr txBox="1"/>
          <p:nvPr/>
        </p:nvSpPr>
        <p:spPr bwMode="auto">
          <a:xfrm rot="0">
            <a:off x="9559529" y="6717655"/>
            <a:ext cx="7500342" cy="509588"/>
          </a:xfrm>
          <a:prstGeom prst="rect">
            <a:avLst/>
          </a:prstGeom>
        </p:spPr>
        <p:txBody>
          <a:bodyPr lIns="0" tIns="0" rIns="0" bIns="0" rtlCol="0" anchor="t">
            <a:spAutoFit/>
          </a:bodyPr>
          <a:lstStyle/>
          <a:p>
            <a:pPr algn="l">
              <a:lnSpc>
                <a:spcPts val="3374"/>
              </a:lnSpc>
              <a:defRPr/>
            </a:pPr>
            <a:r>
              <a:rPr lang="en-US" sz="2150">
                <a:solidFill>
                  <a:srgbClr val="384653"/>
                </a:solidFill>
                <a:latin typeface="Montserrat"/>
                <a:ea typeface="Montserrat"/>
                <a:cs typeface="Montserrat"/>
              </a:rPr>
              <a:t>Gestion stricte des types de données</a:t>
            </a:r>
            <a:endParaRPr/>
          </a:p>
        </p:txBody>
      </p:sp>
      <p:sp>
        <p:nvSpPr>
          <p:cNvPr id="1254499471" name="TextBox 27"/>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800" b="1">
                <a:solidFill>
                  <a:srgbClr val="2E3C4E"/>
                </a:solidFill>
                <a:latin typeface="Montserrat"/>
                <a:ea typeface="Montserrat"/>
                <a:cs typeface="Montserrat"/>
              </a:rPr>
              <a:t>COURS DE PYTHON                            IAI-TOGO</a:t>
            </a:r>
            <a:endParaRPr sz="18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559896276"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824704725"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368071492" name="TextBox 6"/>
          <p:cNvSpPr txBox="1"/>
          <p:nvPr/>
        </p:nvSpPr>
        <p:spPr bwMode="auto">
          <a:xfrm rot="0">
            <a:off x="7805885" y="1451370"/>
            <a:ext cx="5701605" cy="741164"/>
          </a:xfrm>
          <a:prstGeom prst="rect">
            <a:avLst/>
          </a:prstGeom>
        </p:spPr>
        <p:txBody>
          <a:bodyPr lIns="0" tIns="0" rIns="0" bIns="0" rtlCol="0" anchor="t">
            <a:spAutoFit/>
          </a:bodyPr>
          <a:lstStyle/>
          <a:p>
            <a:pPr algn="l">
              <a:lnSpc>
                <a:spcPts val="5562"/>
              </a:lnSpc>
              <a:defRPr/>
            </a:pPr>
            <a:r>
              <a:rPr lang="en-US" sz="4450" b="1">
                <a:solidFill>
                  <a:srgbClr val="2E3C4E"/>
                </a:solidFill>
                <a:latin typeface="Barlow Bold"/>
                <a:ea typeface="Barlow Bold"/>
                <a:cs typeface="Barlow Bold"/>
              </a:rPr>
              <a:t>Les variables</a:t>
            </a:r>
            <a:endParaRPr/>
          </a:p>
        </p:txBody>
      </p:sp>
      <p:sp>
        <p:nvSpPr>
          <p:cNvPr id="1858346415" name="TextBox 7"/>
          <p:cNvSpPr txBox="1"/>
          <p:nvPr/>
        </p:nvSpPr>
        <p:spPr bwMode="auto">
          <a:xfrm rot="0">
            <a:off x="7805885" y="2522485"/>
            <a:ext cx="9534226" cy="3090063"/>
          </a:xfrm>
          <a:prstGeom prst="rect">
            <a:avLst/>
          </a:prstGeom>
        </p:spPr>
        <p:txBody>
          <a:bodyPr lIns="0" tIns="0" rIns="0" bIns="0" rtlCol="0" anchor="t">
            <a:spAutoFit/>
          </a:bodyPr>
          <a:lstStyle/>
          <a:p>
            <a:pPr algn="l">
              <a:lnSpc>
                <a:spcPts val="3374"/>
              </a:lnSpc>
              <a:defRPr/>
            </a:pPr>
            <a:r>
              <a:rPr lang="en-US" sz="2150">
                <a:solidFill>
                  <a:srgbClr val="384653"/>
                </a:solidFill>
                <a:latin typeface="Montserrat"/>
                <a:ea typeface="Montserrat"/>
                <a:cs typeface="Montserrat"/>
              </a:rPr>
              <a:t>En Python, la déclaration d'une variable et son initialisation (c'est-à-dire la première valeur que l'on va stocker dedans) se font en même temps.</a:t>
            </a:r>
            <a:endParaRPr/>
          </a:p>
          <a:p>
            <a:pPr algn="l">
              <a:lnSpc>
                <a:spcPts val="3373"/>
              </a:lnSpc>
              <a:defRPr/>
            </a:pPr>
            <a:endParaRPr/>
          </a:p>
          <a:p>
            <a:pPr algn="l">
              <a:lnSpc>
                <a:spcPts val="3373"/>
              </a:lnSpc>
              <a:defRPr/>
            </a:pPr>
            <a:endParaRPr/>
          </a:p>
          <a:p>
            <a:pPr algn="l">
              <a:lnSpc>
                <a:spcPts val="1575"/>
              </a:lnSpc>
              <a:defRPr/>
            </a:pPr>
            <a:r>
              <a:rPr lang="en-US" sz="1300">
                <a:solidFill>
                  <a:srgbClr val="6A9955"/>
                </a:solidFill>
                <a:latin typeface="Consolas"/>
                <a:ea typeface="Consolas"/>
                <a:cs typeface="Consolas"/>
              </a:rPr>
              <a:t># Déclaration de la variable</a:t>
            </a:r>
            <a:endParaRPr/>
          </a:p>
          <a:p>
            <a:pPr algn="l">
              <a:lnSpc>
                <a:spcPts val="2400"/>
              </a:lnSpc>
              <a:defRPr/>
            </a:pPr>
            <a:r>
              <a:rPr lang="en-US" sz="2000">
                <a:solidFill>
                  <a:srgbClr val="9CDCFE"/>
                </a:solidFill>
                <a:latin typeface="Consolas"/>
                <a:ea typeface="Consolas"/>
                <a:cs typeface="Consolas"/>
              </a:rPr>
              <a:t>mastring</a:t>
            </a:r>
            <a:r>
              <a:rPr lang="en-US" sz="2000">
                <a:solidFill>
                  <a:srgbClr val="CCCCCC"/>
                </a:solidFill>
                <a:latin typeface="Consolas"/>
                <a:ea typeface="Consolas"/>
                <a:cs typeface="Consolas"/>
              </a:rPr>
              <a:t> </a:t>
            </a:r>
            <a:r>
              <a:rPr lang="en-US" sz="2000">
                <a:solidFill>
                  <a:srgbClr val="D4D4D4"/>
                </a:solidFill>
                <a:latin typeface="Consolas"/>
                <a:ea typeface="Consolas"/>
                <a:cs typeface="Consolas"/>
              </a:rPr>
              <a:t>=</a:t>
            </a:r>
            <a:r>
              <a:rPr lang="en-US" sz="2000">
                <a:solidFill>
                  <a:srgbClr val="CCCCCC"/>
                </a:solidFill>
                <a:latin typeface="Consolas"/>
                <a:ea typeface="Consolas"/>
                <a:cs typeface="Consolas"/>
              </a:rPr>
              <a:t> </a:t>
            </a:r>
            <a:r>
              <a:rPr lang="en-US" sz="2000">
                <a:solidFill>
                  <a:srgbClr val="CE9178"/>
                </a:solidFill>
                <a:latin typeface="Consolas"/>
                <a:ea typeface="Consolas"/>
                <a:cs typeface="Consolas"/>
              </a:rPr>
              <a:t>"Hello word"</a:t>
            </a:r>
            <a:endParaRPr/>
          </a:p>
          <a:p>
            <a:pPr algn="l">
              <a:lnSpc>
                <a:spcPts val="3373"/>
              </a:lnSpc>
              <a:defRPr/>
            </a:pPr>
            <a:r>
              <a:rPr lang="en-US" sz="2000">
                <a:solidFill>
                  <a:srgbClr val="9CDCFE"/>
                </a:solidFill>
                <a:latin typeface="Consolas"/>
                <a:ea typeface="Consolas"/>
                <a:cs typeface="Consolas"/>
              </a:rPr>
              <a:t>mavariable</a:t>
            </a:r>
            <a:r>
              <a:rPr lang="en-US" sz="2000">
                <a:solidFill>
                  <a:srgbClr val="CCCCCC"/>
                </a:solidFill>
                <a:latin typeface="Consolas"/>
                <a:ea typeface="Consolas"/>
                <a:cs typeface="Consolas"/>
              </a:rPr>
              <a:t> </a:t>
            </a:r>
            <a:r>
              <a:rPr lang="en-US" sz="2000">
                <a:solidFill>
                  <a:srgbClr val="D4D4D4"/>
                </a:solidFill>
                <a:latin typeface="Consolas"/>
                <a:ea typeface="Consolas"/>
                <a:cs typeface="Consolas"/>
              </a:rPr>
              <a:t>=</a:t>
            </a:r>
            <a:r>
              <a:rPr lang="en-US" sz="2000">
                <a:solidFill>
                  <a:srgbClr val="CCCCCC"/>
                </a:solidFill>
                <a:latin typeface="Consolas"/>
                <a:ea typeface="Consolas"/>
                <a:cs typeface="Consolas"/>
              </a:rPr>
              <a:t> </a:t>
            </a:r>
            <a:r>
              <a:rPr lang="en-US" sz="2000">
                <a:solidFill>
                  <a:srgbClr val="B5CEA8"/>
                </a:solidFill>
                <a:latin typeface="Consolas"/>
                <a:ea typeface="Consolas"/>
                <a:cs typeface="Consolas"/>
              </a:rPr>
              <a:t>21</a:t>
            </a:r>
            <a:endParaRPr/>
          </a:p>
          <a:p>
            <a:pPr algn="l">
              <a:lnSpc>
                <a:spcPts val="3373"/>
              </a:lnSpc>
              <a:defRPr/>
            </a:pPr>
            <a:endParaRPr/>
          </a:p>
          <a:p>
            <a:pPr algn="l">
              <a:lnSpc>
                <a:spcPts val="3373"/>
              </a:lnSpc>
              <a:defRPr/>
            </a:pPr>
            <a:endParaRPr/>
          </a:p>
        </p:txBody>
      </p:sp>
      <p:sp>
        <p:nvSpPr>
          <p:cNvPr id="108016343" name="TextBox 8"/>
          <p:cNvSpPr txBox="1"/>
          <p:nvPr/>
        </p:nvSpPr>
        <p:spPr bwMode="auto">
          <a:xfrm rot="0" flipH="0" flipV="0">
            <a:off x="7805884" y="5653530"/>
            <a:ext cx="9242647" cy="532108"/>
          </a:xfrm>
          <a:prstGeom prst="rect">
            <a:avLst/>
          </a:prstGeom>
        </p:spPr>
        <p:txBody>
          <a:bodyPr lIns="0" tIns="0" rIns="0" bIns="0" rtlCol="0" anchor="t">
            <a:spAutoFit/>
          </a:bodyPr>
          <a:lstStyle/>
          <a:p>
            <a:pPr algn="l">
              <a:lnSpc>
                <a:spcPts val="4187"/>
              </a:lnSpc>
              <a:defRPr/>
            </a:pPr>
            <a:r>
              <a:rPr lang="en-US" sz="3300" b="1">
                <a:solidFill>
                  <a:srgbClr val="2E3C4E"/>
                </a:solidFill>
                <a:latin typeface="Barlow Bold"/>
                <a:ea typeface="Barlow Bold"/>
                <a:cs typeface="Barlow Bold"/>
              </a:rPr>
              <a:t>Règles de nommage :</a:t>
            </a:r>
            <a:endParaRPr/>
          </a:p>
        </p:txBody>
      </p:sp>
      <p:sp>
        <p:nvSpPr>
          <p:cNvPr id="1873077628" name="TextBox 9"/>
          <p:cNvSpPr txBox="1"/>
          <p:nvPr/>
        </p:nvSpPr>
        <p:spPr bwMode="auto">
          <a:xfrm rot="0">
            <a:off x="7805885" y="6536977"/>
            <a:ext cx="9534228" cy="942975"/>
          </a:xfrm>
          <a:prstGeom prst="rect">
            <a:avLst/>
          </a:prstGeom>
        </p:spPr>
        <p:txBody>
          <a:bodyPr lIns="0" tIns="0" rIns="0" bIns="0" rtlCol="0" anchor="t">
            <a:spAutoFit/>
          </a:bodyPr>
          <a:lstStyle/>
          <a:p>
            <a:pPr marL="320477" lvl="1" indent="-160238" algn="l">
              <a:lnSpc>
                <a:spcPts val="3374"/>
              </a:lnSpc>
              <a:buFont typeface="Arial"/>
              <a:buChar char="•"/>
              <a:defRPr/>
            </a:pPr>
            <a:r>
              <a:rPr lang="en-US" sz="2150">
                <a:solidFill>
                  <a:srgbClr val="384653"/>
                </a:solidFill>
                <a:latin typeface="Montserrat"/>
                <a:ea typeface="Montserrat"/>
                <a:cs typeface="Montserrat"/>
              </a:rPr>
              <a:t>Python est sensible à la casse, ce qui signifie que les variables TesT, test et TEST sont différentes.</a:t>
            </a:r>
            <a:endParaRPr/>
          </a:p>
        </p:txBody>
      </p:sp>
      <p:sp>
        <p:nvSpPr>
          <p:cNvPr id="2082750982" name="TextBox 10"/>
          <p:cNvSpPr txBox="1"/>
          <p:nvPr/>
        </p:nvSpPr>
        <p:spPr bwMode="auto">
          <a:xfrm rot="0">
            <a:off x="7805885" y="7498406"/>
            <a:ext cx="9534228" cy="509588"/>
          </a:xfrm>
          <a:prstGeom prst="rect">
            <a:avLst/>
          </a:prstGeom>
        </p:spPr>
        <p:txBody>
          <a:bodyPr lIns="0" tIns="0" rIns="0" bIns="0" rtlCol="0" anchor="t">
            <a:spAutoFit/>
          </a:bodyPr>
          <a:lstStyle/>
          <a:p>
            <a:pPr marL="320477" lvl="1" indent="-160238" algn="l">
              <a:lnSpc>
                <a:spcPts val="3374"/>
              </a:lnSpc>
              <a:buFont typeface="Arial"/>
              <a:buChar char="•"/>
              <a:defRPr/>
            </a:pPr>
            <a:r>
              <a:rPr lang="en-US" sz="2150">
                <a:solidFill>
                  <a:srgbClr val="384653"/>
                </a:solidFill>
                <a:latin typeface="Montserrat"/>
                <a:ea typeface="Montserrat"/>
                <a:cs typeface="Montserrat"/>
              </a:rPr>
              <a:t>Le nom doit commencer par une lettre ou un underscore _</a:t>
            </a:r>
            <a:endParaRPr/>
          </a:p>
        </p:txBody>
      </p:sp>
      <p:sp>
        <p:nvSpPr>
          <p:cNvPr id="1045426449" name="TextBox 11"/>
          <p:cNvSpPr txBox="1"/>
          <p:nvPr/>
        </p:nvSpPr>
        <p:spPr bwMode="auto">
          <a:xfrm rot="0">
            <a:off x="7805885" y="8026449"/>
            <a:ext cx="9534228" cy="509588"/>
          </a:xfrm>
          <a:prstGeom prst="rect">
            <a:avLst/>
          </a:prstGeom>
        </p:spPr>
        <p:txBody>
          <a:bodyPr lIns="0" tIns="0" rIns="0" bIns="0" rtlCol="0" anchor="t">
            <a:spAutoFit/>
          </a:bodyPr>
          <a:lstStyle/>
          <a:p>
            <a:pPr marL="320477" lvl="1" indent="-160238" algn="l">
              <a:lnSpc>
                <a:spcPts val="3374"/>
              </a:lnSpc>
              <a:buFont typeface="Arial"/>
              <a:buChar char="•"/>
              <a:defRPr/>
            </a:pPr>
            <a:r>
              <a:rPr lang="en-US" sz="2150">
                <a:solidFill>
                  <a:srgbClr val="384653"/>
                </a:solidFill>
                <a:latin typeface="Montserrat"/>
                <a:ea typeface="Montserrat"/>
                <a:cs typeface="Montserrat"/>
              </a:rPr>
              <a:t>Ne peut contenir que des lettres, chiffres et underscores</a:t>
            </a:r>
            <a:endParaRPr/>
          </a:p>
        </p:txBody>
      </p:sp>
      <p:sp>
        <p:nvSpPr>
          <p:cNvPr id="62842684" name="TextBox 12"/>
          <p:cNvSpPr txBox="1"/>
          <p:nvPr/>
        </p:nvSpPr>
        <p:spPr bwMode="auto">
          <a:xfrm rot="0">
            <a:off x="7805885" y="8554490"/>
            <a:ext cx="9534228" cy="509588"/>
          </a:xfrm>
          <a:prstGeom prst="rect">
            <a:avLst/>
          </a:prstGeom>
        </p:spPr>
        <p:txBody>
          <a:bodyPr lIns="0" tIns="0" rIns="0" bIns="0" rtlCol="0" anchor="t">
            <a:spAutoFit/>
          </a:bodyPr>
          <a:lstStyle/>
          <a:p>
            <a:pPr marL="320477" lvl="1" indent="-160238" algn="l">
              <a:lnSpc>
                <a:spcPts val="3374"/>
              </a:lnSpc>
              <a:buFont typeface="Arial"/>
              <a:buChar char="•"/>
              <a:defRPr/>
            </a:pPr>
            <a:r>
              <a:rPr lang="en-US" sz="2150">
                <a:solidFill>
                  <a:srgbClr val="384653"/>
                </a:solidFill>
                <a:latin typeface="Montserrat"/>
                <a:ea typeface="Montserrat"/>
                <a:cs typeface="Montserrat"/>
              </a:rPr>
              <a:t>Ne pas utiliser les mots réservés Python (if, for, while, etc.)</a:t>
            </a:r>
            <a:endParaRPr/>
          </a:p>
        </p:txBody>
      </p:sp>
      <p:sp>
        <p:nvSpPr>
          <p:cNvPr id="27116070" name="TextBox 15"/>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800" b="1">
                <a:solidFill>
                  <a:srgbClr val="2E3C4E"/>
                </a:solidFill>
                <a:latin typeface="Montserrat"/>
                <a:ea typeface="Montserrat"/>
                <a:cs typeface="Montserrat"/>
              </a:rPr>
              <a:t>COURS DE PYTHON                            IAI-TOGO</a:t>
            </a:r>
            <a:endParaRPr sz="1800" b="1"/>
          </a:p>
        </p:txBody>
      </p:sp>
      <p:pic>
        <p:nvPicPr>
          <p:cNvPr id="1318429137" name=""/>
          <p:cNvPicPr>
            <a:picLocks noChangeAspect="1"/>
          </p:cNvPicPr>
          <p:nvPr/>
        </p:nvPicPr>
        <p:blipFill>
          <a:blip r:embed="rId4"/>
          <a:stretch/>
        </p:blipFill>
        <p:spPr bwMode="auto">
          <a:xfrm rot="16199969" flipH="0" flipV="0">
            <a:off x="-865019" y="3395405"/>
            <a:ext cx="7292089" cy="340401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187423725"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950192057" name="Group 4"/>
          <p:cNvGrpSpPr/>
          <p:nvPr/>
        </p:nvGrpSpPr>
        <p:grpSpPr bwMode="auto">
          <a:xfrm rot="0">
            <a:off x="0" y="-305395"/>
            <a:ext cx="18288000" cy="10592395"/>
            <a:chOff x="0" y="0"/>
            <a:chExt cx="24384000" cy="14123193"/>
          </a:xfrm>
        </p:grpSpPr>
        <p:sp>
          <p:nvSpPr>
            <p:cNvPr id="5" name="Freeform 5"/>
            <p:cNvSpPr/>
            <p:nvPr/>
          </p:nvSpPr>
          <p:spPr bwMode="auto">
            <a:xfrm rot="0" flipH="0" flipV="0">
              <a:off x="0" y="0"/>
              <a:ext cx="24384000" cy="14123194"/>
            </a:xfrm>
            <a:custGeom>
              <a:avLst/>
              <a:gdLst/>
              <a:ahLst/>
              <a:cxnLst/>
              <a:rect l="l" t="t" r="r" b="b"/>
              <a:pathLst>
                <a:path w="24384000" h="14123194" fill="norm" stroke="1" extrusionOk="0">
                  <a:moveTo>
                    <a:pt x="0" y="0"/>
                  </a:moveTo>
                  <a:lnTo>
                    <a:pt x="24384000" y="0"/>
                  </a:lnTo>
                  <a:lnTo>
                    <a:pt x="24384000" y="14123194"/>
                  </a:lnTo>
                  <a:lnTo>
                    <a:pt x="0" y="14123194"/>
                  </a:lnTo>
                  <a:close/>
                </a:path>
              </a:pathLst>
            </a:custGeom>
            <a:solidFill>
              <a:srgbClr val="FFFFFF"/>
            </a:solidFill>
          </p:spPr>
        </p:sp>
      </p:grpSp>
      <p:sp>
        <p:nvSpPr>
          <p:cNvPr id="474393923" name="TextBox 6"/>
          <p:cNvSpPr txBox="1"/>
          <p:nvPr/>
        </p:nvSpPr>
        <p:spPr bwMode="auto">
          <a:xfrm rot="0">
            <a:off x="7726264" y="680590"/>
            <a:ext cx="5222825" cy="681335"/>
          </a:xfrm>
          <a:prstGeom prst="rect">
            <a:avLst/>
          </a:prstGeom>
        </p:spPr>
        <p:txBody>
          <a:bodyPr lIns="0" tIns="0" rIns="0" bIns="0" rtlCol="0" anchor="t">
            <a:spAutoFit/>
          </a:bodyPr>
          <a:lstStyle/>
          <a:p>
            <a:pPr algn="l">
              <a:lnSpc>
                <a:spcPts val="5124"/>
              </a:lnSpc>
              <a:defRPr/>
            </a:pPr>
            <a:r>
              <a:rPr lang="en-US" sz="4050" b="1">
                <a:solidFill>
                  <a:srgbClr val="2E3C4E"/>
                </a:solidFill>
                <a:latin typeface="Barlow Bold"/>
                <a:ea typeface="Barlow Bold"/>
                <a:cs typeface="Barlow Bold"/>
              </a:rPr>
              <a:t>Les opérateurs</a:t>
            </a:r>
            <a:endParaRPr/>
          </a:p>
        </p:txBody>
      </p:sp>
      <p:sp>
        <p:nvSpPr>
          <p:cNvPr id="1313662308" name="TextBox 7"/>
          <p:cNvSpPr txBox="1"/>
          <p:nvPr/>
        </p:nvSpPr>
        <p:spPr bwMode="auto">
          <a:xfrm rot="0">
            <a:off x="7726264" y="1648271"/>
            <a:ext cx="9693474" cy="879574"/>
          </a:xfrm>
          <a:prstGeom prst="rect">
            <a:avLst/>
          </a:prstGeom>
        </p:spPr>
        <p:txBody>
          <a:bodyPr lIns="0" tIns="0" rIns="0" bIns="0" rtlCol="0" anchor="t">
            <a:spAutoFit/>
          </a:bodyPr>
          <a:lstStyle/>
          <a:p>
            <a:pPr algn="l">
              <a:lnSpc>
                <a:spcPts val="3125"/>
              </a:lnSpc>
              <a:defRPr/>
            </a:pPr>
            <a:r>
              <a:rPr lang="en-US" sz="1950">
                <a:solidFill>
                  <a:srgbClr val="384653"/>
                </a:solidFill>
                <a:latin typeface="Montserrat"/>
                <a:ea typeface="Montserrat"/>
                <a:cs typeface="Montserrat"/>
              </a:rPr>
              <a:t>Python propose plusieurs catégories d'opérateurs pour manipuler les données :</a:t>
            </a:r>
            <a:endParaRPr/>
          </a:p>
        </p:txBody>
      </p:sp>
      <p:grpSp>
        <p:nvGrpSpPr>
          <p:cNvPr id="1350799163" name="Group 8"/>
          <p:cNvGrpSpPr/>
          <p:nvPr/>
        </p:nvGrpSpPr>
        <p:grpSpPr bwMode="auto">
          <a:xfrm rot="0" flipH="0" flipV="0">
            <a:off x="7805638" y="2059676"/>
            <a:ext cx="9722048" cy="1720651"/>
            <a:chOff x="0" y="0"/>
            <a:chExt cx="9722048" cy="1720651"/>
          </a:xfrm>
        </p:grpSpPr>
        <p:sp>
          <p:nvSpPr>
            <p:cNvPr id="9" name="Freeform 9"/>
            <p:cNvSpPr/>
            <p:nvPr/>
          </p:nvSpPr>
          <p:spPr bwMode="auto">
            <a:xfrm rot="0" flipH="0" flipV="0">
              <a:off x="14287" y="16012"/>
              <a:ext cx="9693401" cy="1688653"/>
            </a:xfrm>
            <a:custGeom>
              <a:avLst/>
              <a:gdLst/>
              <a:ahLst/>
              <a:cxnLst/>
              <a:rect l="l" t="t" r="r" b="b"/>
              <a:pathLst>
                <a:path w="12924536" h="2009013" fill="norm" stroke="1" extrusionOk="0">
                  <a:moveTo>
                    <a:pt x="0" y="496189"/>
                  </a:moveTo>
                  <a:cubicBezTo>
                    <a:pt x="0" y="222123"/>
                    <a:pt x="225679" y="0"/>
                    <a:pt x="504063" y="0"/>
                  </a:cubicBezTo>
                  <a:lnTo>
                    <a:pt x="12420473" y="0"/>
                  </a:lnTo>
                  <a:cubicBezTo>
                    <a:pt x="12698857" y="0"/>
                    <a:pt x="12924536" y="222123"/>
                    <a:pt x="12924536" y="496189"/>
                  </a:cubicBezTo>
                  <a:lnTo>
                    <a:pt x="12924536" y="1512824"/>
                  </a:lnTo>
                  <a:cubicBezTo>
                    <a:pt x="12924536" y="1786890"/>
                    <a:pt x="12698857" y="2009013"/>
                    <a:pt x="12420473" y="2009013"/>
                  </a:cubicBezTo>
                  <a:lnTo>
                    <a:pt x="504063" y="2009013"/>
                  </a:lnTo>
                  <a:cubicBezTo>
                    <a:pt x="225679" y="2009013"/>
                    <a:pt x="0" y="1786890"/>
                    <a:pt x="0" y="1512824"/>
                  </a:cubicBezTo>
                  <a:close/>
                </a:path>
              </a:pathLst>
            </a:custGeom>
            <a:solidFill>
              <a:srgbClr val="FFFFFF"/>
            </a:solidFill>
          </p:spPr>
          <p:txBody>
            <a:bodyPr/>
            <a:p>
              <a:pPr>
                <a:defRPr/>
              </a:pPr>
              <a:endParaRPr/>
            </a:p>
          </p:txBody>
        </p:sp>
        <p:sp>
          <p:nvSpPr>
            <p:cNvPr id="10" name="Freeform 10"/>
            <p:cNvSpPr/>
            <p:nvPr/>
          </p:nvSpPr>
          <p:spPr bwMode="auto">
            <a:xfrm rot="0" flipH="0" flipV="0">
              <a:off x="0" y="0"/>
              <a:ext cx="9721976" cy="1720677"/>
            </a:xfrm>
            <a:custGeom>
              <a:avLst/>
              <a:gdLst/>
              <a:ahLst/>
              <a:cxnLst/>
              <a:rect l="l" t="t" r="r" b="b"/>
              <a:pathLst>
                <a:path w="12962636" h="2047113" fill="norm" stroke="1" extrusionOk="0">
                  <a:moveTo>
                    <a:pt x="0" y="515239"/>
                  </a:moveTo>
                  <a:cubicBezTo>
                    <a:pt x="0" y="230378"/>
                    <a:pt x="234569" y="0"/>
                    <a:pt x="523113" y="0"/>
                  </a:cubicBezTo>
                  <a:lnTo>
                    <a:pt x="12439523" y="0"/>
                  </a:lnTo>
                  <a:lnTo>
                    <a:pt x="12439523" y="19050"/>
                  </a:lnTo>
                  <a:lnTo>
                    <a:pt x="12439523" y="0"/>
                  </a:lnTo>
                  <a:cubicBezTo>
                    <a:pt x="12728194" y="0"/>
                    <a:pt x="12962636" y="230378"/>
                    <a:pt x="12962636" y="515239"/>
                  </a:cubicBezTo>
                  <a:lnTo>
                    <a:pt x="12943586" y="515239"/>
                  </a:lnTo>
                  <a:lnTo>
                    <a:pt x="12962636" y="515239"/>
                  </a:lnTo>
                  <a:lnTo>
                    <a:pt x="12962636" y="1531874"/>
                  </a:lnTo>
                  <a:lnTo>
                    <a:pt x="12943586" y="1531874"/>
                  </a:lnTo>
                  <a:lnTo>
                    <a:pt x="12962636" y="1531874"/>
                  </a:lnTo>
                  <a:cubicBezTo>
                    <a:pt x="12962636" y="1816735"/>
                    <a:pt x="12728067" y="2047113"/>
                    <a:pt x="12439523" y="2047113"/>
                  </a:cubicBezTo>
                  <a:lnTo>
                    <a:pt x="12439523" y="2028063"/>
                  </a:lnTo>
                  <a:lnTo>
                    <a:pt x="12439523" y="2047113"/>
                  </a:lnTo>
                  <a:lnTo>
                    <a:pt x="523113" y="2047113"/>
                  </a:lnTo>
                  <a:lnTo>
                    <a:pt x="523113" y="2028063"/>
                  </a:lnTo>
                  <a:lnTo>
                    <a:pt x="523113" y="2047113"/>
                  </a:lnTo>
                  <a:cubicBezTo>
                    <a:pt x="234569" y="2047113"/>
                    <a:pt x="0" y="1816735"/>
                    <a:pt x="0" y="1531874"/>
                  </a:cubicBezTo>
                  <a:lnTo>
                    <a:pt x="0" y="515239"/>
                  </a:lnTo>
                  <a:lnTo>
                    <a:pt x="19050" y="515239"/>
                  </a:lnTo>
                  <a:lnTo>
                    <a:pt x="0" y="515239"/>
                  </a:lnTo>
                  <a:moveTo>
                    <a:pt x="38100" y="515239"/>
                  </a:moveTo>
                  <a:lnTo>
                    <a:pt x="38100" y="1531874"/>
                  </a:lnTo>
                  <a:lnTo>
                    <a:pt x="19050" y="1531874"/>
                  </a:lnTo>
                  <a:lnTo>
                    <a:pt x="38100" y="1531874"/>
                  </a:lnTo>
                  <a:cubicBezTo>
                    <a:pt x="38100" y="1795145"/>
                    <a:pt x="255016" y="2009013"/>
                    <a:pt x="523113" y="2009013"/>
                  </a:cubicBezTo>
                  <a:lnTo>
                    <a:pt x="12439523" y="2009013"/>
                  </a:lnTo>
                  <a:cubicBezTo>
                    <a:pt x="12707747" y="2009013"/>
                    <a:pt x="12924536" y="1795145"/>
                    <a:pt x="12924536" y="1531874"/>
                  </a:cubicBezTo>
                  <a:lnTo>
                    <a:pt x="12924536" y="515239"/>
                  </a:lnTo>
                  <a:cubicBezTo>
                    <a:pt x="12924536" y="251968"/>
                    <a:pt x="12707620" y="38100"/>
                    <a:pt x="12439523" y="38100"/>
                  </a:cubicBezTo>
                  <a:lnTo>
                    <a:pt x="523113" y="38100"/>
                  </a:lnTo>
                  <a:lnTo>
                    <a:pt x="523113" y="19050"/>
                  </a:lnTo>
                  <a:lnTo>
                    <a:pt x="523113" y="38100"/>
                  </a:lnTo>
                  <a:cubicBezTo>
                    <a:pt x="255016" y="38100"/>
                    <a:pt x="38100" y="251968"/>
                    <a:pt x="38100" y="515239"/>
                  </a:cubicBezTo>
                  <a:close/>
                </a:path>
              </a:pathLst>
            </a:custGeom>
            <a:solidFill>
              <a:srgbClr val="BACFDD"/>
            </a:solidFill>
          </p:spPr>
        </p:sp>
      </p:grpSp>
      <p:sp>
        <p:nvSpPr>
          <p:cNvPr id="189152181" name="TextBox 11"/>
          <p:cNvSpPr txBox="1"/>
          <p:nvPr/>
        </p:nvSpPr>
        <p:spPr bwMode="auto">
          <a:xfrm rot="0">
            <a:off x="8123186" y="2430247"/>
            <a:ext cx="3264248" cy="417462"/>
          </a:xfrm>
          <a:prstGeom prst="rect">
            <a:avLst/>
          </a:prstGeom>
        </p:spPr>
        <p:txBody>
          <a:bodyPr lIns="0" tIns="0" rIns="0" bIns="0" rtlCol="0" anchor="t">
            <a:spAutoFit/>
          </a:bodyPr>
          <a:lstStyle/>
          <a:p>
            <a:pPr algn="l">
              <a:lnSpc>
                <a:spcPts val="3187"/>
              </a:lnSpc>
              <a:defRPr/>
            </a:pPr>
            <a:r>
              <a:rPr lang="en-US" sz="2550" b="1">
                <a:solidFill>
                  <a:srgbClr val="384653"/>
                </a:solidFill>
                <a:latin typeface="Barlow Bold"/>
                <a:ea typeface="Barlow Bold"/>
                <a:cs typeface="Barlow Bold"/>
              </a:rPr>
              <a:t>Opérateurs simples</a:t>
            </a:r>
            <a:endParaRPr/>
          </a:p>
        </p:txBody>
      </p:sp>
      <p:sp>
        <p:nvSpPr>
          <p:cNvPr id="1049067281" name="TextBox 12"/>
          <p:cNvSpPr txBox="1"/>
          <p:nvPr/>
        </p:nvSpPr>
        <p:spPr bwMode="auto">
          <a:xfrm rot="0">
            <a:off x="8017037" y="3018679"/>
            <a:ext cx="9140429" cy="482650"/>
          </a:xfrm>
          <a:prstGeom prst="rect">
            <a:avLst/>
          </a:prstGeom>
        </p:spPr>
        <p:txBody>
          <a:bodyPr lIns="0" tIns="0" rIns="0" bIns="0" rtlCol="0" anchor="t">
            <a:spAutoFit/>
          </a:bodyPr>
          <a:lstStyle/>
          <a:p>
            <a:pPr algn="l">
              <a:lnSpc>
                <a:spcPts val="3125"/>
              </a:lnSpc>
              <a:defRPr/>
            </a:pPr>
            <a:r>
              <a:rPr lang="en-US" sz="1950">
                <a:solidFill>
                  <a:srgbClr val="384653"/>
                </a:solidFill>
                <a:latin typeface="Montserrat"/>
                <a:ea typeface="Montserrat"/>
                <a:cs typeface="Montserrat"/>
              </a:rPr>
              <a:t>+, -, *, /, %</a:t>
            </a:r>
            <a:endParaRPr/>
          </a:p>
        </p:txBody>
      </p:sp>
      <p:grpSp>
        <p:nvGrpSpPr>
          <p:cNvPr id="701402171" name="Group 13"/>
          <p:cNvGrpSpPr/>
          <p:nvPr/>
        </p:nvGrpSpPr>
        <p:grpSpPr bwMode="auto">
          <a:xfrm rot="0">
            <a:off x="7711976" y="4241900"/>
            <a:ext cx="9722049" cy="1535311"/>
            <a:chOff x="0" y="0"/>
            <a:chExt cx="12962732" cy="2047082"/>
          </a:xfrm>
        </p:grpSpPr>
        <p:sp>
          <p:nvSpPr>
            <p:cNvPr id="14" name="Freeform 14"/>
            <p:cNvSpPr/>
            <p:nvPr/>
          </p:nvSpPr>
          <p:spPr bwMode="auto">
            <a:xfrm rot="0" flipH="0" flipV="0">
              <a:off x="19050" y="19050"/>
              <a:ext cx="12924536" cy="2009013"/>
            </a:xfrm>
            <a:custGeom>
              <a:avLst/>
              <a:gdLst/>
              <a:ahLst/>
              <a:cxnLst/>
              <a:rect l="l" t="t" r="r" b="b"/>
              <a:pathLst>
                <a:path w="12924536" h="2009013" fill="norm" stroke="1" extrusionOk="0">
                  <a:moveTo>
                    <a:pt x="0" y="496189"/>
                  </a:moveTo>
                  <a:cubicBezTo>
                    <a:pt x="0" y="222123"/>
                    <a:pt x="225679" y="0"/>
                    <a:pt x="504063" y="0"/>
                  </a:cubicBezTo>
                  <a:lnTo>
                    <a:pt x="12420473" y="0"/>
                  </a:lnTo>
                  <a:cubicBezTo>
                    <a:pt x="12698857" y="0"/>
                    <a:pt x="12924536" y="222123"/>
                    <a:pt x="12924536" y="496189"/>
                  </a:cubicBezTo>
                  <a:lnTo>
                    <a:pt x="12924536" y="1512824"/>
                  </a:lnTo>
                  <a:cubicBezTo>
                    <a:pt x="12924536" y="1786890"/>
                    <a:pt x="12698857" y="2009013"/>
                    <a:pt x="12420473" y="2009013"/>
                  </a:cubicBezTo>
                  <a:lnTo>
                    <a:pt x="504063" y="2009013"/>
                  </a:lnTo>
                  <a:cubicBezTo>
                    <a:pt x="225679" y="2009013"/>
                    <a:pt x="0" y="1786890"/>
                    <a:pt x="0" y="1512824"/>
                  </a:cubicBezTo>
                  <a:close/>
                </a:path>
              </a:pathLst>
            </a:custGeom>
            <a:solidFill>
              <a:srgbClr val="FFFFFF"/>
            </a:solidFill>
          </p:spPr>
        </p:sp>
        <p:sp>
          <p:nvSpPr>
            <p:cNvPr id="15" name="Freeform 15"/>
            <p:cNvSpPr/>
            <p:nvPr/>
          </p:nvSpPr>
          <p:spPr bwMode="auto">
            <a:xfrm rot="0" flipH="0" flipV="0">
              <a:off x="0" y="0"/>
              <a:ext cx="12962636" cy="2047113"/>
            </a:xfrm>
            <a:custGeom>
              <a:avLst/>
              <a:gdLst/>
              <a:ahLst/>
              <a:cxnLst/>
              <a:rect l="l" t="t" r="r" b="b"/>
              <a:pathLst>
                <a:path w="12962636" h="2047113" fill="norm" stroke="1" extrusionOk="0">
                  <a:moveTo>
                    <a:pt x="0" y="515239"/>
                  </a:moveTo>
                  <a:cubicBezTo>
                    <a:pt x="0" y="230378"/>
                    <a:pt x="234569" y="0"/>
                    <a:pt x="523113" y="0"/>
                  </a:cubicBezTo>
                  <a:lnTo>
                    <a:pt x="12439523" y="0"/>
                  </a:lnTo>
                  <a:lnTo>
                    <a:pt x="12439523" y="19050"/>
                  </a:lnTo>
                  <a:lnTo>
                    <a:pt x="12439523" y="0"/>
                  </a:lnTo>
                  <a:cubicBezTo>
                    <a:pt x="12728194" y="0"/>
                    <a:pt x="12962636" y="230378"/>
                    <a:pt x="12962636" y="515239"/>
                  </a:cubicBezTo>
                  <a:lnTo>
                    <a:pt x="12943586" y="515239"/>
                  </a:lnTo>
                  <a:lnTo>
                    <a:pt x="12962636" y="515239"/>
                  </a:lnTo>
                  <a:lnTo>
                    <a:pt x="12962636" y="1531874"/>
                  </a:lnTo>
                  <a:lnTo>
                    <a:pt x="12943586" y="1531874"/>
                  </a:lnTo>
                  <a:lnTo>
                    <a:pt x="12962636" y="1531874"/>
                  </a:lnTo>
                  <a:cubicBezTo>
                    <a:pt x="12962636" y="1816735"/>
                    <a:pt x="12728067" y="2047113"/>
                    <a:pt x="12439523" y="2047113"/>
                  </a:cubicBezTo>
                  <a:lnTo>
                    <a:pt x="12439523" y="2028063"/>
                  </a:lnTo>
                  <a:lnTo>
                    <a:pt x="12439523" y="2047113"/>
                  </a:lnTo>
                  <a:lnTo>
                    <a:pt x="523113" y="2047113"/>
                  </a:lnTo>
                  <a:lnTo>
                    <a:pt x="523113" y="2028063"/>
                  </a:lnTo>
                  <a:lnTo>
                    <a:pt x="523113" y="2047113"/>
                  </a:lnTo>
                  <a:cubicBezTo>
                    <a:pt x="234569" y="2047113"/>
                    <a:pt x="0" y="1816735"/>
                    <a:pt x="0" y="1531874"/>
                  </a:cubicBezTo>
                  <a:lnTo>
                    <a:pt x="0" y="515239"/>
                  </a:lnTo>
                  <a:lnTo>
                    <a:pt x="19050" y="515239"/>
                  </a:lnTo>
                  <a:lnTo>
                    <a:pt x="0" y="515239"/>
                  </a:lnTo>
                  <a:moveTo>
                    <a:pt x="38100" y="515239"/>
                  </a:moveTo>
                  <a:lnTo>
                    <a:pt x="38100" y="1531874"/>
                  </a:lnTo>
                  <a:lnTo>
                    <a:pt x="19050" y="1531874"/>
                  </a:lnTo>
                  <a:lnTo>
                    <a:pt x="38100" y="1531874"/>
                  </a:lnTo>
                  <a:cubicBezTo>
                    <a:pt x="38100" y="1795145"/>
                    <a:pt x="255016" y="2009013"/>
                    <a:pt x="523113" y="2009013"/>
                  </a:cubicBezTo>
                  <a:lnTo>
                    <a:pt x="12439523" y="2009013"/>
                  </a:lnTo>
                  <a:cubicBezTo>
                    <a:pt x="12707747" y="2009013"/>
                    <a:pt x="12924536" y="1795145"/>
                    <a:pt x="12924536" y="1531874"/>
                  </a:cubicBezTo>
                  <a:lnTo>
                    <a:pt x="12924536" y="515239"/>
                  </a:lnTo>
                  <a:cubicBezTo>
                    <a:pt x="12924536" y="251968"/>
                    <a:pt x="12707620" y="38100"/>
                    <a:pt x="12439523" y="38100"/>
                  </a:cubicBezTo>
                  <a:lnTo>
                    <a:pt x="523113" y="38100"/>
                  </a:lnTo>
                  <a:lnTo>
                    <a:pt x="523113" y="19050"/>
                  </a:lnTo>
                  <a:lnTo>
                    <a:pt x="523113" y="38100"/>
                  </a:lnTo>
                  <a:cubicBezTo>
                    <a:pt x="255016" y="38100"/>
                    <a:pt x="38100" y="251968"/>
                    <a:pt x="38100" y="515239"/>
                  </a:cubicBezTo>
                  <a:close/>
                </a:path>
              </a:pathLst>
            </a:custGeom>
            <a:solidFill>
              <a:srgbClr val="BACFDD"/>
            </a:solidFill>
          </p:spPr>
        </p:sp>
      </p:grpSp>
      <p:sp>
        <p:nvSpPr>
          <p:cNvPr id="1604354475" name="TextBox 16"/>
          <p:cNvSpPr txBox="1"/>
          <p:nvPr/>
        </p:nvSpPr>
        <p:spPr bwMode="auto">
          <a:xfrm rot="0" flipH="0" flipV="0">
            <a:off x="8017037" y="4530923"/>
            <a:ext cx="8733838" cy="405108"/>
          </a:xfrm>
          <a:prstGeom prst="rect">
            <a:avLst/>
          </a:prstGeom>
        </p:spPr>
        <p:txBody>
          <a:bodyPr lIns="0" tIns="0" rIns="0" bIns="0" rtlCol="0" anchor="t">
            <a:spAutoFit/>
          </a:bodyPr>
          <a:lstStyle/>
          <a:p>
            <a:pPr algn="l">
              <a:lnSpc>
                <a:spcPts val="3187"/>
              </a:lnSpc>
              <a:defRPr/>
            </a:pPr>
            <a:r>
              <a:rPr lang="en-US" sz="2550" b="1">
                <a:solidFill>
                  <a:srgbClr val="384653"/>
                </a:solidFill>
                <a:latin typeface="Barlow Bold"/>
                <a:ea typeface="Barlow Bold"/>
                <a:cs typeface="Barlow Bold"/>
              </a:rPr>
              <a:t>Opérateurs de comparaison</a:t>
            </a:r>
            <a:endParaRPr/>
          </a:p>
        </p:txBody>
      </p:sp>
      <p:sp>
        <p:nvSpPr>
          <p:cNvPr id="1965959194" name="TextBox 17"/>
          <p:cNvSpPr txBox="1"/>
          <p:nvPr/>
        </p:nvSpPr>
        <p:spPr bwMode="auto">
          <a:xfrm rot="0">
            <a:off x="8017037" y="5067820"/>
            <a:ext cx="9140429" cy="482650"/>
          </a:xfrm>
          <a:prstGeom prst="rect">
            <a:avLst/>
          </a:prstGeom>
        </p:spPr>
        <p:txBody>
          <a:bodyPr lIns="0" tIns="0" rIns="0" bIns="0" rtlCol="0" anchor="t">
            <a:spAutoFit/>
          </a:bodyPr>
          <a:lstStyle/>
          <a:p>
            <a:pPr algn="l">
              <a:lnSpc>
                <a:spcPts val="3125"/>
              </a:lnSpc>
              <a:defRPr/>
            </a:pPr>
            <a:r>
              <a:rPr lang="en-US" sz="1950">
                <a:solidFill>
                  <a:srgbClr val="384653"/>
                </a:solidFill>
                <a:latin typeface="Montserrat"/>
                <a:ea typeface="Montserrat"/>
                <a:cs typeface="Montserrat"/>
              </a:rPr>
              <a:t>==, !=, &lt;, &gt;, &lt;=, &gt;=</a:t>
            </a:r>
            <a:endParaRPr/>
          </a:p>
        </p:txBody>
      </p:sp>
      <p:grpSp>
        <p:nvGrpSpPr>
          <p:cNvPr id="86149064" name="Group 18"/>
          <p:cNvGrpSpPr/>
          <p:nvPr/>
        </p:nvGrpSpPr>
        <p:grpSpPr bwMode="auto">
          <a:xfrm rot="0">
            <a:off x="7711976" y="5996584"/>
            <a:ext cx="9722049" cy="1535311"/>
            <a:chOff x="0" y="0"/>
            <a:chExt cx="12962732" cy="2047082"/>
          </a:xfrm>
        </p:grpSpPr>
        <p:sp>
          <p:nvSpPr>
            <p:cNvPr id="19" name="Freeform 19"/>
            <p:cNvSpPr/>
            <p:nvPr/>
          </p:nvSpPr>
          <p:spPr bwMode="auto">
            <a:xfrm rot="0" flipH="0" flipV="0">
              <a:off x="19050" y="19050"/>
              <a:ext cx="12924536" cy="2009013"/>
            </a:xfrm>
            <a:custGeom>
              <a:avLst/>
              <a:gdLst/>
              <a:ahLst/>
              <a:cxnLst/>
              <a:rect l="l" t="t" r="r" b="b"/>
              <a:pathLst>
                <a:path w="12924536" h="2009013" fill="norm" stroke="1" extrusionOk="0">
                  <a:moveTo>
                    <a:pt x="0" y="496189"/>
                  </a:moveTo>
                  <a:cubicBezTo>
                    <a:pt x="0" y="222123"/>
                    <a:pt x="225679" y="0"/>
                    <a:pt x="504063" y="0"/>
                  </a:cubicBezTo>
                  <a:lnTo>
                    <a:pt x="12420473" y="0"/>
                  </a:lnTo>
                  <a:cubicBezTo>
                    <a:pt x="12698857" y="0"/>
                    <a:pt x="12924536" y="222123"/>
                    <a:pt x="12924536" y="496189"/>
                  </a:cubicBezTo>
                  <a:lnTo>
                    <a:pt x="12924536" y="1512824"/>
                  </a:lnTo>
                  <a:cubicBezTo>
                    <a:pt x="12924536" y="1786890"/>
                    <a:pt x="12698857" y="2009013"/>
                    <a:pt x="12420473" y="2009013"/>
                  </a:cubicBezTo>
                  <a:lnTo>
                    <a:pt x="504063" y="2009013"/>
                  </a:lnTo>
                  <a:cubicBezTo>
                    <a:pt x="225679" y="2009013"/>
                    <a:pt x="0" y="1786890"/>
                    <a:pt x="0" y="1512824"/>
                  </a:cubicBezTo>
                  <a:close/>
                </a:path>
              </a:pathLst>
            </a:custGeom>
            <a:solidFill>
              <a:srgbClr val="FFFFFF"/>
            </a:solidFill>
          </p:spPr>
        </p:sp>
        <p:sp>
          <p:nvSpPr>
            <p:cNvPr id="20" name="Freeform 20"/>
            <p:cNvSpPr/>
            <p:nvPr/>
          </p:nvSpPr>
          <p:spPr bwMode="auto">
            <a:xfrm rot="0" flipH="0" flipV="0">
              <a:off x="0" y="0"/>
              <a:ext cx="12962636" cy="2047113"/>
            </a:xfrm>
            <a:custGeom>
              <a:avLst/>
              <a:gdLst/>
              <a:ahLst/>
              <a:cxnLst/>
              <a:rect l="l" t="t" r="r" b="b"/>
              <a:pathLst>
                <a:path w="12962636" h="2047113" fill="norm" stroke="1" extrusionOk="0">
                  <a:moveTo>
                    <a:pt x="0" y="515239"/>
                  </a:moveTo>
                  <a:cubicBezTo>
                    <a:pt x="0" y="230378"/>
                    <a:pt x="234569" y="0"/>
                    <a:pt x="523113" y="0"/>
                  </a:cubicBezTo>
                  <a:lnTo>
                    <a:pt x="12439523" y="0"/>
                  </a:lnTo>
                  <a:lnTo>
                    <a:pt x="12439523" y="19050"/>
                  </a:lnTo>
                  <a:lnTo>
                    <a:pt x="12439523" y="0"/>
                  </a:lnTo>
                  <a:cubicBezTo>
                    <a:pt x="12728194" y="0"/>
                    <a:pt x="12962636" y="230378"/>
                    <a:pt x="12962636" y="515239"/>
                  </a:cubicBezTo>
                  <a:lnTo>
                    <a:pt x="12943586" y="515239"/>
                  </a:lnTo>
                  <a:lnTo>
                    <a:pt x="12962636" y="515239"/>
                  </a:lnTo>
                  <a:lnTo>
                    <a:pt x="12962636" y="1531874"/>
                  </a:lnTo>
                  <a:lnTo>
                    <a:pt x="12943586" y="1531874"/>
                  </a:lnTo>
                  <a:lnTo>
                    <a:pt x="12962636" y="1531874"/>
                  </a:lnTo>
                  <a:cubicBezTo>
                    <a:pt x="12962636" y="1816735"/>
                    <a:pt x="12728067" y="2047113"/>
                    <a:pt x="12439523" y="2047113"/>
                  </a:cubicBezTo>
                  <a:lnTo>
                    <a:pt x="12439523" y="2028063"/>
                  </a:lnTo>
                  <a:lnTo>
                    <a:pt x="12439523" y="2047113"/>
                  </a:lnTo>
                  <a:lnTo>
                    <a:pt x="523113" y="2047113"/>
                  </a:lnTo>
                  <a:lnTo>
                    <a:pt x="523113" y="2028063"/>
                  </a:lnTo>
                  <a:lnTo>
                    <a:pt x="523113" y="2047113"/>
                  </a:lnTo>
                  <a:cubicBezTo>
                    <a:pt x="234569" y="2047113"/>
                    <a:pt x="0" y="1816735"/>
                    <a:pt x="0" y="1531874"/>
                  </a:cubicBezTo>
                  <a:lnTo>
                    <a:pt x="0" y="515239"/>
                  </a:lnTo>
                  <a:lnTo>
                    <a:pt x="19050" y="515239"/>
                  </a:lnTo>
                  <a:lnTo>
                    <a:pt x="0" y="515239"/>
                  </a:lnTo>
                  <a:moveTo>
                    <a:pt x="38100" y="515239"/>
                  </a:moveTo>
                  <a:lnTo>
                    <a:pt x="38100" y="1531874"/>
                  </a:lnTo>
                  <a:lnTo>
                    <a:pt x="19050" y="1531874"/>
                  </a:lnTo>
                  <a:lnTo>
                    <a:pt x="38100" y="1531874"/>
                  </a:lnTo>
                  <a:cubicBezTo>
                    <a:pt x="38100" y="1795145"/>
                    <a:pt x="255016" y="2009013"/>
                    <a:pt x="523113" y="2009013"/>
                  </a:cubicBezTo>
                  <a:lnTo>
                    <a:pt x="12439523" y="2009013"/>
                  </a:lnTo>
                  <a:cubicBezTo>
                    <a:pt x="12707747" y="2009013"/>
                    <a:pt x="12924536" y="1795145"/>
                    <a:pt x="12924536" y="1531874"/>
                  </a:cubicBezTo>
                  <a:lnTo>
                    <a:pt x="12924536" y="515239"/>
                  </a:lnTo>
                  <a:cubicBezTo>
                    <a:pt x="12924536" y="251968"/>
                    <a:pt x="12707620" y="38100"/>
                    <a:pt x="12439523" y="38100"/>
                  </a:cubicBezTo>
                  <a:lnTo>
                    <a:pt x="523113" y="38100"/>
                  </a:lnTo>
                  <a:lnTo>
                    <a:pt x="523113" y="19050"/>
                  </a:lnTo>
                  <a:lnTo>
                    <a:pt x="523113" y="38100"/>
                  </a:lnTo>
                  <a:cubicBezTo>
                    <a:pt x="255016" y="38100"/>
                    <a:pt x="38100" y="251968"/>
                    <a:pt x="38100" y="515239"/>
                  </a:cubicBezTo>
                  <a:close/>
                </a:path>
              </a:pathLst>
            </a:custGeom>
            <a:solidFill>
              <a:srgbClr val="BACFDD"/>
            </a:solidFill>
          </p:spPr>
        </p:sp>
      </p:grpSp>
      <p:sp>
        <p:nvSpPr>
          <p:cNvPr id="1090225699" name="TextBox 21"/>
          <p:cNvSpPr txBox="1"/>
          <p:nvPr/>
        </p:nvSpPr>
        <p:spPr bwMode="auto">
          <a:xfrm rot="0">
            <a:off x="8123186" y="6456300"/>
            <a:ext cx="3264248" cy="417463"/>
          </a:xfrm>
          <a:prstGeom prst="rect">
            <a:avLst/>
          </a:prstGeom>
        </p:spPr>
        <p:txBody>
          <a:bodyPr lIns="0" tIns="0" rIns="0" bIns="0" rtlCol="0" anchor="t">
            <a:spAutoFit/>
          </a:bodyPr>
          <a:lstStyle/>
          <a:p>
            <a:pPr algn="l">
              <a:lnSpc>
                <a:spcPts val="3187"/>
              </a:lnSpc>
              <a:defRPr/>
            </a:pPr>
            <a:r>
              <a:rPr lang="en-US" sz="2550" b="1">
                <a:solidFill>
                  <a:srgbClr val="384653"/>
                </a:solidFill>
                <a:latin typeface="Barlow Bold"/>
                <a:ea typeface="Barlow Bold"/>
                <a:cs typeface="Barlow Bold"/>
              </a:rPr>
              <a:t>Opérateurs logiques</a:t>
            </a:r>
            <a:endParaRPr/>
          </a:p>
        </p:txBody>
      </p:sp>
      <p:sp>
        <p:nvSpPr>
          <p:cNvPr id="619132897" name="TextBox 22"/>
          <p:cNvSpPr txBox="1"/>
          <p:nvPr/>
        </p:nvSpPr>
        <p:spPr bwMode="auto">
          <a:xfrm rot="0">
            <a:off x="8123186" y="6935761"/>
            <a:ext cx="9140429" cy="482650"/>
          </a:xfrm>
          <a:prstGeom prst="rect">
            <a:avLst/>
          </a:prstGeom>
        </p:spPr>
        <p:txBody>
          <a:bodyPr lIns="0" tIns="0" rIns="0" bIns="0" rtlCol="0" anchor="t">
            <a:spAutoFit/>
          </a:bodyPr>
          <a:lstStyle/>
          <a:p>
            <a:pPr algn="l">
              <a:lnSpc>
                <a:spcPts val="3125"/>
              </a:lnSpc>
              <a:defRPr/>
            </a:pPr>
            <a:r>
              <a:rPr lang="en-US" sz="1950">
                <a:solidFill>
                  <a:srgbClr val="384653"/>
                </a:solidFill>
                <a:latin typeface="Montserrat"/>
                <a:ea typeface="Montserrat"/>
                <a:cs typeface="Montserrat"/>
              </a:rPr>
              <a:t>or, and, not</a:t>
            </a:r>
            <a:endParaRPr/>
          </a:p>
        </p:txBody>
      </p:sp>
      <p:grpSp>
        <p:nvGrpSpPr>
          <p:cNvPr id="1076476529" name="Group 23"/>
          <p:cNvGrpSpPr/>
          <p:nvPr/>
        </p:nvGrpSpPr>
        <p:grpSpPr bwMode="auto">
          <a:xfrm rot="0">
            <a:off x="7711976" y="7751266"/>
            <a:ext cx="9722049" cy="1535311"/>
            <a:chOff x="0" y="0"/>
            <a:chExt cx="12962732" cy="2047082"/>
          </a:xfrm>
        </p:grpSpPr>
        <p:sp>
          <p:nvSpPr>
            <p:cNvPr id="24" name="Freeform 24"/>
            <p:cNvSpPr/>
            <p:nvPr/>
          </p:nvSpPr>
          <p:spPr bwMode="auto">
            <a:xfrm rot="0" flipH="0" flipV="0">
              <a:off x="19050" y="19050"/>
              <a:ext cx="12924536" cy="2009013"/>
            </a:xfrm>
            <a:custGeom>
              <a:avLst/>
              <a:gdLst/>
              <a:ahLst/>
              <a:cxnLst/>
              <a:rect l="l" t="t" r="r" b="b"/>
              <a:pathLst>
                <a:path w="12924536" h="2009013" fill="norm" stroke="1" extrusionOk="0">
                  <a:moveTo>
                    <a:pt x="0" y="496189"/>
                  </a:moveTo>
                  <a:cubicBezTo>
                    <a:pt x="0" y="222123"/>
                    <a:pt x="225679" y="0"/>
                    <a:pt x="504063" y="0"/>
                  </a:cubicBezTo>
                  <a:lnTo>
                    <a:pt x="12420473" y="0"/>
                  </a:lnTo>
                  <a:cubicBezTo>
                    <a:pt x="12698857" y="0"/>
                    <a:pt x="12924536" y="222123"/>
                    <a:pt x="12924536" y="496189"/>
                  </a:cubicBezTo>
                  <a:lnTo>
                    <a:pt x="12924536" y="1512824"/>
                  </a:lnTo>
                  <a:cubicBezTo>
                    <a:pt x="12924536" y="1786890"/>
                    <a:pt x="12698857" y="2009013"/>
                    <a:pt x="12420473" y="2009013"/>
                  </a:cubicBezTo>
                  <a:lnTo>
                    <a:pt x="504063" y="2009013"/>
                  </a:lnTo>
                  <a:cubicBezTo>
                    <a:pt x="225679" y="2009013"/>
                    <a:pt x="0" y="1786890"/>
                    <a:pt x="0" y="1512824"/>
                  </a:cubicBezTo>
                  <a:close/>
                </a:path>
              </a:pathLst>
            </a:custGeom>
            <a:solidFill>
              <a:srgbClr val="FFFFFF"/>
            </a:solidFill>
          </p:spPr>
        </p:sp>
        <p:sp>
          <p:nvSpPr>
            <p:cNvPr id="25" name="Freeform 25"/>
            <p:cNvSpPr/>
            <p:nvPr/>
          </p:nvSpPr>
          <p:spPr bwMode="auto">
            <a:xfrm rot="0" flipH="0" flipV="0">
              <a:off x="0" y="0"/>
              <a:ext cx="12962636" cy="2047113"/>
            </a:xfrm>
            <a:custGeom>
              <a:avLst/>
              <a:gdLst/>
              <a:ahLst/>
              <a:cxnLst/>
              <a:rect l="l" t="t" r="r" b="b"/>
              <a:pathLst>
                <a:path w="12962636" h="2047113" fill="norm" stroke="1" extrusionOk="0">
                  <a:moveTo>
                    <a:pt x="0" y="515239"/>
                  </a:moveTo>
                  <a:cubicBezTo>
                    <a:pt x="0" y="230378"/>
                    <a:pt x="234569" y="0"/>
                    <a:pt x="523113" y="0"/>
                  </a:cubicBezTo>
                  <a:lnTo>
                    <a:pt x="12439523" y="0"/>
                  </a:lnTo>
                  <a:lnTo>
                    <a:pt x="12439523" y="19050"/>
                  </a:lnTo>
                  <a:lnTo>
                    <a:pt x="12439523" y="0"/>
                  </a:lnTo>
                  <a:cubicBezTo>
                    <a:pt x="12728194" y="0"/>
                    <a:pt x="12962636" y="230378"/>
                    <a:pt x="12962636" y="515239"/>
                  </a:cubicBezTo>
                  <a:lnTo>
                    <a:pt x="12943586" y="515239"/>
                  </a:lnTo>
                  <a:lnTo>
                    <a:pt x="12962636" y="515239"/>
                  </a:lnTo>
                  <a:lnTo>
                    <a:pt x="12962636" y="1531874"/>
                  </a:lnTo>
                  <a:lnTo>
                    <a:pt x="12943586" y="1531874"/>
                  </a:lnTo>
                  <a:lnTo>
                    <a:pt x="12962636" y="1531874"/>
                  </a:lnTo>
                  <a:cubicBezTo>
                    <a:pt x="12962636" y="1816735"/>
                    <a:pt x="12728067" y="2047113"/>
                    <a:pt x="12439523" y="2047113"/>
                  </a:cubicBezTo>
                  <a:lnTo>
                    <a:pt x="12439523" y="2028063"/>
                  </a:lnTo>
                  <a:lnTo>
                    <a:pt x="12439523" y="2047113"/>
                  </a:lnTo>
                  <a:lnTo>
                    <a:pt x="523113" y="2047113"/>
                  </a:lnTo>
                  <a:lnTo>
                    <a:pt x="523113" y="2028063"/>
                  </a:lnTo>
                  <a:lnTo>
                    <a:pt x="523113" y="2047113"/>
                  </a:lnTo>
                  <a:cubicBezTo>
                    <a:pt x="234569" y="2047113"/>
                    <a:pt x="0" y="1816735"/>
                    <a:pt x="0" y="1531874"/>
                  </a:cubicBezTo>
                  <a:lnTo>
                    <a:pt x="0" y="515239"/>
                  </a:lnTo>
                  <a:lnTo>
                    <a:pt x="19050" y="515239"/>
                  </a:lnTo>
                  <a:lnTo>
                    <a:pt x="0" y="515239"/>
                  </a:lnTo>
                  <a:moveTo>
                    <a:pt x="38100" y="515239"/>
                  </a:moveTo>
                  <a:lnTo>
                    <a:pt x="38100" y="1531874"/>
                  </a:lnTo>
                  <a:lnTo>
                    <a:pt x="19050" y="1531874"/>
                  </a:lnTo>
                  <a:lnTo>
                    <a:pt x="38100" y="1531874"/>
                  </a:lnTo>
                  <a:cubicBezTo>
                    <a:pt x="38100" y="1795145"/>
                    <a:pt x="255016" y="2009013"/>
                    <a:pt x="523113" y="2009013"/>
                  </a:cubicBezTo>
                  <a:lnTo>
                    <a:pt x="12439523" y="2009013"/>
                  </a:lnTo>
                  <a:cubicBezTo>
                    <a:pt x="12707747" y="2009013"/>
                    <a:pt x="12924536" y="1795145"/>
                    <a:pt x="12924536" y="1531874"/>
                  </a:cubicBezTo>
                  <a:lnTo>
                    <a:pt x="12924536" y="515239"/>
                  </a:lnTo>
                  <a:cubicBezTo>
                    <a:pt x="12924536" y="251968"/>
                    <a:pt x="12707620" y="38100"/>
                    <a:pt x="12439523" y="38100"/>
                  </a:cubicBezTo>
                  <a:lnTo>
                    <a:pt x="523113" y="38100"/>
                  </a:lnTo>
                  <a:lnTo>
                    <a:pt x="523113" y="19050"/>
                  </a:lnTo>
                  <a:lnTo>
                    <a:pt x="523113" y="38100"/>
                  </a:lnTo>
                  <a:cubicBezTo>
                    <a:pt x="255016" y="38100"/>
                    <a:pt x="38100" y="251968"/>
                    <a:pt x="38100" y="515239"/>
                  </a:cubicBezTo>
                  <a:close/>
                </a:path>
              </a:pathLst>
            </a:custGeom>
            <a:solidFill>
              <a:srgbClr val="BACFDD"/>
            </a:solidFill>
          </p:spPr>
        </p:sp>
      </p:grpSp>
      <p:sp>
        <p:nvSpPr>
          <p:cNvPr id="1462016760" name="TextBox 26"/>
          <p:cNvSpPr txBox="1"/>
          <p:nvPr/>
        </p:nvSpPr>
        <p:spPr bwMode="auto">
          <a:xfrm rot="0" flipH="0" flipV="0">
            <a:off x="8017037" y="7932837"/>
            <a:ext cx="7537621" cy="405108"/>
          </a:xfrm>
          <a:prstGeom prst="rect">
            <a:avLst/>
          </a:prstGeom>
        </p:spPr>
        <p:txBody>
          <a:bodyPr lIns="0" tIns="0" rIns="0" bIns="0" rtlCol="0" anchor="t">
            <a:spAutoFit/>
          </a:bodyPr>
          <a:lstStyle/>
          <a:p>
            <a:pPr algn="l">
              <a:lnSpc>
                <a:spcPts val="3187"/>
              </a:lnSpc>
              <a:defRPr/>
            </a:pPr>
            <a:r>
              <a:rPr lang="en-US" sz="2550" b="1">
                <a:solidFill>
                  <a:srgbClr val="384653"/>
                </a:solidFill>
                <a:latin typeface="Barlow Bold"/>
                <a:ea typeface="Barlow Bold"/>
                <a:cs typeface="Barlow Bold"/>
              </a:rPr>
              <a:t>Opérateur d'affectation</a:t>
            </a:r>
            <a:endParaRPr/>
          </a:p>
        </p:txBody>
      </p:sp>
      <p:sp>
        <p:nvSpPr>
          <p:cNvPr id="1239223870" name="TextBox 27"/>
          <p:cNvSpPr txBox="1"/>
          <p:nvPr/>
        </p:nvSpPr>
        <p:spPr bwMode="auto">
          <a:xfrm rot="0">
            <a:off x="8175787" y="8577186"/>
            <a:ext cx="9140429" cy="482650"/>
          </a:xfrm>
          <a:prstGeom prst="rect">
            <a:avLst/>
          </a:prstGeom>
        </p:spPr>
        <p:txBody>
          <a:bodyPr lIns="0" tIns="0" rIns="0" bIns="0" rtlCol="0" anchor="t">
            <a:spAutoFit/>
          </a:bodyPr>
          <a:lstStyle/>
          <a:p>
            <a:pPr algn="l">
              <a:lnSpc>
                <a:spcPts val="3125"/>
              </a:lnSpc>
              <a:defRPr/>
            </a:pPr>
            <a:r>
              <a:rPr lang="en-US" sz="1950">
                <a:solidFill>
                  <a:srgbClr val="384653"/>
                </a:solidFill>
                <a:latin typeface="Montserrat"/>
                <a:ea typeface="Montserrat"/>
                <a:cs typeface="Montserrat"/>
              </a:rPr>
              <a:t>=</a:t>
            </a:r>
            <a:endParaRPr/>
          </a:p>
        </p:txBody>
      </p:sp>
      <p:grpSp>
        <p:nvGrpSpPr>
          <p:cNvPr id="611055762" name="Group 28"/>
          <p:cNvGrpSpPr>
            <a:grpSpLocks noChangeAspect="1"/>
          </p:cNvGrpSpPr>
          <p:nvPr/>
        </p:nvGrpSpPr>
        <p:grpSpPr bwMode="auto">
          <a:xfrm rot="-5400031">
            <a:off x="-1081274" y="2934289"/>
            <a:ext cx="9115111" cy="4255020"/>
            <a:chOff x="0" y="0"/>
            <a:chExt cx="12153482" cy="5673360"/>
          </a:xfrm>
        </p:grpSpPr>
        <p:sp>
          <p:nvSpPr>
            <p:cNvPr id="29" name="Freeform 29"/>
            <p:cNvSpPr/>
            <p:nvPr/>
          </p:nvSpPr>
          <p:spPr bwMode="auto">
            <a:xfrm rot="0" flipH="0" flipV="0">
              <a:off x="0" y="0"/>
              <a:ext cx="12153519" cy="5673344"/>
            </a:xfrm>
            <a:custGeom>
              <a:avLst/>
              <a:gdLst/>
              <a:ahLst/>
              <a:cxnLst/>
              <a:rect l="l" t="t" r="r" b="b"/>
              <a:pathLst>
                <a:path w="12153519" h="5673344" fill="norm" stroke="1" extrusionOk="0">
                  <a:moveTo>
                    <a:pt x="0" y="0"/>
                  </a:moveTo>
                  <a:lnTo>
                    <a:pt x="12153519" y="0"/>
                  </a:lnTo>
                  <a:lnTo>
                    <a:pt x="12153519" y="5673344"/>
                  </a:lnTo>
                  <a:lnTo>
                    <a:pt x="0" y="5673344"/>
                  </a:lnTo>
                  <a:lnTo>
                    <a:pt x="0" y="0"/>
                  </a:lnTo>
                  <a:close/>
                </a:path>
              </a:pathLst>
            </a:custGeom>
            <a:blipFill>
              <a:blip r:embed="rId4"/>
              <a:srcRect l="18284" t="0" r="18283" b="0"/>
              <a:stretch/>
            </a:blipFill>
          </p:spPr>
        </p:sp>
      </p:grpSp>
      <p:sp>
        <p:nvSpPr>
          <p:cNvPr id="1065290980" name="TextBox 30"/>
          <p:cNvSpPr txBox="1"/>
          <p:nvPr/>
        </p:nvSpPr>
        <p:spPr bwMode="auto">
          <a:xfrm rot="0">
            <a:off x="3925359" y="9505073"/>
            <a:ext cx="9996682" cy="597767"/>
          </a:xfrm>
          <a:prstGeom prst="rect">
            <a:avLst/>
          </a:prstGeom>
        </p:spPr>
        <p:txBody>
          <a:bodyPr lIns="0" tIns="0" rIns="0" bIns="0" rtlCol="0" anchor="t">
            <a:spAutoFit/>
          </a:bodyPr>
          <a:lstStyle/>
          <a:p>
            <a:pPr algn="ctr">
              <a:lnSpc>
                <a:spcPts val="4704"/>
              </a:lnSpc>
              <a:spcBef>
                <a:spcPts val="0"/>
              </a:spcBef>
              <a:defRPr/>
            </a:pPr>
            <a:r>
              <a:rPr lang="en-US" sz="1800" b="1">
                <a:solidFill>
                  <a:srgbClr val="2E3C4E"/>
                </a:solidFill>
                <a:latin typeface="Montserrat"/>
                <a:ea typeface="Montserrat"/>
                <a:cs typeface="Montserrat"/>
              </a:rPr>
              <a:t>COURS DE PYTHON                            IAI-TOGO</a:t>
            </a:r>
            <a:endParaRPr sz="18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07823658" name="Group 6"/>
          <p:cNvGrpSpPr>
            <a:grpSpLocks noChangeAspect="1"/>
          </p:cNvGrpSpPr>
          <p:nvPr/>
        </p:nvGrpSpPr>
        <p:grpSpPr bwMode="auto">
          <a:xfrm rot="-5400031">
            <a:off x="-1081274" y="2934289"/>
            <a:ext cx="9115111" cy="4255020"/>
            <a:chOff x="0" y="0"/>
            <a:chExt cx="12153482" cy="5673360"/>
          </a:xfrm>
        </p:grpSpPr>
        <p:sp>
          <p:nvSpPr>
            <p:cNvPr id="7" name="Freeform 7"/>
            <p:cNvSpPr/>
            <p:nvPr/>
          </p:nvSpPr>
          <p:spPr bwMode="auto">
            <a:xfrm rot="0" flipH="0" flipV="0">
              <a:off x="0" y="0"/>
              <a:ext cx="12153519" cy="5673344"/>
            </a:xfrm>
            <a:custGeom>
              <a:avLst/>
              <a:gdLst/>
              <a:ahLst/>
              <a:cxnLst/>
              <a:rect l="l" t="t" r="r" b="b"/>
              <a:pathLst>
                <a:path w="12153519" h="5673344" fill="norm" stroke="1" extrusionOk="0">
                  <a:moveTo>
                    <a:pt x="0" y="0"/>
                  </a:moveTo>
                  <a:lnTo>
                    <a:pt x="12153519" y="0"/>
                  </a:lnTo>
                  <a:lnTo>
                    <a:pt x="12153519" y="5673344"/>
                  </a:lnTo>
                  <a:lnTo>
                    <a:pt x="0" y="5673344"/>
                  </a:lnTo>
                  <a:lnTo>
                    <a:pt x="0" y="0"/>
                  </a:lnTo>
                  <a:close/>
                </a:path>
              </a:pathLst>
            </a:custGeom>
            <a:blipFill>
              <a:blip r:embed="rId3"/>
              <a:srcRect l="18284" t="0" r="18283" b="0"/>
              <a:stretch/>
            </a:blipFill>
          </p:spPr>
        </p:sp>
      </p:grpSp>
      <p:sp>
        <p:nvSpPr>
          <p:cNvPr id="1324129497" name="TextBox 8"/>
          <p:cNvSpPr txBox="1"/>
          <p:nvPr/>
        </p:nvSpPr>
        <p:spPr bwMode="auto">
          <a:xfrm rot="0">
            <a:off x="4510408" y="9505073"/>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648128520" name=""/>
          <p:cNvPicPr>
            <a:picLocks noChangeAspect="1"/>
          </p:cNvPicPr>
          <p:nvPr/>
        </p:nvPicPr>
        <p:blipFill>
          <a:blip r:embed="rId4"/>
          <a:stretch/>
        </p:blipFill>
        <p:spPr bwMode="auto">
          <a:xfrm rot="0" flipH="0" flipV="0">
            <a:off x="7219517" y="839957"/>
            <a:ext cx="8359857" cy="6120770"/>
          </a:xfrm>
          <a:prstGeom prst="rect">
            <a:avLst/>
          </a:prstGeom>
        </p:spPr>
      </p:pic>
      <p:pic>
        <p:nvPicPr>
          <p:cNvPr id="1521401324" name=""/>
          <p:cNvPicPr>
            <a:picLocks noChangeAspect="1"/>
          </p:cNvPicPr>
          <p:nvPr/>
        </p:nvPicPr>
        <p:blipFill>
          <a:blip r:embed="rId5"/>
          <a:stretch/>
        </p:blipFill>
        <p:spPr bwMode="auto">
          <a:xfrm rot="0" flipH="0" flipV="0">
            <a:off x="7219517" y="5700996"/>
            <a:ext cx="8359857" cy="33675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666304339"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563277879"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898326758" name="TextBox 6"/>
          <p:cNvSpPr txBox="1"/>
          <p:nvPr/>
        </p:nvSpPr>
        <p:spPr bwMode="auto">
          <a:xfrm rot="0">
            <a:off x="947886" y="819299"/>
            <a:ext cx="5701605" cy="741164"/>
          </a:xfrm>
          <a:prstGeom prst="rect">
            <a:avLst/>
          </a:prstGeom>
        </p:spPr>
        <p:txBody>
          <a:bodyPr lIns="0" tIns="0" rIns="0" bIns="0" rtlCol="0" anchor="t">
            <a:spAutoFit/>
          </a:bodyPr>
          <a:lstStyle/>
          <a:p>
            <a:pPr algn="l">
              <a:lnSpc>
                <a:spcPts val="5562"/>
              </a:lnSpc>
              <a:defRPr/>
            </a:pPr>
            <a:r>
              <a:rPr lang="en-US" sz="4450" b="1">
                <a:solidFill>
                  <a:srgbClr val="2E3C4E"/>
                </a:solidFill>
                <a:latin typeface="Barlow Bold"/>
                <a:ea typeface="Barlow Bold"/>
                <a:cs typeface="Barlow Bold"/>
              </a:rPr>
              <a:t>Types de données</a:t>
            </a:r>
            <a:endParaRPr/>
          </a:p>
        </p:txBody>
      </p:sp>
      <p:sp>
        <p:nvSpPr>
          <p:cNvPr id="1797923829" name="TextBox 7"/>
          <p:cNvSpPr txBox="1"/>
          <p:nvPr/>
        </p:nvSpPr>
        <p:spPr bwMode="auto">
          <a:xfrm rot="0">
            <a:off x="947885" y="1582935"/>
            <a:ext cx="4930280" cy="620615"/>
          </a:xfrm>
          <a:prstGeom prst="rect">
            <a:avLst/>
          </a:prstGeom>
        </p:spPr>
        <p:txBody>
          <a:bodyPr lIns="0" tIns="0" rIns="0" bIns="0" rtlCol="0" anchor="t">
            <a:spAutoFit/>
          </a:bodyPr>
          <a:lstStyle/>
          <a:p>
            <a:pPr algn="l">
              <a:lnSpc>
                <a:spcPts val="4187"/>
              </a:lnSpc>
              <a:defRPr/>
            </a:pPr>
            <a:r>
              <a:rPr lang="en-US" sz="2750" b="1">
                <a:solidFill>
                  <a:srgbClr val="2E3C4E"/>
                </a:solidFill>
                <a:latin typeface="Barlow Bold"/>
                <a:ea typeface="Barlow Bold"/>
                <a:cs typeface="Barlow Bold"/>
              </a:rPr>
              <a:t>Type de données numériques</a:t>
            </a:r>
            <a:endParaRPr/>
          </a:p>
        </p:txBody>
      </p:sp>
      <p:sp>
        <p:nvSpPr>
          <p:cNvPr id="367499501" name="TextBox 8"/>
          <p:cNvSpPr txBox="1"/>
          <p:nvPr/>
        </p:nvSpPr>
        <p:spPr bwMode="auto">
          <a:xfrm rot="0">
            <a:off x="947886" y="2533055"/>
            <a:ext cx="16392226" cy="509588"/>
          </a:xfrm>
          <a:prstGeom prst="rect">
            <a:avLst/>
          </a:prstGeom>
        </p:spPr>
        <p:txBody>
          <a:bodyPr lIns="0" tIns="0" rIns="0" bIns="0" rtlCol="0" anchor="t">
            <a:spAutoFit/>
          </a:bodyPr>
          <a:lstStyle/>
          <a:p>
            <a:pPr algn="l">
              <a:lnSpc>
                <a:spcPts val="3374"/>
              </a:lnSpc>
              <a:defRPr/>
            </a:pPr>
            <a:r>
              <a:rPr lang="en-US" sz="2150" b="1">
                <a:solidFill>
                  <a:srgbClr val="384653"/>
                </a:solidFill>
                <a:latin typeface="Montserrat Bold"/>
                <a:ea typeface="Montserrat Bold"/>
                <a:cs typeface="Montserrat Bold"/>
              </a:rPr>
              <a:t>int :</a:t>
            </a:r>
            <a:r>
              <a:rPr lang="en-US" sz="2150">
                <a:solidFill>
                  <a:srgbClr val="384653"/>
                </a:solidFill>
                <a:latin typeface="Montserrat"/>
                <a:ea typeface="Montserrat"/>
                <a:cs typeface="Montserrat"/>
              </a:rPr>
              <a:t> Entiers (exemple : 10, -3, 0)</a:t>
            </a:r>
            <a:endParaRPr/>
          </a:p>
        </p:txBody>
      </p:sp>
      <p:sp>
        <p:nvSpPr>
          <p:cNvPr id="1542088658" name="TextBox 9"/>
          <p:cNvSpPr txBox="1"/>
          <p:nvPr/>
        </p:nvSpPr>
        <p:spPr bwMode="auto">
          <a:xfrm rot="0">
            <a:off x="947886" y="3061098"/>
            <a:ext cx="16392226" cy="509588"/>
          </a:xfrm>
          <a:prstGeom prst="rect">
            <a:avLst/>
          </a:prstGeom>
        </p:spPr>
        <p:txBody>
          <a:bodyPr lIns="0" tIns="0" rIns="0" bIns="0" rtlCol="0" anchor="t">
            <a:spAutoFit/>
          </a:bodyPr>
          <a:lstStyle/>
          <a:p>
            <a:pPr algn="l">
              <a:lnSpc>
                <a:spcPts val="3374"/>
              </a:lnSpc>
              <a:defRPr/>
            </a:pPr>
            <a:r>
              <a:rPr lang="en-US" sz="2150" b="1">
                <a:solidFill>
                  <a:srgbClr val="384653"/>
                </a:solidFill>
                <a:latin typeface="Montserrat Bold"/>
                <a:ea typeface="Montserrat Bold"/>
                <a:cs typeface="Montserrat Bold"/>
              </a:rPr>
              <a:t>float :</a:t>
            </a:r>
            <a:r>
              <a:rPr lang="en-US" sz="2150">
                <a:solidFill>
                  <a:srgbClr val="384653"/>
                </a:solidFill>
                <a:latin typeface="Montserrat"/>
                <a:ea typeface="Montserrat"/>
                <a:cs typeface="Montserrat"/>
              </a:rPr>
              <a:t> Nombres à virgule flottante (exemple : 3.14, -0.001)</a:t>
            </a:r>
            <a:endParaRPr/>
          </a:p>
        </p:txBody>
      </p:sp>
      <p:sp>
        <p:nvSpPr>
          <p:cNvPr id="420476144" name="TextBox 10"/>
          <p:cNvSpPr txBox="1"/>
          <p:nvPr/>
        </p:nvSpPr>
        <p:spPr bwMode="auto">
          <a:xfrm rot="0">
            <a:off x="947886" y="3589139"/>
            <a:ext cx="16392226" cy="509588"/>
          </a:xfrm>
          <a:prstGeom prst="rect">
            <a:avLst/>
          </a:prstGeom>
        </p:spPr>
        <p:txBody>
          <a:bodyPr lIns="0" tIns="0" rIns="0" bIns="0" rtlCol="0" anchor="t">
            <a:spAutoFit/>
          </a:bodyPr>
          <a:lstStyle/>
          <a:p>
            <a:pPr algn="l">
              <a:lnSpc>
                <a:spcPts val="3374"/>
              </a:lnSpc>
              <a:defRPr/>
            </a:pPr>
            <a:r>
              <a:rPr lang="en-US" sz="2150" b="1">
                <a:solidFill>
                  <a:srgbClr val="384653"/>
                </a:solidFill>
                <a:latin typeface="Montserrat Bold"/>
                <a:ea typeface="Montserrat Bold"/>
                <a:cs typeface="Montserrat Bold"/>
              </a:rPr>
              <a:t>complex :</a:t>
            </a:r>
            <a:r>
              <a:rPr lang="en-US" sz="2150">
                <a:solidFill>
                  <a:srgbClr val="384653"/>
                </a:solidFill>
                <a:latin typeface="Montserrat"/>
                <a:ea typeface="Montserrat"/>
                <a:cs typeface="Montserrat"/>
              </a:rPr>
              <a:t> Nombres complexes avec partie réelle et imaginaire (exemple : 5 + 3j)</a:t>
            </a:r>
            <a:endParaRPr/>
          </a:p>
        </p:txBody>
      </p:sp>
      <p:sp>
        <p:nvSpPr>
          <p:cNvPr id="1814737562" name="TextBox 11"/>
          <p:cNvSpPr txBox="1"/>
          <p:nvPr/>
        </p:nvSpPr>
        <p:spPr bwMode="auto">
          <a:xfrm rot="0">
            <a:off x="947885" y="4419152"/>
            <a:ext cx="4561931" cy="620615"/>
          </a:xfrm>
          <a:prstGeom prst="rect">
            <a:avLst/>
          </a:prstGeom>
        </p:spPr>
        <p:txBody>
          <a:bodyPr lIns="0" tIns="0" rIns="0" bIns="0" rtlCol="0" anchor="t">
            <a:spAutoFit/>
          </a:bodyPr>
          <a:lstStyle/>
          <a:p>
            <a:pPr algn="l">
              <a:lnSpc>
                <a:spcPts val="4187"/>
              </a:lnSpc>
              <a:defRPr/>
            </a:pPr>
            <a:r>
              <a:rPr lang="en-US" sz="2750" b="1">
                <a:solidFill>
                  <a:srgbClr val="2E3C4E"/>
                </a:solidFill>
                <a:latin typeface="Barlow Bold"/>
                <a:ea typeface="Barlow Bold"/>
                <a:cs typeface="Barlow Bold"/>
              </a:rPr>
              <a:t>Type de données textuelles</a:t>
            </a:r>
            <a:endParaRPr/>
          </a:p>
        </p:txBody>
      </p:sp>
      <p:sp>
        <p:nvSpPr>
          <p:cNvPr id="337307899" name="TextBox 12"/>
          <p:cNvSpPr txBox="1"/>
          <p:nvPr/>
        </p:nvSpPr>
        <p:spPr bwMode="auto">
          <a:xfrm rot="0">
            <a:off x="947886" y="5369273"/>
            <a:ext cx="16392226" cy="509588"/>
          </a:xfrm>
          <a:prstGeom prst="rect">
            <a:avLst/>
          </a:prstGeom>
        </p:spPr>
        <p:txBody>
          <a:bodyPr lIns="0" tIns="0" rIns="0" bIns="0" rtlCol="0" anchor="t">
            <a:spAutoFit/>
          </a:bodyPr>
          <a:lstStyle/>
          <a:p>
            <a:pPr algn="l">
              <a:lnSpc>
                <a:spcPts val="3374"/>
              </a:lnSpc>
              <a:defRPr/>
            </a:pPr>
            <a:r>
              <a:rPr lang="en-US" sz="2150" b="1">
                <a:solidFill>
                  <a:srgbClr val="384653"/>
                </a:solidFill>
                <a:latin typeface="Montserrat Bold"/>
                <a:ea typeface="Montserrat Bold"/>
                <a:cs typeface="Montserrat Bold"/>
              </a:rPr>
              <a:t>str :</a:t>
            </a:r>
            <a:r>
              <a:rPr lang="en-US" sz="2150">
                <a:solidFill>
                  <a:srgbClr val="384653"/>
                </a:solidFill>
                <a:latin typeface="Montserrat"/>
                <a:ea typeface="Montserrat"/>
                <a:cs typeface="Montserrat"/>
              </a:rPr>
              <a:t> Chaînes de caractères, sequences de caractères entre guillemets (exemple : "Bonjour", 'texte')</a:t>
            </a:r>
            <a:endParaRPr/>
          </a:p>
        </p:txBody>
      </p:sp>
      <p:sp>
        <p:nvSpPr>
          <p:cNvPr id="1027555232" name="TextBox 13"/>
          <p:cNvSpPr txBox="1"/>
          <p:nvPr/>
        </p:nvSpPr>
        <p:spPr bwMode="auto">
          <a:xfrm rot="0">
            <a:off x="947885" y="6199285"/>
            <a:ext cx="4483831" cy="620615"/>
          </a:xfrm>
          <a:prstGeom prst="rect">
            <a:avLst/>
          </a:prstGeom>
        </p:spPr>
        <p:txBody>
          <a:bodyPr lIns="0" tIns="0" rIns="0" bIns="0" rtlCol="0" anchor="t">
            <a:spAutoFit/>
          </a:bodyPr>
          <a:lstStyle/>
          <a:p>
            <a:pPr algn="l">
              <a:lnSpc>
                <a:spcPts val="4187"/>
              </a:lnSpc>
              <a:defRPr/>
            </a:pPr>
            <a:r>
              <a:rPr lang="en-US" sz="2750" b="1">
                <a:solidFill>
                  <a:srgbClr val="2E3C4E"/>
                </a:solidFill>
                <a:latin typeface="Barlow Bold"/>
                <a:ea typeface="Barlow Bold"/>
                <a:cs typeface="Barlow Bold"/>
              </a:rPr>
              <a:t>Type de données booléens</a:t>
            </a:r>
            <a:endParaRPr/>
          </a:p>
        </p:txBody>
      </p:sp>
      <p:sp>
        <p:nvSpPr>
          <p:cNvPr id="787034985" name="TextBox 14"/>
          <p:cNvSpPr txBox="1"/>
          <p:nvPr/>
        </p:nvSpPr>
        <p:spPr bwMode="auto">
          <a:xfrm rot="0">
            <a:off x="947886" y="7149405"/>
            <a:ext cx="16392226" cy="509588"/>
          </a:xfrm>
          <a:prstGeom prst="rect">
            <a:avLst/>
          </a:prstGeom>
        </p:spPr>
        <p:txBody>
          <a:bodyPr lIns="0" tIns="0" rIns="0" bIns="0" rtlCol="0" anchor="t">
            <a:spAutoFit/>
          </a:bodyPr>
          <a:lstStyle/>
          <a:p>
            <a:pPr algn="l">
              <a:lnSpc>
                <a:spcPts val="3374"/>
              </a:lnSpc>
              <a:defRPr/>
            </a:pPr>
            <a:r>
              <a:rPr lang="en-US" sz="2150" b="1">
                <a:solidFill>
                  <a:srgbClr val="384653"/>
                </a:solidFill>
                <a:latin typeface="Montserrat Bold"/>
                <a:ea typeface="Montserrat Bold"/>
                <a:cs typeface="Montserrat Bold"/>
              </a:rPr>
              <a:t>bool :</a:t>
            </a:r>
            <a:r>
              <a:rPr lang="en-US" sz="2150">
                <a:solidFill>
                  <a:srgbClr val="384653"/>
                </a:solidFill>
                <a:latin typeface="Montserrat"/>
                <a:ea typeface="Montserrat"/>
                <a:cs typeface="Montserrat"/>
              </a:rPr>
              <a:t> Valeurs logiques True ou False</a:t>
            </a:r>
            <a:endParaRPr/>
          </a:p>
        </p:txBody>
      </p:sp>
      <p:sp>
        <p:nvSpPr>
          <p:cNvPr id="1719592949" name="TextBox 15"/>
          <p:cNvSpPr txBox="1"/>
          <p:nvPr/>
        </p:nvSpPr>
        <p:spPr bwMode="auto">
          <a:xfrm rot="0">
            <a:off x="947885" y="7979419"/>
            <a:ext cx="6095175" cy="620615"/>
          </a:xfrm>
          <a:prstGeom prst="rect">
            <a:avLst/>
          </a:prstGeom>
        </p:spPr>
        <p:txBody>
          <a:bodyPr lIns="0" tIns="0" rIns="0" bIns="0" rtlCol="0" anchor="t">
            <a:spAutoFit/>
          </a:bodyPr>
          <a:lstStyle/>
          <a:p>
            <a:pPr algn="l">
              <a:lnSpc>
                <a:spcPts val="4187"/>
              </a:lnSpc>
              <a:defRPr/>
            </a:pPr>
            <a:r>
              <a:rPr lang="en-US" sz="2750" b="1">
                <a:solidFill>
                  <a:srgbClr val="2E3C4E"/>
                </a:solidFill>
                <a:latin typeface="Barlow Bold"/>
                <a:ea typeface="Barlow Bold"/>
                <a:cs typeface="Barlow Bold"/>
              </a:rPr>
              <a:t>Structures de données séquentielles</a:t>
            </a:r>
            <a:endParaRPr/>
          </a:p>
        </p:txBody>
      </p:sp>
      <p:sp>
        <p:nvSpPr>
          <p:cNvPr id="822884599" name="TextBox 16"/>
          <p:cNvSpPr txBox="1"/>
          <p:nvPr/>
        </p:nvSpPr>
        <p:spPr bwMode="auto">
          <a:xfrm rot="0">
            <a:off x="947886" y="8929539"/>
            <a:ext cx="16392226" cy="509588"/>
          </a:xfrm>
          <a:prstGeom prst="rect">
            <a:avLst/>
          </a:prstGeom>
        </p:spPr>
        <p:txBody>
          <a:bodyPr lIns="0" tIns="0" rIns="0" bIns="0" rtlCol="0" anchor="t">
            <a:spAutoFit/>
          </a:bodyPr>
          <a:lstStyle/>
          <a:p>
            <a:pPr marL="320477" lvl="1" indent="-160238" algn="l">
              <a:lnSpc>
                <a:spcPts val="3374"/>
              </a:lnSpc>
              <a:buFont typeface="Arial"/>
              <a:buChar char="•"/>
              <a:defRPr/>
            </a:pPr>
            <a:r>
              <a:rPr lang="en-US" sz="2150">
                <a:solidFill>
                  <a:srgbClr val="384653"/>
                </a:solidFill>
                <a:latin typeface="Montserrat"/>
                <a:ea typeface="Montserrat"/>
                <a:cs typeface="Montserrat"/>
              </a:rPr>
              <a:t>Liste ordonnée et modifiable, peut contenir différents types (exemple : [1, "chat", 3.5])</a:t>
            </a:r>
            <a:endParaRPr/>
          </a:p>
        </p:txBody>
      </p:sp>
      <p:sp>
        <p:nvSpPr>
          <p:cNvPr id="339523220" name="TextBox 17"/>
          <p:cNvSpPr txBox="1"/>
          <p:nvPr/>
        </p:nvSpPr>
        <p:spPr bwMode="auto">
          <a:xfrm rot="0">
            <a:off x="3730341" y="9502974"/>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438710461"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833020406" name="Group 4"/>
          <p:cNvGrpSpPr/>
          <p:nvPr/>
        </p:nvGrpSpPr>
        <p:grpSpPr bwMode="auto">
          <a:xfrm rot="0">
            <a:off x="-79374" y="79374"/>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745494631" name="TextBox 6"/>
          <p:cNvSpPr txBox="1"/>
          <p:nvPr/>
        </p:nvSpPr>
        <p:spPr bwMode="auto">
          <a:xfrm rot="0" flipH="0" flipV="0">
            <a:off x="947884" y="635698"/>
            <a:ext cx="15425959" cy="706734"/>
          </a:xfrm>
          <a:prstGeom prst="rect">
            <a:avLst/>
          </a:prstGeom>
        </p:spPr>
        <p:txBody>
          <a:bodyPr lIns="0" tIns="0" rIns="0" bIns="0" rtlCol="0" anchor="t">
            <a:spAutoFit/>
          </a:bodyPr>
          <a:lstStyle/>
          <a:p>
            <a:pPr algn="l">
              <a:lnSpc>
                <a:spcPts val="5562"/>
              </a:lnSpc>
              <a:defRPr/>
            </a:pPr>
            <a:r>
              <a:rPr lang="en-US" sz="4450" b="1">
                <a:solidFill>
                  <a:srgbClr val="2E3C4E"/>
                </a:solidFill>
                <a:latin typeface="Barlow Bold"/>
                <a:ea typeface="Barlow Bold"/>
                <a:cs typeface="Barlow Bold"/>
              </a:rPr>
              <a:t>Compréhension de liste et structures séquentielles</a:t>
            </a:r>
            <a:endParaRPr/>
          </a:p>
        </p:txBody>
      </p:sp>
      <p:sp>
        <p:nvSpPr>
          <p:cNvPr id="1947588722" name="TextBox 7"/>
          <p:cNvSpPr txBox="1"/>
          <p:nvPr/>
        </p:nvSpPr>
        <p:spPr bwMode="auto">
          <a:xfrm rot="0">
            <a:off x="947885" y="1705621"/>
            <a:ext cx="16392226" cy="942975"/>
          </a:xfrm>
          <a:prstGeom prst="rect">
            <a:avLst/>
          </a:prstGeom>
        </p:spPr>
        <p:txBody>
          <a:bodyPr lIns="0" tIns="0" rIns="0" bIns="0" rtlCol="0" anchor="t">
            <a:spAutoFit/>
          </a:bodyPr>
          <a:lstStyle/>
          <a:p>
            <a:pPr algn="l">
              <a:lnSpc>
                <a:spcPts val="3374"/>
              </a:lnSpc>
              <a:defRPr/>
            </a:pPr>
            <a:r>
              <a:rPr lang="en-US" sz="2150">
                <a:solidFill>
                  <a:srgbClr val="384653"/>
                </a:solidFill>
                <a:latin typeface="Montserrat"/>
                <a:ea typeface="Montserrat"/>
                <a:cs typeface="Montserrat"/>
              </a:rPr>
              <a:t>La compréhension de liste offre une syntaxe plus courte lorsque vous souhaitez créer une nouvelle liste à partir des valeurs d'une liste existante.</a:t>
            </a:r>
            <a:endParaRPr/>
          </a:p>
        </p:txBody>
      </p:sp>
      <p:sp>
        <p:nvSpPr>
          <p:cNvPr id="1243449840" name="TextBox 8"/>
          <p:cNvSpPr txBox="1"/>
          <p:nvPr/>
        </p:nvSpPr>
        <p:spPr bwMode="auto">
          <a:xfrm rot="0">
            <a:off x="1006440" y="2977142"/>
            <a:ext cx="6900525" cy="554390"/>
          </a:xfrm>
          <a:prstGeom prst="rect">
            <a:avLst/>
          </a:prstGeom>
        </p:spPr>
        <p:txBody>
          <a:bodyPr lIns="0" tIns="0" rIns="0" bIns="0" rtlCol="0" anchor="t">
            <a:spAutoFit/>
          </a:bodyPr>
          <a:lstStyle/>
          <a:p>
            <a:pPr algn="l">
              <a:lnSpc>
                <a:spcPts val="4187"/>
              </a:lnSpc>
              <a:defRPr/>
            </a:pPr>
            <a:r>
              <a:rPr lang="en-US" sz="3300" b="1">
                <a:solidFill>
                  <a:srgbClr val="2E3C4E"/>
                </a:solidFill>
                <a:latin typeface="Barlow Bold"/>
                <a:ea typeface="Barlow Bold"/>
                <a:cs typeface="Barlow Bold"/>
              </a:rPr>
              <a:t>Liste sans compréhension</a:t>
            </a:r>
            <a:endParaRPr/>
          </a:p>
          <a:p>
            <a:pPr algn="l">
              <a:lnSpc>
                <a:spcPts val="4186"/>
              </a:lnSpc>
              <a:defRPr/>
            </a:pPr>
            <a:endParaRPr/>
          </a:p>
          <a:p>
            <a:pPr algn="l">
              <a:lnSpc>
                <a:spcPts val="4186"/>
              </a:lnSpc>
              <a:defRPr/>
            </a:pPr>
            <a:endParaRPr/>
          </a:p>
        </p:txBody>
      </p:sp>
      <p:sp>
        <p:nvSpPr>
          <p:cNvPr id="2098725898" name="TextBox 11"/>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1444059991" name=""/>
          <p:cNvPicPr>
            <a:picLocks noChangeAspect="1"/>
          </p:cNvPicPr>
          <p:nvPr/>
        </p:nvPicPr>
        <p:blipFill>
          <a:blip r:embed="rId4"/>
          <a:stretch/>
        </p:blipFill>
        <p:spPr bwMode="auto">
          <a:xfrm rot="0" flipH="0" flipV="0">
            <a:off x="1006439" y="4266406"/>
            <a:ext cx="10405747" cy="341340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785510063"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721406826"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233818899" name="TextBox 6"/>
          <p:cNvSpPr txBox="1"/>
          <p:nvPr/>
        </p:nvSpPr>
        <p:spPr bwMode="auto">
          <a:xfrm rot="0">
            <a:off x="1327456" y="692014"/>
            <a:ext cx="5284714" cy="553940"/>
          </a:xfrm>
          <a:prstGeom prst="rect">
            <a:avLst/>
          </a:prstGeom>
        </p:spPr>
        <p:txBody>
          <a:bodyPr lIns="0" tIns="0" rIns="0" bIns="0" rtlCol="0" anchor="t">
            <a:spAutoFit/>
          </a:bodyPr>
          <a:lstStyle/>
          <a:p>
            <a:pPr algn="l">
              <a:lnSpc>
                <a:spcPts val="4186"/>
              </a:lnSpc>
              <a:defRPr/>
            </a:pPr>
            <a:r>
              <a:rPr lang="en-US" sz="3300" b="1">
                <a:solidFill>
                  <a:srgbClr val="2E3C4E"/>
                </a:solidFill>
                <a:latin typeface="Barlow Bold"/>
                <a:ea typeface="Barlow Bold"/>
                <a:cs typeface="Barlow Bold"/>
              </a:rPr>
              <a:t>Liste avec compréhension</a:t>
            </a:r>
            <a:endParaRPr/>
          </a:p>
        </p:txBody>
      </p:sp>
      <p:sp>
        <p:nvSpPr>
          <p:cNvPr id="720172408" name="TextBox 7"/>
          <p:cNvSpPr txBox="1"/>
          <p:nvPr/>
        </p:nvSpPr>
        <p:spPr bwMode="auto">
          <a:xfrm rot="0">
            <a:off x="1268901" y="5124450"/>
            <a:ext cx="6290001" cy="553940"/>
          </a:xfrm>
          <a:prstGeom prst="rect">
            <a:avLst/>
          </a:prstGeom>
        </p:spPr>
        <p:txBody>
          <a:bodyPr lIns="0" tIns="0" rIns="0" bIns="0" rtlCol="0" anchor="t">
            <a:spAutoFit/>
          </a:bodyPr>
          <a:lstStyle/>
          <a:p>
            <a:pPr algn="l">
              <a:lnSpc>
                <a:spcPts val="4186"/>
              </a:lnSpc>
              <a:defRPr/>
            </a:pPr>
            <a:r>
              <a:rPr lang="en-US" sz="3300" b="1">
                <a:solidFill>
                  <a:srgbClr val="2E3C4E"/>
                </a:solidFill>
                <a:latin typeface="Barlow Bold"/>
                <a:ea typeface="Barlow Bold"/>
                <a:cs typeface="Barlow Bold"/>
              </a:rPr>
              <a:t>Autres structures séquentielles</a:t>
            </a:r>
            <a:endParaRPr/>
          </a:p>
        </p:txBody>
      </p:sp>
      <p:sp>
        <p:nvSpPr>
          <p:cNvPr id="172328251" name="TextBox 8"/>
          <p:cNvSpPr txBox="1"/>
          <p:nvPr/>
        </p:nvSpPr>
        <p:spPr bwMode="auto">
          <a:xfrm rot="0" flipH="0" flipV="0">
            <a:off x="1268901" y="5926601"/>
            <a:ext cx="12366506" cy="428729"/>
          </a:xfrm>
          <a:prstGeom prst="rect">
            <a:avLst/>
          </a:prstGeom>
        </p:spPr>
        <p:txBody>
          <a:bodyPr lIns="0" tIns="0" rIns="0" bIns="0" rtlCol="0" anchor="t">
            <a:spAutoFit/>
          </a:bodyPr>
          <a:lstStyle/>
          <a:p>
            <a:pPr algn="l">
              <a:lnSpc>
                <a:spcPts val="3373"/>
              </a:lnSpc>
              <a:defRPr/>
            </a:pPr>
            <a:r>
              <a:rPr lang="en-US" sz="2150" b="1">
                <a:solidFill>
                  <a:srgbClr val="384653"/>
                </a:solidFill>
                <a:latin typeface="Montserrat Bold"/>
                <a:ea typeface="Montserrat Bold"/>
                <a:cs typeface="Montserrat Bold"/>
              </a:rPr>
              <a:t>Tuple :</a:t>
            </a:r>
            <a:r>
              <a:rPr lang="en-US" sz="2150">
                <a:solidFill>
                  <a:srgbClr val="384653"/>
                </a:solidFill>
                <a:latin typeface="Montserrat"/>
                <a:ea typeface="Montserrat"/>
                <a:cs typeface="Montserrat"/>
              </a:rPr>
              <a:t> ordonné et immuable (exemple : (10, 20, "test"))</a:t>
            </a:r>
            <a:endParaRPr/>
          </a:p>
        </p:txBody>
      </p:sp>
      <p:sp>
        <p:nvSpPr>
          <p:cNvPr id="398510183" name="TextBox 13"/>
          <p:cNvSpPr txBox="1"/>
          <p:nvPr/>
        </p:nvSpPr>
        <p:spPr bwMode="auto">
          <a:xfrm rot="0">
            <a:off x="3705964" y="9637565"/>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1933096872" name=""/>
          <p:cNvPicPr>
            <a:picLocks noChangeAspect="1"/>
          </p:cNvPicPr>
          <p:nvPr/>
        </p:nvPicPr>
        <p:blipFill>
          <a:blip r:embed="rId4"/>
          <a:stretch/>
        </p:blipFill>
        <p:spPr bwMode="auto">
          <a:xfrm rot="0" flipH="0" flipV="0">
            <a:off x="1015120" y="1499014"/>
            <a:ext cx="10297847" cy="3005515"/>
          </a:xfrm>
          <a:prstGeom prst="rect">
            <a:avLst/>
          </a:prstGeom>
        </p:spPr>
      </p:pic>
      <p:pic>
        <p:nvPicPr>
          <p:cNvPr id="141326414" name=""/>
          <p:cNvPicPr>
            <a:picLocks noChangeAspect="1"/>
          </p:cNvPicPr>
          <p:nvPr/>
        </p:nvPicPr>
        <p:blipFill>
          <a:blip r:embed="rId5"/>
          <a:stretch/>
        </p:blipFill>
        <p:spPr bwMode="auto">
          <a:xfrm rot="0" flipH="0" flipV="0">
            <a:off x="1072863" y="6826249"/>
            <a:ext cx="11271980" cy="25432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036289410"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107911582"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218836825" name="TextBox 6"/>
          <p:cNvSpPr txBox="1"/>
          <p:nvPr/>
        </p:nvSpPr>
        <p:spPr bwMode="auto">
          <a:xfrm rot="0">
            <a:off x="1034679" y="345371"/>
            <a:ext cx="16392225" cy="942974"/>
          </a:xfrm>
          <a:prstGeom prst="rect">
            <a:avLst/>
          </a:prstGeom>
        </p:spPr>
        <p:txBody>
          <a:bodyPr lIns="0" tIns="0" rIns="0" bIns="0" rtlCol="0" anchor="t">
            <a:spAutoFit/>
          </a:bodyPr>
          <a:lstStyle/>
          <a:p>
            <a:pPr algn="l">
              <a:lnSpc>
                <a:spcPts val="3373"/>
              </a:lnSpc>
              <a:defRPr/>
            </a:pPr>
            <a:r>
              <a:rPr lang="en-US" sz="2150" b="1">
                <a:solidFill>
                  <a:srgbClr val="384653"/>
                </a:solidFill>
                <a:latin typeface="Montserrat Bold"/>
                <a:ea typeface="Montserrat Bold"/>
                <a:cs typeface="Montserrat Bold"/>
              </a:rPr>
              <a:t>Range :</a:t>
            </a:r>
            <a:r>
              <a:rPr lang="en-US" sz="2150">
                <a:solidFill>
                  <a:srgbClr val="384653"/>
                </a:solidFill>
                <a:latin typeface="Montserrat"/>
                <a:ea typeface="Montserrat"/>
                <a:cs typeface="Montserrat"/>
              </a:rPr>
              <a:t> Séquence de nombres entiers générée à la volée, utilisée surtout pour les boucles (exemple : range(5) donne 0 à 4)</a:t>
            </a:r>
            <a:endParaRPr/>
          </a:p>
        </p:txBody>
      </p:sp>
      <p:sp>
        <p:nvSpPr>
          <p:cNvPr id="198935515" name="TextBox 7"/>
          <p:cNvSpPr txBox="1"/>
          <p:nvPr/>
        </p:nvSpPr>
        <p:spPr bwMode="auto">
          <a:xfrm rot="0">
            <a:off x="1187866" y="1214103"/>
            <a:ext cx="14670159" cy="413834"/>
          </a:xfrm>
          <a:prstGeom prst="rect">
            <a:avLst/>
          </a:prstGeom>
        </p:spPr>
        <p:txBody>
          <a:bodyPr lIns="0" tIns="0" rIns="0" bIns="0" rtlCol="0" anchor="t">
            <a:spAutoFit/>
          </a:bodyPr>
          <a:lstStyle/>
          <a:p>
            <a:pPr algn="l">
              <a:lnSpc>
                <a:spcPts val="2699"/>
              </a:lnSpc>
              <a:defRPr/>
            </a:pPr>
            <a:r>
              <a:rPr lang="en-US" sz="2250">
                <a:solidFill>
                  <a:srgbClr val="000000"/>
                </a:solidFill>
                <a:latin typeface="Calibri (MS)"/>
                <a:ea typeface="Calibri (MS)"/>
                <a:cs typeface="Calibri (MS)"/>
              </a:rPr>
              <a:t>Séquence de nombres entiers générée à la volée, utilisée surtout pour les boucles 	(exemple : range(5) donne 0 à 4)</a:t>
            </a:r>
            <a:endParaRPr/>
          </a:p>
        </p:txBody>
      </p:sp>
      <p:grpSp>
        <p:nvGrpSpPr>
          <p:cNvPr id="1451205746" name="Group 8"/>
          <p:cNvGrpSpPr>
            <a:grpSpLocks noChangeAspect="1"/>
          </p:cNvGrpSpPr>
          <p:nvPr/>
        </p:nvGrpSpPr>
        <p:grpSpPr bwMode="auto">
          <a:xfrm rot="0">
            <a:off x="1366290" y="2165965"/>
            <a:ext cx="11283657" cy="2977533"/>
            <a:chOff x="0" y="0"/>
            <a:chExt cx="15044877" cy="3970045"/>
          </a:xfrm>
        </p:grpSpPr>
        <p:sp>
          <p:nvSpPr>
            <p:cNvPr id="9" name="Freeform 9"/>
            <p:cNvSpPr/>
            <p:nvPr/>
          </p:nvSpPr>
          <p:spPr bwMode="auto">
            <a:xfrm rot="0" flipH="0" flipV="0">
              <a:off x="0" y="0"/>
              <a:ext cx="15044928" cy="3970020"/>
            </a:xfrm>
            <a:custGeom>
              <a:avLst/>
              <a:gdLst/>
              <a:ahLst/>
              <a:cxnLst/>
              <a:rect l="l" t="t" r="r" b="b"/>
              <a:pathLst>
                <a:path w="15044928" h="3970020" fill="norm" stroke="1" extrusionOk="0">
                  <a:moveTo>
                    <a:pt x="0" y="0"/>
                  </a:moveTo>
                  <a:lnTo>
                    <a:pt x="15044928" y="0"/>
                  </a:lnTo>
                  <a:lnTo>
                    <a:pt x="15044928" y="3970020"/>
                  </a:lnTo>
                  <a:lnTo>
                    <a:pt x="0" y="3970020"/>
                  </a:lnTo>
                  <a:lnTo>
                    <a:pt x="0" y="0"/>
                  </a:lnTo>
                  <a:close/>
                </a:path>
              </a:pathLst>
            </a:custGeom>
            <a:blipFill>
              <a:blip r:embed="rId4"/>
              <a:srcRect l="0" t="4594" r="0" b="4593"/>
              <a:stretch/>
            </a:blipFill>
          </p:spPr>
        </p:sp>
      </p:grpSp>
      <p:sp>
        <p:nvSpPr>
          <p:cNvPr id="337197067" name="TextBox 10"/>
          <p:cNvSpPr txBox="1"/>
          <p:nvPr/>
        </p:nvSpPr>
        <p:spPr bwMode="auto">
          <a:xfrm rot="0">
            <a:off x="4146017"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076602175"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802229152"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059372217" name="TextBox 6"/>
          <p:cNvSpPr txBox="1"/>
          <p:nvPr/>
        </p:nvSpPr>
        <p:spPr bwMode="auto">
          <a:xfrm rot="0" flipH="0" flipV="0">
            <a:off x="848319" y="628500"/>
            <a:ext cx="15346931" cy="635359"/>
          </a:xfrm>
          <a:prstGeom prst="rect">
            <a:avLst/>
          </a:prstGeom>
        </p:spPr>
        <p:txBody>
          <a:bodyPr lIns="0" tIns="0" rIns="0" bIns="0" rtlCol="0" anchor="t">
            <a:spAutoFit/>
          </a:bodyPr>
          <a:lstStyle/>
          <a:p>
            <a:pPr algn="l">
              <a:lnSpc>
                <a:spcPts val="5000"/>
              </a:lnSpc>
              <a:defRPr/>
            </a:pPr>
            <a:r>
              <a:rPr lang="en-US" sz="4000" b="1">
                <a:solidFill>
                  <a:srgbClr val="2E3C4E"/>
                </a:solidFill>
                <a:latin typeface="Barlow Bold"/>
                <a:ea typeface="Barlow Bold"/>
                <a:cs typeface="Barlow Bold"/>
              </a:rPr>
              <a:t>Les instructions et structures conditionnelles</a:t>
            </a:r>
            <a:endParaRPr/>
          </a:p>
        </p:txBody>
      </p:sp>
      <p:sp>
        <p:nvSpPr>
          <p:cNvPr id="1482926283" name="TextBox 7"/>
          <p:cNvSpPr txBox="1"/>
          <p:nvPr/>
        </p:nvSpPr>
        <p:spPr bwMode="auto">
          <a:xfrm rot="0" flipH="0" flipV="0">
            <a:off x="848319" y="1372790"/>
            <a:ext cx="14453962" cy="476482"/>
          </a:xfrm>
          <a:prstGeom prst="rect">
            <a:avLst/>
          </a:prstGeom>
        </p:spPr>
        <p:txBody>
          <a:bodyPr lIns="0" tIns="0" rIns="0" bIns="0" rtlCol="0" anchor="t">
            <a:spAutoFit/>
          </a:bodyPr>
          <a:lstStyle/>
          <a:p>
            <a:pPr algn="l">
              <a:lnSpc>
                <a:spcPts val="3749"/>
              </a:lnSpc>
              <a:defRPr/>
            </a:pPr>
            <a:r>
              <a:rPr lang="en-US" sz="3000" b="1">
                <a:solidFill>
                  <a:srgbClr val="2E3C4E"/>
                </a:solidFill>
                <a:latin typeface="Barlow Bold"/>
                <a:ea typeface="Barlow Bold"/>
                <a:cs typeface="Barlow Bold"/>
              </a:rPr>
              <a:t>Les commentaires</a:t>
            </a:r>
            <a:endParaRPr/>
          </a:p>
        </p:txBody>
      </p:sp>
      <p:grpSp>
        <p:nvGrpSpPr>
          <p:cNvPr id="973857893" name="Group 8"/>
          <p:cNvGrpSpPr/>
          <p:nvPr/>
        </p:nvGrpSpPr>
        <p:grpSpPr bwMode="auto">
          <a:xfrm rot="0">
            <a:off x="848320" y="2243435"/>
            <a:ext cx="16591360" cy="1139130"/>
            <a:chOff x="0" y="0"/>
            <a:chExt cx="22121813" cy="1518840"/>
          </a:xfrm>
        </p:grpSpPr>
        <p:sp>
          <p:nvSpPr>
            <p:cNvPr id="9" name="Freeform 9"/>
            <p:cNvSpPr/>
            <p:nvPr/>
          </p:nvSpPr>
          <p:spPr bwMode="auto">
            <a:xfrm rot="0" flipH="0" flipV="0">
              <a:off x="0" y="0"/>
              <a:ext cx="22121749" cy="1518793"/>
            </a:xfrm>
            <a:custGeom>
              <a:avLst/>
              <a:gdLst/>
              <a:ahLst/>
              <a:cxnLst/>
              <a:rect l="l" t="t" r="r" b="b"/>
              <a:pathLst>
                <a:path w="22121749" h="1518793" fill="norm" stroke="1" extrusionOk="0">
                  <a:moveTo>
                    <a:pt x="0" y="484759"/>
                  </a:moveTo>
                  <a:cubicBezTo>
                    <a:pt x="0" y="217043"/>
                    <a:pt x="217043" y="0"/>
                    <a:pt x="484759" y="0"/>
                  </a:cubicBezTo>
                  <a:lnTo>
                    <a:pt x="21636989" y="0"/>
                  </a:lnTo>
                  <a:cubicBezTo>
                    <a:pt x="21904705" y="0"/>
                    <a:pt x="22121749" y="217043"/>
                    <a:pt x="22121749" y="484759"/>
                  </a:cubicBezTo>
                  <a:lnTo>
                    <a:pt x="22121749" y="1034034"/>
                  </a:lnTo>
                  <a:cubicBezTo>
                    <a:pt x="22121749" y="1301750"/>
                    <a:pt x="21904705" y="1518793"/>
                    <a:pt x="21636989" y="1518793"/>
                  </a:cubicBezTo>
                  <a:lnTo>
                    <a:pt x="484759" y="1518793"/>
                  </a:lnTo>
                  <a:cubicBezTo>
                    <a:pt x="217043" y="1518793"/>
                    <a:pt x="0" y="1301750"/>
                    <a:pt x="0" y="1034034"/>
                  </a:cubicBezTo>
                  <a:close/>
                </a:path>
              </a:pathLst>
            </a:custGeom>
            <a:solidFill>
              <a:srgbClr val="F2F2F2"/>
            </a:solidFill>
          </p:spPr>
        </p:sp>
      </p:grpSp>
      <p:grpSp>
        <p:nvGrpSpPr>
          <p:cNvPr id="1682407718" name="Group 10"/>
          <p:cNvGrpSpPr/>
          <p:nvPr/>
        </p:nvGrpSpPr>
        <p:grpSpPr bwMode="auto">
          <a:xfrm rot="0">
            <a:off x="836265" y="2243435"/>
            <a:ext cx="16615470" cy="1139130"/>
            <a:chOff x="0" y="0"/>
            <a:chExt cx="22153960" cy="1518840"/>
          </a:xfrm>
        </p:grpSpPr>
        <p:sp>
          <p:nvSpPr>
            <p:cNvPr id="11" name="Freeform 11"/>
            <p:cNvSpPr/>
            <p:nvPr/>
          </p:nvSpPr>
          <p:spPr bwMode="auto">
            <a:xfrm rot="0" flipH="0" flipV="0">
              <a:off x="0" y="0"/>
              <a:ext cx="22154005" cy="1518920"/>
            </a:xfrm>
            <a:custGeom>
              <a:avLst/>
              <a:gdLst/>
              <a:ahLst/>
              <a:cxnLst/>
              <a:rect l="l" t="t" r="r" b="b"/>
              <a:pathLst>
                <a:path w="22154006" h="1518920" fill="norm" stroke="1" extrusionOk="0">
                  <a:moveTo>
                    <a:pt x="0" y="48514"/>
                  </a:moveTo>
                  <a:cubicBezTo>
                    <a:pt x="0" y="21717"/>
                    <a:pt x="21717" y="0"/>
                    <a:pt x="48514" y="0"/>
                  </a:cubicBezTo>
                  <a:lnTo>
                    <a:pt x="22105493" y="0"/>
                  </a:lnTo>
                  <a:cubicBezTo>
                    <a:pt x="22132289" y="0"/>
                    <a:pt x="22154006" y="21717"/>
                    <a:pt x="22154006" y="48514"/>
                  </a:cubicBezTo>
                  <a:lnTo>
                    <a:pt x="22154006" y="1470406"/>
                  </a:lnTo>
                  <a:cubicBezTo>
                    <a:pt x="22154006" y="1497203"/>
                    <a:pt x="22132289" y="1518920"/>
                    <a:pt x="22105493" y="1518920"/>
                  </a:cubicBezTo>
                  <a:lnTo>
                    <a:pt x="48514" y="1518920"/>
                  </a:lnTo>
                  <a:cubicBezTo>
                    <a:pt x="21717" y="1518920"/>
                    <a:pt x="0" y="1497203"/>
                    <a:pt x="0" y="1470406"/>
                  </a:cubicBezTo>
                  <a:close/>
                </a:path>
              </a:pathLst>
            </a:custGeom>
            <a:solidFill>
              <a:srgbClr val="F2F2F2"/>
            </a:solidFill>
          </p:spPr>
        </p:sp>
      </p:grpSp>
      <p:sp>
        <p:nvSpPr>
          <p:cNvPr id="51597005" name="TextBox 12"/>
          <p:cNvSpPr txBox="1"/>
          <p:nvPr/>
        </p:nvSpPr>
        <p:spPr bwMode="auto">
          <a:xfrm rot="0">
            <a:off x="1078558" y="2301327"/>
            <a:ext cx="16130885" cy="899518"/>
          </a:xfrm>
          <a:prstGeom prst="rect">
            <a:avLst/>
          </a:prstGeom>
        </p:spPr>
        <p:txBody>
          <a:bodyPr lIns="0" tIns="0" rIns="0" bIns="0" rtlCol="0" anchor="t">
            <a:spAutoFit/>
          </a:bodyPr>
          <a:lstStyle/>
          <a:p>
            <a:pPr algn="l">
              <a:lnSpc>
                <a:spcPts val="3000"/>
              </a:lnSpc>
              <a:defRPr/>
            </a:pPr>
            <a:r>
              <a:rPr lang="en-US" sz="1850">
                <a:solidFill>
                  <a:srgbClr val="384653"/>
                </a:solidFill>
                <a:latin typeface="Consolas"/>
                <a:ea typeface="Consolas"/>
                <a:cs typeface="Consolas"/>
              </a:rPr>
              <a:t># Ceci est un commentaireprint("Bonjour") # commentaire en ligne</a:t>
            </a:r>
            <a:endParaRPr/>
          </a:p>
        </p:txBody>
      </p:sp>
      <p:sp>
        <p:nvSpPr>
          <p:cNvPr id="802576433" name="TextBox 13"/>
          <p:cNvSpPr txBox="1"/>
          <p:nvPr/>
        </p:nvSpPr>
        <p:spPr bwMode="auto">
          <a:xfrm rot="0" flipH="0" flipV="0">
            <a:off x="848319" y="3717576"/>
            <a:ext cx="15565212" cy="476482"/>
          </a:xfrm>
          <a:prstGeom prst="rect">
            <a:avLst/>
          </a:prstGeom>
        </p:spPr>
        <p:txBody>
          <a:bodyPr lIns="0" tIns="0" rIns="0" bIns="0" rtlCol="0" anchor="t">
            <a:spAutoFit/>
          </a:bodyPr>
          <a:lstStyle/>
          <a:p>
            <a:pPr algn="l">
              <a:lnSpc>
                <a:spcPts val="3749"/>
              </a:lnSpc>
              <a:defRPr/>
            </a:pPr>
            <a:r>
              <a:rPr lang="en-US" sz="3000" b="1">
                <a:solidFill>
                  <a:srgbClr val="2E3C4E"/>
                </a:solidFill>
                <a:latin typeface="Barlow Bold"/>
                <a:ea typeface="Barlow Bold"/>
                <a:cs typeface="Barlow Bold"/>
              </a:rPr>
              <a:t>Assignation de variables</a:t>
            </a:r>
            <a:endParaRPr/>
          </a:p>
        </p:txBody>
      </p:sp>
      <p:grpSp>
        <p:nvGrpSpPr>
          <p:cNvPr id="556651980" name="Group 14"/>
          <p:cNvGrpSpPr/>
          <p:nvPr/>
        </p:nvGrpSpPr>
        <p:grpSpPr bwMode="auto">
          <a:xfrm rot="0">
            <a:off x="848320" y="4588222"/>
            <a:ext cx="16591360" cy="1139130"/>
            <a:chOff x="0" y="0"/>
            <a:chExt cx="22121813" cy="1518840"/>
          </a:xfrm>
        </p:grpSpPr>
        <p:sp>
          <p:nvSpPr>
            <p:cNvPr id="15" name="Freeform 15"/>
            <p:cNvSpPr/>
            <p:nvPr/>
          </p:nvSpPr>
          <p:spPr bwMode="auto">
            <a:xfrm rot="0" flipH="0" flipV="0">
              <a:off x="0" y="0"/>
              <a:ext cx="22121749" cy="1518793"/>
            </a:xfrm>
            <a:custGeom>
              <a:avLst/>
              <a:gdLst/>
              <a:ahLst/>
              <a:cxnLst/>
              <a:rect l="l" t="t" r="r" b="b"/>
              <a:pathLst>
                <a:path w="22121749" h="1518793" fill="norm" stroke="1" extrusionOk="0">
                  <a:moveTo>
                    <a:pt x="0" y="484759"/>
                  </a:moveTo>
                  <a:cubicBezTo>
                    <a:pt x="0" y="217043"/>
                    <a:pt x="217043" y="0"/>
                    <a:pt x="484759" y="0"/>
                  </a:cubicBezTo>
                  <a:lnTo>
                    <a:pt x="21636989" y="0"/>
                  </a:lnTo>
                  <a:cubicBezTo>
                    <a:pt x="21904705" y="0"/>
                    <a:pt x="22121749" y="217043"/>
                    <a:pt x="22121749" y="484759"/>
                  </a:cubicBezTo>
                  <a:lnTo>
                    <a:pt x="22121749" y="1034034"/>
                  </a:lnTo>
                  <a:cubicBezTo>
                    <a:pt x="22121749" y="1301750"/>
                    <a:pt x="21904705" y="1518793"/>
                    <a:pt x="21636989" y="1518793"/>
                  </a:cubicBezTo>
                  <a:lnTo>
                    <a:pt x="484759" y="1518793"/>
                  </a:lnTo>
                  <a:cubicBezTo>
                    <a:pt x="217043" y="1518793"/>
                    <a:pt x="0" y="1301750"/>
                    <a:pt x="0" y="1034034"/>
                  </a:cubicBezTo>
                  <a:close/>
                </a:path>
              </a:pathLst>
            </a:custGeom>
            <a:solidFill>
              <a:srgbClr val="F2F2F2"/>
            </a:solidFill>
          </p:spPr>
        </p:sp>
      </p:grpSp>
      <p:grpSp>
        <p:nvGrpSpPr>
          <p:cNvPr id="734345771" name="Group 16"/>
          <p:cNvGrpSpPr/>
          <p:nvPr/>
        </p:nvGrpSpPr>
        <p:grpSpPr bwMode="auto">
          <a:xfrm rot="0">
            <a:off x="836265" y="4588222"/>
            <a:ext cx="16615470" cy="1139130"/>
            <a:chOff x="0" y="0"/>
            <a:chExt cx="22153960" cy="1518840"/>
          </a:xfrm>
        </p:grpSpPr>
        <p:sp>
          <p:nvSpPr>
            <p:cNvPr id="17" name="Freeform 17"/>
            <p:cNvSpPr/>
            <p:nvPr/>
          </p:nvSpPr>
          <p:spPr bwMode="auto">
            <a:xfrm rot="0" flipH="0" flipV="0">
              <a:off x="0" y="0"/>
              <a:ext cx="22154005" cy="1518920"/>
            </a:xfrm>
            <a:custGeom>
              <a:avLst/>
              <a:gdLst/>
              <a:ahLst/>
              <a:cxnLst/>
              <a:rect l="l" t="t" r="r" b="b"/>
              <a:pathLst>
                <a:path w="22154006" h="1518920" fill="norm" stroke="1" extrusionOk="0">
                  <a:moveTo>
                    <a:pt x="0" y="48514"/>
                  </a:moveTo>
                  <a:cubicBezTo>
                    <a:pt x="0" y="21717"/>
                    <a:pt x="21717" y="0"/>
                    <a:pt x="48514" y="0"/>
                  </a:cubicBezTo>
                  <a:lnTo>
                    <a:pt x="22105493" y="0"/>
                  </a:lnTo>
                  <a:cubicBezTo>
                    <a:pt x="22132289" y="0"/>
                    <a:pt x="22154006" y="21717"/>
                    <a:pt x="22154006" y="48514"/>
                  </a:cubicBezTo>
                  <a:lnTo>
                    <a:pt x="22154006" y="1470406"/>
                  </a:lnTo>
                  <a:cubicBezTo>
                    <a:pt x="22154006" y="1497203"/>
                    <a:pt x="22132289" y="1518920"/>
                    <a:pt x="22105493" y="1518920"/>
                  </a:cubicBezTo>
                  <a:lnTo>
                    <a:pt x="48514" y="1518920"/>
                  </a:lnTo>
                  <a:cubicBezTo>
                    <a:pt x="21717" y="1518920"/>
                    <a:pt x="0" y="1497203"/>
                    <a:pt x="0" y="1470406"/>
                  </a:cubicBezTo>
                  <a:close/>
                </a:path>
              </a:pathLst>
            </a:custGeom>
            <a:solidFill>
              <a:srgbClr val="F2F2F2"/>
            </a:solidFill>
          </p:spPr>
        </p:sp>
      </p:grpSp>
      <p:sp>
        <p:nvSpPr>
          <p:cNvPr id="1521297477" name="TextBox 18"/>
          <p:cNvSpPr txBox="1"/>
          <p:nvPr/>
        </p:nvSpPr>
        <p:spPr bwMode="auto">
          <a:xfrm rot="0">
            <a:off x="1078558" y="4646116"/>
            <a:ext cx="16130885" cy="899517"/>
          </a:xfrm>
          <a:prstGeom prst="rect">
            <a:avLst/>
          </a:prstGeom>
        </p:spPr>
        <p:txBody>
          <a:bodyPr lIns="0" tIns="0" rIns="0" bIns="0" rtlCol="0" anchor="t">
            <a:spAutoFit/>
          </a:bodyPr>
          <a:lstStyle/>
          <a:p>
            <a:pPr algn="l">
              <a:lnSpc>
                <a:spcPts val="3000"/>
              </a:lnSpc>
              <a:defRPr/>
            </a:pPr>
            <a:r>
              <a:rPr lang="en-US" sz="1850">
                <a:solidFill>
                  <a:srgbClr val="384653"/>
                </a:solidFill>
                <a:latin typeface="Consolas"/>
                <a:ea typeface="Consolas"/>
                <a:cs typeface="Consolas"/>
              </a:rPr>
              <a:t>x = 5nom = "Alice"</a:t>
            </a:r>
            <a:endParaRPr/>
          </a:p>
        </p:txBody>
      </p:sp>
      <p:sp>
        <p:nvSpPr>
          <p:cNvPr id="548929247" name="TextBox 19"/>
          <p:cNvSpPr txBox="1"/>
          <p:nvPr/>
        </p:nvSpPr>
        <p:spPr bwMode="auto">
          <a:xfrm rot="0" flipH="0" flipV="0">
            <a:off x="848319" y="6062364"/>
            <a:ext cx="14771462" cy="476482"/>
          </a:xfrm>
          <a:prstGeom prst="rect">
            <a:avLst/>
          </a:prstGeom>
        </p:spPr>
        <p:txBody>
          <a:bodyPr lIns="0" tIns="0" rIns="0" bIns="0" rtlCol="0" anchor="t">
            <a:spAutoFit/>
          </a:bodyPr>
          <a:lstStyle/>
          <a:p>
            <a:pPr algn="l">
              <a:lnSpc>
                <a:spcPts val="3749"/>
              </a:lnSpc>
              <a:defRPr/>
            </a:pPr>
            <a:r>
              <a:rPr lang="en-US" sz="3000" b="1">
                <a:solidFill>
                  <a:srgbClr val="2E3C4E"/>
                </a:solidFill>
                <a:latin typeface="Barlow Bold"/>
                <a:ea typeface="Barlow Bold"/>
                <a:cs typeface="Barlow Bold"/>
              </a:rPr>
              <a:t>Structures conditionnelles (if - elif - else)</a:t>
            </a:r>
            <a:endParaRPr/>
          </a:p>
        </p:txBody>
      </p:sp>
      <p:grpSp>
        <p:nvGrpSpPr>
          <p:cNvPr id="113469383" name="Group 20"/>
          <p:cNvGrpSpPr/>
          <p:nvPr/>
        </p:nvGrpSpPr>
        <p:grpSpPr bwMode="auto">
          <a:xfrm rot="0">
            <a:off x="848320" y="6933010"/>
            <a:ext cx="16591360" cy="2690515"/>
            <a:chOff x="0" y="0"/>
            <a:chExt cx="22121813" cy="3587353"/>
          </a:xfrm>
        </p:grpSpPr>
        <p:sp>
          <p:nvSpPr>
            <p:cNvPr id="21" name="Freeform 21"/>
            <p:cNvSpPr/>
            <p:nvPr/>
          </p:nvSpPr>
          <p:spPr bwMode="auto">
            <a:xfrm rot="0" flipH="0" flipV="0">
              <a:off x="0" y="0"/>
              <a:ext cx="22121749" cy="3587369"/>
            </a:xfrm>
            <a:custGeom>
              <a:avLst/>
              <a:gdLst/>
              <a:ahLst/>
              <a:cxnLst/>
              <a:rect l="l" t="t" r="r" b="b"/>
              <a:pathLst>
                <a:path w="22121749" h="3587369" fill="norm" stroke="1" extrusionOk="0">
                  <a:moveTo>
                    <a:pt x="0" y="484759"/>
                  </a:moveTo>
                  <a:cubicBezTo>
                    <a:pt x="0" y="217043"/>
                    <a:pt x="217043" y="0"/>
                    <a:pt x="484759" y="0"/>
                  </a:cubicBezTo>
                  <a:lnTo>
                    <a:pt x="21636989" y="0"/>
                  </a:lnTo>
                  <a:cubicBezTo>
                    <a:pt x="21904705" y="0"/>
                    <a:pt x="22121749" y="217043"/>
                    <a:pt x="22121749" y="484759"/>
                  </a:cubicBezTo>
                  <a:lnTo>
                    <a:pt x="22121749" y="3102610"/>
                  </a:lnTo>
                  <a:cubicBezTo>
                    <a:pt x="22121749" y="3370326"/>
                    <a:pt x="21904705" y="3587369"/>
                    <a:pt x="21636989" y="3587369"/>
                  </a:cubicBezTo>
                  <a:lnTo>
                    <a:pt x="484759" y="3587369"/>
                  </a:lnTo>
                  <a:cubicBezTo>
                    <a:pt x="217043" y="3587369"/>
                    <a:pt x="0" y="3370326"/>
                    <a:pt x="0" y="3102610"/>
                  </a:cubicBezTo>
                  <a:close/>
                </a:path>
              </a:pathLst>
            </a:custGeom>
            <a:solidFill>
              <a:srgbClr val="F2F2F2"/>
            </a:solidFill>
          </p:spPr>
        </p:sp>
      </p:grpSp>
      <p:grpSp>
        <p:nvGrpSpPr>
          <p:cNvPr id="879663243" name="Group 22"/>
          <p:cNvGrpSpPr/>
          <p:nvPr/>
        </p:nvGrpSpPr>
        <p:grpSpPr bwMode="auto">
          <a:xfrm rot="0">
            <a:off x="836265" y="6933010"/>
            <a:ext cx="16615470" cy="2690515"/>
            <a:chOff x="0" y="0"/>
            <a:chExt cx="22153960" cy="3587353"/>
          </a:xfrm>
        </p:grpSpPr>
        <p:sp>
          <p:nvSpPr>
            <p:cNvPr id="23" name="Freeform 23"/>
            <p:cNvSpPr/>
            <p:nvPr/>
          </p:nvSpPr>
          <p:spPr bwMode="auto">
            <a:xfrm rot="0" flipH="0" flipV="0">
              <a:off x="0" y="0"/>
              <a:ext cx="22154005" cy="3587369"/>
            </a:xfrm>
            <a:custGeom>
              <a:avLst/>
              <a:gdLst/>
              <a:ahLst/>
              <a:cxnLst/>
              <a:rect l="l" t="t" r="r" b="b"/>
              <a:pathLst>
                <a:path w="22154006" h="3587369" fill="norm" stroke="1" extrusionOk="0">
                  <a:moveTo>
                    <a:pt x="0" y="48514"/>
                  </a:moveTo>
                  <a:cubicBezTo>
                    <a:pt x="0" y="21717"/>
                    <a:pt x="21717" y="0"/>
                    <a:pt x="48514" y="0"/>
                  </a:cubicBezTo>
                  <a:lnTo>
                    <a:pt x="22105493" y="0"/>
                  </a:lnTo>
                  <a:cubicBezTo>
                    <a:pt x="22132289" y="0"/>
                    <a:pt x="22154006" y="21717"/>
                    <a:pt x="22154006" y="48514"/>
                  </a:cubicBezTo>
                  <a:lnTo>
                    <a:pt x="22154006" y="3538855"/>
                  </a:lnTo>
                  <a:cubicBezTo>
                    <a:pt x="22154006" y="3565652"/>
                    <a:pt x="22132289" y="3587369"/>
                    <a:pt x="22105493" y="3587369"/>
                  </a:cubicBezTo>
                  <a:lnTo>
                    <a:pt x="48514" y="3587369"/>
                  </a:lnTo>
                  <a:cubicBezTo>
                    <a:pt x="21717" y="3587369"/>
                    <a:pt x="0" y="3565652"/>
                    <a:pt x="0" y="3538855"/>
                  </a:cubicBezTo>
                  <a:close/>
                </a:path>
              </a:pathLst>
            </a:custGeom>
            <a:solidFill>
              <a:srgbClr val="F2F2F2"/>
            </a:solidFill>
          </p:spPr>
        </p:sp>
      </p:grpSp>
      <p:sp>
        <p:nvSpPr>
          <p:cNvPr id="227853496" name="TextBox 24"/>
          <p:cNvSpPr txBox="1"/>
          <p:nvPr/>
        </p:nvSpPr>
        <p:spPr bwMode="auto">
          <a:xfrm rot="0">
            <a:off x="1078557" y="6990903"/>
            <a:ext cx="16131604" cy="1143360"/>
          </a:xfrm>
          <a:prstGeom prst="rect">
            <a:avLst/>
          </a:prstGeom>
        </p:spPr>
        <p:txBody>
          <a:bodyPr lIns="0" tIns="0" rIns="0" bIns="0" rtlCol="0" anchor="t">
            <a:spAutoFit/>
          </a:bodyPr>
          <a:lstStyle/>
          <a:p>
            <a:pPr algn="l">
              <a:lnSpc>
                <a:spcPts val="3000"/>
              </a:lnSpc>
              <a:defRPr/>
            </a:pPr>
            <a:r>
              <a:rPr lang="en-US" sz="1850">
                <a:solidFill>
                  <a:srgbClr val="384653"/>
                </a:solidFill>
                <a:latin typeface="Consolas"/>
                <a:ea typeface="Consolas"/>
                <a:cs typeface="Consolas"/>
              </a:rPr>
              <a:t>if x &gt; 0: print("Positif")</a:t>
            </a:r>
            <a:endParaRPr lang="en-US" sz="1850">
              <a:solidFill>
                <a:srgbClr val="384653"/>
              </a:solidFill>
              <a:latin typeface="Consolas"/>
              <a:ea typeface="Consolas"/>
              <a:cs typeface="Consolas"/>
            </a:endParaRPr>
          </a:p>
          <a:p>
            <a:pPr algn="l">
              <a:lnSpc>
                <a:spcPts val="2999"/>
              </a:lnSpc>
              <a:defRPr/>
            </a:pPr>
            <a:r>
              <a:rPr lang="en-US" sz="1850">
                <a:solidFill>
                  <a:srgbClr val="384653"/>
                </a:solidFill>
                <a:latin typeface="Consolas"/>
                <a:ea typeface="Consolas"/>
                <a:cs typeface="Consolas"/>
              </a:rPr>
              <a:t>elif x == 0: print("Zéro")</a:t>
            </a:r>
            <a:endParaRPr lang="en-US" sz="1850">
              <a:solidFill>
                <a:srgbClr val="384653"/>
              </a:solidFill>
              <a:latin typeface="Consolas"/>
              <a:ea typeface="Consolas"/>
              <a:cs typeface="Consolas"/>
            </a:endParaRPr>
          </a:p>
          <a:p>
            <a:pPr algn="l">
              <a:lnSpc>
                <a:spcPts val="2999"/>
              </a:lnSpc>
              <a:defRPr/>
            </a:pPr>
            <a:r>
              <a:rPr lang="en-US" sz="1850">
                <a:solidFill>
                  <a:srgbClr val="384653"/>
                </a:solidFill>
                <a:latin typeface="Consolas"/>
                <a:ea typeface="Consolas"/>
                <a:cs typeface="Consolas"/>
              </a:rPr>
              <a:t>else: print("Négatif")</a:t>
            </a:r>
            <a:endParaRPr/>
          </a:p>
        </p:txBody>
      </p:sp>
      <p:sp>
        <p:nvSpPr>
          <p:cNvPr id="1426096144" name="TextBox 25"/>
          <p:cNvSpPr txBox="1"/>
          <p:nvPr/>
        </p:nvSpPr>
        <p:spPr bwMode="auto">
          <a:xfrm rot="0">
            <a:off x="3730341" y="9528274"/>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181733439"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299450755"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22954171" name="TextBox 6"/>
          <p:cNvSpPr txBox="1"/>
          <p:nvPr/>
        </p:nvSpPr>
        <p:spPr bwMode="auto">
          <a:xfrm rot="0">
            <a:off x="818257" y="614363"/>
            <a:ext cx="4922192" cy="643681"/>
          </a:xfrm>
          <a:prstGeom prst="rect">
            <a:avLst/>
          </a:prstGeom>
        </p:spPr>
        <p:txBody>
          <a:bodyPr lIns="0" tIns="0" rIns="0" bIns="0" rtlCol="0" anchor="t">
            <a:spAutoFit/>
          </a:bodyPr>
          <a:lstStyle/>
          <a:p>
            <a:pPr algn="l">
              <a:lnSpc>
                <a:spcPts val="4812"/>
              </a:lnSpc>
              <a:defRPr/>
            </a:pPr>
            <a:r>
              <a:rPr lang="en-US" sz="3900" b="1">
                <a:solidFill>
                  <a:srgbClr val="2E3C4E"/>
                </a:solidFill>
                <a:latin typeface="Barlow Bold"/>
                <a:ea typeface="Barlow Bold"/>
                <a:cs typeface="Barlow Bold"/>
              </a:rPr>
              <a:t>Boucles et fonctions</a:t>
            </a:r>
            <a:endParaRPr/>
          </a:p>
        </p:txBody>
      </p:sp>
      <p:sp>
        <p:nvSpPr>
          <p:cNvPr id="1450070387" name="TextBox 7"/>
          <p:cNvSpPr txBox="1"/>
          <p:nvPr/>
        </p:nvSpPr>
        <p:spPr bwMode="auto">
          <a:xfrm rot="0">
            <a:off x="818257" y="1322934"/>
            <a:ext cx="3691681" cy="490091"/>
          </a:xfrm>
          <a:prstGeom prst="rect">
            <a:avLst/>
          </a:prstGeom>
        </p:spPr>
        <p:txBody>
          <a:bodyPr lIns="0" tIns="0" rIns="0" bIns="0" rtlCol="0" anchor="t">
            <a:spAutoFit/>
          </a:bodyPr>
          <a:lstStyle/>
          <a:p>
            <a:pPr algn="l">
              <a:lnSpc>
                <a:spcPts val="3625"/>
              </a:lnSpc>
              <a:defRPr/>
            </a:pPr>
            <a:r>
              <a:rPr lang="en-US" sz="2850" b="1">
                <a:solidFill>
                  <a:srgbClr val="2E3C4E"/>
                </a:solidFill>
                <a:latin typeface="Barlow Bold"/>
                <a:ea typeface="Barlow Bold"/>
                <a:cs typeface="Barlow Bold"/>
              </a:rPr>
              <a:t>Boucles</a:t>
            </a:r>
            <a:endParaRPr/>
          </a:p>
        </p:txBody>
      </p:sp>
      <p:sp>
        <p:nvSpPr>
          <p:cNvPr id="1829884951" name="TextBox 8"/>
          <p:cNvSpPr txBox="1"/>
          <p:nvPr/>
        </p:nvSpPr>
        <p:spPr bwMode="auto">
          <a:xfrm rot="0">
            <a:off x="818257" y="1877914"/>
            <a:ext cx="3076278" cy="412997"/>
          </a:xfrm>
          <a:prstGeom prst="rect">
            <a:avLst/>
          </a:prstGeom>
        </p:spPr>
        <p:txBody>
          <a:bodyPr lIns="0" tIns="0" rIns="0" bIns="0" rtlCol="0" anchor="t">
            <a:spAutoFit/>
          </a:bodyPr>
          <a:lstStyle/>
          <a:p>
            <a:pPr algn="l">
              <a:lnSpc>
                <a:spcPts val="3000"/>
              </a:lnSpc>
              <a:defRPr/>
            </a:pPr>
            <a:r>
              <a:rPr lang="en-US" sz="2400" b="1">
                <a:solidFill>
                  <a:srgbClr val="2E3C4E"/>
                </a:solidFill>
                <a:latin typeface="Barlow Bold"/>
                <a:ea typeface="Barlow Bold"/>
                <a:cs typeface="Barlow Bold"/>
              </a:rPr>
              <a:t>Boucle for</a:t>
            </a:r>
            <a:endParaRPr/>
          </a:p>
        </p:txBody>
      </p:sp>
      <p:sp>
        <p:nvSpPr>
          <p:cNvPr id="486441926" name="TextBox 9"/>
          <p:cNvSpPr txBox="1"/>
          <p:nvPr/>
        </p:nvSpPr>
        <p:spPr bwMode="auto">
          <a:xfrm rot="0">
            <a:off x="818257" y="2593923"/>
            <a:ext cx="14388606" cy="422079"/>
          </a:xfrm>
          <a:prstGeom prst="rect">
            <a:avLst/>
          </a:prstGeom>
        </p:spPr>
        <p:txBody>
          <a:bodyPr lIns="0" tIns="0" rIns="0" bIns="0" rtlCol="0" anchor="t">
            <a:spAutoFit/>
          </a:bodyPr>
          <a:lstStyle/>
          <a:p>
            <a:pPr algn="l">
              <a:lnSpc>
                <a:spcPts val="2937"/>
              </a:lnSpc>
              <a:defRPr/>
            </a:pPr>
            <a:r>
              <a:rPr lang="en-US" sz="2000">
                <a:solidFill>
                  <a:srgbClr val="384653"/>
                </a:solidFill>
                <a:latin typeface="Montserrat"/>
                <a:ea typeface="Montserrat"/>
                <a:cs typeface="Montserrat"/>
              </a:rPr>
              <a:t>La boucle for sert à parcourir une séquence (liste, chaîne, tuple, dictionnaire, range, etc.) élément par élément.</a:t>
            </a:r>
            <a:endParaRPr/>
          </a:p>
        </p:txBody>
      </p:sp>
      <p:grpSp>
        <p:nvGrpSpPr>
          <p:cNvPr id="1836299092" name="Group 10"/>
          <p:cNvGrpSpPr/>
          <p:nvPr/>
        </p:nvGrpSpPr>
        <p:grpSpPr bwMode="auto">
          <a:xfrm rot="0">
            <a:off x="818257" y="3278535"/>
            <a:ext cx="16651486" cy="1098649"/>
            <a:chOff x="0" y="0"/>
            <a:chExt cx="22201982" cy="1464865"/>
          </a:xfrm>
        </p:grpSpPr>
        <p:sp>
          <p:nvSpPr>
            <p:cNvPr id="11" name="Freeform 11"/>
            <p:cNvSpPr/>
            <p:nvPr/>
          </p:nvSpPr>
          <p:spPr bwMode="auto">
            <a:xfrm rot="0" flipH="0" flipV="0">
              <a:off x="0" y="0"/>
              <a:ext cx="22202012" cy="1464818"/>
            </a:xfrm>
            <a:custGeom>
              <a:avLst/>
              <a:gdLst/>
              <a:ahLst/>
              <a:cxnLst/>
              <a:rect l="l" t="t" r="r" b="b"/>
              <a:pathLst>
                <a:path w="22202012" h="1464818" fill="norm" stroke="1" extrusionOk="0">
                  <a:moveTo>
                    <a:pt x="0" y="467614"/>
                  </a:moveTo>
                  <a:cubicBezTo>
                    <a:pt x="0" y="209296"/>
                    <a:pt x="209296" y="0"/>
                    <a:pt x="467614" y="0"/>
                  </a:cubicBezTo>
                  <a:lnTo>
                    <a:pt x="21734399" y="0"/>
                  </a:lnTo>
                  <a:cubicBezTo>
                    <a:pt x="21992717" y="0"/>
                    <a:pt x="22202012" y="209296"/>
                    <a:pt x="22202012" y="467614"/>
                  </a:cubicBezTo>
                  <a:lnTo>
                    <a:pt x="22202012" y="997204"/>
                  </a:lnTo>
                  <a:cubicBezTo>
                    <a:pt x="22202012" y="1255522"/>
                    <a:pt x="21992717" y="1464818"/>
                    <a:pt x="21734399" y="1464818"/>
                  </a:cubicBezTo>
                  <a:lnTo>
                    <a:pt x="467614" y="1464818"/>
                  </a:lnTo>
                  <a:cubicBezTo>
                    <a:pt x="209296" y="1464818"/>
                    <a:pt x="0" y="1255522"/>
                    <a:pt x="0" y="997204"/>
                  </a:cubicBezTo>
                  <a:close/>
                </a:path>
              </a:pathLst>
            </a:custGeom>
            <a:solidFill>
              <a:srgbClr val="F2F2F2"/>
            </a:solidFill>
          </p:spPr>
        </p:sp>
      </p:grpSp>
      <p:grpSp>
        <p:nvGrpSpPr>
          <p:cNvPr id="1403902473" name="Group 12"/>
          <p:cNvGrpSpPr/>
          <p:nvPr/>
        </p:nvGrpSpPr>
        <p:grpSpPr bwMode="auto">
          <a:xfrm rot="0">
            <a:off x="806649" y="3278535"/>
            <a:ext cx="16674704" cy="1098649"/>
            <a:chOff x="0" y="0"/>
            <a:chExt cx="22232938" cy="1464865"/>
          </a:xfrm>
        </p:grpSpPr>
        <p:sp>
          <p:nvSpPr>
            <p:cNvPr id="13" name="Freeform 13"/>
            <p:cNvSpPr/>
            <p:nvPr/>
          </p:nvSpPr>
          <p:spPr bwMode="auto">
            <a:xfrm rot="0" flipH="0" flipV="0">
              <a:off x="0" y="0"/>
              <a:ext cx="22232874" cy="1464818"/>
            </a:xfrm>
            <a:custGeom>
              <a:avLst/>
              <a:gdLst/>
              <a:ahLst/>
              <a:cxnLst/>
              <a:rect l="l" t="t" r="r" b="b"/>
              <a:pathLst>
                <a:path w="22232874" h="1464818" fill="norm" stroke="1" extrusionOk="0">
                  <a:moveTo>
                    <a:pt x="0" y="46736"/>
                  </a:moveTo>
                  <a:cubicBezTo>
                    <a:pt x="0" y="20955"/>
                    <a:pt x="20955" y="0"/>
                    <a:pt x="46736" y="0"/>
                  </a:cubicBezTo>
                  <a:lnTo>
                    <a:pt x="22186137" y="0"/>
                  </a:lnTo>
                  <a:cubicBezTo>
                    <a:pt x="22211919" y="0"/>
                    <a:pt x="22232874" y="20955"/>
                    <a:pt x="22232874" y="46736"/>
                  </a:cubicBezTo>
                  <a:lnTo>
                    <a:pt x="22232874" y="1418082"/>
                  </a:lnTo>
                  <a:cubicBezTo>
                    <a:pt x="22232874" y="1443863"/>
                    <a:pt x="22211919" y="1464818"/>
                    <a:pt x="22186137" y="1464818"/>
                  </a:cubicBezTo>
                  <a:lnTo>
                    <a:pt x="46736" y="1464818"/>
                  </a:lnTo>
                  <a:cubicBezTo>
                    <a:pt x="20955" y="1464818"/>
                    <a:pt x="0" y="1443863"/>
                    <a:pt x="0" y="1418082"/>
                  </a:cubicBezTo>
                  <a:close/>
                </a:path>
              </a:pathLst>
            </a:custGeom>
            <a:solidFill>
              <a:srgbClr val="F2F2F2"/>
            </a:solidFill>
          </p:spPr>
        </p:sp>
      </p:grpSp>
      <p:sp>
        <p:nvSpPr>
          <p:cNvPr id="269923831" name="TextBox 14"/>
          <p:cNvSpPr txBox="1"/>
          <p:nvPr/>
        </p:nvSpPr>
        <p:spPr bwMode="auto">
          <a:xfrm rot="0">
            <a:off x="1040309" y="3358604"/>
            <a:ext cx="16207382" cy="843260"/>
          </a:xfrm>
          <a:prstGeom prst="rect">
            <a:avLst/>
          </a:prstGeom>
        </p:spPr>
        <p:txBody>
          <a:bodyPr lIns="0" tIns="0" rIns="0" bIns="0" rtlCol="0" anchor="t">
            <a:spAutoFit/>
          </a:bodyPr>
          <a:lstStyle/>
          <a:p>
            <a:pPr algn="l">
              <a:lnSpc>
                <a:spcPts val="2937"/>
              </a:lnSpc>
              <a:defRPr/>
            </a:pPr>
            <a:r>
              <a:rPr lang="en-US" sz="2000">
                <a:solidFill>
                  <a:srgbClr val="384653"/>
                </a:solidFill>
                <a:latin typeface="Consolas"/>
                <a:ea typeface="Consolas"/>
                <a:cs typeface="Consolas"/>
              </a:rPr>
              <a:t>for variable in sequence:    # bloc d'instructions</a:t>
            </a:r>
            <a:endParaRPr/>
          </a:p>
        </p:txBody>
      </p:sp>
      <p:sp>
        <p:nvSpPr>
          <p:cNvPr id="1247495317" name="TextBox 15"/>
          <p:cNvSpPr txBox="1"/>
          <p:nvPr/>
        </p:nvSpPr>
        <p:spPr bwMode="auto">
          <a:xfrm rot="0">
            <a:off x="818257" y="4699247"/>
            <a:ext cx="3076278" cy="412997"/>
          </a:xfrm>
          <a:prstGeom prst="rect">
            <a:avLst/>
          </a:prstGeom>
        </p:spPr>
        <p:txBody>
          <a:bodyPr lIns="0" tIns="0" rIns="0" bIns="0" rtlCol="0" anchor="t">
            <a:spAutoFit/>
          </a:bodyPr>
          <a:lstStyle/>
          <a:p>
            <a:pPr algn="l">
              <a:lnSpc>
                <a:spcPts val="3000"/>
              </a:lnSpc>
              <a:defRPr/>
            </a:pPr>
            <a:r>
              <a:rPr lang="en-US" sz="2400" b="1">
                <a:solidFill>
                  <a:srgbClr val="2E3C4E"/>
                </a:solidFill>
                <a:latin typeface="Barlow Bold"/>
                <a:ea typeface="Barlow Bold"/>
                <a:cs typeface="Barlow Bold"/>
              </a:rPr>
              <a:t>Boucle while</a:t>
            </a:r>
            <a:endParaRPr/>
          </a:p>
        </p:txBody>
      </p:sp>
      <p:sp>
        <p:nvSpPr>
          <p:cNvPr id="2071555382" name="TextBox 16"/>
          <p:cNvSpPr txBox="1"/>
          <p:nvPr/>
        </p:nvSpPr>
        <p:spPr bwMode="auto">
          <a:xfrm rot="0">
            <a:off x="818256" y="5415259"/>
            <a:ext cx="8485144" cy="422079"/>
          </a:xfrm>
          <a:prstGeom prst="rect">
            <a:avLst/>
          </a:prstGeom>
        </p:spPr>
        <p:txBody>
          <a:bodyPr lIns="0" tIns="0" rIns="0" bIns="0" rtlCol="0" anchor="t">
            <a:spAutoFit/>
          </a:bodyPr>
          <a:lstStyle/>
          <a:p>
            <a:pPr algn="l">
              <a:lnSpc>
                <a:spcPts val="2937"/>
              </a:lnSpc>
              <a:defRPr/>
            </a:pPr>
            <a:r>
              <a:rPr lang="en-US" sz="2000">
                <a:solidFill>
                  <a:srgbClr val="384653"/>
                </a:solidFill>
                <a:latin typeface="Montserrat"/>
                <a:ea typeface="Montserrat"/>
                <a:cs typeface="Montserrat"/>
              </a:rPr>
              <a:t>La boucle while répète un bloc d'instructions tant qu'une condition est vraie.</a:t>
            </a:r>
            <a:endParaRPr/>
          </a:p>
        </p:txBody>
      </p:sp>
      <p:grpSp>
        <p:nvGrpSpPr>
          <p:cNvPr id="1770942150" name="Group 17"/>
          <p:cNvGrpSpPr/>
          <p:nvPr/>
        </p:nvGrpSpPr>
        <p:grpSpPr bwMode="auto">
          <a:xfrm rot="0">
            <a:off x="818257" y="6099869"/>
            <a:ext cx="16651486" cy="1098649"/>
            <a:chOff x="0" y="0"/>
            <a:chExt cx="22201982" cy="1464865"/>
          </a:xfrm>
        </p:grpSpPr>
        <p:sp>
          <p:nvSpPr>
            <p:cNvPr id="18" name="Freeform 18"/>
            <p:cNvSpPr/>
            <p:nvPr/>
          </p:nvSpPr>
          <p:spPr bwMode="auto">
            <a:xfrm rot="0" flipH="0" flipV="0">
              <a:off x="0" y="0"/>
              <a:ext cx="22202012" cy="1464818"/>
            </a:xfrm>
            <a:custGeom>
              <a:avLst/>
              <a:gdLst/>
              <a:ahLst/>
              <a:cxnLst/>
              <a:rect l="l" t="t" r="r" b="b"/>
              <a:pathLst>
                <a:path w="22202012" h="1464818" fill="norm" stroke="1" extrusionOk="0">
                  <a:moveTo>
                    <a:pt x="0" y="467614"/>
                  </a:moveTo>
                  <a:cubicBezTo>
                    <a:pt x="0" y="209296"/>
                    <a:pt x="209296" y="0"/>
                    <a:pt x="467614" y="0"/>
                  </a:cubicBezTo>
                  <a:lnTo>
                    <a:pt x="21734399" y="0"/>
                  </a:lnTo>
                  <a:cubicBezTo>
                    <a:pt x="21992717" y="0"/>
                    <a:pt x="22202012" y="209296"/>
                    <a:pt x="22202012" y="467614"/>
                  </a:cubicBezTo>
                  <a:lnTo>
                    <a:pt x="22202012" y="997204"/>
                  </a:lnTo>
                  <a:cubicBezTo>
                    <a:pt x="22202012" y="1255522"/>
                    <a:pt x="21992717" y="1464818"/>
                    <a:pt x="21734399" y="1464818"/>
                  </a:cubicBezTo>
                  <a:lnTo>
                    <a:pt x="467614" y="1464818"/>
                  </a:lnTo>
                  <a:cubicBezTo>
                    <a:pt x="209296" y="1464818"/>
                    <a:pt x="0" y="1255522"/>
                    <a:pt x="0" y="997204"/>
                  </a:cubicBezTo>
                  <a:close/>
                </a:path>
              </a:pathLst>
            </a:custGeom>
            <a:solidFill>
              <a:srgbClr val="F2F2F2"/>
            </a:solidFill>
          </p:spPr>
        </p:sp>
      </p:grpSp>
      <p:grpSp>
        <p:nvGrpSpPr>
          <p:cNvPr id="847773657" name="Group 19"/>
          <p:cNvGrpSpPr/>
          <p:nvPr/>
        </p:nvGrpSpPr>
        <p:grpSpPr bwMode="auto">
          <a:xfrm rot="0">
            <a:off x="806649" y="6099869"/>
            <a:ext cx="16674704" cy="1098649"/>
            <a:chOff x="0" y="0"/>
            <a:chExt cx="22232938" cy="1464865"/>
          </a:xfrm>
        </p:grpSpPr>
        <p:sp>
          <p:nvSpPr>
            <p:cNvPr id="20" name="Freeform 20"/>
            <p:cNvSpPr/>
            <p:nvPr/>
          </p:nvSpPr>
          <p:spPr bwMode="auto">
            <a:xfrm rot="0" flipH="0" flipV="0">
              <a:off x="0" y="0"/>
              <a:ext cx="22232874" cy="1464818"/>
            </a:xfrm>
            <a:custGeom>
              <a:avLst/>
              <a:gdLst/>
              <a:ahLst/>
              <a:cxnLst/>
              <a:rect l="l" t="t" r="r" b="b"/>
              <a:pathLst>
                <a:path w="22232874" h="1464818" fill="norm" stroke="1" extrusionOk="0">
                  <a:moveTo>
                    <a:pt x="0" y="46736"/>
                  </a:moveTo>
                  <a:cubicBezTo>
                    <a:pt x="0" y="20955"/>
                    <a:pt x="20955" y="0"/>
                    <a:pt x="46736" y="0"/>
                  </a:cubicBezTo>
                  <a:lnTo>
                    <a:pt x="22186137" y="0"/>
                  </a:lnTo>
                  <a:cubicBezTo>
                    <a:pt x="22211919" y="0"/>
                    <a:pt x="22232874" y="20955"/>
                    <a:pt x="22232874" y="46736"/>
                  </a:cubicBezTo>
                  <a:lnTo>
                    <a:pt x="22232874" y="1418082"/>
                  </a:lnTo>
                  <a:cubicBezTo>
                    <a:pt x="22232874" y="1443863"/>
                    <a:pt x="22211919" y="1464818"/>
                    <a:pt x="22186137" y="1464818"/>
                  </a:cubicBezTo>
                  <a:lnTo>
                    <a:pt x="46736" y="1464818"/>
                  </a:lnTo>
                  <a:cubicBezTo>
                    <a:pt x="20955" y="1464818"/>
                    <a:pt x="0" y="1443863"/>
                    <a:pt x="0" y="1418082"/>
                  </a:cubicBezTo>
                  <a:close/>
                </a:path>
              </a:pathLst>
            </a:custGeom>
            <a:solidFill>
              <a:srgbClr val="F2F2F2"/>
            </a:solidFill>
          </p:spPr>
        </p:sp>
      </p:grpSp>
      <p:sp>
        <p:nvSpPr>
          <p:cNvPr id="2102612458" name="TextBox 21"/>
          <p:cNvSpPr txBox="1"/>
          <p:nvPr/>
        </p:nvSpPr>
        <p:spPr bwMode="auto">
          <a:xfrm rot="0">
            <a:off x="1040309" y="6160889"/>
            <a:ext cx="16207382" cy="862310"/>
          </a:xfrm>
          <a:prstGeom prst="rect">
            <a:avLst/>
          </a:prstGeom>
        </p:spPr>
        <p:txBody>
          <a:bodyPr lIns="0" tIns="0" rIns="0" bIns="0" rtlCol="0" anchor="t">
            <a:spAutoFit/>
          </a:bodyPr>
          <a:lstStyle/>
          <a:p>
            <a:pPr algn="l">
              <a:lnSpc>
                <a:spcPts val="2937"/>
              </a:lnSpc>
              <a:defRPr/>
            </a:pPr>
            <a:r>
              <a:rPr lang="en-US" sz="1800">
                <a:solidFill>
                  <a:srgbClr val="384653"/>
                </a:solidFill>
                <a:latin typeface="Consolas"/>
                <a:ea typeface="Consolas"/>
                <a:cs typeface="Consolas"/>
              </a:rPr>
              <a:t>while condition:    # bloc d'instructions</a:t>
            </a:r>
            <a:endParaRPr/>
          </a:p>
          <a:p>
            <a:pPr algn="l">
              <a:lnSpc>
                <a:spcPts val="2936"/>
              </a:lnSpc>
              <a:defRPr/>
            </a:pPr>
            <a:endParaRPr/>
          </a:p>
        </p:txBody>
      </p:sp>
      <p:sp>
        <p:nvSpPr>
          <p:cNvPr id="1486587814" name="TextBox 22"/>
          <p:cNvSpPr txBox="1"/>
          <p:nvPr/>
        </p:nvSpPr>
        <p:spPr bwMode="auto">
          <a:xfrm rot="0">
            <a:off x="818257" y="7520583"/>
            <a:ext cx="3691681" cy="490091"/>
          </a:xfrm>
          <a:prstGeom prst="rect">
            <a:avLst/>
          </a:prstGeom>
        </p:spPr>
        <p:txBody>
          <a:bodyPr lIns="0" tIns="0" rIns="0" bIns="0" rtlCol="0" anchor="t">
            <a:spAutoFit/>
          </a:bodyPr>
          <a:lstStyle/>
          <a:p>
            <a:pPr algn="l">
              <a:lnSpc>
                <a:spcPts val="3625"/>
              </a:lnSpc>
              <a:defRPr/>
            </a:pPr>
            <a:r>
              <a:rPr lang="en-US" sz="2850" b="1">
                <a:solidFill>
                  <a:srgbClr val="2E3C4E"/>
                </a:solidFill>
                <a:latin typeface="Barlow Bold"/>
                <a:ea typeface="Barlow Bold"/>
                <a:cs typeface="Barlow Bold"/>
              </a:rPr>
              <a:t>Fonctions</a:t>
            </a:r>
            <a:endParaRPr/>
          </a:p>
        </p:txBody>
      </p:sp>
      <p:sp>
        <p:nvSpPr>
          <p:cNvPr id="112282953" name="TextBox 23"/>
          <p:cNvSpPr txBox="1"/>
          <p:nvPr/>
        </p:nvSpPr>
        <p:spPr bwMode="auto">
          <a:xfrm rot="0">
            <a:off x="818257" y="8285112"/>
            <a:ext cx="16651486" cy="450205"/>
          </a:xfrm>
          <a:prstGeom prst="rect">
            <a:avLst/>
          </a:prstGeom>
        </p:spPr>
        <p:txBody>
          <a:bodyPr lIns="0" tIns="0" rIns="0" bIns="0" rtlCol="0" anchor="t">
            <a:spAutoFit/>
          </a:bodyPr>
          <a:lstStyle/>
          <a:p>
            <a:pPr marL="273348" lvl="1" indent="-136674" algn="l">
              <a:lnSpc>
                <a:spcPts val="2937"/>
              </a:lnSpc>
              <a:buFont typeface="Arial"/>
              <a:buChar char="•"/>
              <a:defRPr/>
            </a:pPr>
            <a:r>
              <a:rPr lang="en-US" sz="1800">
                <a:solidFill>
                  <a:srgbClr val="384653"/>
                </a:solidFill>
                <a:latin typeface="Montserrat"/>
                <a:ea typeface="Montserrat"/>
                <a:cs typeface="Montserrat"/>
              </a:rPr>
              <a:t>Une fonction est un bloc de code réutilisable qui effectue une tâche précise</a:t>
            </a:r>
            <a:endParaRPr/>
          </a:p>
        </p:txBody>
      </p:sp>
      <p:sp>
        <p:nvSpPr>
          <p:cNvPr id="64334892" name="TextBox 24"/>
          <p:cNvSpPr txBox="1"/>
          <p:nvPr/>
        </p:nvSpPr>
        <p:spPr bwMode="auto">
          <a:xfrm rot="0">
            <a:off x="818257" y="8740825"/>
            <a:ext cx="16651486" cy="450205"/>
          </a:xfrm>
          <a:prstGeom prst="rect">
            <a:avLst/>
          </a:prstGeom>
        </p:spPr>
        <p:txBody>
          <a:bodyPr lIns="0" tIns="0" rIns="0" bIns="0" rtlCol="0" anchor="t">
            <a:spAutoFit/>
          </a:bodyPr>
          <a:lstStyle/>
          <a:p>
            <a:pPr marL="273348" lvl="1" indent="-136674" algn="l">
              <a:lnSpc>
                <a:spcPts val="2937"/>
              </a:lnSpc>
              <a:buFont typeface="Arial"/>
              <a:buChar char="•"/>
              <a:defRPr/>
            </a:pPr>
            <a:r>
              <a:rPr lang="en-US" sz="1800">
                <a:solidFill>
                  <a:srgbClr val="384653"/>
                </a:solidFill>
                <a:latin typeface="Montserrat"/>
                <a:ea typeface="Montserrat"/>
                <a:cs typeface="Montserrat"/>
              </a:rPr>
              <a:t>Définie avec le mot def</a:t>
            </a:r>
            <a:endParaRPr/>
          </a:p>
        </p:txBody>
      </p:sp>
      <p:sp>
        <p:nvSpPr>
          <p:cNvPr id="1133671754" name="TextBox 25"/>
          <p:cNvSpPr txBox="1"/>
          <p:nvPr/>
        </p:nvSpPr>
        <p:spPr bwMode="auto">
          <a:xfrm rot="0">
            <a:off x="818257" y="9196536"/>
            <a:ext cx="16651486" cy="450205"/>
          </a:xfrm>
          <a:prstGeom prst="rect">
            <a:avLst/>
          </a:prstGeom>
        </p:spPr>
        <p:txBody>
          <a:bodyPr lIns="0" tIns="0" rIns="0" bIns="0" rtlCol="0" anchor="t">
            <a:spAutoFit/>
          </a:bodyPr>
          <a:lstStyle/>
          <a:p>
            <a:pPr marL="273348" lvl="1" indent="-136674" algn="l">
              <a:lnSpc>
                <a:spcPts val="2937"/>
              </a:lnSpc>
              <a:buFont typeface="Arial"/>
              <a:buChar char="•"/>
              <a:defRPr/>
            </a:pPr>
            <a:r>
              <a:rPr lang="en-US" sz="1800">
                <a:solidFill>
                  <a:srgbClr val="384653"/>
                </a:solidFill>
                <a:latin typeface="Montserrat"/>
                <a:ea typeface="Montserrat"/>
                <a:cs typeface="Montserrat"/>
              </a:rPr>
              <a:t>Peut retourner une valeur avec return</a:t>
            </a:r>
            <a:endParaRPr/>
          </a:p>
        </p:txBody>
      </p:sp>
      <p:sp>
        <p:nvSpPr>
          <p:cNvPr id="1311187030" name="TextBox 26"/>
          <p:cNvSpPr txBox="1"/>
          <p:nvPr/>
        </p:nvSpPr>
        <p:spPr bwMode="auto">
          <a:xfrm rot="0">
            <a:off x="3730341" y="9561015"/>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796156672"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845462394"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577169903" name="TextBox 6"/>
          <p:cNvSpPr txBox="1"/>
          <p:nvPr/>
        </p:nvSpPr>
        <p:spPr bwMode="auto">
          <a:xfrm rot="0" flipH="0" flipV="0">
            <a:off x="770483" y="595758"/>
            <a:ext cx="14908829" cy="571732"/>
          </a:xfrm>
          <a:prstGeom prst="rect">
            <a:avLst/>
          </a:prstGeom>
        </p:spPr>
        <p:txBody>
          <a:bodyPr lIns="0" tIns="0" rIns="0" bIns="0" rtlCol="0" anchor="t">
            <a:spAutoFit/>
          </a:bodyPr>
          <a:lstStyle/>
          <a:p>
            <a:pPr algn="l">
              <a:lnSpc>
                <a:spcPts val="4499"/>
              </a:lnSpc>
              <a:defRPr/>
            </a:pPr>
            <a:r>
              <a:rPr lang="en-US" sz="3650" b="1">
                <a:solidFill>
                  <a:srgbClr val="2E3C4E"/>
                </a:solidFill>
                <a:latin typeface="Barlow Bold"/>
                <a:ea typeface="Barlow Bold"/>
                <a:cs typeface="Barlow Bold"/>
              </a:rPr>
              <a:t>Fonctions : Code sans et avec fonction</a:t>
            </a:r>
            <a:endParaRPr/>
          </a:p>
        </p:txBody>
      </p:sp>
      <p:sp>
        <p:nvSpPr>
          <p:cNvPr id="1773380779" name="TextBox 7"/>
          <p:cNvSpPr txBox="1"/>
          <p:nvPr/>
        </p:nvSpPr>
        <p:spPr bwMode="auto">
          <a:xfrm rot="0">
            <a:off x="1473146" y="1715690"/>
            <a:ext cx="2896492" cy="381000"/>
          </a:xfrm>
          <a:prstGeom prst="rect">
            <a:avLst/>
          </a:prstGeom>
        </p:spPr>
        <p:txBody>
          <a:bodyPr lIns="0" tIns="0" rIns="0" bIns="0" rtlCol="0" anchor="t">
            <a:spAutoFit/>
          </a:bodyPr>
          <a:lstStyle/>
          <a:p>
            <a:pPr algn="l">
              <a:lnSpc>
                <a:spcPts val="2811"/>
              </a:lnSpc>
              <a:defRPr/>
            </a:pPr>
            <a:r>
              <a:rPr lang="en-US" sz="2250" b="1">
                <a:solidFill>
                  <a:srgbClr val="2E3C4E"/>
                </a:solidFill>
                <a:latin typeface="Barlow Bold"/>
                <a:ea typeface="Barlow Bold"/>
                <a:cs typeface="Barlow Bold"/>
              </a:rPr>
              <a:t>Code sans fonction</a:t>
            </a:r>
            <a:endParaRPr/>
          </a:p>
        </p:txBody>
      </p:sp>
      <p:sp>
        <p:nvSpPr>
          <p:cNvPr id="1170067757" name="TextBox 8"/>
          <p:cNvSpPr txBox="1"/>
          <p:nvPr/>
        </p:nvSpPr>
        <p:spPr bwMode="auto">
          <a:xfrm rot="0">
            <a:off x="10085637" y="1715690"/>
            <a:ext cx="2896492" cy="381000"/>
          </a:xfrm>
          <a:prstGeom prst="rect">
            <a:avLst/>
          </a:prstGeom>
        </p:spPr>
        <p:txBody>
          <a:bodyPr lIns="0" tIns="0" rIns="0" bIns="0" rtlCol="0" anchor="t">
            <a:spAutoFit/>
          </a:bodyPr>
          <a:lstStyle/>
          <a:p>
            <a:pPr algn="l">
              <a:lnSpc>
                <a:spcPts val="2811"/>
              </a:lnSpc>
              <a:defRPr/>
            </a:pPr>
            <a:r>
              <a:rPr lang="en-US" sz="2250" b="1">
                <a:solidFill>
                  <a:srgbClr val="2E3C4E"/>
                </a:solidFill>
                <a:latin typeface="Barlow Bold"/>
                <a:ea typeface="Barlow Bold"/>
                <a:cs typeface="Barlow Bold"/>
              </a:rPr>
              <a:t>Code avec fonction</a:t>
            </a:r>
            <a:endParaRPr/>
          </a:p>
        </p:txBody>
      </p:sp>
      <p:sp>
        <p:nvSpPr>
          <p:cNvPr id="920558611" name="TextBox 13"/>
          <p:cNvSpPr txBox="1"/>
          <p:nvPr/>
        </p:nvSpPr>
        <p:spPr bwMode="auto">
          <a:xfrm rot="0">
            <a:off x="3730341" y="9483923"/>
            <a:ext cx="999704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899671482" name=""/>
          <p:cNvPicPr>
            <a:picLocks noChangeAspect="1"/>
          </p:cNvPicPr>
          <p:nvPr/>
        </p:nvPicPr>
        <p:blipFill>
          <a:blip r:embed="rId4"/>
          <a:stretch/>
        </p:blipFill>
        <p:spPr bwMode="auto">
          <a:xfrm rot="0" flipH="0" flipV="0">
            <a:off x="1558366" y="2687810"/>
            <a:ext cx="6666531" cy="6042584"/>
          </a:xfrm>
          <a:prstGeom prst="rect">
            <a:avLst/>
          </a:prstGeom>
        </p:spPr>
      </p:pic>
      <p:pic>
        <p:nvPicPr>
          <p:cNvPr id="385678438" name=""/>
          <p:cNvPicPr>
            <a:picLocks noChangeAspect="1"/>
          </p:cNvPicPr>
          <p:nvPr/>
        </p:nvPicPr>
        <p:blipFill>
          <a:blip r:embed="rId5"/>
          <a:stretch/>
        </p:blipFill>
        <p:spPr bwMode="auto">
          <a:xfrm rot="0" flipH="0" flipV="0">
            <a:off x="8397990" y="2630314"/>
            <a:ext cx="6322644" cy="61000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110083094"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1087278686"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201681340" name="TextBox 6"/>
          <p:cNvSpPr txBox="1"/>
          <p:nvPr/>
        </p:nvSpPr>
        <p:spPr bwMode="auto">
          <a:xfrm rot="0" flipH="0" flipV="0">
            <a:off x="552151" y="539650"/>
            <a:ext cx="13757942" cy="413109"/>
          </a:xfrm>
          <a:prstGeom prst="rect">
            <a:avLst/>
          </a:prstGeom>
        </p:spPr>
        <p:txBody>
          <a:bodyPr lIns="0" tIns="0" rIns="0" bIns="0" rtlCol="0" anchor="t">
            <a:spAutoFit/>
          </a:bodyPr>
          <a:lstStyle/>
          <a:p>
            <a:pPr algn="l">
              <a:lnSpc>
                <a:spcPts val="3250"/>
              </a:lnSpc>
              <a:defRPr/>
            </a:pPr>
            <a:r>
              <a:rPr lang="en-US" sz="2550" b="1">
                <a:solidFill>
                  <a:srgbClr val="2E3C4E"/>
                </a:solidFill>
                <a:latin typeface="Barlow Bold"/>
                <a:ea typeface="Barlow Bold"/>
                <a:cs typeface="Barlow Bold"/>
              </a:rPr>
              <a:t>Programmation Orientée Objet</a:t>
            </a:r>
            <a:endParaRPr/>
          </a:p>
        </p:txBody>
      </p:sp>
      <p:sp>
        <p:nvSpPr>
          <p:cNvPr id="1968914647" name="TextBox 7"/>
          <p:cNvSpPr txBox="1"/>
          <p:nvPr/>
        </p:nvSpPr>
        <p:spPr bwMode="auto">
          <a:xfrm rot="0">
            <a:off x="552151" y="1260871"/>
            <a:ext cx="17183694" cy="1120376"/>
          </a:xfrm>
          <a:prstGeom prst="rect">
            <a:avLst/>
          </a:prstGeom>
        </p:spPr>
        <p:txBody>
          <a:bodyPr lIns="0" tIns="0" rIns="0" bIns="0" rtlCol="0" anchor="t">
            <a:spAutoFit/>
          </a:bodyPr>
          <a:lstStyle/>
          <a:p>
            <a:pPr algn="l">
              <a:lnSpc>
                <a:spcPts val="2759"/>
              </a:lnSpc>
              <a:defRPr/>
            </a:pPr>
            <a:r>
              <a:rPr lang="en-US" sz="2000">
                <a:solidFill>
                  <a:srgbClr val="384653"/>
                </a:solidFill>
                <a:latin typeface="Montserrat"/>
                <a:ea typeface="Montserrat"/>
                <a:cs typeface="Montserrat"/>
              </a:rPr>
              <a:t>La programmation orientée objet (POO) est un concept essentiel en programmation informatique. Dans le jargon, on dit de la POO qu'elle est un paradigme, c'est-à-dire une approche, une méthode.</a:t>
            </a:r>
            <a:endParaRPr/>
          </a:p>
        </p:txBody>
      </p:sp>
      <p:sp>
        <p:nvSpPr>
          <p:cNvPr id="925610100" name="TextBox 8"/>
          <p:cNvSpPr txBox="1"/>
          <p:nvPr/>
        </p:nvSpPr>
        <p:spPr bwMode="auto">
          <a:xfrm rot="0" flipH="0" flipV="0">
            <a:off x="491056" y="2517873"/>
            <a:ext cx="16874975" cy="309858"/>
          </a:xfrm>
          <a:prstGeom prst="rect">
            <a:avLst/>
          </a:prstGeom>
        </p:spPr>
        <p:txBody>
          <a:bodyPr lIns="0" tIns="0" rIns="0" bIns="0" rtlCol="0" anchor="t">
            <a:spAutoFit/>
          </a:bodyPr>
          <a:lstStyle/>
          <a:p>
            <a:pPr algn="l">
              <a:lnSpc>
                <a:spcPts val="2437"/>
              </a:lnSpc>
              <a:defRPr/>
            </a:pPr>
            <a:r>
              <a:rPr lang="en-US" sz="1950" b="1">
                <a:solidFill>
                  <a:srgbClr val="2E3C4E"/>
                </a:solidFill>
                <a:latin typeface="Barlow Bold"/>
                <a:ea typeface="Barlow Bold"/>
                <a:cs typeface="Barlow Bold"/>
              </a:rPr>
              <a:t>Avantages de la programmation orientée objet</a:t>
            </a:r>
            <a:endParaRPr/>
          </a:p>
        </p:txBody>
      </p:sp>
      <p:grpSp>
        <p:nvGrpSpPr>
          <p:cNvPr id="1892650693" name="Group 9"/>
          <p:cNvGrpSpPr/>
          <p:nvPr/>
        </p:nvGrpSpPr>
        <p:grpSpPr bwMode="auto">
          <a:xfrm rot="0">
            <a:off x="646062" y="3390305"/>
            <a:ext cx="364480" cy="364480"/>
            <a:chOff x="0" y="0"/>
            <a:chExt cx="485973" cy="485973"/>
          </a:xfrm>
        </p:grpSpPr>
        <p:sp>
          <p:nvSpPr>
            <p:cNvPr id="10" name="Freeform 10"/>
            <p:cNvSpPr/>
            <p:nvPr/>
          </p:nvSpPr>
          <p:spPr bwMode="auto">
            <a:xfrm rot="0" flipH="0" flipV="0">
              <a:off x="6350" y="6350"/>
              <a:ext cx="473329" cy="473329"/>
            </a:xfrm>
            <a:custGeom>
              <a:avLst/>
              <a:gdLst/>
              <a:ahLst/>
              <a:cxnLst/>
              <a:rect l="l" t="t" r="r" b="b"/>
              <a:pathLst>
                <a:path w="473329" h="473329" fill="norm" stroke="1" extrusionOk="0">
                  <a:moveTo>
                    <a:pt x="0" y="236601"/>
                  </a:moveTo>
                  <a:cubicBezTo>
                    <a:pt x="0" y="105918"/>
                    <a:pt x="105918" y="0"/>
                    <a:pt x="236601" y="0"/>
                  </a:cubicBezTo>
                  <a:cubicBezTo>
                    <a:pt x="367284" y="0"/>
                    <a:pt x="473329" y="105918"/>
                    <a:pt x="473329" y="236601"/>
                  </a:cubicBezTo>
                  <a:cubicBezTo>
                    <a:pt x="473329" y="367284"/>
                    <a:pt x="367284" y="473329"/>
                    <a:pt x="236601" y="473329"/>
                  </a:cubicBezTo>
                  <a:cubicBezTo>
                    <a:pt x="105918" y="473329"/>
                    <a:pt x="0" y="367284"/>
                    <a:pt x="0" y="236601"/>
                  </a:cubicBezTo>
                  <a:close/>
                </a:path>
              </a:pathLst>
            </a:custGeom>
            <a:solidFill>
              <a:srgbClr val="D4E9F7"/>
            </a:solidFill>
          </p:spPr>
        </p:sp>
        <p:sp>
          <p:nvSpPr>
            <p:cNvPr id="11" name="Freeform 11"/>
            <p:cNvSpPr/>
            <p:nvPr/>
          </p:nvSpPr>
          <p:spPr bwMode="auto">
            <a:xfrm rot="0" flipH="0" flipV="0">
              <a:off x="0" y="0"/>
              <a:ext cx="486029" cy="486029"/>
            </a:xfrm>
            <a:custGeom>
              <a:avLst/>
              <a:gdLst/>
              <a:ahLst/>
              <a:cxnLst/>
              <a:rect l="l" t="t" r="r" b="b"/>
              <a:pathLst>
                <a:path w="486029" h="486029" fill="norm" stroke="1" extrusionOk="0">
                  <a:moveTo>
                    <a:pt x="0" y="242951"/>
                  </a:moveTo>
                  <a:cubicBezTo>
                    <a:pt x="0" y="108839"/>
                    <a:pt x="108839" y="0"/>
                    <a:pt x="242951" y="0"/>
                  </a:cubicBezTo>
                  <a:cubicBezTo>
                    <a:pt x="244094" y="0"/>
                    <a:pt x="245364" y="381"/>
                    <a:pt x="246253" y="1016"/>
                  </a:cubicBezTo>
                  <a:lnTo>
                    <a:pt x="242951" y="6350"/>
                  </a:lnTo>
                  <a:lnTo>
                    <a:pt x="242951" y="0"/>
                  </a:lnTo>
                  <a:lnTo>
                    <a:pt x="242951" y="6350"/>
                  </a:lnTo>
                  <a:lnTo>
                    <a:pt x="242951" y="0"/>
                  </a:lnTo>
                  <a:cubicBezTo>
                    <a:pt x="377190" y="0"/>
                    <a:pt x="486029" y="108839"/>
                    <a:pt x="486029" y="242951"/>
                  </a:cubicBezTo>
                  <a:cubicBezTo>
                    <a:pt x="486029" y="245364"/>
                    <a:pt x="484632" y="247523"/>
                    <a:pt x="482473" y="248666"/>
                  </a:cubicBezTo>
                  <a:lnTo>
                    <a:pt x="479679" y="242951"/>
                  </a:lnTo>
                  <a:lnTo>
                    <a:pt x="486029" y="242951"/>
                  </a:lnTo>
                  <a:cubicBezTo>
                    <a:pt x="486029" y="377190"/>
                    <a:pt x="377190" y="485902"/>
                    <a:pt x="243078" y="485902"/>
                  </a:cubicBezTo>
                  <a:lnTo>
                    <a:pt x="243078" y="479552"/>
                  </a:lnTo>
                  <a:lnTo>
                    <a:pt x="243078" y="485902"/>
                  </a:lnTo>
                  <a:lnTo>
                    <a:pt x="243078" y="479552"/>
                  </a:lnTo>
                  <a:lnTo>
                    <a:pt x="243078" y="485902"/>
                  </a:lnTo>
                  <a:cubicBezTo>
                    <a:pt x="108839" y="486029"/>
                    <a:pt x="0" y="377190"/>
                    <a:pt x="0" y="242951"/>
                  </a:cubicBezTo>
                  <a:cubicBezTo>
                    <a:pt x="0" y="241808"/>
                    <a:pt x="381" y="240538"/>
                    <a:pt x="1016" y="239649"/>
                  </a:cubicBezTo>
                  <a:lnTo>
                    <a:pt x="6350" y="242951"/>
                  </a:lnTo>
                  <a:lnTo>
                    <a:pt x="0" y="242951"/>
                  </a:lnTo>
                  <a:moveTo>
                    <a:pt x="12700" y="242951"/>
                  </a:moveTo>
                  <a:cubicBezTo>
                    <a:pt x="12700" y="244094"/>
                    <a:pt x="12319" y="245364"/>
                    <a:pt x="11684" y="246253"/>
                  </a:cubicBezTo>
                  <a:lnTo>
                    <a:pt x="6350" y="242951"/>
                  </a:lnTo>
                  <a:lnTo>
                    <a:pt x="12700" y="242951"/>
                  </a:lnTo>
                  <a:cubicBezTo>
                    <a:pt x="12700" y="370205"/>
                    <a:pt x="115824" y="473329"/>
                    <a:pt x="242951" y="473329"/>
                  </a:cubicBezTo>
                  <a:cubicBezTo>
                    <a:pt x="370078" y="473329"/>
                    <a:pt x="473202" y="370205"/>
                    <a:pt x="473202" y="243078"/>
                  </a:cubicBezTo>
                  <a:cubicBezTo>
                    <a:pt x="473202" y="240665"/>
                    <a:pt x="474599" y="238506"/>
                    <a:pt x="476758" y="237363"/>
                  </a:cubicBezTo>
                  <a:lnTo>
                    <a:pt x="479552" y="243078"/>
                  </a:lnTo>
                  <a:lnTo>
                    <a:pt x="473202" y="243078"/>
                  </a:lnTo>
                  <a:cubicBezTo>
                    <a:pt x="473329" y="115824"/>
                    <a:pt x="370205" y="12700"/>
                    <a:pt x="242951" y="12700"/>
                  </a:cubicBezTo>
                  <a:cubicBezTo>
                    <a:pt x="241808" y="12700"/>
                    <a:pt x="240538" y="12319"/>
                    <a:pt x="239649" y="11684"/>
                  </a:cubicBezTo>
                  <a:lnTo>
                    <a:pt x="242951" y="6350"/>
                  </a:lnTo>
                  <a:lnTo>
                    <a:pt x="242951" y="12700"/>
                  </a:lnTo>
                  <a:cubicBezTo>
                    <a:pt x="115824" y="12700"/>
                    <a:pt x="12700" y="115824"/>
                    <a:pt x="12700" y="242951"/>
                  </a:cubicBezTo>
                  <a:close/>
                </a:path>
              </a:pathLst>
            </a:custGeom>
            <a:solidFill>
              <a:srgbClr val="BACFDD"/>
            </a:solidFill>
          </p:spPr>
        </p:sp>
      </p:grpSp>
      <p:sp>
        <p:nvSpPr>
          <p:cNvPr id="1195217392" name="TextBox 12"/>
          <p:cNvSpPr txBox="1"/>
          <p:nvPr/>
        </p:nvSpPr>
        <p:spPr bwMode="auto">
          <a:xfrm rot="0" flipH="0" flipV="0">
            <a:off x="1163538" y="3449241"/>
            <a:ext cx="5883744" cy="254232"/>
          </a:xfrm>
          <a:prstGeom prst="rect">
            <a:avLst/>
          </a:prstGeom>
        </p:spPr>
        <p:txBody>
          <a:bodyPr lIns="0" tIns="0" rIns="0" bIns="0" rtlCol="0" anchor="t">
            <a:spAutoFit/>
          </a:bodyPr>
          <a:lstStyle/>
          <a:p>
            <a:pPr algn="l">
              <a:lnSpc>
                <a:spcPts val="1999"/>
              </a:lnSpc>
              <a:defRPr/>
            </a:pPr>
            <a:r>
              <a:rPr lang="en-US" sz="1650" b="1">
                <a:solidFill>
                  <a:srgbClr val="384653"/>
                </a:solidFill>
                <a:latin typeface="Barlow Bold"/>
                <a:ea typeface="Barlow Bold"/>
                <a:cs typeface="Barlow Bold"/>
              </a:rPr>
              <a:t>Structure claire</a:t>
            </a:r>
            <a:endParaRPr/>
          </a:p>
        </p:txBody>
      </p:sp>
      <p:sp>
        <p:nvSpPr>
          <p:cNvPr id="572019123" name="TextBox 13"/>
          <p:cNvSpPr txBox="1"/>
          <p:nvPr/>
        </p:nvSpPr>
        <p:spPr bwMode="auto">
          <a:xfrm rot="0">
            <a:off x="1163538" y="3850927"/>
            <a:ext cx="4998264" cy="205236"/>
          </a:xfrm>
          <a:prstGeom prst="rect">
            <a:avLst/>
          </a:prstGeom>
        </p:spPr>
        <p:txBody>
          <a:bodyPr lIns="0" tIns="0" rIns="0" bIns="0" rtlCol="0" anchor="t">
            <a:spAutoFit/>
          </a:bodyPr>
          <a:lstStyle/>
          <a:p>
            <a:pPr algn="l">
              <a:lnSpc>
                <a:spcPts val="1936"/>
              </a:lnSpc>
              <a:defRPr/>
            </a:pPr>
            <a:r>
              <a:rPr lang="en-US" sz="2000">
                <a:solidFill>
                  <a:srgbClr val="384653"/>
                </a:solidFill>
                <a:latin typeface="Montserrat"/>
                <a:ea typeface="Montserrat"/>
                <a:cs typeface="Montserrat"/>
              </a:rPr>
              <a:t>Fournit une structure claire aux programmes</a:t>
            </a:r>
            <a:endParaRPr/>
          </a:p>
        </p:txBody>
      </p:sp>
      <p:grpSp>
        <p:nvGrpSpPr>
          <p:cNvPr id="1596323407" name="Group 14"/>
          <p:cNvGrpSpPr/>
          <p:nvPr/>
        </p:nvGrpSpPr>
        <p:grpSpPr bwMode="auto">
          <a:xfrm rot="0">
            <a:off x="9336433" y="3390305"/>
            <a:ext cx="364480" cy="364480"/>
            <a:chOff x="0" y="0"/>
            <a:chExt cx="485973" cy="485973"/>
          </a:xfrm>
        </p:grpSpPr>
        <p:sp>
          <p:nvSpPr>
            <p:cNvPr id="15" name="Freeform 15"/>
            <p:cNvSpPr/>
            <p:nvPr/>
          </p:nvSpPr>
          <p:spPr bwMode="auto">
            <a:xfrm rot="0" flipH="0" flipV="0">
              <a:off x="6350" y="6350"/>
              <a:ext cx="473329" cy="473329"/>
            </a:xfrm>
            <a:custGeom>
              <a:avLst/>
              <a:gdLst/>
              <a:ahLst/>
              <a:cxnLst/>
              <a:rect l="l" t="t" r="r" b="b"/>
              <a:pathLst>
                <a:path w="473329" h="473329" fill="norm" stroke="1" extrusionOk="0">
                  <a:moveTo>
                    <a:pt x="0" y="236601"/>
                  </a:moveTo>
                  <a:cubicBezTo>
                    <a:pt x="0" y="105918"/>
                    <a:pt x="105918" y="0"/>
                    <a:pt x="236601" y="0"/>
                  </a:cubicBezTo>
                  <a:cubicBezTo>
                    <a:pt x="367284" y="0"/>
                    <a:pt x="473329" y="105918"/>
                    <a:pt x="473329" y="236601"/>
                  </a:cubicBezTo>
                  <a:cubicBezTo>
                    <a:pt x="473329" y="367284"/>
                    <a:pt x="367284" y="473329"/>
                    <a:pt x="236601" y="473329"/>
                  </a:cubicBezTo>
                  <a:cubicBezTo>
                    <a:pt x="105918" y="473329"/>
                    <a:pt x="0" y="367284"/>
                    <a:pt x="0" y="236601"/>
                  </a:cubicBezTo>
                  <a:close/>
                </a:path>
              </a:pathLst>
            </a:custGeom>
            <a:solidFill>
              <a:srgbClr val="D4E9F7"/>
            </a:solidFill>
          </p:spPr>
        </p:sp>
        <p:sp>
          <p:nvSpPr>
            <p:cNvPr id="16" name="Freeform 16"/>
            <p:cNvSpPr/>
            <p:nvPr/>
          </p:nvSpPr>
          <p:spPr bwMode="auto">
            <a:xfrm rot="0" flipH="0" flipV="0">
              <a:off x="0" y="0"/>
              <a:ext cx="486029" cy="486029"/>
            </a:xfrm>
            <a:custGeom>
              <a:avLst/>
              <a:gdLst/>
              <a:ahLst/>
              <a:cxnLst/>
              <a:rect l="l" t="t" r="r" b="b"/>
              <a:pathLst>
                <a:path w="486029" h="486029" fill="norm" stroke="1" extrusionOk="0">
                  <a:moveTo>
                    <a:pt x="0" y="242951"/>
                  </a:moveTo>
                  <a:cubicBezTo>
                    <a:pt x="0" y="108839"/>
                    <a:pt x="108839" y="0"/>
                    <a:pt x="242951" y="0"/>
                  </a:cubicBezTo>
                  <a:cubicBezTo>
                    <a:pt x="244094" y="0"/>
                    <a:pt x="245364" y="381"/>
                    <a:pt x="246253" y="1016"/>
                  </a:cubicBezTo>
                  <a:lnTo>
                    <a:pt x="242951" y="6350"/>
                  </a:lnTo>
                  <a:lnTo>
                    <a:pt x="242951" y="0"/>
                  </a:lnTo>
                  <a:lnTo>
                    <a:pt x="242951" y="6350"/>
                  </a:lnTo>
                  <a:lnTo>
                    <a:pt x="242951" y="0"/>
                  </a:lnTo>
                  <a:cubicBezTo>
                    <a:pt x="377190" y="0"/>
                    <a:pt x="486029" y="108839"/>
                    <a:pt x="486029" y="242951"/>
                  </a:cubicBezTo>
                  <a:cubicBezTo>
                    <a:pt x="486029" y="245364"/>
                    <a:pt x="484632" y="247523"/>
                    <a:pt x="482473" y="248666"/>
                  </a:cubicBezTo>
                  <a:lnTo>
                    <a:pt x="479679" y="242951"/>
                  </a:lnTo>
                  <a:lnTo>
                    <a:pt x="486029" y="242951"/>
                  </a:lnTo>
                  <a:cubicBezTo>
                    <a:pt x="486029" y="377190"/>
                    <a:pt x="377190" y="485902"/>
                    <a:pt x="243078" y="485902"/>
                  </a:cubicBezTo>
                  <a:lnTo>
                    <a:pt x="243078" y="479552"/>
                  </a:lnTo>
                  <a:lnTo>
                    <a:pt x="243078" y="485902"/>
                  </a:lnTo>
                  <a:lnTo>
                    <a:pt x="243078" y="479552"/>
                  </a:lnTo>
                  <a:lnTo>
                    <a:pt x="243078" y="485902"/>
                  </a:lnTo>
                  <a:cubicBezTo>
                    <a:pt x="108839" y="486029"/>
                    <a:pt x="0" y="377190"/>
                    <a:pt x="0" y="242951"/>
                  </a:cubicBezTo>
                  <a:cubicBezTo>
                    <a:pt x="0" y="241808"/>
                    <a:pt x="381" y="240538"/>
                    <a:pt x="1016" y="239649"/>
                  </a:cubicBezTo>
                  <a:lnTo>
                    <a:pt x="6350" y="242951"/>
                  </a:lnTo>
                  <a:lnTo>
                    <a:pt x="0" y="242951"/>
                  </a:lnTo>
                  <a:moveTo>
                    <a:pt x="12700" y="242951"/>
                  </a:moveTo>
                  <a:cubicBezTo>
                    <a:pt x="12700" y="244094"/>
                    <a:pt x="12319" y="245364"/>
                    <a:pt x="11684" y="246253"/>
                  </a:cubicBezTo>
                  <a:lnTo>
                    <a:pt x="6350" y="242951"/>
                  </a:lnTo>
                  <a:lnTo>
                    <a:pt x="12700" y="242951"/>
                  </a:lnTo>
                  <a:cubicBezTo>
                    <a:pt x="12700" y="370205"/>
                    <a:pt x="115824" y="473329"/>
                    <a:pt x="242951" y="473329"/>
                  </a:cubicBezTo>
                  <a:cubicBezTo>
                    <a:pt x="370078" y="473329"/>
                    <a:pt x="473202" y="370205"/>
                    <a:pt x="473202" y="243078"/>
                  </a:cubicBezTo>
                  <a:cubicBezTo>
                    <a:pt x="473202" y="240665"/>
                    <a:pt x="474599" y="238506"/>
                    <a:pt x="476758" y="237363"/>
                  </a:cubicBezTo>
                  <a:lnTo>
                    <a:pt x="479552" y="243078"/>
                  </a:lnTo>
                  <a:lnTo>
                    <a:pt x="473202" y="243078"/>
                  </a:lnTo>
                  <a:cubicBezTo>
                    <a:pt x="473329" y="115824"/>
                    <a:pt x="370205" y="12700"/>
                    <a:pt x="242951" y="12700"/>
                  </a:cubicBezTo>
                  <a:cubicBezTo>
                    <a:pt x="241808" y="12700"/>
                    <a:pt x="240538" y="12319"/>
                    <a:pt x="239649" y="11684"/>
                  </a:cubicBezTo>
                  <a:lnTo>
                    <a:pt x="242951" y="6350"/>
                  </a:lnTo>
                  <a:lnTo>
                    <a:pt x="242951" y="12700"/>
                  </a:lnTo>
                  <a:cubicBezTo>
                    <a:pt x="115824" y="12700"/>
                    <a:pt x="12700" y="115824"/>
                    <a:pt x="12700" y="242951"/>
                  </a:cubicBezTo>
                  <a:close/>
                </a:path>
              </a:pathLst>
            </a:custGeom>
            <a:solidFill>
              <a:srgbClr val="BACFDD"/>
            </a:solidFill>
          </p:spPr>
        </p:sp>
      </p:grpSp>
      <p:sp>
        <p:nvSpPr>
          <p:cNvPr id="261932201" name="TextBox 17"/>
          <p:cNvSpPr txBox="1"/>
          <p:nvPr/>
        </p:nvSpPr>
        <p:spPr bwMode="auto">
          <a:xfrm rot="0" flipH="0" flipV="0">
            <a:off x="9853909" y="3449241"/>
            <a:ext cx="6500091" cy="254232"/>
          </a:xfrm>
          <a:prstGeom prst="rect">
            <a:avLst/>
          </a:prstGeom>
        </p:spPr>
        <p:txBody>
          <a:bodyPr lIns="0" tIns="0" rIns="0" bIns="0" rtlCol="0" anchor="t">
            <a:spAutoFit/>
          </a:bodyPr>
          <a:lstStyle/>
          <a:p>
            <a:pPr algn="l">
              <a:lnSpc>
                <a:spcPts val="1999"/>
              </a:lnSpc>
              <a:defRPr/>
            </a:pPr>
            <a:r>
              <a:rPr lang="en-US" sz="1650" b="1">
                <a:solidFill>
                  <a:srgbClr val="384653"/>
                </a:solidFill>
                <a:latin typeface="Barlow Bold"/>
                <a:ea typeface="Barlow Bold"/>
                <a:cs typeface="Barlow Bold"/>
              </a:rPr>
              <a:t>Maintenance facilitée</a:t>
            </a:r>
            <a:endParaRPr/>
          </a:p>
        </p:txBody>
      </p:sp>
      <p:sp>
        <p:nvSpPr>
          <p:cNvPr id="768722519" name="TextBox 18"/>
          <p:cNvSpPr txBox="1"/>
          <p:nvPr/>
        </p:nvSpPr>
        <p:spPr bwMode="auto">
          <a:xfrm rot="0">
            <a:off x="9853910" y="3850927"/>
            <a:ext cx="7018575" cy="205236"/>
          </a:xfrm>
          <a:prstGeom prst="rect">
            <a:avLst/>
          </a:prstGeom>
        </p:spPr>
        <p:txBody>
          <a:bodyPr lIns="0" tIns="0" rIns="0" bIns="0" rtlCol="0" anchor="t">
            <a:spAutoFit/>
          </a:bodyPr>
          <a:lstStyle/>
          <a:p>
            <a:pPr algn="l">
              <a:lnSpc>
                <a:spcPts val="1936"/>
              </a:lnSpc>
              <a:defRPr/>
            </a:pPr>
            <a:r>
              <a:rPr lang="en-US" sz="2000">
                <a:solidFill>
                  <a:srgbClr val="384653"/>
                </a:solidFill>
                <a:latin typeface="Montserrat"/>
                <a:ea typeface="Montserrat"/>
                <a:cs typeface="Montserrat"/>
              </a:rPr>
              <a:t>Facilite la maintenance, la réutilisation et le débogage du code</a:t>
            </a:r>
            <a:endParaRPr/>
          </a:p>
        </p:txBody>
      </p:sp>
      <p:grpSp>
        <p:nvGrpSpPr>
          <p:cNvPr id="328499012" name="Group 19"/>
          <p:cNvGrpSpPr/>
          <p:nvPr/>
        </p:nvGrpSpPr>
        <p:grpSpPr bwMode="auto">
          <a:xfrm rot="0">
            <a:off x="646062" y="4366469"/>
            <a:ext cx="364480" cy="364480"/>
            <a:chOff x="0" y="0"/>
            <a:chExt cx="485973" cy="485973"/>
          </a:xfrm>
        </p:grpSpPr>
        <p:sp>
          <p:nvSpPr>
            <p:cNvPr id="20" name="Freeform 20"/>
            <p:cNvSpPr/>
            <p:nvPr/>
          </p:nvSpPr>
          <p:spPr bwMode="auto">
            <a:xfrm rot="0" flipH="0" flipV="0">
              <a:off x="6350" y="6350"/>
              <a:ext cx="473329" cy="473329"/>
            </a:xfrm>
            <a:custGeom>
              <a:avLst/>
              <a:gdLst/>
              <a:ahLst/>
              <a:cxnLst/>
              <a:rect l="l" t="t" r="r" b="b"/>
              <a:pathLst>
                <a:path w="473329" h="473329" fill="norm" stroke="1" extrusionOk="0">
                  <a:moveTo>
                    <a:pt x="0" y="236601"/>
                  </a:moveTo>
                  <a:cubicBezTo>
                    <a:pt x="0" y="105918"/>
                    <a:pt x="105918" y="0"/>
                    <a:pt x="236601" y="0"/>
                  </a:cubicBezTo>
                  <a:cubicBezTo>
                    <a:pt x="367284" y="0"/>
                    <a:pt x="473329" y="105918"/>
                    <a:pt x="473329" y="236601"/>
                  </a:cubicBezTo>
                  <a:cubicBezTo>
                    <a:pt x="473329" y="367284"/>
                    <a:pt x="367284" y="473329"/>
                    <a:pt x="236601" y="473329"/>
                  </a:cubicBezTo>
                  <a:cubicBezTo>
                    <a:pt x="105918" y="473329"/>
                    <a:pt x="0" y="367284"/>
                    <a:pt x="0" y="236601"/>
                  </a:cubicBezTo>
                  <a:close/>
                </a:path>
              </a:pathLst>
            </a:custGeom>
            <a:solidFill>
              <a:srgbClr val="D4E9F7"/>
            </a:solidFill>
          </p:spPr>
        </p:sp>
        <p:sp>
          <p:nvSpPr>
            <p:cNvPr id="21" name="Freeform 21"/>
            <p:cNvSpPr/>
            <p:nvPr/>
          </p:nvSpPr>
          <p:spPr bwMode="auto">
            <a:xfrm rot="0" flipH="0" flipV="0">
              <a:off x="0" y="0"/>
              <a:ext cx="486029" cy="486029"/>
            </a:xfrm>
            <a:custGeom>
              <a:avLst/>
              <a:gdLst/>
              <a:ahLst/>
              <a:cxnLst/>
              <a:rect l="l" t="t" r="r" b="b"/>
              <a:pathLst>
                <a:path w="486029" h="486029" fill="norm" stroke="1" extrusionOk="0">
                  <a:moveTo>
                    <a:pt x="0" y="242951"/>
                  </a:moveTo>
                  <a:cubicBezTo>
                    <a:pt x="0" y="108839"/>
                    <a:pt x="108839" y="0"/>
                    <a:pt x="242951" y="0"/>
                  </a:cubicBezTo>
                  <a:cubicBezTo>
                    <a:pt x="244094" y="0"/>
                    <a:pt x="245364" y="381"/>
                    <a:pt x="246253" y="1016"/>
                  </a:cubicBezTo>
                  <a:lnTo>
                    <a:pt x="242951" y="6350"/>
                  </a:lnTo>
                  <a:lnTo>
                    <a:pt x="242951" y="0"/>
                  </a:lnTo>
                  <a:lnTo>
                    <a:pt x="242951" y="6350"/>
                  </a:lnTo>
                  <a:lnTo>
                    <a:pt x="242951" y="0"/>
                  </a:lnTo>
                  <a:cubicBezTo>
                    <a:pt x="377190" y="0"/>
                    <a:pt x="486029" y="108839"/>
                    <a:pt x="486029" y="242951"/>
                  </a:cubicBezTo>
                  <a:cubicBezTo>
                    <a:pt x="486029" y="245364"/>
                    <a:pt x="484632" y="247523"/>
                    <a:pt x="482473" y="248666"/>
                  </a:cubicBezTo>
                  <a:lnTo>
                    <a:pt x="479679" y="242951"/>
                  </a:lnTo>
                  <a:lnTo>
                    <a:pt x="486029" y="242951"/>
                  </a:lnTo>
                  <a:cubicBezTo>
                    <a:pt x="486029" y="377190"/>
                    <a:pt x="377190" y="485902"/>
                    <a:pt x="243078" y="485902"/>
                  </a:cubicBezTo>
                  <a:lnTo>
                    <a:pt x="243078" y="479552"/>
                  </a:lnTo>
                  <a:lnTo>
                    <a:pt x="243078" y="485902"/>
                  </a:lnTo>
                  <a:lnTo>
                    <a:pt x="243078" y="479552"/>
                  </a:lnTo>
                  <a:lnTo>
                    <a:pt x="243078" y="485902"/>
                  </a:lnTo>
                  <a:cubicBezTo>
                    <a:pt x="108839" y="486029"/>
                    <a:pt x="0" y="377190"/>
                    <a:pt x="0" y="242951"/>
                  </a:cubicBezTo>
                  <a:cubicBezTo>
                    <a:pt x="0" y="241808"/>
                    <a:pt x="381" y="240538"/>
                    <a:pt x="1016" y="239649"/>
                  </a:cubicBezTo>
                  <a:lnTo>
                    <a:pt x="6350" y="242951"/>
                  </a:lnTo>
                  <a:lnTo>
                    <a:pt x="0" y="242951"/>
                  </a:lnTo>
                  <a:moveTo>
                    <a:pt x="12700" y="242951"/>
                  </a:moveTo>
                  <a:cubicBezTo>
                    <a:pt x="12700" y="244094"/>
                    <a:pt x="12319" y="245364"/>
                    <a:pt x="11684" y="246253"/>
                  </a:cubicBezTo>
                  <a:lnTo>
                    <a:pt x="6350" y="242951"/>
                  </a:lnTo>
                  <a:lnTo>
                    <a:pt x="12700" y="242951"/>
                  </a:lnTo>
                  <a:cubicBezTo>
                    <a:pt x="12700" y="370205"/>
                    <a:pt x="115824" y="473329"/>
                    <a:pt x="242951" y="473329"/>
                  </a:cubicBezTo>
                  <a:cubicBezTo>
                    <a:pt x="370078" y="473329"/>
                    <a:pt x="473202" y="370205"/>
                    <a:pt x="473202" y="243078"/>
                  </a:cubicBezTo>
                  <a:cubicBezTo>
                    <a:pt x="473202" y="240665"/>
                    <a:pt x="474599" y="238506"/>
                    <a:pt x="476758" y="237363"/>
                  </a:cubicBezTo>
                  <a:lnTo>
                    <a:pt x="479552" y="243078"/>
                  </a:lnTo>
                  <a:lnTo>
                    <a:pt x="473202" y="243078"/>
                  </a:lnTo>
                  <a:cubicBezTo>
                    <a:pt x="473329" y="115824"/>
                    <a:pt x="370205" y="12700"/>
                    <a:pt x="242951" y="12700"/>
                  </a:cubicBezTo>
                  <a:cubicBezTo>
                    <a:pt x="241808" y="12700"/>
                    <a:pt x="240538" y="12319"/>
                    <a:pt x="239649" y="11684"/>
                  </a:cubicBezTo>
                  <a:lnTo>
                    <a:pt x="242951" y="6350"/>
                  </a:lnTo>
                  <a:lnTo>
                    <a:pt x="242951" y="12700"/>
                  </a:lnTo>
                  <a:cubicBezTo>
                    <a:pt x="115824" y="12700"/>
                    <a:pt x="12700" y="115824"/>
                    <a:pt x="12700" y="242951"/>
                  </a:cubicBezTo>
                  <a:close/>
                </a:path>
              </a:pathLst>
            </a:custGeom>
            <a:solidFill>
              <a:srgbClr val="BACFDD"/>
            </a:solidFill>
          </p:spPr>
        </p:sp>
      </p:grpSp>
      <p:sp>
        <p:nvSpPr>
          <p:cNvPr id="996121761" name="TextBox 22"/>
          <p:cNvSpPr txBox="1"/>
          <p:nvPr/>
        </p:nvSpPr>
        <p:spPr bwMode="auto">
          <a:xfrm rot="0">
            <a:off x="1163538" y="4425405"/>
            <a:ext cx="2075705" cy="259408"/>
          </a:xfrm>
          <a:prstGeom prst="rect">
            <a:avLst/>
          </a:prstGeom>
        </p:spPr>
        <p:txBody>
          <a:bodyPr lIns="0" tIns="0" rIns="0" bIns="0" rtlCol="0" anchor="t">
            <a:spAutoFit/>
          </a:bodyPr>
          <a:lstStyle/>
          <a:p>
            <a:pPr algn="l">
              <a:lnSpc>
                <a:spcPts val="1999"/>
              </a:lnSpc>
              <a:defRPr/>
            </a:pPr>
            <a:r>
              <a:rPr lang="en-US" sz="1650" b="1">
                <a:solidFill>
                  <a:srgbClr val="384653"/>
                </a:solidFill>
                <a:latin typeface="Barlow Bold"/>
                <a:ea typeface="Barlow Bold"/>
                <a:cs typeface="Barlow Bold"/>
              </a:rPr>
              <a:t>Code DRY</a:t>
            </a:r>
            <a:endParaRPr/>
          </a:p>
        </p:txBody>
      </p:sp>
      <p:sp>
        <p:nvSpPr>
          <p:cNvPr id="366231091" name="TextBox 23"/>
          <p:cNvSpPr txBox="1"/>
          <p:nvPr/>
        </p:nvSpPr>
        <p:spPr bwMode="auto">
          <a:xfrm rot="0">
            <a:off x="1163538" y="4827091"/>
            <a:ext cx="6410268" cy="205236"/>
          </a:xfrm>
          <a:prstGeom prst="rect">
            <a:avLst/>
          </a:prstGeom>
        </p:spPr>
        <p:txBody>
          <a:bodyPr lIns="0" tIns="0" rIns="0" bIns="0" rtlCol="0" anchor="t">
            <a:spAutoFit/>
          </a:bodyPr>
          <a:lstStyle/>
          <a:p>
            <a:pPr algn="l">
              <a:lnSpc>
                <a:spcPts val="1936"/>
              </a:lnSpc>
              <a:defRPr/>
            </a:pPr>
            <a:r>
              <a:rPr lang="en-US" sz="2000">
                <a:solidFill>
                  <a:srgbClr val="384653"/>
                </a:solidFill>
                <a:latin typeface="Montserrat"/>
                <a:ea typeface="Montserrat"/>
                <a:cs typeface="Montserrat"/>
              </a:rPr>
              <a:t>Permet de garder votre code DRY (Ne vous répétez pas)</a:t>
            </a:r>
            <a:endParaRPr/>
          </a:p>
        </p:txBody>
      </p:sp>
      <p:grpSp>
        <p:nvGrpSpPr>
          <p:cNvPr id="2006713027" name="Group 24"/>
          <p:cNvGrpSpPr/>
          <p:nvPr/>
        </p:nvGrpSpPr>
        <p:grpSpPr bwMode="auto">
          <a:xfrm rot="0">
            <a:off x="9336433" y="4366469"/>
            <a:ext cx="364480" cy="364480"/>
            <a:chOff x="0" y="0"/>
            <a:chExt cx="485973" cy="485973"/>
          </a:xfrm>
        </p:grpSpPr>
        <p:sp>
          <p:nvSpPr>
            <p:cNvPr id="25" name="Freeform 25"/>
            <p:cNvSpPr/>
            <p:nvPr/>
          </p:nvSpPr>
          <p:spPr bwMode="auto">
            <a:xfrm rot="0" flipH="0" flipV="0">
              <a:off x="6350" y="6350"/>
              <a:ext cx="473329" cy="473329"/>
            </a:xfrm>
            <a:custGeom>
              <a:avLst/>
              <a:gdLst/>
              <a:ahLst/>
              <a:cxnLst/>
              <a:rect l="l" t="t" r="r" b="b"/>
              <a:pathLst>
                <a:path w="473329" h="473329" fill="norm" stroke="1" extrusionOk="0">
                  <a:moveTo>
                    <a:pt x="0" y="236601"/>
                  </a:moveTo>
                  <a:cubicBezTo>
                    <a:pt x="0" y="105918"/>
                    <a:pt x="105918" y="0"/>
                    <a:pt x="236601" y="0"/>
                  </a:cubicBezTo>
                  <a:cubicBezTo>
                    <a:pt x="367284" y="0"/>
                    <a:pt x="473329" y="105918"/>
                    <a:pt x="473329" y="236601"/>
                  </a:cubicBezTo>
                  <a:cubicBezTo>
                    <a:pt x="473329" y="367284"/>
                    <a:pt x="367284" y="473329"/>
                    <a:pt x="236601" y="473329"/>
                  </a:cubicBezTo>
                  <a:cubicBezTo>
                    <a:pt x="105918" y="473329"/>
                    <a:pt x="0" y="367284"/>
                    <a:pt x="0" y="236601"/>
                  </a:cubicBezTo>
                  <a:close/>
                </a:path>
              </a:pathLst>
            </a:custGeom>
            <a:solidFill>
              <a:srgbClr val="D4E9F7"/>
            </a:solidFill>
          </p:spPr>
        </p:sp>
        <p:sp>
          <p:nvSpPr>
            <p:cNvPr id="26" name="Freeform 26"/>
            <p:cNvSpPr/>
            <p:nvPr/>
          </p:nvSpPr>
          <p:spPr bwMode="auto">
            <a:xfrm rot="0" flipH="0" flipV="0">
              <a:off x="0" y="0"/>
              <a:ext cx="486029" cy="486029"/>
            </a:xfrm>
            <a:custGeom>
              <a:avLst/>
              <a:gdLst/>
              <a:ahLst/>
              <a:cxnLst/>
              <a:rect l="l" t="t" r="r" b="b"/>
              <a:pathLst>
                <a:path w="486029" h="486029" fill="norm" stroke="1" extrusionOk="0">
                  <a:moveTo>
                    <a:pt x="0" y="242951"/>
                  </a:moveTo>
                  <a:cubicBezTo>
                    <a:pt x="0" y="108839"/>
                    <a:pt x="108839" y="0"/>
                    <a:pt x="242951" y="0"/>
                  </a:cubicBezTo>
                  <a:cubicBezTo>
                    <a:pt x="244094" y="0"/>
                    <a:pt x="245364" y="381"/>
                    <a:pt x="246253" y="1016"/>
                  </a:cubicBezTo>
                  <a:lnTo>
                    <a:pt x="242951" y="6350"/>
                  </a:lnTo>
                  <a:lnTo>
                    <a:pt x="242951" y="0"/>
                  </a:lnTo>
                  <a:lnTo>
                    <a:pt x="242951" y="6350"/>
                  </a:lnTo>
                  <a:lnTo>
                    <a:pt x="242951" y="0"/>
                  </a:lnTo>
                  <a:cubicBezTo>
                    <a:pt x="377190" y="0"/>
                    <a:pt x="486029" y="108839"/>
                    <a:pt x="486029" y="242951"/>
                  </a:cubicBezTo>
                  <a:cubicBezTo>
                    <a:pt x="486029" y="245364"/>
                    <a:pt x="484632" y="247523"/>
                    <a:pt x="482473" y="248666"/>
                  </a:cubicBezTo>
                  <a:lnTo>
                    <a:pt x="479679" y="242951"/>
                  </a:lnTo>
                  <a:lnTo>
                    <a:pt x="486029" y="242951"/>
                  </a:lnTo>
                  <a:cubicBezTo>
                    <a:pt x="486029" y="377190"/>
                    <a:pt x="377190" y="485902"/>
                    <a:pt x="243078" y="485902"/>
                  </a:cubicBezTo>
                  <a:lnTo>
                    <a:pt x="243078" y="479552"/>
                  </a:lnTo>
                  <a:lnTo>
                    <a:pt x="243078" y="485902"/>
                  </a:lnTo>
                  <a:lnTo>
                    <a:pt x="243078" y="479552"/>
                  </a:lnTo>
                  <a:lnTo>
                    <a:pt x="243078" y="485902"/>
                  </a:lnTo>
                  <a:cubicBezTo>
                    <a:pt x="108839" y="486029"/>
                    <a:pt x="0" y="377190"/>
                    <a:pt x="0" y="242951"/>
                  </a:cubicBezTo>
                  <a:cubicBezTo>
                    <a:pt x="0" y="241808"/>
                    <a:pt x="381" y="240538"/>
                    <a:pt x="1016" y="239649"/>
                  </a:cubicBezTo>
                  <a:lnTo>
                    <a:pt x="6350" y="242951"/>
                  </a:lnTo>
                  <a:lnTo>
                    <a:pt x="0" y="242951"/>
                  </a:lnTo>
                  <a:moveTo>
                    <a:pt x="12700" y="242951"/>
                  </a:moveTo>
                  <a:cubicBezTo>
                    <a:pt x="12700" y="244094"/>
                    <a:pt x="12319" y="245364"/>
                    <a:pt x="11684" y="246253"/>
                  </a:cubicBezTo>
                  <a:lnTo>
                    <a:pt x="6350" y="242951"/>
                  </a:lnTo>
                  <a:lnTo>
                    <a:pt x="12700" y="242951"/>
                  </a:lnTo>
                  <a:cubicBezTo>
                    <a:pt x="12700" y="370205"/>
                    <a:pt x="115824" y="473329"/>
                    <a:pt x="242951" y="473329"/>
                  </a:cubicBezTo>
                  <a:cubicBezTo>
                    <a:pt x="370078" y="473329"/>
                    <a:pt x="473202" y="370205"/>
                    <a:pt x="473202" y="243078"/>
                  </a:cubicBezTo>
                  <a:cubicBezTo>
                    <a:pt x="473202" y="240665"/>
                    <a:pt x="474599" y="238506"/>
                    <a:pt x="476758" y="237363"/>
                  </a:cubicBezTo>
                  <a:lnTo>
                    <a:pt x="479552" y="243078"/>
                  </a:lnTo>
                  <a:lnTo>
                    <a:pt x="473202" y="243078"/>
                  </a:lnTo>
                  <a:cubicBezTo>
                    <a:pt x="473329" y="115824"/>
                    <a:pt x="370205" y="12700"/>
                    <a:pt x="242951" y="12700"/>
                  </a:cubicBezTo>
                  <a:cubicBezTo>
                    <a:pt x="241808" y="12700"/>
                    <a:pt x="240538" y="12319"/>
                    <a:pt x="239649" y="11684"/>
                  </a:cubicBezTo>
                  <a:lnTo>
                    <a:pt x="242951" y="6350"/>
                  </a:lnTo>
                  <a:lnTo>
                    <a:pt x="242951" y="12700"/>
                  </a:lnTo>
                  <a:cubicBezTo>
                    <a:pt x="115824" y="12700"/>
                    <a:pt x="12700" y="115824"/>
                    <a:pt x="12700" y="242951"/>
                  </a:cubicBezTo>
                  <a:close/>
                </a:path>
              </a:pathLst>
            </a:custGeom>
            <a:solidFill>
              <a:srgbClr val="BACFDD"/>
            </a:solidFill>
          </p:spPr>
        </p:sp>
      </p:grpSp>
      <p:sp>
        <p:nvSpPr>
          <p:cNvPr id="693802096" name="TextBox 27"/>
          <p:cNvSpPr txBox="1"/>
          <p:nvPr/>
        </p:nvSpPr>
        <p:spPr bwMode="auto">
          <a:xfrm rot="0">
            <a:off x="9853910" y="4425405"/>
            <a:ext cx="2075705" cy="259408"/>
          </a:xfrm>
          <a:prstGeom prst="rect">
            <a:avLst/>
          </a:prstGeom>
        </p:spPr>
        <p:txBody>
          <a:bodyPr lIns="0" tIns="0" rIns="0" bIns="0" rtlCol="0" anchor="t">
            <a:spAutoFit/>
          </a:bodyPr>
          <a:lstStyle/>
          <a:p>
            <a:pPr algn="l">
              <a:lnSpc>
                <a:spcPts val="1999"/>
              </a:lnSpc>
              <a:defRPr/>
            </a:pPr>
            <a:r>
              <a:rPr lang="en-US" sz="1650" b="1">
                <a:solidFill>
                  <a:srgbClr val="384653"/>
                </a:solidFill>
                <a:latin typeface="Barlow Bold"/>
                <a:ea typeface="Barlow Bold"/>
                <a:cs typeface="Barlow Bold"/>
              </a:rPr>
              <a:t>Réutilisabilité</a:t>
            </a:r>
            <a:endParaRPr/>
          </a:p>
        </p:txBody>
      </p:sp>
      <p:sp>
        <p:nvSpPr>
          <p:cNvPr id="1725859472" name="TextBox 28"/>
          <p:cNvSpPr txBox="1"/>
          <p:nvPr/>
        </p:nvSpPr>
        <p:spPr bwMode="auto">
          <a:xfrm rot="0" flipH="0" flipV="0">
            <a:off x="9755235" y="4827090"/>
            <a:ext cx="5998861" cy="492103"/>
          </a:xfrm>
          <a:prstGeom prst="rect">
            <a:avLst/>
          </a:prstGeom>
        </p:spPr>
        <p:txBody>
          <a:bodyPr lIns="0" tIns="0" rIns="0" bIns="0" rtlCol="0" anchor="t">
            <a:spAutoFit/>
          </a:bodyPr>
          <a:lstStyle/>
          <a:p>
            <a:pPr algn="l">
              <a:lnSpc>
                <a:spcPts val="1936"/>
              </a:lnSpc>
              <a:defRPr/>
            </a:pPr>
            <a:r>
              <a:rPr lang="en-US" sz="2000">
                <a:solidFill>
                  <a:srgbClr val="384653"/>
                </a:solidFill>
                <a:latin typeface="Montserrat"/>
                <a:ea typeface="Montserrat"/>
                <a:cs typeface="Montserrat"/>
              </a:rPr>
              <a:t>Permet de créer des applications réutilisables avec moins de code</a:t>
            </a:r>
            <a:endParaRPr/>
          </a:p>
        </p:txBody>
      </p:sp>
      <p:sp>
        <p:nvSpPr>
          <p:cNvPr id="837850416" name="TextBox 29"/>
          <p:cNvSpPr txBox="1"/>
          <p:nvPr/>
        </p:nvSpPr>
        <p:spPr bwMode="auto">
          <a:xfrm rot="0">
            <a:off x="552151" y="5833609"/>
            <a:ext cx="2490936" cy="330399"/>
          </a:xfrm>
          <a:prstGeom prst="rect">
            <a:avLst/>
          </a:prstGeom>
        </p:spPr>
        <p:txBody>
          <a:bodyPr lIns="0" tIns="0" rIns="0" bIns="0" rtlCol="0" anchor="t">
            <a:spAutoFit/>
          </a:bodyPr>
          <a:lstStyle/>
          <a:p>
            <a:pPr algn="l">
              <a:lnSpc>
                <a:spcPts val="2437"/>
              </a:lnSpc>
              <a:defRPr/>
            </a:pPr>
            <a:r>
              <a:rPr lang="en-US" sz="1950" b="1">
                <a:solidFill>
                  <a:srgbClr val="2E3C4E"/>
                </a:solidFill>
                <a:latin typeface="Barlow Bold"/>
                <a:ea typeface="Barlow Bold"/>
                <a:cs typeface="Barlow Bold"/>
              </a:rPr>
              <a:t>Classe et Objet</a:t>
            </a:r>
            <a:endParaRPr/>
          </a:p>
        </p:txBody>
      </p:sp>
      <p:sp>
        <p:nvSpPr>
          <p:cNvPr id="825776769" name="TextBox 30"/>
          <p:cNvSpPr txBox="1"/>
          <p:nvPr/>
        </p:nvSpPr>
        <p:spPr bwMode="auto">
          <a:xfrm rot="0">
            <a:off x="552151" y="6467787"/>
            <a:ext cx="17183694" cy="714997"/>
          </a:xfrm>
          <a:prstGeom prst="rect">
            <a:avLst/>
          </a:prstGeom>
        </p:spPr>
        <p:txBody>
          <a:bodyPr lIns="0" tIns="0" rIns="0" bIns="0" rtlCol="0" anchor="t">
            <a:spAutoFit/>
          </a:bodyPr>
          <a:lstStyle/>
          <a:p>
            <a:pPr algn="l">
              <a:lnSpc>
                <a:spcPts val="1936"/>
              </a:lnSpc>
              <a:defRPr/>
            </a:pPr>
            <a:r>
              <a:rPr lang="en-US" sz="2000">
                <a:solidFill>
                  <a:srgbClr val="384653"/>
                </a:solidFill>
                <a:latin typeface="Montserrat"/>
                <a:ea typeface="Montserrat"/>
                <a:cs typeface="Montserrat"/>
              </a:rPr>
              <a:t>Une classe est comme un constructeur d'objets, ou un « plan » pour la création d'objets. Pour créer une classe, utilisez le mot-clé class.</a:t>
            </a:r>
            <a:endParaRPr/>
          </a:p>
        </p:txBody>
      </p:sp>
      <p:sp>
        <p:nvSpPr>
          <p:cNvPr id="33598348" name="TextBox 31"/>
          <p:cNvSpPr txBox="1"/>
          <p:nvPr/>
        </p:nvSpPr>
        <p:spPr bwMode="auto">
          <a:xfrm rot="0">
            <a:off x="650825" y="8145072"/>
            <a:ext cx="17183694" cy="891964"/>
          </a:xfrm>
          <a:prstGeom prst="rect">
            <a:avLst/>
          </a:prstGeom>
        </p:spPr>
        <p:txBody>
          <a:bodyPr lIns="0" tIns="0" rIns="0" bIns="0" rtlCol="0" anchor="t">
            <a:spAutoFit/>
          </a:bodyPr>
          <a:lstStyle/>
          <a:p>
            <a:pPr algn="l">
              <a:lnSpc>
                <a:spcPts val="2759"/>
              </a:lnSpc>
              <a:defRPr/>
            </a:pPr>
            <a:r>
              <a:rPr lang="en-US" sz="2000">
                <a:solidFill>
                  <a:srgbClr val="384653"/>
                </a:solidFill>
                <a:latin typeface="Montserrat"/>
                <a:ea typeface="Montserrat"/>
                <a:cs typeface="Montserrat"/>
              </a:rPr>
              <a:t>Un objet est une instance spécifique d'une classe, contenant des valeurs réelles pour les attributs définis par la classe et pouvant exécuter les méthodes qui y sont spécifiées. Exemple : ma_voiture = Voiture("Toyota", "Corolla", "rouge")</a:t>
            </a:r>
            <a:endParaRPr/>
          </a:p>
        </p:txBody>
      </p:sp>
      <p:sp>
        <p:nvSpPr>
          <p:cNvPr id="2051820729" name="TextBox 32"/>
          <p:cNvSpPr txBox="1"/>
          <p:nvPr/>
        </p:nvSpPr>
        <p:spPr bwMode="auto">
          <a:xfrm rot="0">
            <a:off x="544918" y="7120024"/>
            <a:ext cx="6568844" cy="680534"/>
          </a:xfrm>
          <a:prstGeom prst="rect">
            <a:avLst/>
          </a:prstGeom>
        </p:spPr>
        <p:txBody>
          <a:bodyPr lIns="0" tIns="0" rIns="0" bIns="0" rtlCol="0" anchor="t">
            <a:spAutoFit/>
          </a:bodyPr>
          <a:lstStyle/>
          <a:p>
            <a:pPr algn="l">
              <a:lnSpc>
                <a:spcPts val="2400"/>
              </a:lnSpc>
              <a:defRPr/>
            </a:pPr>
            <a:r>
              <a:rPr lang="en-US" sz="2000">
                <a:solidFill>
                  <a:srgbClr val="6A9955"/>
                </a:solidFill>
                <a:latin typeface="Consolas"/>
                <a:ea typeface="Consolas"/>
                <a:cs typeface="Consolas"/>
              </a:rPr>
              <a:t># Déclaration de la classe</a:t>
            </a:r>
            <a:endParaRPr/>
          </a:p>
          <a:p>
            <a:pPr algn="l">
              <a:lnSpc>
                <a:spcPts val="2400"/>
              </a:lnSpc>
              <a:defRPr/>
            </a:pPr>
            <a:r>
              <a:rPr lang="en-US" sz="2000">
                <a:solidFill>
                  <a:srgbClr val="569CD6"/>
                </a:solidFill>
                <a:latin typeface="Consolas"/>
                <a:ea typeface="Consolas"/>
                <a:cs typeface="Consolas"/>
              </a:rPr>
              <a:t>class</a:t>
            </a:r>
            <a:r>
              <a:rPr lang="en-US" sz="2000">
                <a:solidFill>
                  <a:srgbClr val="CCCCCC"/>
                </a:solidFill>
                <a:latin typeface="Consolas"/>
                <a:ea typeface="Consolas"/>
                <a:cs typeface="Consolas"/>
              </a:rPr>
              <a:t> </a:t>
            </a:r>
            <a:r>
              <a:rPr lang="en-US" sz="2000">
                <a:solidFill>
                  <a:srgbClr val="4EC9B0"/>
                </a:solidFill>
                <a:latin typeface="Consolas"/>
                <a:ea typeface="Consolas"/>
                <a:cs typeface="Consolas"/>
              </a:rPr>
              <a:t>Voiture</a:t>
            </a:r>
            <a:r>
              <a:rPr lang="en-US" sz="2000">
                <a:solidFill>
                  <a:srgbClr val="CCCCCC"/>
                </a:solidFill>
                <a:latin typeface="Consolas"/>
                <a:ea typeface="Consolas"/>
                <a:cs typeface="Consolas"/>
              </a:rPr>
              <a:t>:</a:t>
            </a:r>
            <a:endParaRPr/>
          </a:p>
        </p:txBody>
      </p:sp>
      <p:sp>
        <p:nvSpPr>
          <p:cNvPr id="909861698" name="TextBox 33"/>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0653529" name="TextBox 2"/>
          <p:cNvSpPr txBox="1"/>
          <p:nvPr/>
        </p:nvSpPr>
        <p:spPr bwMode="auto">
          <a:xfrm rot="0" flipH="0" flipV="0">
            <a:off x="927780" y="454495"/>
            <a:ext cx="5663095" cy="309731"/>
          </a:xfrm>
          <a:prstGeom prst="rect">
            <a:avLst/>
          </a:prstGeom>
        </p:spPr>
        <p:txBody>
          <a:bodyPr lIns="0" tIns="0" rIns="0" bIns="0" rtlCol="0" anchor="t">
            <a:spAutoFit/>
          </a:bodyPr>
          <a:lstStyle/>
          <a:p>
            <a:pPr algn="l">
              <a:lnSpc>
                <a:spcPts val="2436"/>
              </a:lnSpc>
              <a:defRPr/>
            </a:pPr>
            <a:r>
              <a:rPr lang="en-US" sz="1950" b="1">
                <a:solidFill>
                  <a:srgbClr val="2E3C4E"/>
                </a:solidFill>
                <a:latin typeface="Barlow Bold"/>
                <a:ea typeface="Barlow Bold"/>
                <a:cs typeface="Barlow Bold"/>
              </a:rPr>
              <a:t>L'encapsulation</a:t>
            </a:r>
            <a:endParaRPr/>
          </a:p>
        </p:txBody>
      </p:sp>
      <p:sp>
        <p:nvSpPr>
          <p:cNvPr id="843994339" name="TextBox 3"/>
          <p:cNvSpPr txBox="1"/>
          <p:nvPr/>
        </p:nvSpPr>
        <p:spPr bwMode="auto">
          <a:xfrm rot="0">
            <a:off x="927781" y="992956"/>
            <a:ext cx="16133334" cy="627072"/>
          </a:xfrm>
          <a:prstGeom prst="rect">
            <a:avLst/>
          </a:prstGeom>
        </p:spPr>
        <p:txBody>
          <a:bodyPr lIns="0" tIns="0" rIns="0" bIns="0" rtlCol="0" anchor="t">
            <a:spAutoFit/>
          </a:bodyPr>
          <a:lstStyle/>
          <a:p>
            <a:pPr algn="l">
              <a:lnSpc>
                <a:spcPts val="2759"/>
              </a:lnSpc>
              <a:defRPr/>
            </a:pPr>
            <a:r>
              <a:rPr lang="en-US" sz="2000">
                <a:solidFill>
                  <a:srgbClr val="384653"/>
                </a:solidFill>
                <a:latin typeface="Montserrat"/>
                <a:ea typeface="Montserrat"/>
                <a:cs typeface="Montserrat"/>
              </a:rPr>
              <a:t>L'encapsulation en Python est un principe fondamental de la programmation orientée objet qui consiste à restreindre l'accès à certains éléments d'une classe (le plus souvent ses attributs).</a:t>
            </a:r>
            <a:endParaRPr/>
          </a:p>
        </p:txBody>
      </p:sp>
      <p:grpSp>
        <p:nvGrpSpPr>
          <p:cNvPr id="1921634474" name="Group 4"/>
          <p:cNvGrpSpPr>
            <a:grpSpLocks noChangeAspect="1"/>
          </p:cNvGrpSpPr>
          <p:nvPr/>
        </p:nvGrpSpPr>
        <p:grpSpPr bwMode="auto">
          <a:xfrm rot="0" flipH="0" flipV="0">
            <a:off x="5915468" y="2517876"/>
            <a:ext cx="10969980" cy="6226381"/>
            <a:chOff x="0" y="0"/>
            <a:chExt cx="10969980" cy="6226381"/>
          </a:xfrm>
        </p:grpSpPr>
        <p:sp>
          <p:nvSpPr>
            <p:cNvPr id="5" name="Freeform 5"/>
            <p:cNvSpPr/>
            <p:nvPr/>
          </p:nvSpPr>
          <p:spPr bwMode="auto">
            <a:xfrm rot="0" flipH="0" flipV="0">
              <a:off x="0" y="0"/>
              <a:ext cx="10969970" cy="6226396"/>
            </a:xfrm>
            <a:custGeom>
              <a:avLst/>
              <a:gdLst/>
              <a:ahLst/>
              <a:cxnLst/>
              <a:rect l="l" t="t" r="r" b="b"/>
              <a:pathLst>
                <a:path w="12986258" h="8301863" fill="norm" stroke="1" extrusionOk="0">
                  <a:moveTo>
                    <a:pt x="0" y="0"/>
                  </a:moveTo>
                  <a:lnTo>
                    <a:pt x="12986258" y="0"/>
                  </a:lnTo>
                  <a:lnTo>
                    <a:pt x="12986258" y="8301863"/>
                  </a:lnTo>
                  <a:lnTo>
                    <a:pt x="0" y="8301863"/>
                  </a:lnTo>
                  <a:lnTo>
                    <a:pt x="0" y="0"/>
                  </a:lnTo>
                  <a:close/>
                </a:path>
              </a:pathLst>
            </a:custGeom>
            <a:blipFill>
              <a:blip r:embed="rId3"/>
              <a:srcRect l="555" t="0" r="555" b="0"/>
              <a:stretch/>
            </a:blipFill>
          </p:spPr>
        </p:sp>
      </p:grpSp>
      <p:sp>
        <p:nvSpPr>
          <p:cNvPr id="763469718" name="TextBox 8"/>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1467609986" name=""/>
          <p:cNvPicPr>
            <a:picLocks noChangeAspect="1"/>
          </p:cNvPicPr>
          <p:nvPr/>
        </p:nvPicPr>
        <p:blipFill>
          <a:blip r:embed="rId4"/>
          <a:stretch/>
        </p:blipFill>
        <p:spPr bwMode="auto">
          <a:xfrm rot="16199969" flipH="0" flipV="0">
            <a:off x="-1124542" y="4332769"/>
            <a:ext cx="6836660" cy="28731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0265348" name="TextBox 4"/>
          <p:cNvSpPr txBox="1"/>
          <p:nvPr/>
        </p:nvSpPr>
        <p:spPr bwMode="auto">
          <a:xfrm rot="0" flipH="0" flipV="0">
            <a:off x="927778" y="591275"/>
            <a:ext cx="4571689" cy="309731"/>
          </a:xfrm>
          <a:prstGeom prst="rect">
            <a:avLst/>
          </a:prstGeom>
        </p:spPr>
        <p:txBody>
          <a:bodyPr lIns="0" tIns="0" rIns="0" bIns="0" rtlCol="0" anchor="t">
            <a:spAutoFit/>
          </a:bodyPr>
          <a:lstStyle/>
          <a:p>
            <a:pPr algn="l">
              <a:lnSpc>
                <a:spcPts val="2436"/>
              </a:lnSpc>
              <a:defRPr/>
            </a:pPr>
            <a:r>
              <a:rPr lang="en-US" sz="1950" b="1">
                <a:solidFill>
                  <a:srgbClr val="2E3C4E"/>
                </a:solidFill>
                <a:latin typeface="Barlow Bold"/>
                <a:ea typeface="Barlow Bold"/>
                <a:cs typeface="Barlow Bold"/>
              </a:rPr>
              <a:t>L'Héritage</a:t>
            </a:r>
            <a:endParaRPr/>
          </a:p>
        </p:txBody>
      </p:sp>
      <p:sp>
        <p:nvSpPr>
          <p:cNvPr id="1456206690" name="TextBox 5"/>
          <p:cNvSpPr txBox="1"/>
          <p:nvPr/>
        </p:nvSpPr>
        <p:spPr bwMode="auto">
          <a:xfrm rot="0">
            <a:off x="927780" y="1013121"/>
            <a:ext cx="17183692" cy="821611"/>
          </a:xfrm>
          <a:prstGeom prst="rect">
            <a:avLst/>
          </a:prstGeom>
        </p:spPr>
        <p:txBody>
          <a:bodyPr lIns="0" tIns="0" rIns="0" bIns="0" rtlCol="0" anchor="t">
            <a:spAutoFit/>
          </a:bodyPr>
          <a:lstStyle/>
          <a:p>
            <a:pPr algn="l">
              <a:lnSpc>
                <a:spcPts val="2759"/>
              </a:lnSpc>
              <a:defRPr/>
            </a:pPr>
            <a:r>
              <a:rPr lang="en-US" sz="2000">
                <a:solidFill>
                  <a:srgbClr val="384653"/>
                </a:solidFill>
                <a:latin typeface="Montserrat"/>
                <a:ea typeface="Montserrat"/>
                <a:cs typeface="Montserrat"/>
              </a:rPr>
              <a:t>L'héritage nous permet de définir une classe qui hérite de toutes les méthodes et propriétés d'une autre classe. La classe parente est la classe dont on hérite, également appelée classe de base. Une classe enfant est une classe qui hérite d'une autre classe, également appelée classe dérivée.</a:t>
            </a:r>
            <a:endParaRPr/>
          </a:p>
        </p:txBody>
      </p:sp>
      <p:sp>
        <p:nvSpPr>
          <p:cNvPr id="1798647220" name="TextBox 6"/>
          <p:cNvSpPr txBox="1"/>
          <p:nvPr/>
        </p:nvSpPr>
        <p:spPr bwMode="auto">
          <a:xfrm rot="0">
            <a:off x="986336" y="2004990"/>
            <a:ext cx="17183692" cy="1235069"/>
          </a:xfrm>
          <a:prstGeom prst="rect">
            <a:avLst/>
          </a:prstGeom>
        </p:spPr>
        <p:txBody>
          <a:bodyPr lIns="0" tIns="0" rIns="0" bIns="0" rtlCol="0" anchor="t">
            <a:spAutoFit/>
          </a:bodyPr>
          <a:lstStyle/>
          <a:p>
            <a:pPr algn="l">
              <a:lnSpc>
                <a:spcPts val="2759"/>
              </a:lnSpc>
              <a:defRPr/>
            </a:pPr>
            <a:r>
              <a:rPr lang="en-US" sz="2000">
                <a:solidFill>
                  <a:srgbClr val="384653"/>
                </a:solidFill>
                <a:latin typeface="Montserrat"/>
                <a:ea typeface="Montserrat"/>
                <a:cs typeface="Montserrat"/>
              </a:rPr>
              <a:t>La classe Parent est la classe mère et les classes Mafille et Monfils sont les classes filles. Le mot clé pass permet de récupérer automatiquement les attributs et méthodes de la classe parent. Le mot clé super() permet à la class fille de récupérer les fonctions de la classe mère. On a la possibilité de redéfinir la fonction de la class mère depuis la class fille.</a:t>
            </a:r>
            <a:endParaRPr/>
          </a:p>
        </p:txBody>
      </p:sp>
      <p:sp>
        <p:nvSpPr>
          <p:cNvPr id="1793396657" name="TextBox 9"/>
          <p:cNvSpPr txBox="1"/>
          <p:nvPr/>
        </p:nvSpPr>
        <p:spPr bwMode="auto">
          <a:xfrm rot="0">
            <a:off x="3730341" y="9571745"/>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1012181389" name=""/>
          <p:cNvPicPr>
            <a:picLocks noChangeAspect="1"/>
          </p:cNvPicPr>
          <p:nvPr/>
        </p:nvPicPr>
        <p:blipFill>
          <a:blip r:embed="rId3"/>
          <a:stretch/>
        </p:blipFill>
        <p:spPr bwMode="auto">
          <a:xfrm rot="16199969" flipH="0" flipV="0">
            <a:off x="-442448" y="5004430"/>
            <a:ext cx="5309015" cy="2873112"/>
          </a:xfrm>
          <a:prstGeom prst="rect">
            <a:avLst/>
          </a:prstGeom>
        </p:spPr>
      </p:pic>
      <p:pic>
        <p:nvPicPr>
          <p:cNvPr id="1563159458" name=""/>
          <p:cNvPicPr>
            <a:picLocks noChangeAspect="1"/>
          </p:cNvPicPr>
          <p:nvPr/>
        </p:nvPicPr>
        <p:blipFill>
          <a:blip r:embed="rId4"/>
          <a:stretch/>
        </p:blipFill>
        <p:spPr bwMode="auto">
          <a:xfrm rot="0" flipH="0" flipV="0">
            <a:off x="5950070" y="3353035"/>
            <a:ext cx="9272116" cy="60330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967745115" name="Group 2"/>
          <p:cNvGrpSpPr>
            <a:grpSpLocks noChangeAspect="1"/>
          </p:cNvGrpSpPr>
          <p:nvPr/>
        </p:nvGrpSpPr>
        <p:grpSpPr bwMode="auto">
          <a:xfrm rot="0">
            <a:off x="0" y="0"/>
            <a:ext cx="18288000" cy="10287000"/>
            <a:chOff x="0" y="0"/>
            <a:chExt cx="24384000" cy="13716000"/>
          </a:xfrm>
        </p:grpSpPr>
        <p:sp>
          <p:nvSpPr>
            <p:cNvPr id="3" name="Freeform 3" descr="preencoded.png"/>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735455580" name="Group 4"/>
          <p:cNvGrpSpPr/>
          <p:nvPr/>
        </p:nvGrpSpPr>
        <p:grpSpPr bwMode="auto">
          <a:xfrm rot="0">
            <a:off x="0" y="0"/>
            <a:ext cx="18288000" cy="10287000"/>
            <a:chOff x="0" y="0"/>
            <a:chExt cx="24384000" cy="13716000"/>
          </a:xfrm>
        </p:grpSpPr>
        <p:sp>
          <p:nvSpPr>
            <p:cNvPr id="5" name="Freeform 5"/>
            <p:cNvSpPr/>
            <p:nvPr/>
          </p:nvSpPr>
          <p:spPr bwMode="auto">
            <a:xfrm rot="0" flipH="0" flipV="0">
              <a:off x="0" y="0"/>
              <a:ext cx="24384000"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1749781257" name="TextBox 6"/>
          <p:cNvSpPr txBox="1"/>
          <p:nvPr/>
        </p:nvSpPr>
        <p:spPr bwMode="auto">
          <a:xfrm rot="0">
            <a:off x="1455082" y="1275652"/>
            <a:ext cx="15658644" cy="2453110"/>
          </a:xfrm>
          <a:prstGeom prst="rect">
            <a:avLst/>
          </a:prstGeom>
        </p:spPr>
        <p:txBody>
          <a:bodyPr lIns="0" tIns="0" rIns="0" bIns="0" rtlCol="0" anchor="t">
            <a:spAutoFit/>
          </a:bodyPr>
          <a:lstStyle/>
          <a:p>
            <a:pPr algn="l">
              <a:lnSpc>
                <a:spcPts val="2759"/>
              </a:lnSpc>
              <a:defRPr/>
            </a:pPr>
            <a:r>
              <a:rPr lang="en-US" sz="2000" i="1">
                <a:solidFill>
                  <a:srgbClr val="000000"/>
                </a:solidFill>
                <a:latin typeface="Arial"/>
                <a:ea typeface="Arial"/>
                <a:cs typeface="Arial"/>
              </a:rPr>
              <a:t>La classe </a:t>
            </a:r>
            <a:r>
              <a:rPr lang="en-US" sz="2000" b="1" i="1">
                <a:solidFill>
                  <a:srgbClr val="000000"/>
                </a:solidFill>
                <a:latin typeface="Arial"/>
                <a:ea typeface="Arial"/>
                <a:cs typeface="Arial"/>
              </a:rPr>
              <a:t>Parent </a:t>
            </a:r>
            <a:r>
              <a:rPr lang="en-US" sz="2000" i="1">
                <a:solidFill>
                  <a:srgbClr val="000000"/>
                </a:solidFill>
                <a:latin typeface="Arial"/>
                <a:ea typeface="Arial"/>
                <a:cs typeface="Arial"/>
              </a:rPr>
              <a:t>est la classe mère et les classes </a:t>
            </a:r>
            <a:r>
              <a:rPr lang="en-US" sz="2000" b="1" i="1">
                <a:solidFill>
                  <a:srgbClr val="000000"/>
                </a:solidFill>
                <a:latin typeface="Arial"/>
                <a:ea typeface="Arial"/>
                <a:cs typeface="Arial"/>
              </a:rPr>
              <a:t>Mafille </a:t>
            </a:r>
            <a:r>
              <a:rPr lang="en-US" sz="2000" i="1">
                <a:solidFill>
                  <a:srgbClr val="000000"/>
                </a:solidFill>
                <a:latin typeface="Arial"/>
                <a:ea typeface="Arial"/>
                <a:cs typeface="Arial"/>
              </a:rPr>
              <a:t>et </a:t>
            </a:r>
            <a:r>
              <a:rPr lang="en-US" sz="2000" b="1" i="1">
                <a:solidFill>
                  <a:srgbClr val="000000"/>
                </a:solidFill>
                <a:latin typeface="Arial"/>
                <a:ea typeface="Arial"/>
                <a:cs typeface="Arial"/>
              </a:rPr>
              <a:t>Monfils </a:t>
            </a:r>
            <a:r>
              <a:rPr lang="en-US" sz="2000" i="1">
                <a:solidFill>
                  <a:srgbClr val="000000"/>
                </a:solidFill>
                <a:latin typeface="Arial"/>
                <a:ea typeface="Arial"/>
                <a:cs typeface="Arial"/>
              </a:rPr>
              <a:t>sont les classes filles .</a:t>
            </a:r>
            <a:endParaRPr i="1">
              <a:latin typeface="Arial"/>
              <a:cs typeface="Arial"/>
            </a:endParaRPr>
          </a:p>
          <a:p>
            <a:pPr algn="l">
              <a:lnSpc>
                <a:spcPts val="2759"/>
              </a:lnSpc>
              <a:defRPr/>
            </a:pPr>
            <a:r>
              <a:rPr lang="en-US" sz="2000" i="1">
                <a:solidFill>
                  <a:srgbClr val="000000"/>
                </a:solidFill>
                <a:latin typeface="Arial"/>
                <a:ea typeface="Arial"/>
                <a:cs typeface="Arial"/>
              </a:rPr>
              <a:t>Mot clé </a:t>
            </a:r>
            <a:r>
              <a:rPr lang="en-US" sz="2000" b="1" i="1">
                <a:solidFill>
                  <a:srgbClr val="000000"/>
                </a:solidFill>
                <a:latin typeface="Arial"/>
                <a:ea typeface="Arial"/>
                <a:cs typeface="Arial"/>
              </a:rPr>
              <a:t>pass </a:t>
            </a:r>
            <a:r>
              <a:rPr lang="fr-FR" sz="2000" b="0" i="0" u="none">
                <a:solidFill>
                  <a:srgbClr val="000000"/>
                </a:solidFill>
                <a:latin typeface="Arial"/>
                <a:ea typeface="Arial"/>
                <a:cs typeface="Arial"/>
              </a:rPr>
              <a:t>sert </a:t>
            </a:r>
            <a:r>
              <a:rPr sz="2000" b="0" i="0" u="none">
                <a:solidFill>
                  <a:srgbClr val="000000"/>
                </a:solidFill>
                <a:latin typeface="Arial"/>
                <a:ea typeface="Arial"/>
                <a:cs typeface="Arial"/>
              </a:rPr>
              <a:t>simplement à </a:t>
            </a:r>
            <a:r>
              <a:rPr sz="2000" b="1" i="0" u="none">
                <a:solidFill>
                  <a:srgbClr val="000000"/>
                </a:solidFill>
                <a:latin typeface="Arial"/>
                <a:ea typeface="Arial"/>
                <a:cs typeface="Arial"/>
              </a:rPr>
              <a:t>ne rien faire</a:t>
            </a:r>
            <a:r>
              <a:rPr sz="2000" b="0" i="0" u="none">
                <a:solidFill>
                  <a:srgbClr val="000000"/>
                </a:solidFill>
                <a:latin typeface="Arial"/>
                <a:ea typeface="Arial"/>
                <a:cs typeface="Arial"/>
              </a:rPr>
              <a:t>, à mettre un “bloc vide”</a:t>
            </a:r>
            <a:endParaRPr i="1">
              <a:latin typeface="Arial"/>
              <a:cs typeface="Arial"/>
            </a:endParaRPr>
          </a:p>
          <a:p>
            <a:pPr algn="l">
              <a:lnSpc>
                <a:spcPts val="2759"/>
              </a:lnSpc>
              <a:defRPr/>
            </a:pPr>
            <a:r>
              <a:rPr lang="en-US" sz="2000" i="1">
                <a:solidFill>
                  <a:srgbClr val="000000"/>
                </a:solidFill>
                <a:latin typeface="Arial"/>
                <a:ea typeface="Arial"/>
                <a:cs typeface="Arial"/>
              </a:rPr>
              <a:t>Le mot clé </a:t>
            </a:r>
            <a:r>
              <a:rPr lang="en-US" sz="2000" b="1" i="1">
                <a:solidFill>
                  <a:srgbClr val="000000"/>
                </a:solidFill>
                <a:latin typeface="Arial"/>
                <a:ea typeface="Arial"/>
                <a:cs typeface="Arial"/>
              </a:rPr>
              <a:t>super() </a:t>
            </a:r>
            <a:r>
              <a:rPr lang="en-US" sz="2000" i="1">
                <a:solidFill>
                  <a:srgbClr val="000000"/>
                </a:solidFill>
                <a:latin typeface="Arial"/>
                <a:ea typeface="Arial"/>
                <a:cs typeface="Arial"/>
              </a:rPr>
              <a:t>permet à la class fille de récupérer les fonctions de la classe mère</a:t>
            </a:r>
            <a:endParaRPr i="1">
              <a:latin typeface="Arial"/>
              <a:cs typeface="Arial"/>
            </a:endParaRPr>
          </a:p>
          <a:p>
            <a:pPr algn="l">
              <a:lnSpc>
                <a:spcPts val="2759"/>
              </a:lnSpc>
              <a:defRPr/>
            </a:pPr>
            <a:r>
              <a:rPr lang="en-US" sz="2000" i="1">
                <a:solidFill>
                  <a:srgbClr val="000000"/>
                </a:solidFill>
                <a:latin typeface="Arial"/>
                <a:ea typeface="Arial"/>
                <a:cs typeface="Arial"/>
              </a:rPr>
              <a:t>On a la possibilité de redéfinir la fonction de la class mère depuis la class fille.</a:t>
            </a:r>
            <a:endParaRPr i="1">
              <a:latin typeface="Arial"/>
              <a:cs typeface="Arial"/>
            </a:endParaRPr>
          </a:p>
          <a:p>
            <a:pPr algn="l">
              <a:lnSpc>
                <a:spcPts val="2759"/>
              </a:lnSpc>
              <a:defRPr/>
            </a:pPr>
            <a:endParaRPr i="1">
              <a:latin typeface="Arial"/>
              <a:cs typeface="Arial"/>
            </a:endParaRPr>
          </a:p>
          <a:p>
            <a:pPr algn="l">
              <a:lnSpc>
                <a:spcPts val="2759"/>
              </a:lnSpc>
              <a:defRPr/>
            </a:pPr>
            <a:endParaRPr i="1">
              <a:latin typeface="Arial"/>
              <a:cs typeface="Arial"/>
            </a:endParaRPr>
          </a:p>
          <a:p>
            <a:pPr algn="l">
              <a:lnSpc>
                <a:spcPts val="2759"/>
              </a:lnSpc>
              <a:defRPr/>
            </a:pPr>
            <a:endParaRPr i="1">
              <a:latin typeface="Arial"/>
              <a:cs typeface="Arial"/>
            </a:endParaRPr>
          </a:p>
        </p:txBody>
      </p:sp>
      <p:sp>
        <p:nvSpPr>
          <p:cNvPr id="285463473" name="TextBox 7"/>
          <p:cNvSpPr txBox="1"/>
          <p:nvPr/>
        </p:nvSpPr>
        <p:spPr bwMode="auto">
          <a:xfrm rot="0">
            <a:off x="1455084" y="681240"/>
            <a:ext cx="2297311" cy="413834"/>
          </a:xfrm>
          <a:prstGeom prst="rect">
            <a:avLst/>
          </a:prstGeom>
        </p:spPr>
        <p:txBody>
          <a:bodyPr lIns="0" tIns="0" rIns="0" bIns="0" rtlCol="0" anchor="t">
            <a:spAutoFit/>
          </a:bodyPr>
          <a:lstStyle/>
          <a:p>
            <a:pPr algn="l">
              <a:lnSpc>
                <a:spcPts val="2699"/>
              </a:lnSpc>
              <a:defRPr/>
            </a:pPr>
            <a:r>
              <a:rPr lang="en-US" sz="2250" b="1">
                <a:solidFill>
                  <a:srgbClr val="000000"/>
                </a:solidFill>
                <a:latin typeface="Calibri (MS) Bold"/>
                <a:ea typeface="Calibri (MS) Bold"/>
                <a:cs typeface="Calibri (MS) Bold"/>
              </a:rPr>
              <a:t>Remarques</a:t>
            </a:r>
            <a:endParaRPr/>
          </a:p>
        </p:txBody>
      </p:sp>
      <p:sp>
        <p:nvSpPr>
          <p:cNvPr id="664559497" name="TextBox 8"/>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2376945" name="TextBox 2"/>
          <p:cNvSpPr txBox="1"/>
          <p:nvPr/>
        </p:nvSpPr>
        <p:spPr bwMode="auto">
          <a:xfrm rot="0">
            <a:off x="1557319" y="681447"/>
            <a:ext cx="9695700" cy="347159"/>
          </a:xfrm>
          <a:prstGeom prst="rect">
            <a:avLst/>
          </a:prstGeom>
        </p:spPr>
        <p:txBody>
          <a:bodyPr lIns="0" tIns="0" rIns="0" bIns="0" rtlCol="0" anchor="t">
            <a:spAutoFit/>
          </a:bodyPr>
          <a:lstStyle/>
          <a:p>
            <a:pPr algn="l">
              <a:lnSpc>
                <a:spcPts val="2400"/>
              </a:lnSpc>
              <a:defRPr/>
            </a:pPr>
            <a:r>
              <a:rPr lang="en-US" sz="2000" b="1">
                <a:solidFill>
                  <a:srgbClr val="333333"/>
                </a:solidFill>
                <a:latin typeface="Barlow Bold"/>
                <a:ea typeface="Barlow Bold"/>
                <a:cs typeface="Barlow Bold"/>
              </a:rPr>
              <a:t>surcharge des méthodes</a:t>
            </a:r>
            <a:endParaRPr/>
          </a:p>
        </p:txBody>
      </p:sp>
      <p:sp>
        <p:nvSpPr>
          <p:cNvPr id="1076878063" name="TextBox 3"/>
          <p:cNvSpPr txBox="1"/>
          <p:nvPr/>
        </p:nvSpPr>
        <p:spPr bwMode="auto">
          <a:xfrm rot="0">
            <a:off x="1624289" y="1267466"/>
            <a:ext cx="15321060" cy="1051538"/>
          </a:xfrm>
          <a:prstGeom prst="rect">
            <a:avLst/>
          </a:prstGeom>
        </p:spPr>
        <p:txBody>
          <a:bodyPr lIns="0" tIns="0" rIns="0" bIns="0" rtlCol="0" anchor="t">
            <a:spAutoFit/>
          </a:bodyPr>
          <a:lstStyle/>
          <a:p>
            <a:pPr algn="l">
              <a:lnSpc>
                <a:spcPts val="2759"/>
              </a:lnSpc>
              <a:defRPr/>
            </a:pPr>
            <a:r>
              <a:rPr sz="2000" b="0" i="0" u="none">
                <a:solidFill>
                  <a:srgbClr val="000000"/>
                </a:solidFill>
                <a:latin typeface="Arial"/>
                <a:ea typeface="Arial"/>
                <a:cs typeface="Arial"/>
              </a:rPr>
              <a:t>La </a:t>
            </a:r>
            <a:r>
              <a:rPr sz="2000" b="0" i="0" u="none">
                <a:solidFill>
                  <a:srgbClr val="000000"/>
                </a:solidFill>
                <a:latin typeface="Arial"/>
                <a:ea typeface="Arial"/>
                <a:cs typeface="Arial"/>
              </a:rPr>
              <a:t>surcharge de méthode</a:t>
            </a:r>
            <a:r>
              <a:rPr sz="2000" b="0" i="0" u="none">
                <a:solidFill>
                  <a:srgbClr val="000000"/>
                </a:solidFill>
                <a:latin typeface="Arial"/>
                <a:ea typeface="Arial"/>
                <a:cs typeface="Arial"/>
              </a:rPr>
              <a:t> (ou </a:t>
            </a:r>
            <a:r>
              <a:rPr sz="2000" b="0" i="1" u="none">
                <a:solidFill>
                  <a:srgbClr val="000000"/>
                </a:solidFill>
                <a:latin typeface="Arial"/>
                <a:ea typeface="Arial"/>
                <a:cs typeface="Arial"/>
              </a:rPr>
              <a:t>method overloading</a:t>
            </a:r>
            <a:r>
              <a:rPr sz="2000" b="0" i="0" u="none">
                <a:solidFill>
                  <a:srgbClr val="000000"/>
                </a:solidFill>
                <a:latin typeface="Arial"/>
                <a:ea typeface="Arial"/>
                <a:cs typeface="Arial"/>
              </a:rPr>
              <a:t>) est la capacité d’une classe à </a:t>
            </a:r>
            <a:r>
              <a:rPr sz="2000" b="0" i="0" u="none">
                <a:solidFill>
                  <a:srgbClr val="000000"/>
                </a:solidFill>
                <a:latin typeface="Arial"/>
                <a:ea typeface="Arial"/>
                <a:cs typeface="Arial"/>
              </a:rPr>
              <a:t>définir plusieurs méthodes avec le même nom</a:t>
            </a:r>
            <a:r>
              <a:rPr sz="2000" b="0" i="0" u="none">
                <a:solidFill>
                  <a:srgbClr val="000000"/>
                </a:solidFill>
                <a:latin typeface="Arial"/>
                <a:ea typeface="Arial"/>
                <a:cs typeface="Arial"/>
              </a:rPr>
              <a:t>, mais </a:t>
            </a:r>
            <a:r>
              <a:rPr sz="2000" b="0" i="0" u="none">
                <a:solidFill>
                  <a:srgbClr val="000000"/>
                </a:solidFill>
                <a:latin typeface="Arial"/>
                <a:ea typeface="Arial"/>
                <a:cs typeface="Arial"/>
              </a:rPr>
              <a:t>avec un nombre ou un type de paramètres différent</a:t>
            </a:r>
            <a:r>
              <a:rPr sz="2000" b="0" i="0" u="none">
                <a:solidFill>
                  <a:srgbClr val="000000"/>
                </a:solidFill>
                <a:latin typeface="Arial"/>
                <a:ea typeface="Arial"/>
                <a:cs typeface="Arial"/>
              </a:rPr>
              <a:t>.</a:t>
            </a:r>
            <a:endParaRPr sz="2000" b="0" i="0" u="none">
              <a:solidFill>
                <a:srgbClr val="000000"/>
              </a:solidFill>
              <a:latin typeface="Arial"/>
              <a:ea typeface="Arial"/>
              <a:cs typeface="Arial"/>
            </a:endParaRPr>
          </a:p>
          <a:p>
            <a:pPr algn="l">
              <a:lnSpc>
                <a:spcPts val="2758"/>
              </a:lnSpc>
              <a:defRPr/>
            </a:pPr>
            <a:r>
              <a:rPr sz="2000" b="0" i="0" u="none">
                <a:solidFill>
                  <a:srgbClr val="000000"/>
                </a:solidFill>
                <a:latin typeface="Arial"/>
                <a:ea typeface="Arial"/>
                <a:cs typeface="Arial"/>
              </a:rPr>
              <a:t>Python ne supporte pas la surcharge classique : si tu redéfinis une méthode avec le même nom, elle écrase la précédente.</a:t>
            </a:r>
            <a:endParaRPr sz="2000" b="0">
              <a:latin typeface="Arial"/>
              <a:cs typeface="Arial"/>
            </a:endParaRPr>
          </a:p>
        </p:txBody>
      </p:sp>
      <p:sp>
        <p:nvSpPr>
          <p:cNvPr id="2022665871" name="TextBox 4"/>
          <p:cNvSpPr txBox="1"/>
          <p:nvPr/>
        </p:nvSpPr>
        <p:spPr bwMode="auto">
          <a:xfrm rot="0">
            <a:off x="1678252" y="2508588"/>
            <a:ext cx="11331160" cy="3353159"/>
          </a:xfrm>
          <a:prstGeom prst="rect">
            <a:avLst/>
          </a:prstGeom>
        </p:spPr>
        <p:txBody>
          <a:bodyPr lIns="0" tIns="0" rIns="0" bIns="0" rtlCol="0" anchor="t">
            <a:spAutoFit/>
          </a:bodyPr>
          <a:lstStyle/>
          <a:p>
            <a:pPr>
              <a:defRPr/>
            </a:pPr>
            <a:r>
              <a:rPr lang="fr-FR" sz="2000">
                <a:latin typeface="Arial"/>
                <a:ea typeface="Arial"/>
                <a:cs typeface="Arial"/>
              </a:rPr>
              <a:t>Exemple :</a:t>
            </a:r>
            <a:endParaRPr lang="fr-FR" sz="2000">
              <a:latin typeface="Arial"/>
              <a:ea typeface="Arial"/>
              <a:cs typeface="Arial"/>
            </a:endParaRPr>
          </a:p>
          <a:p>
            <a:pPr>
              <a:defRPr/>
            </a:pPr>
            <a:endParaRPr sz="2000">
              <a:latin typeface="Arial"/>
              <a:cs typeface="Arial"/>
            </a:endParaRPr>
          </a:p>
          <a:p>
            <a:pPr>
              <a:defRPr/>
            </a:pPr>
            <a:r>
              <a:rPr sz="2000" b="0" i="0" u="none">
                <a:solidFill>
                  <a:srgbClr val="569CD6"/>
                </a:solidFill>
                <a:latin typeface="Arial"/>
                <a:ea typeface="Arial"/>
                <a:cs typeface="Arial"/>
              </a:rPr>
              <a:t>class</a:t>
            </a:r>
            <a:r>
              <a:rPr sz="2000" b="0" i="0" u="none">
                <a:solidFill>
                  <a:srgbClr val="CCCCCC"/>
                </a:solidFill>
                <a:latin typeface="Arial"/>
                <a:ea typeface="Arial"/>
                <a:cs typeface="Arial"/>
              </a:rPr>
              <a:t> </a:t>
            </a:r>
            <a:r>
              <a:rPr sz="2000" b="0" i="0" u="none">
                <a:solidFill>
                  <a:srgbClr val="4EC9B0"/>
                </a:solidFill>
                <a:latin typeface="Arial"/>
                <a:ea typeface="Arial"/>
                <a:cs typeface="Arial"/>
              </a:rPr>
              <a:t>Test</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afficher</a:t>
            </a:r>
            <a:r>
              <a:rPr sz="2000" b="0" i="0" u="none">
                <a:solidFill>
                  <a:srgbClr val="CCCCCC"/>
                </a:solidFill>
                <a:latin typeface="Arial"/>
                <a:ea typeface="Arial"/>
                <a:cs typeface="Arial"/>
              </a:rPr>
              <a:t>(</a:t>
            </a:r>
            <a:r>
              <a:rPr sz="2000" b="0" i="0" u="none">
                <a:solidFill>
                  <a:srgbClr val="9CDCFE"/>
                </a:solidFill>
                <a:latin typeface="Arial"/>
                <a:ea typeface="Arial"/>
                <a:cs typeface="Arial"/>
              </a:rPr>
              <a:t>self</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DCDCAA"/>
                </a:solidFill>
                <a:latin typeface="Arial"/>
                <a:ea typeface="Arial"/>
                <a:cs typeface="Arial"/>
              </a:rPr>
              <a:t>print</a:t>
            </a:r>
            <a:r>
              <a:rPr sz="2000" b="0" i="0" u="none">
                <a:solidFill>
                  <a:srgbClr val="CCCCCC"/>
                </a:solidFill>
                <a:latin typeface="Arial"/>
                <a:ea typeface="Arial"/>
                <a:cs typeface="Arial"/>
              </a:rPr>
              <a:t>(</a:t>
            </a:r>
            <a:r>
              <a:rPr sz="2000" b="0" i="0" u="none">
                <a:solidFill>
                  <a:srgbClr val="CE9178"/>
                </a:solidFill>
                <a:latin typeface="Arial"/>
                <a:ea typeface="Arial"/>
                <a:cs typeface="Arial"/>
              </a:rPr>
              <a:t>"Une valeur :"</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a:t>
            </a:r>
            <a:br>
              <a:rPr sz="2000" b="0" i="0" u="none">
                <a:solidFill>
                  <a:srgbClr val="CCCCCC"/>
                </a:solidFill>
                <a:latin typeface="Arial"/>
                <a:ea typeface="Arial"/>
                <a:cs typeface="Arial"/>
              </a:rPr>
            </a:b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afficher</a:t>
            </a:r>
            <a:r>
              <a:rPr sz="2000" b="0" i="0" u="none">
                <a:solidFill>
                  <a:srgbClr val="CCCCCC"/>
                </a:solidFill>
                <a:latin typeface="Arial"/>
                <a:ea typeface="Arial"/>
                <a:cs typeface="Arial"/>
              </a:rPr>
              <a:t>(</a:t>
            </a:r>
            <a:r>
              <a:rPr sz="2000" b="0" i="0" u="none">
                <a:solidFill>
                  <a:srgbClr val="9CDCFE"/>
                </a:solidFill>
                <a:latin typeface="Arial"/>
                <a:ea typeface="Arial"/>
                <a:cs typeface="Arial"/>
              </a:rPr>
              <a:t>self</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 </a:t>
            </a:r>
            <a:r>
              <a:rPr sz="2000" b="0" i="0" u="none">
                <a:solidFill>
                  <a:srgbClr val="9CDCFE"/>
                </a:solidFill>
                <a:latin typeface="Arial"/>
                <a:ea typeface="Arial"/>
                <a:cs typeface="Arial"/>
              </a:rPr>
              <a:t>y</a:t>
            </a:r>
            <a:r>
              <a:rPr sz="2000" b="0" i="0" u="none">
                <a:solidFill>
                  <a:srgbClr val="CCCCCC"/>
                </a:solidFill>
                <a:latin typeface="Arial"/>
                <a:ea typeface="Arial"/>
                <a:cs typeface="Arial"/>
              </a:rPr>
              <a:t>):</a:t>
            </a:r>
            <a:r>
              <a:rPr lang="fr-FR" sz="2000" b="0" i="0" u="none">
                <a:solidFill>
                  <a:srgbClr val="CCCCCC"/>
                </a:solidFill>
                <a:latin typeface="Arial"/>
                <a:ea typeface="Arial"/>
                <a:cs typeface="Arial"/>
              </a:rPr>
              <a:t> </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DCDCAA"/>
                </a:solidFill>
                <a:latin typeface="Arial"/>
                <a:ea typeface="Arial"/>
                <a:cs typeface="Arial"/>
              </a:rPr>
              <a:t>print</a:t>
            </a:r>
            <a:r>
              <a:rPr sz="2000" b="0" i="0" u="none">
                <a:solidFill>
                  <a:srgbClr val="CCCCCC"/>
                </a:solidFill>
                <a:latin typeface="Arial"/>
                <a:ea typeface="Arial"/>
                <a:cs typeface="Arial"/>
              </a:rPr>
              <a:t>(</a:t>
            </a:r>
            <a:r>
              <a:rPr sz="2000" b="0" i="0" u="none">
                <a:solidFill>
                  <a:srgbClr val="CE9178"/>
                </a:solidFill>
                <a:latin typeface="Arial"/>
                <a:ea typeface="Arial"/>
                <a:cs typeface="Arial"/>
              </a:rPr>
              <a:t>"Deux valeurs :"</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 </a:t>
            </a:r>
            <a:r>
              <a:rPr sz="2000" b="0" i="0" u="none">
                <a:solidFill>
                  <a:srgbClr val="9CDCFE"/>
                </a:solidFill>
                <a:latin typeface="Arial"/>
                <a:ea typeface="Arial"/>
                <a:cs typeface="Arial"/>
              </a:rPr>
              <a:t>y</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9CDCFE"/>
                </a:solidFill>
                <a:latin typeface="Arial"/>
                <a:ea typeface="Arial"/>
                <a:cs typeface="Arial"/>
              </a:rPr>
              <a:t>t</a:t>
            </a:r>
            <a:r>
              <a:rPr sz="2000" b="0" i="0" u="none">
                <a:solidFill>
                  <a:srgbClr val="CCCCCC"/>
                </a:solidFill>
                <a:latin typeface="Arial"/>
                <a:ea typeface="Arial"/>
                <a:cs typeface="Arial"/>
              </a:rPr>
              <a:t> </a:t>
            </a:r>
            <a:r>
              <a:rPr sz="2000" b="0" i="0" u="none">
                <a:solidFill>
                  <a:srgbClr val="D4D4D4"/>
                </a:solidFill>
                <a:latin typeface="Arial"/>
                <a:ea typeface="Arial"/>
                <a:cs typeface="Arial"/>
              </a:rPr>
              <a:t>=</a:t>
            </a:r>
            <a:r>
              <a:rPr sz="2000" b="0" i="0" u="none">
                <a:solidFill>
                  <a:srgbClr val="CCCCCC"/>
                </a:solidFill>
                <a:latin typeface="Arial"/>
                <a:ea typeface="Arial"/>
                <a:cs typeface="Arial"/>
              </a:rPr>
              <a:t> </a:t>
            </a:r>
            <a:r>
              <a:rPr sz="2000" b="0" i="0" u="none">
                <a:solidFill>
                  <a:srgbClr val="4EC9B0"/>
                </a:solidFill>
                <a:latin typeface="Arial"/>
                <a:ea typeface="Arial"/>
                <a:cs typeface="Arial"/>
              </a:rPr>
              <a:t>Test</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9CDCFE"/>
                </a:solidFill>
                <a:latin typeface="Arial"/>
                <a:ea typeface="Arial"/>
                <a:cs typeface="Arial"/>
              </a:rPr>
              <a:t>t</a:t>
            </a:r>
            <a:r>
              <a:rPr sz="2000" b="0" i="0" u="none">
                <a:solidFill>
                  <a:srgbClr val="CCCCCC"/>
                </a:solidFill>
                <a:latin typeface="Arial"/>
                <a:ea typeface="Arial"/>
                <a:cs typeface="Arial"/>
              </a:rPr>
              <a:t>.</a:t>
            </a:r>
            <a:r>
              <a:rPr sz="2000" b="0" i="0" u="none">
                <a:solidFill>
                  <a:srgbClr val="DCDCAA"/>
                </a:solidFill>
                <a:latin typeface="Arial"/>
                <a:ea typeface="Arial"/>
                <a:cs typeface="Arial"/>
              </a:rPr>
              <a:t>afficher</a:t>
            </a:r>
            <a:r>
              <a:rPr sz="2000" b="0" i="0" u="none">
                <a:solidFill>
                  <a:srgbClr val="CCCCCC"/>
                </a:solidFill>
                <a:latin typeface="Arial"/>
                <a:ea typeface="Arial"/>
                <a:cs typeface="Arial"/>
              </a:rPr>
              <a:t>(</a:t>
            </a:r>
            <a:r>
              <a:rPr sz="2000" b="0" i="0" u="none">
                <a:solidFill>
                  <a:srgbClr val="B5CEA8"/>
                </a:solidFill>
                <a:latin typeface="Arial"/>
                <a:ea typeface="Arial"/>
                <a:cs typeface="Arial"/>
              </a:rPr>
              <a:t>10</a:t>
            </a:r>
            <a:r>
              <a:rPr sz="2000" b="0" i="0" u="none">
                <a:solidFill>
                  <a:srgbClr val="CCCCCC"/>
                </a:solidFill>
                <a:latin typeface="Arial"/>
                <a:ea typeface="Arial"/>
                <a:cs typeface="Arial"/>
              </a:rPr>
              <a:t>)</a:t>
            </a:r>
            <a:br>
              <a:rPr sz="2000" b="0" i="0" u="none">
                <a:solidFill>
                  <a:srgbClr val="CCCCCC"/>
                </a:solidFill>
                <a:latin typeface="Arial"/>
                <a:ea typeface="Arial"/>
                <a:cs typeface="Arial"/>
              </a:rPr>
            </a:br>
            <a:endParaRPr sz="2000">
              <a:latin typeface="Arial"/>
              <a:cs typeface="Arial"/>
            </a:endParaRPr>
          </a:p>
        </p:txBody>
      </p:sp>
      <p:sp>
        <p:nvSpPr>
          <p:cNvPr id="770253532" name="TextBox 5"/>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314556815" name=""/>
          <p:cNvSpPr txBox="1"/>
          <p:nvPr/>
        </p:nvSpPr>
        <p:spPr bwMode="auto">
          <a:xfrm rot="0" flipH="0" flipV="0">
            <a:off x="1589531" y="6409530"/>
            <a:ext cx="11447924" cy="7013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000" b="0" i="0" u="none">
                <a:solidFill>
                  <a:srgbClr val="000000"/>
                </a:solidFill>
                <a:latin typeface="Arial"/>
                <a:ea typeface="Arial"/>
                <a:cs typeface="Arial"/>
              </a:rPr>
              <a:t>Cet exemple montre que </a:t>
            </a:r>
            <a:r>
              <a:rPr sz="2000" b="1" i="0" u="none">
                <a:solidFill>
                  <a:srgbClr val="000000"/>
                </a:solidFill>
                <a:latin typeface="Arial"/>
                <a:ea typeface="Arial"/>
                <a:cs typeface="Arial"/>
              </a:rPr>
              <a:t>Python ne supporte pas la surcharge de méthode comme Java ou C#</a:t>
            </a:r>
            <a:r>
              <a:rPr sz="2000" b="0" i="0" u="none">
                <a:solidFill>
                  <a:srgbClr val="000000"/>
                </a:solidFill>
                <a:latin typeface="Arial"/>
                <a:ea typeface="Arial"/>
                <a:cs typeface="Arial"/>
              </a:rPr>
              <a:t>.</a:t>
            </a:r>
            <a:br>
              <a:rPr sz="2000" b="0" i="0" u="none">
                <a:solidFill>
                  <a:srgbClr val="000000"/>
                </a:solidFill>
                <a:latin typeface="Arial"/>
                <a:ea typeface="Arial"/>
                <a:cs typeface="Arial"/>
              </a:rPr>
            </a:br>
            <a:r>
              <a:rPr sz="2000" b="0" i="0" u="none">
                <a:solidFill>
                  <a:srgbClr val="000000"/>
                </a:solidFill>
                <a:latin typeface="Arial"/>
                <a:ea typeface="Arial"/>
                <a:cs typeface="Arial"/>
              </a:rPr>
              <a:t>Pour obtenir un comportement similaire, il faut utiliser des paramètres optionnels ou </a:t>
            </a:r>
            <a:r>
              <a:rPr sz="2000" b="0" i="0" u="none">
                <a:solidFill>
                  <a:srgbClr val="000000"/>
                </a:solidFill>
                <a:latin typeface="Arial"/>
                <a:ea typeface="Arial"/>
                <a:cs typeface="Arial"/>
              </a:rPr>
              <a:t>*args</a:t>
            </a:r>
            <a:endParaRPr sz="20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7128407" name=""/>
          <p:cNvSpPr txBox="1"/>
          <p:nvPr/>
        </p:nvSpPr>
        <p:spPr bwMode="auto">
          <a:xfrm rot="0" flipH="0" flipV="0">
            <a:off x="2641249" y="1964531"/>
            <a:ext cx="7561187"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000000"/>
                </a:solidFill>
                <a:latin typeface="Arial"/>
                <a:ea typeface="Arial"/>
                <a:cs typeface="Arial"/>
              </a:rPr>
              <a:t>Exemple avec </a:t>
            </a:r>
            <a:r>
              <a:rPr sz="2000" b="1" i="0" u="none">
                <a:solidFill>
                  <a:srgbClr val="000000"/>
                </a:solidFill>
                <a:latin typeface="Arial"/>
                <a:ea typeface="Arial"/>
                <a:cs typeface="Arial"/>
              </a:rPr>
              <a:t>paramètres optionnels</a:t>
            </a:r>
            <a:endParaRPr sz="2000">
              <a:latin typeface="Arial"/>
              <a:cs typeface="Arial"/>
            </a:endParaRPr>
          </a:p>
        </p:txBody>
      </p:sp>
      <p:sp>
        <p:nvSpPr>
          <p:cNvPr id="559398444" name=""/>
          <p:cNvSpPr txBox="1"/>
          <p:nvPr/>
        </p:nvSpPr>
        <p:spPr bwMode="auto">
          <a:xfrm rot="0" flipH="0" flipV="0">
            <a:off x="2482499" y="3075780"/>
            <a:ext cx="11074972" cy="3444598"/>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569CD6"/>
                </a:solidFill>
                <a:latin typeface="Arial"/>
                <a:ea typeface="Arial"/>
                <a:cs typeface="Arial"/>
              </a:rPr>
              <a:t>class</a:t>
            </a:r>
            <a:r>
              <a:rPr sz="2000" b="0" i="0" u="none">
                <a:solidFill>
                  <a:srgbClr val="CCCCCC"/>
                </a:solidFill>
                <a:latin typeface="Arial"/>
                <a:ea typeface="Arial"/>
                <a:cs typeface="Arial"/>
              </a:rPr>
              <a:t> </a:t>
            </a:r>
            <a:r>
              <a:rPr sz="2000" b="0" i="0" u="none">
                <a:solidFill>
                  <a:srgbClr val="4EC9B0"/>
                </a:solidFill>
                <a:latin typeface="Arial"/>
                <a:ea typeface="Arial"/>
                <a:cs typeface="Arial"/>
              </a:rPr>
              <a:t>Test</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afficher</a:t>
            </a:r>
            <a:r>
              <a:rPr sz="2000" b="0" i="0" u="none">
                <a:solidFill>
                  <a:srgbClr val="CCCCCC"/>
                </a:solidFill>
                <a:latin typeface="Arial"/>
                <a:ea typeface="Arial"/>
                <a:cs typeface="Arial"/>
              </a:rPr>
              <a:t>(</a:t>
            </a:r>
            <a:r>
              <a:rPr sz="2000" b="0" i="0" u="none">
                <a:solidFill>
                  <a:srgbClr val="9CDCFE"/>
                </a:solidFill>
                <a:latin typeface="Arial"/>
                <a:ea typeface="Arial"/>
                <a:cs typeface="Arial"/>
              </a:rPr>
              <a:t>self</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 </a:t>
            </a:r>
            <a:r>
              <a:rPr sz="2000" b="0" i="0" u="none">
                <a:solidFill>
                  <a:srgbClr val="9CDCFE"/>
                </a:solidFill>
                <a:latin typeface="Arial"/>
                <a:ea typeface="Arial"/>
                <a:cs typeface="Arial"/>
              </a:rPr>
              <a:t>y</a:t>
            </a:r>
            <a:r>
              <a:rPr sz="2000" b="0" i="0" u="none">
                <a:solidFill>
                  <a:srgbClr val="D4D4D4"/>
                </a:solidFill>
                <a:latin typeface="Arial"/>
                <a:ea typeface="Arial"/>
                <a:cs typeface="Arial"/>
              </a:rPr>
              <a:t>=</a:t>
            </a:r>
            <a:r>
              <a:rPr sz="2000" b="0" i="0" u="none">
                <a:solidFill>
                  <a:srgbClr val="569CD6"/>
                </a:solidFill>
                <a:latin typeface="Arial"/>
                <a:ea typeface="Arial"/>
                <a:cs typeface="Arial"/>
              </a:rPr>
              <a:t>None</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CE92A4"/>
                </a:solidFill>
                <a:latin typeface="Arial"/>
                <a:ea typeface="Arial"/>
                <a:cs typeface="Arial"/>
              </a:rPr>
              <a:t>if</a:t>
            </a:r>
            <a:r>
              <a:rPr sz="2000" b="0" i="0" u="none">
                <a:solidFill>
                  <a:srgbClr val="CCCCCC"/>
                </a:solidFill>
                <a:latin typeface="Arial"/>
                <a:ea typeface="Arial"/>
                <a:cs typeface="Arial"/>
              </a:rPr>
              <a:t> </a:t>
            </a:r>
            <a:r>
              <a:rPr sz="2000" b="0" i="0" u="none">
                <a:solidFill>
                  <a:srgbClr val="9CDCFE"/>
                </a:solidFill>
                <a:latin typeface="Arial"/>
                <a:ea typeface="Arial"/>
                <a:cs typeface="Arial"/>
              </a:rPr>
              <a:t>y</a:t>
            </a:r>
            <a:r>
              <a:rPr sz="2000" b="0" i="0" u="none">
                <a:solidFill>
                  <a:srgbClr val="CCCCCC"/>
                </a:solidFill>
                <a:latin typeface="Arial"/>
                <a:ea typeface="Arial"/>
                <a:cs typeface="Arial"/>
              </a:rPr>
              <a:t> </a:t>
            </a:r>
            <a:r>
              <a:rPr sz="2000" b="0" i="0" u="none">
                <a:solidFill>
                  <a:srgbClr val="569CD6"/>
                </a:solidFill>
                <a:latin typeface="Arial"/>
                <a:ea typeface="Arial"/>
                <a:cs typeface="Arial"/>
              </a:rPr>
              <a:t>is</a:t>
            </a:r>
            <a:r>
              <a:rPr sz="2000" b="0" i="0" u="none">
                <a:solidFill>
                  <a:srgbClr val="CCCCCC"/>
                </a:solidFill>
                <a:latin typeface="Arial"/>
                <a:ea typeface="Arial"/>
                <a:cs typeface="Arial"/>
              </a:rPr>
              <a:t> </a:t>
            </a:r>
            <a:r>
              <a:rPr sz="2000" b="0" i="0" u="none">
                <a:solidFill>
                  <a:srgbClr val="569CD6"/>
                </a:solidFill>
                <a:latin typeface="Arial"/>
                <a:ea typeface="Arial"/>
                <a:cs typeface="Arial"/>
              </a:rPr>
              <a:t>None</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DCDCAA"/>
                </a:solidFill>
                <a:latin typeface="Arial"/>
                <a:ea typeface="Arial"/>
                <a:cs typeface="Arial"/>
              </a:rPr>
              <a:t>print</a:t>
            </a:r>
            <a:r>
              <a:rPr sz="2000" b="0" i="0" u="none">
                <a:solidFill>
                  <a:srgbClr val="CCCCCC"/>
                </a:solidFill>
                <a:latin typeface="Arial"/>
                <a:ea typeface="Arial"/>
                <a:cs typeface="Arial"/>
              </a:rPr>
              <a:t>(</a:t>
            </a:r>
            <a:r>
              <a:rPr sz="2000" b="0" i="0" u="none">
                <a:solidFill>
                  <a:srgbClr val="CE9178"/>
                </a:solidFill>
                <a:latin typeface="Arial"/>
                <a:ea typeface="Arial"/>
                <a:cs typeface="Arial"/>
              </a:rPr>
              <a:t>"Une valeur :"</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CE92A4"/>
                </a:solidFill>
                <a:latin typeface="Arial"/>
                <a:ea typeface="Arial"/>
                <a:cs typeface="Arial"/>
              </a:rPr>
              <a:t>else</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DCDCAA"/>
                </a:solidFill>
                <a:latin typeface="Arial"/>
                <a:ea typeface="Arial"/>
                <a:cs typeface="Arial"/>
              </a:rPr>
              <a:t>print</a:t>
            </a:r>
            <a:r>
              <a:rPr sz="2000" b="0" i="0" u="none">
                <a:solidFill>
                  <a:srgbClr val="CCCCCC"/>
                </a:solidFill>
                <a:latin typeface="Arial"/>
                <a:ea typeface="Arial"/>
                <a:cs typeface="Arial"/>
              </a:rPr>
              <a:t>(</a:t>
            </a:r>
            <a:r>
              <a:rPr sz="2000" b="0" i="0" u="none">
                <a:solidFill>
                  <a:srgbClr val="CE9178"/>
                </a:solidFill>
                <a:latin typeface="Arial"/>
                <a:ea typeface="Arial"/>
                <a:cs typeface="Arial"/>
              </a:rPr>
              <a:t>"Deux valeurs :"</a:t>
            </a:r>
            <a:r>
              <a:rPr sz="2000" b="0" i="0" u="none">
                <a:solidFill>
                  <a:srgbClr val="CCCCCC"/>
                </a:solidFill>
                <a:latin typeface="Arial"/>
                <a:ea typeface="Arial"/>
                <a:cs typeface="Arial"/>
              </a:rPr>
              <a:t>, </a:t>
            </a:r>
            <a:r>
              <a:rPr sz="2000" b="0" i="0" u="none">
                <a:solidFill>
                  <a:srgbClr val="9CDCFE"/>
                </a:solidFill>
                <a:latin typeface="Arial"/>
                <a:ea typeface="Arial"/>
                <a:cs typeface="Arial"/>
              </a:rPr>
              <a:t>x</a:t>
            </a:r>
            <a:r>
              <a:rPr sz="2000" b="0" i="0" u="none">
                <a:solidFill>
                  <a:srgbClr val="CCCCCC"/>
                </a:solidFill>
                <a:latin typeface="Arial"/>
                <a:ea typeface="Arial"/>
                <a:cs typeface="Arial"/>
              </a:rPr>
              <a:t>, </a:t>
            </a:r>
            <a:r>
              <a:rPr sz="2000" b="0" i="0" u="none">
                <a:solidFill>
                  <a:srgbClr val="9CDCFE"/>
                </a:solidFill>
                <a:latin typeface="Arial"/>
                <a:ea typeface="Arial"/>
                <a:cs typeface="Arial"/>
              </a:rPr>
              <a:t>y</a:t>
            </a:r>
            <a:r>
              <a:rPr sz="2000" b="0" i="0" u="none">
                <a:solidFill>
                  <a:srgbClr val="CCCCCC"/>
                </a:solidFill>
                <a:latin typeface="Arial"/>
                <a:ea typeface="Arial"/>
                <a:cs typeface="Arial"/>
              </a:rPr>
              <a:t>)</a:t>
            </a:r>
            <a:br>
              <a:rPr sz="2000" b="0" i="0" u="none">
                <a:solidFill>
                  <a:srgbClr val="CCCCCC"/>
                </a:solidFill>
                <a:latin typeface="Arial"/>
                <a:ea typeface="Arial"/>
                <a:cs typeface="Arial"/>
              </a:rPr>
            </a:br>
            <a:endParaRPr sz="2000">
              <a:latin typeface="Arial"/>
              <a:cs typeface="Arial"/>
            </a:endParaRPr>
          </a:p>
          <a:p>
            <a:pPr>
              <a:defRPr/>
            </a:pPr>
            <a:r>
              <a:rPr sz="2000" b="0" i="0" u="none">
                <a:solidFill>
                  <a:srgbClr val="9CDCFE"/>
                </a:solidFill>
                <a:latin typeface="Arial"/>
                <a:ea typeface="Arial"/>
                <a:cs typeface="Arial"/>
              </a:rPr>
              <a:t>t</a:t>
            </a:r>
            <a:r>
              <a:rPr sz="2000" b="0" i="0" u="none">
                <a:solidFill>
                  <a:srgbClr val="CCCCCC"/>
                </a:solidFill>
                <a:latin typeface="Arial"/>
                <a:ea typeface="Arial"/>
                <a:cs typeface="Arial"/>
              </a:rPr>
              <a:t> </a:t>
            </a:r>
            <a:r>
              <a:rPr sz="2000" b="0" i="0" u="none">
                <a:solidFill>
                  <a:srgbClr val="D4D4D4"/>
                </a:solidFill>
                <a:latin typeface="Arial"/>
                <a:ea typeface="Arial"/>
                <a:cs typeface="Arial"/>
              </a:rPr>
              <a:t>=</a:t>
            </a:r>
            <a:r>
              <a:rPr sz="2000" b="0" i="0" u="none">
                <a:solidFill>
                  <a:srgbClr val="CCCCCC"/>
                </a:solidFill>
                <a:latin typeface="Arial"/>
                <a:ea typeface="Arial"/>
                <a:cs typeface="Arial"/>
              </a:rPr>
              <a:t> </a:t>
            </a:r>
            <a:r>
              <a:rPr sz="2000" b="0" i="0" u="none">
                <a:solidFill>
                  <a:srgbClr val="4EC9B0"/>
                </a:solidFill>
                <a:latin typeface="Arial"/>
                <a:ea typeface="Arial"/>
                <a:cs typeface="Arial"/>
              </a:rPr>
              <a:t>Test</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9CDCFE"/>
                </a:solidFill>
                <a:latin typeface="Arial"/>
                <a:ea typeface="Arial"/>
                <a:cs typeface="Arial"/>
              </a:rPr>
              <a:t>t</a:t>
            </a:r>
            <a:r>
              <a:rPr sz="2000" b="0" i="0" u="none">
                <a:solidFill>
                  <a:srgbClr val="CCCCCC"/>
                </a:solidFill>
                <a:latin typeface="Arial"/>
                <a:ea typeface="Arial"/>
                <a:cs typeface="Arial"/>
              </a:rPr>
              <a:t>.</a:t>
            </a:r>
            <a:r>
              <a:rPr sz="2000" b="0" i="0" u="none">
                <a:solidFill>
                  <a:srgbClr val="DCDCAA"/>
                </a:solidFill>
                <a:latin typeface="Arial"/>
                <a:ea typeface="Arial"/>
                <a:cs typeface="Arial"/>
              </a:rPr>
              <a:t>afficher</a:t>
            </a:r>
            <a:r>
              <a:rPr sz="2000" b="0" i="0" u="none">
                <a:solidFill>
                  <a:srgbClr val="CCCCCC"/>
                </a:solidFill>
                <a:latin typeface="Arial"/>
                <a:ea typeface="Arial"/>
                <a:cs typeface="Arial"/>
              </a:rPr>
              <a:t>(</a:t>
            </a:r>
            <a:r>
              <a:rPr sz="2000" b="0" i="0" u="none">
                <a:solidFill>
                  <a:srgbClr val="B5CEA8"/>
                </a:solidFill>
                <a:latin typeface="Arial"/>
                <a:ea typeface="Arial"/>
                <a:cs typeface="Arial"/>
              </a:rPr>
              <a:t>10</a:t>
            </a:r>
            <a:r>
              <a:rPr sz="2000" b="0" i="0" u="none">
                <a:solidFill>
                  <a:srgbClr val="CCCCCC"/>
                </a:solidFill>
                <a:latin typeface="Arial"/>
                <a:ea typeface="Arial"/>
                <a:cs typeface="Arial"/>
              </a:rPr>
              <a:t>)        </a:t>
            </a:r>
            <a:r>
              <a:rPr sz="2000" b="0" i="0" u="none">
                <a:solidFill>
                  <a:srgbClr val="6A9955"/>
                </a:solidFill>
                <a:latin typeface="Arial"/>
                <a:ea typeface="Arial"/>
                <a:cs typeface="Arial"/>
              </a:rPr>
              <a:t># Appel avec un seul paramètre</a:t>
            </a:r>
            <a:endParaRPr sz="2000">
              <a:latin typeface="Arial"/>
              <a:cs typeface="Arial"/>
            </a:endParaRPr>
          </a:p>
          <a:p>
            <a:pPr>
              <a:defRPr/>
            </a:pPr>
            <a:r>
              <a:rPr sz="2000" b="0" i="0" u="none">
                <a:solidFill>
                  <a:srgbClr val="9CDCFE"/>
                </a:solidFill>
                <a:latin typeface="Arial"/>
                <a:ea typeface="Arial"/>
                <a:cs typeface="Arial"/>
              </a:rPr>
              <a:t>t</a:t>
            </a:r>
            <a:r>
              <a:rPr sz="2000" b="0" i="0" u="none">
                <a:solidFill>
                  <a:srgbClr val="CCCCCC"/>
                </a:solidFill>
                <a:latin typeface="Arial"/>
                <a:ea typeface="Arial"/>
                <a:cs typeface="Arial"/>
              </a:rPr>
              <a:t>.</a:t>
            </a:r>
            <a:r>
              <a:rPr sz="2000" b="0" i="0" u="none">
                <a:solidFill>
                  <a:srgbClr val="DCDCAA"/>
                </a:solidFill>
                <a:latin typeface="Arial"/>
                <a:ea typeface="Arial"/>
                <a:cs typeface="Arial"/>
              </a:rPr>
              <a:t>afficher</a:t>
            </a:r>
            <a:r>
              <a:rPr sz="2000" b="0" i="0" u="none">
                <a:solidFill>
                  <a:srgbClr val="CCCCCC"/>
                </a:solidFill>
                <a:latin typeface="Arial"/>
                <a:ea typeface="Arial"/>
                <a:cs typeface="Arial"/>
              </a:rPr>
              <a:t>(</a:t>
            </a:r>
            <a:r>
              <a:rPr sz="2000" b="0" i="0" u="none">
                <a:solidFill>
                  <a:srgbClr val="B5CEA8"/>
                </a:solidFill>
                <a:latin typeface="Arial"/>
                <a:ea typeface="Arial"/>
                <a:cs typeface="Arial"/>
              </a:rPr>
              <a:t>10</a:t>
            </a:r>
            <a:r>
              <a:rPr sz="2000" b="0" i="0" u="none">
                <a:solidFill>
                  <a:srgbClr val="CCCCCC"/>
                </a:solidFill>
                <a:latin typeface="Arial"/>
                <a:ea typeface="Arial"/>
                <a:cs typeface="Arial"/>
              </a:rPr>
              <a:t>, </a:t>
            </a:r>
            <a:r>
              <a:rPr sz="2000" b="0" i="0" u="none">
                <a:solidFill>
                  <a:srgbClr val="B5CEA8"/>
                </a:solidFill>
                <a:latin typeface="Arial"/>
                <a:ea typeface="Arial"/>
                <a:cs typeface="Arial"/>
              </a:rPr>
              <a:t>20</a:t>
            </a:r>
            <a:r>
              <a:rPr sz="2000" b="0" i="0" u="none">
                <a:solidFill>
                  <a:srgbClr val="CCCCCC"/>
                </a:solidFill>
                <a:latin typeface="Arial"/>
                <a:ea typeface="Arial"/>
                <a:cs typeface="Arial"/>
              </a:rPr>
              <a:t>)    </a:t>
            </a:r>
            <a:r>
              <a:rPr sz="2000" b="0" i="0" u="none">
                <a:solidFill>
                  <a:srgbClr val="6A9955"/>
                </a:solidFill>
                <a:latin typeface="Arial"/>
                <a:ea typeface="Arial"/>
                <a:cs typeface="Arial"/>
              </a:rPr>
              <a:t># Appel avec deux paramètres</a:t>
            </a:r>
            <a:br>
              <a:rPr sz="2000" b="0" i="0" u="none">
                <a:solidFill>
                  <a:srgbClr val="6A9955"/>
                </a:solidFill>
                <a:latin typeface="Arial"/>
                <a:ea typeface="Arial"/>
                <a:cs typeface="Arial"/>
              </a:rPr>
            </a:br>
            <a:endParaRPr sz="2000">
              <a:latin typeface="Arial"/>
              <a:cs typeface="Arial"/>
            </a:endParaRPr>
          </a:p>
        </p:txBody>
      </p:sp>
      <p:sp>
        <p:nvSpPr>
          <p:cNvPr id="1062597974" name=""/>
          <p:cNvSpPr txBox="1"/>
          <p:nvPr/>
        </p:nvSpPr>
        <p:spPr bwMode="auto">
          <a:xfrm rot="0" flipH="0" flipV="0">
            <a:off x="2522187" y="7104062"/>
            <a:ext cx="8594010" cy="1006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marL="305908" indent="-305908">
              <a:buFont typeface="Arial"/>
              <a:buChar char="•"/>
              <a:defRPr/>
            </a:pPr>
            <a:r>
              <a:rPr sz="2000" b="0" i="0" u="none">
                <a:solidFill>
                  <a:srgbClr val="000000"/>
                </a:solidFill>
                <a:latin typeface="Arial"/>
                <a:ea typeface="Arial"/>
                <a:cs typeface="Arial"/>
              </a:rPr>
              <a:t>y=None</a:t>
            </a:r>
            <a:r>
              <a:rPr sz="2000" b="0" i="0" u="none">
                <a:solidFill>
                  <a:srgbClr val="000000"/>
                </a:solidFill>
                <a:latin typeface="Arial"/>
                <a:ea typeface="Arial"/>
                <a:cs typeface="Arial"/>
              </a:rPr>
              <a:t> fait de </a:t>
            </a:r>
            <a:r>
              <a:rPr sz="2000" b="0" i="0" u="none">
                <a:solidFill>
                  <a:srgbClr val="000000"/>
                </a:solidFill>
                <a:latin typeface="Arial"/>
                <a:ea typeface="Arial"/>
                <a:cs typeface="Arial"/>
              </a:rPr>
              <a:t>y</a:t>
            </a:r>
            <a:r>
              <a:rPr sz="2000" b="0" i="0" u="none">
                <a:solidFill>
                  <a:srgbClr val="000000"/>
                </a:solidFill>
                <a:latin typeface="Arial"/>
                <a:ea typeface="Arial"/>
                <a:cs typeface="Arial"/>
              </a:rPr>
              <a:t> un </a:t>
            </a:r>
            <a:r>
              <a:rPr sz="2000" b="1" i="0" u="none">
                <a:solidFill>
                  <a:srgbClr val="000000"/>
                </a:solidFill>
                <a:latin typeface="Arial"/>
                <a:ea typeface="Arial"/>
                <a:cs typeface="Arial"/>
              </a:rPr>
              <a:t>paramètre optionnel</a:t>
            </a:r>
            <a:r>
              <a:rPr sz="2000" b="0" i="0" u="none">
                <a:solidFill>
                  <a:srgbClr val="000000"/>
                </a:solidFill>
                <a:latin typeface="Arial"/>
                <a:ea typeface="Arial"/>
                <a:cs typeface="Arial"/>
              </a:rPr>
              <a:t>.</a:t>
            </a:r>
            <a:endParaRPr sz="2000">
              <a:latin typeface="Arial"/>
              <a:cs typeface="Arial"/>
            </a:endParaRPr>
          </a:p>
          <a:p>
            <a:pPr marL="305908" indent="-305908">
              <a:buFont typeface="Arial"/>
              <a:buChar char="•"/>
              <a:defRPr/>
            </a:pPr>
            <a:r>
              <a:rPr sz="2000" b="0" i="0" u="none">
                <a:solidFill>
                  <a:srgbClr val="000000"/>
                </a:solidFill>
                <a:latin typeface="Arial"/>
                <a:ea typeface="Arial"/>
                <a:cs typeface="Arial"/>
              </a:rPr>
              <a:t>Si l’utilisateur ne donne qu’un seul argument → </a:t>
            </a:r>
            <a:r>
              <a:rPr sz="2000" b="0" i="0" u="none">
                <a:solidFill>
                  <a:srgbClr val="000000"/>
                </a:solidFill>
                <a:latin typeface="Arial"/>
                <a:ea typeface="Arial"/>
                <a:cs typeface="Arial"/>
              </a:rPr>
              <a:t>y</a:t>
            </a:r>
            <a:r>
              <a:rPr sz="2000" b="0" i="0" u="none">
                <a:solidFill>
                  <a:srgbClr val="000000"/>
                </a:solidFill>
                <a:latin typeface="Arial"/>
                <a:ea typeface="Arial"/>
                <a:cs typeface="Arial"/>
              </a:rPr>
              <a:t> prend la valeur </a:t>
            </a:r>
            <a:r>
              <a:rPr sz="2000" b="0" i="0" u="none">
                <a:solidFill>
                  <a:srgbClr val="000000"/>
                </a:solidFill>
                <a:latin typeface="Arial"/>
                <a:ea typeface="Arial"/>
                <a:cs typeface="Arial"/>
              </a:rPr>
              <a:t>None</a:t>
            </a:r>
            <a:r>
              <a:rPr sz="2000" b="0" i="0" u="none">
                <a:solidFill>
                  <a:srgbClr val="000000"/>
                </a:solidFill>
                <a:latin typeface="Arial"/>
                <a:ea typeface="Arial"/>
                <a:cs typeface="Arial"/>
              </a:rPr>
              <a:t>.</a:t>
            </a:r>
            <a:endParaRPr sz="2000">
              <a:latin typeface="Arial"/>
              <a:cs typeface="Arial"/>
            </a:endParaRPr>
          </a:p>
          <a:p>
            <a:pPr marL="305908" indent="-305908">
              <a:buFont typeface="Arial"/>
              <a:buChar char="•"/>
              <a:defRPr/>
            </a:pPr>
            <a:r>
              <a:rPr sz="2000" b="0" i="0" u="none">
                <a:solidFill>
                  <a:srgbClr val="000000"/>
                </a:solidFill>
                <a:latin typeface="Arial"/>
                <a:ea typeface="Arial"/>
                <a:cs typeface="Arial"/>
              </a:rPr>
              <a:t>Tu peux alors décider du comportement selon que </a:t>
            </a:r>
            <a:r>
              <a:rPr sz="2000" b="0" i="0" u="none">
                <a:solidFill>
                  <a:srgbClr val="000000"/>
                </a:solidFill>
                <a:latin typeface="Arial"/>
                <a:ea typeface="Arial"/>
                <a:cs typeface="Arial"/>
              </a:rPr>
              <a:t>y</a:t>
            </a:r>
            <a:r>
              <a:rPr sz="2000" b="0" i="0" u="none">
                <a:solidFill>
                  <a:srgbClr val="000000"/>
                </a:solidFill>
                <a:latin typeface="Arial"/>
                <a:ea typeface="Arial"/>
                <a:cs typeface="Arial"/>
              </a:rPr>
              <a:t> est présent ou non.</a:t>
            </a:r>
            <a:endParaRPr sz="20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6365439" name="TextBox 2"/>
          <p:cNvSpPr txBox="1"/>
          <p:nvPr/>
        </p:nvSpPr>
        <p:spPr bwMode="auto">
          <a:xfrm rot="0" flipH="0" flipV="0">
            <a:off x="1532850" y="573276"/>
            <a:ext cx="4482556" cy="309731"/>
          </a:xfrm>
          <a:prstGeom prst="rect">
            <a:avLst/>
          </a:prstGeom>
        </p:spPr>
        <p:txBody>
          <a:bodyPr lIns="0" tIns="0" rIns="0" bIns="0" rtlCol="0" anchor="t">
            <a:spAutoFit/>
          </a:bodyPr>
          <a:lstStyle/>
          <a:p>
            <a:pPr algn="l">
              <a:lnSpc>
                <a:spcPts val="2436"/>
              </a:lnSpc>
              <a:defRPr/>
            </a:pPr>
            <a:r>
              <a:rPr lang="en-US" sz="1950" b="1">
                <a:solidFill>
                  <a:srgbClr val="2E3C4E"/>
                </a:solidFill>
                <a:latin typeface="Barlow Bold"/>
                <a:ea typeface="Barlow Bold"/>
                <a:cs typeface="Barlow Bold"/>
              </a:rPr>
              <a:t>Polymorphisme</a:t>
            </a:r>
            <a:endParaRPr/>
          </a:p>
        </p:txBody>
      </p:sp>
      <p:sp>
        <p:nvSpPr>
          <p:cNvPr id="91728693" name="TextBox 3"/>
          <p:cNvSpPr txBox="1"/>
          <p:nvPr/>
        </p:nvSpPr>
        <p:spPr bwMode="auto">
          <a:xfrm rot="0">
            <a:off x="1532851" y="1102212"/>
            <a:ext cx="13439789" cy="908182"/>
          </a:xfrm>
          <a:prstGeom prst="rect">
            <a:avLst/>
          </a:prstGeom>
        </p:spPr>
        <p:txBody>
          <a:bodyPr lIns="0" tIns="0" rIns="0" bIns="0" rtlCol="0" anchor="t">
            <a:spAutoFit/>
          </a:bodyPr>
          <a:lstStyle/>
          <a:p>
            <a:pPr algn="l">
              <a:lnSpc>
                <a:spcPts val="2759"/>
              </a:lnSpc>
              <a:defRPr/>
            </a:pPr>
            <a:r>
              <a:rPr lang="en-US" sz="2000">
                <a:solidFill>
                  <a:srgbClr val="000000"/>
                </a:solidFill>
                <a:latin typeface="Arial"/>
                <a:ea typeface="Arial"/>
                <a:cs typeface="Arial"/>
              </a:rPr>
              <a:t>Il désigne la capacité d’un même nom de méthode ou d’objet à se comporter différemment selon le contexte.</a:t>
            </a:r>
            <a:endParaRPr/>
          </a:p>
        </p:txBody>
      </p:sp>
      <p:sp>
        <p:nvSpPr>
          <p:cNvPr id="61314077" name="TextBox 4"/>
          <p:cNvSpPr txBox="1"/>
          <p:nvPr/>
        </p:nvSpPr>
        <p:spPr bwMode="auto">
          <a:xfrm rot="0">
            <a:off x="1831592" y="1732718"/>
            <a:ext cx="11850713" cy="7620359"/>
          </a:xfrm>
          <a:prstGeom prst="rect">
            <a:avLst/>
          </a:prstGeom>
        </p:spPr>
        <p:txBody>
          <a:bodyPr lIns="0" tIns="0" rIns="0" bIns="0" rtlCol="0" anchor="t">
            <a:spAutoFit/>
          </a:bodyPr>
          <a:lstStyle/>
          <a:p>
            <a:pPr algn="l">
              <a:lnSpc>
                <a:spcPts val="2400"/>
              </a:lnSpc>
              <a:defRPr/>
            </a:pPr>
            <a:endParaRPr/>
          </a:p>
          <a:p>
            <a:pPr algn="l">
              <a:lnSpc>
                <a:spcPts val="2400"/>
              </a:lnSpc>
              <a:defRPr/>
            </a:pPr>
            <a:r>
              <a:rPr lang="fr-FR" sz="2000">
                <a:latin typeface="Arial"/>
                <a:ea typeface="Arial"/>
                <a:cs typeface="Arial"/>
              </a:rPr>
              <a:t>1- </a:t>
            </a:r>
            <a:r>
              <a:rPr sz="2000" b="0" i="0" u="none">
                <a:solidFill>
                  <a:srgbClr val="000000"/>
                </a:solidFill>
                <a:latin typeface="Arial"/>
                <a:ea typeface="Arial"/>
                <a:cs typeface="Arial"/>
              </a:rPr>
              <a:t>Le </a:t>
            </a:r>
            <a:r>
              <a:rPr sz="2000" b="1" i="0" u="none">
                <a:solidFill>
                  <a:srgbClr val="000000"/>
                </a:solidFill>
                <a:latin typeface="Arial"/>
                <a:ea typeface="Arial"/>
                <a:cs typeface="Arial"/>
              </a:rPr>
              <a:t>polymorphisme de méthode</a:t>
            </a:r>
            <a:endParaRPr sz="2000" b="1" i="0" u="none">
              <a:solidFill>
                <a:srgbClr val="000000"/>
              </a:solidFill>
              <a:latin typeface="Arial"/>
              <a:ea typeface="Arial"/>
              <a:cs typeface="Arial"/>
            </a:endParaRPr>
          </a:p>
          <a:p>
            <a:pPr algn="l">
              <a:lnSpc>
                <a:spcPts val="2399"/>
              </a:lnSpc>
              <a:defRPr/>
            </a:pPr>
            <a:endParaRPr sz="2000" b="1" i="0" u="none">
              <a:solidFill>
                <a:srgbClr val="000000"/>
              </a:solidFill>
              <a:latin typeface="Arial"/>
              <a:cs typeface="Arial"/>
            </a:endParaRPr>
          </a:p>
          <a:p>
            <a:pPr algn="l">
              <a:lnSpc>
                <a:spcPts val="2399"/>
              </a:lnSpc>
              <a:defRPr/>
            </a:pPr>
            <a:r>
              <a:rPr lang="fr-FR" sz="2000" b="0" i="0" u="none">
                <a:solidFill>
                  <a:srgbClr val="000000"/>
                </a:solidFill>
                <a:latin typeface="Arial"/>
                <a:ea typeface="Arial"/>
                <a:cs typeface="Arial"/>
              </a:rPr>
              <a:t>C’</a:t>
            </a:r>
            <a:r>
              <a:rPr sz="2000" b="0" i="0" u="none">
                <a:solidFill>
                  <a:srgbClr val="000000"/>
                </a:solidFill>
                <a:latin typeface="Arial"/>
                <a:ea typeface="Arial"/>
                <a:cs typeface="Arial"/>
              </a:rPr>
              <a:t> est un concept de la </a:t>
            </a:r>
            <a:r>
              <a:rPr sz="2000" b="0" i="0" u="none">
                <a:solidFill>
                  <a:srgbClr val="000000"/>
                </a:solidFill>
                <a:latin typeface="Arial"/>
                <a:ea typeface="Arial"/>
                <a:cs typeface="Arial"/>
              </a:rPr>
              <a:t>programmation orientée objet (POO)</a:t>
            </a:r>
            <a:r>
              <a:rPr sz="2000" b="0" i="0" u="none">
                <a:solidFill>
                  <a:srgbClr val="000000"/>
                </a:solidFill>
                <a:latin typeface="Arial"/>
                <a:ea typeface="Arial"/>
                <a:cs typeface="Arial"/>
              </a:rPr>
              <a:t> qui permet à </a:t>
            </a:r>
            <a:r>
              <a:rPr sz="2000" b="0" i="0" u="none">
                <a:solidFill>
                  <a:srgbClr val="000000"/>
                </a:solidFill>
                <a:latin typeface="Arial"/>
                <a:ea typeface="Arial"/>
                <a:cs typeface="Arial"/>
              </a:rPr>
              <a:t>plusieurs classes différentes</a:t>
            </a:r>
            <a:r>
              <a:rPr sz="2000" b="0" i="0" u="none">
                <a:solidFill>
                  <a:srgbClr val="000000"/>
                </a:solidFill>
                <a:latin typeface="Arial"/>
                <a:ea typeface="Arial"/>
                <a:cs typeface="Arial"/>
              </a:rPr>
              <a:t> d’avoir </a:t>
            </a:r>
            <a:r>
              <a:rPr sz="2000" b="0" i="0" u="none">
                <a:solidFill>
                  <a:srgbClr val="000000"/>
                </a:solidFill>
                <a:latin typeface="Arial"/>
                <a:ea typeface="Arial"/>
                <a:cs typeface="Arial"/>
              </a:rPr>
              <a:t>une même méthode</a:t>
            </a:r>
            <a:r>
              <a:rPr sz="2000" b="0" i="0" u="none">
                <a:solidFill>
                  <a:srgbClr val="000000"/>
                </a:solidFill>
                <a:latin typeface="Arial"/>
                <a:ea typeface="Arial"/>
                <a:cs typeface="Arial"/>
              </a:rPr>
              <a:t> (même nom), mais avec </a:t>
            </a:r>
            <a:r>
              <a:rPr sz="2000" b="0" i="0" u="none">
                <a:solidFill>
                  <a:srgbClr val="000000"/>
                </a:solidFill>
                <a:latin typeface="Arial"/>
                <a:ea typeface="Arial"/>
                <a:cs typeface="Arial"/>
              </a:rPr>
              <a:t>un comportement spécifique à chacune</a:t>
            </a:r>
            <a:r>
              <a:rPr sz="2000" b="0" i="0" u="none">
                <a:solidFill>
                  <a:srgbClr val="000000"/>
                </a:solidFill>
                <a:latin typeface="Arial"/>
                <a:ea typeface="Arial"/>
                <a:cs typeface="Arial"/>
              </a:rPr>
              <a:t>.</a:t>
            </a:r>
            <a:endParaRPr sz="2000">
              <a:latin typeface="Arial"/>
              <a:cs typeface="Arial"/>
            </a:endParaRPr>
          </a:p>
          <a:p>
            <a:pPr algn="l">
              <a:lnSpc>
                <a:spcPts val="2399"/>
              </a:lnSpc>
              <a:defRPr/>
            </a:pPr>
            <a:endParaRPr/>
          </a:p>
          <a:p>
            <a:pPr algn="l">
              <a:lnSpc>
                <a:spcPts val="2399"/>
              </a:lnSpc>
              <a:defRPr/>
            </a:pPr>
            <a:endParaRPr/>
          </a:p>
          <a:p>
            <a:pPr algn="l">
              <a:lnSpc>
                <a:spcPts val="2400"/>
              </a:lnSpc>
              <a:defRPr/>
            </a:pPr>
            <a:r>
              <a:rPr lang="en-US" sz="2000">
                <a:solidFill>
                  <a:srgbClr val="569CD6"/>
                </a:solidFill>
                <a:latin typeface="Arial"/>
                <a:ea typeface="Arial"/>
                <a:cs typeface="Arial"/>
              </a:rPr>
              <a:t>class</a:t>
            </a:r>
            <a:r>
              <a:rPr lang="en-US" sz="2000">
                <a:solidFill>
                  <a:srgbClr val="CCCCCC"/>
                </a:solidFill>
                <a:latin typeface="Arial"/>
                <a:ea typeface="Arial"/>
                <a:cs typeface="Arial"/>
              </a:rPr>
              <a:t> </a:t>
            </a:r>
            <a:r>
              <a:rPr lang="en-US" sz="2000">
                <a:solidFill>
                  <a:srgbClr val="4EC9B0"/>
                </a:solidFill>
                <a:latin typeface="Arial"/>
                <a:ea typeface="Arial"/>
                <a:cs typeface="Arial"/>
              </a:rPr>
              <a:t>Oiseau</a:t>
            </a:r>
            <a:r>
              <a:rPr lang="en-US" sz="2000">
                <a:solidFill>
                  <a:srgbClr val="CCCCCC"/>
                </a:solidFill>
                <a:latin typeface="Arial"/>
                <a:ea typeface="Arial"/>
                <a:cs typeface="Arial"/>
              </a:rPr>
              <a:t>:</a:t>
            </a:r>
            <a:endParaRPr/>
          </a:p>
          <a:p>
            <a:pPr algn="l">
              <a:lnSpc>
                <a:spcPts val="2400"/>
              </a:lnSpc>
              <a:defRPr/>
            </a:pPr>
            <a:r>
              <a:rPr lang="en-US" sz="2000">
                <a:solidFill>
                  <a:srgbClr val="CCCCCC"/>
                </a:solidFill>
                <a:latin typeface="Arial"/>
                <a:ea typeface="Arial"/>
                <a:cs typeface="Arial"/>
              </a:rPr>
              <a:t>    </a:t>
            </a:r>
            <a:r>
              <a:rPr lang="en-US" sz="2000">
                <a:solidFill>
                  <a:srgbClr val="569CD6"/>
                </a:solidFill>
                <a:latin typeface="Arial"/>
                <a:ea typeface="Arial"/>
                <a:cs typeface="Arial"/>
              </a:rPr>
              <a:t>def</a:t>
            </a:r>
            <a:r>
              <a:rPr lang="en-US" sz="2000">
                <a:solidFill>
                  <a:srgbClr val="CCCCCC"/>
                </a:solidFill>
                <a:latin typeface="Arial"/>
                <a:ea typeface="Arial"/>
                <a:cs typeface="Arial"/>
              </a:rPr>
              <a:t> </a:t>
            </a:r>
            <a:r>
              <a:rPr lang="en-US" sz="2000">
                <a:solidFill>
                  <a:srgbClr val="DCDCAA"/>
                </a:solidFill>
                <a:latin typeface="Arial"/>
                <a:ea typeface="Arial"/>
                <a:cs typeface="Arial"/>
              </a:rPr>
              <a:t>voler</a:t>
            </a:r>
            <a:r>
              <a:rPr lang="en-US" sz="2000">
                <a:solidFill>
                  <a:srgbClr val="CCCCCC"/>
                </a:solidFill>
                <a:latin typeface="Arial"/>
                <a:ea typeface="Arial"/>
                <a:cs typeface="Arial"/>
              </a:rPr>
              <a:t>(</a:t>
            </a:r>
            <a:r>
              <a:rPr lang="en-US" sz="2000">
                <a:solidFill>
                  <a:srgbClr val="9CDCFE"/>
                </a:solidFill>
                <a:latin typeface="Arial"/>
                <a:ea typeface="Arial"/>
                <a:cs typeface="Arial"/>
              </a:rPr>
              <a:t>self</a:t>
            </a:r>
            <a:r>
              <a:rPr lang="en-US" sz="2000">
                <a:solidFill>
                  <a:srgbClr val="CCCCCC"/>
                </a:solidFill>
                <a:latin typeface="Arial"/>
                <a:ea typeface="Arial"/>
                <a:cs typeface="Arial"/>
              </a:rPr>
              <a:t>):</a:t>
            </a:r>
            <a:endParaRPr/>
          </a:p>
          <a:p>
            <a:pPr algn="l">
              <a:lnSpc>
                <a:spcPts val="2400"/>
              </a:lnSpc>
              <a:defRPr/>
            </a:pPr>
            <a:r>
              <a:rPr lang="en-US" sz="2000">
                <a:solidFill>
                  <a:srgbClr val="CCCCCC"/>
                </a:solidFill>
                <a:latin typeface="Arial"/>
                <a:ea typeface="Arial"/>
                <a:cs typeface="Arial"/>
              </a:rPr>
              <a:t>        </a:t>
            </a:r>
            <a:r>
              <a:rPr lang="en-US" sz="2000">
                <a:solidFill>
                  <a:srgbClr val="DCDCAA"/>
                </a:solidFill>
                <a:latin typeface="Arial"/>
                <a:ea typeface="Arial"/>
                <a:cs typeface="Arial"/>
              </a:rPr>
              <a:t>print</a:t>
            </a:r>
            <a:r>
              <a:rPr lang="en-US" sz="2000">
                <a:solidFill>
                  <a:srgbClr val="CCCCCC"/>
                </a:solidFill>
                <a:latin typeface="Arial"/>
                <a:ea typeface="Arial"/>
                <a:cs typeface="Arial"/>
              </a:rPr>
              <a:t>(</a:t>
            </a:r>
            <a:r>
              <a:rPr lang="en-US" sz="2000">
                <a:solidFill>
                  <a:srgbClr val="CE9178"/>
                </a:solidFill>
                <a:latin typeface="Arial"/>
                <a:ea typeface="Arial"/>
                <a:cs typeface="Arial"/>
              </a:rPr>
              <a:t>"Je vole haut dans le ciel !"</a:t>
            </a:r>
            <a:r>
              <a:rPr lang="en-US" sz="2000">
                <a:solidFill>
                  <a:srgbClr val="CCCCCC"/>
                </a:solidFill>
                <a:latin typeface="Arial"/>
                <a:ea typeface="Arial"/>
                <a:cs typeface="Arial"/>
              </a:rPr>
              <a:t>)</a:t>
            </a:r>
            <a:endParaRPr/>
          </a:p>
          <a:p>
            <a:pPr algn="l">
              <a:lnSpc>
                <a:spcPts val="2400"/>
              </a:lnSpc>
              <a:defRPr/>
            </a:pPr>
            <a:endParaRPr/>
          </a:p>
          <a:p>
            <a:pPr algn="l">
              <a:lnSpc>
                <a:spcPts val="2400"/>
              </a:lnSpc>
              <a:defRPr/>
            </a:pPr>
            <a:r>
              <a:rPr lang="en-US" sz="2000">
                <a:solidFill>
                  <a:srgbClr val="569CD6"/>
                </a:solidFill>
                <a:latin typeface="Arial"/>
                <a:ea typeface="Arial"/>
                <a:cs typeface="Arial"/>
              </a:rPr>
              <a:t>class</a:t>
            </a:r>
            <a:r>
              <a:rPr lang="en-US" sz="2000">
                <a:solidFill>
                  <a:srgbClr val="CCCCCC"/>
                </a:solidFill>
                <a:latin typeface="Arial"/>
                <a:ea typeface="Arial"/>
                <a:cs typeface="Arial"/>
              </a:rPr>
              <a:t> </a:t>
            </a:r>
            <a:r>
              <a:rPr lang="en-US" sz="2000">
                <a:solidFill>
                  <a:srgbClr val="4EC9B0"/>
                </a:solidFill>
                <a:latin typeface="Arial"/>
                <a:ea typeface="Arial"/>
                <a:cs typeface="Arial"/>
              </a:rPr>
              <a:t>Avion</a:t>
            </a:r>
            <a:r>
              <a:rPr lang="en-US" sz="2000">
                <a:solidFill>
                  <a:srgbClr val="CCCCCC"/>
                </a:solidFill>
                <a:latin typeface="Arial"/>
                <a:ea typeface="Arial"/>
                <a:cs typeface="Arial"/>
              </a:rPr>
              <a:t>:</a:t>
            </a:r>
            <a:endParaRPr/>
          </a:p>
          <a:p>
            <a:pPr algn="l">
              <a:lnSpc>
                <a:spcPts val="2400"/>
              </a:lnSpc>
              <a:defRPr/>
            </a:pPr>
            <a:r>
              <a:rPr lang="en-US" sz="2000">
                <a:solidFill>
                  <a:srgbClr val="CCCCCC"/>
                </a:solidFill>
                <a:latin typeface="Arial"/>
                <a:ea typeface="Arial"/>
                <a:cs typeface="Arial"/>
              </a:rPr>
              <a:t>    </a:t>
            </a:r>
            <a:r>
              <a:rPr lang="en-US" sz="2000">
                <a:solidFill>
                  <a:srgbClr val="569CD6"/>
                </a:solidFill>
                <a:latin typeface="Arial"/>
                <a:ea typeface="Arial"/>
                <a:cs typeface="Arial"/>
              </a:rPr>
              <a:t>def</a:t>
            </a:r>
            <a:r>
              <a:rPr lang="en-US" sz="2000">
                <a:solidFill>
                  <a:srgbClr val="CCCCCC"/>
                </a:solidFill>
                <a:latin typeface="Arial"/>
                <a:ea typeface="Arial"/>
                <a:cs typeface="Arial"/>
              </a:rPr>
              <a:t> </a:t>
            </a:r>
            <a:r>
              <a:rPr lang="en-US" sz="2000">
                <a:solidFill>
                  <a:srgbClr val="DCDCAA"/>
                </a:solidFill>
                <a:latin typeface="Arial"/>
                <a:ea typeface="Arial"/>
                <a:cs typeface="Arial"/>
              </a:rPr>
              <a:t>voler</a:t>
            </a:r>
            <a:r>
              <a:rPr lang="en-US" sz="2000">
                <a:solidFill>
                  <a:srgbClr val="CCCCCC"/>
                </a:solidFill>
                <a:latin typeface="Arial"/>
                <a:ea typeface="Arial"/>
                <a:cs typeface="Arial"/>
              </a:rPr>
              <a:t>(</a:t>
            </a:r>
            <a:r>
              <a:rPr lang="en-US" sz="2000">
                <a:solidFill>
                  <a:srgbClr val="9CDCFE"/>
                </a:solidFill>
                <a:latin typeface="Arial"/>
                <a:ea typeface="Arial"/>
                <a:cs typeface="Arial"/>
              </a:rPr>
              <a:t>self</a:t>
            </a:r>
            <a:r>
              <a:rPr lang="en-US" sz="2000">
                <a:solidFill>
                  <a:srgbClr val="CCCCCC"/>
                </a:solidFill>
                <a:latin typeface="Arial"/>
                <a:ea typeface="Arial"/>
                <a:cs typeface="Arial"/>
              </a:rPr>
              <a:t>):</a:t>
            </a:r>
            <a:endParaRPr/>
          </a:p>
          <a:p>
            <a:pPr algn="l">
              <a:lnSpc>
                <a:spcPts val="2400"/>
              </a:lnSpc>
              <a:defRPr/>
            </a:pPr>
            <a:r>
              <a:rPr lang="en-US" sz="2000">
                <a:solidFill>
                  <a:srgbClr val="CCCCCC"/>
                </a:solidFill>
                <a:latin typeface="Arial"/>
                <a:ea typeface="Arial"/>
                <a:cs typeface="Arial"/>
              </a:rPr>
              <a:t>        </a:t>
            </a:r>
            <a:r>
              <a:rPr lang="en-US" sz="2000">
                <a:solidFill>
                  <a:srgbClr val="DCDCAA"/>
                </a:solidFill>
                <a:latin typeface="Arial"/>
                <a:ea typeface="Arial"/>
                <a:cs typeface="Arial"/>
              </a:rPr>
              <a:t>print</a:t>
            </a:r>
            <a:r>
              <a:rPr lang="en-US" sz="2000">
                <a:solidFill>
                  <a:srgbClr val="CCCCCC"/>
                </a:solidFill>
                <a:latin typeface="Arial"/>
                <a:ea typeface="Arial"/>
                <a:cs typeface="Arial"/>
              </a:rPr>
              <a:t>(</a:t>
            </a:r>
            <a:r>
              <a:rPr lang="en-US" sz="2000">
                <a:solidFill>
                  <a:srgbClr val="CE9178"/>
                </a:solidFill>
                <a:latin typeface="Arial"/>
                <a:ea typeface="Arial"/>
                <a:cs typeface="Arial"/>
              </a:rPr>
              <a:t>"Je traverse les nuages avec mes moteurs !"</a:t>
            </a:r>
            <a:r>
              <a:rPr lang="en-US" sz="2000">
                <a:solidFill>
                  <a:srgbClr val="CCCCCC"/>
                </a:solidFill>
                <a:latin typeface="Arial"/>
                <a:ea typeface="Arial"/>
                <a:cs typeface="Arial"/>
              </a:rPr>
              <a:t>)</a:t>
            </a:r>
            <a:endParaRPr/>
          </a:p>
          <a:p>
            <a:pPr algn="l">
              <a:lnSpc>
                <a:spcPts val="2400"/>
              </a:lnSpc>
              <a:defRPr/>
            </a:pPr>
            <a:endParaRPr/>
          </a:p>
          <a:p>
            <a:pPr algn="l">
              <a:lnSpc>
                <a:spcPts val="2400"/>
              </a:lnSpc>
              <a:defRPr/>
            </a:pPr>
            <a:r>
              <a:rPr lang="en-US" sz="2000">
                <a:solidFill>
                  <a:srgbClr val="6A9955"/>
                </a:solidFill>
                <a:latin typeface="Arial"/>
                <a:ea typeface="Arial"/>
                <a:cs typeface="Arial"/>
              </a:rPr>
              <a:t># Même méthode, deux classes différentes</a:t>
            </a:r>
            <a:endParaRPr/>
          </a:p>
          <a:p>
            <a:pPr algn="l">
              <a:lnSpc>
                <a:spcPts val="2400"/>
              </a:lnSpc>
              <a:defRPr/>
            </a:pPr>
            <a:r>
              <a:rPr lang="en-US" sz="2000">
                <a:solidFill>
                  <a:srgbClr val="569CD6"/>
                </a:solidFill>
                <a:latin typeface="Arial"/>
                <a:ea typeface="Arial"/>
                <a:cs typeface="Arial"/>
              </a:rPr>
              <a:t>def</a:t>
            </a:r>
            <a:r>
              <a:rPr lang="en-US" sz="2000">
                <a:solidFill>
                  <a:srgbClr val="CCCCCC"/>
                </a:solidFill>
                <a:latin typeface="Arial"/>
                <a:ea typeface="Arial"/>
                <a:cs typeface="Arial"/>
              </a:rPr>
              <a:t> </a:t>
            </a:r>
            <a:r>
              <a:rPr lang="en-US" sz="2000">
                <a:solidFill>
                  <a:srgbClr val="DCDCAA"/>
                </a:solidFill>
                <a:latin typeface="Arial"/>
                <a:ea typeface="Arial"/>
                <a:cs typeface="Arial"/>
              </a:rPr>
              <a:t>faire_voler</a:t>
            </a:r>
            <a:r>
              <a:rPr lang="en-US" sz="2000">
                <a:solidFill>
                  <a:srgbClr val="CCCCCC"/>
                </a:solidFill>
                <a:latin typeface="Arial"/>
                <a:ea typeface="Arial"/>
                <a:cs typeface="Arial"/>
              </a:rPr>
              <a:t>(</a:t>
            </a:r>
            <a:r>
              <a:rPr lang="en-US" sz="2000">
                <a:solidFill>
                  <a:srgbClr val="9CDCFE"/>
                </a:solidFill>
                <a:latin typeface="Arial"/>
                <a:ea typeface="Arial"/>
                <a:cs typeface="Arial"/>
              </a:rPr>
              <a:t>objet</a:t>
            </a:r>
            <a:r>
              <a:rPr lang="en-US" sz="2000">
                <a:solidFill>
                  <a:srgbClr val="CCCCCC"/>
                </a:solidFill>
                <a:latin typeface="Arial"/>
                <a:ea typeface="Arial"/>
                <a:cs typeface="Arial"/>
              </a:rPr>
              <a:t>):</a:t>
            </a:r>
            <a:endParaRPr/>
          </a:p>
          <a:p>
            <a:pPr algn="l">
              <a:lnSpc>
                <a:spcPts val="2400"/>
              </a:lnSpc>
              <a:defRPr/>
            </a:pPr>
            <a:r>
              <a:rPr lang="en-US" sz="2000">
                <a:solidFill>
                  <a:srgbClr val="CCCCCC"/>
                </a:solidFill>
                <a:latin typeface="Arial"/>
                <a:ea typeface="Arial"/>
                <a:cs typeface="Arial"/>
              </a:rPr>
              <a:t>    </a:t>
            </a:r>
            <a:r>
              <a:rPr lang="en-US" sz="2000">
                <a:solidFill>
                  <a:srgbClr val="9CDCFE"/>
                </a:solidFill>
                <a:latin typeface="Arial"/>
                <a:ea typeface="Arial"/>
                <a:cs typeface="Arial"/>
              </a:rPr>
              <a:t>objet</a:t>
            </a:r>
            <a:r>
              <a:rPr lang="en-US" sz="2000">
                <a:solidFill>
                  <a:srgbClr val="CCCCCC"/>
                </a:solidFill>
                <a:latin typeface="Arial"/>
                <a:ea typeface="Arial"/>
                <a:cs typeface="Arial"/>
              </a:rPr>
              <a:t>.voler()</a:t>
            </a:r>
            <a:endParaRPr/>
          </a:p>
          <a:p>
            <a:pPr algn="l">
              <a:lnSpc>
                <a:spcPts val="2400"/>
              </a:lnSpc>
              <a:defRPr/>
            </a:pPr>
            <a:endParaRPr/>
          </a:p>
          <a:p>
            <a:pPr algn="l">
              <a:lnSpc>
                <a:spcPts val="2400"/>
              </a:lnSpc>
              <a:defRPr/>
            </a:pPr>
            <a:r>
              <a:rPr lang="en-US" sz="2000">
                <a:solidFill>
                  <a:srgbClr val="9CDCFE"/>
                </a:solidFill>
                <a:latin typeface="Arial"/>
                <a:ea typeface="Arial"/>
                <a:cs typeface="Arial"/>
              </a:rPr>
              <a:t>oiseau</a:t>
            </a:r>
            <a:r>
              <a:rPr lang="en-US" sz="2000">
                <a:solidFill>
                  <a:srgbClr val="CCCCCC"/>
                </a:solidFill>
                <a:latin typeface="Arial"/>
                <a:ea typeface="Arial"/>
                <a:cs typeface="Arial"/>
              </a:rPr>
              <a:t> </a:t>
            </a:r>
            <a:r>
              <a:rPr lang="en-US" sz="2000">
                <a:solidFill>
                  <a:srgbClr val="D4D4D4"/>
                </a:solidFill>
                <a:latin typeface="Arial"/>
                <a:ea typeface="Arial"/>
                <a:cs typeface="Arial"/>
              </a:rPr>
              <a:t>=</a:t>
            </a:r>
            <a:r>
              <a:rPr lang="en-US" sz="2000">
                <a:solidFill>
                  <a:srgbClr val="CCCCCC"/>
                </a:solidFill>
                <a:latin typeface="Arial"/>
                <a:ea typeface="Arial"/>
                <a:cs typeface="Arial"/>
              </a:rPr>
              <a:t> </a:t>
            </a:r>
            <a:r>
              <a:rPr lang="en-US" sz="2000">
                <a:solidFill>
                  <a:srgbClr val="4EC9B0"/>
                </a:solidFill>
                <a:latin typeface="Arial"/>
                <a:ea typeface="Arial"/>
                <a:cs typeface="Arial"/>
              </a:rPr>
              <a:t>Oiseau</a:t>
            </a:r>
            <a:r>
              <a:rPr lang="en-US" sz="2000">
                <a:solidFill>
                  <a:srgbClr val="CCCCCC"/>
                </a:solidFill>
                <a:latin typeface="Arial"/>
                <a:ea typeface="Arial"/>
                <a:cs typeface="Arial"/>
              </a:rPr>
              <a:t>()</a:t>
            </a:r>
            <a:endParaRPr/>
          </a:p>
          <a:p>
            <a:pPr algn="l">
              <a:lnSpc>
                <a:spcPts val="2400"/>
              </a:lnSpc>
              <a:defRPr/>
            </a:pPr>
            <a:r>
              <a:rPr lang="en-US" sz="2000">
                <a:solidFill>
                  <a:srgbClr val="9CDCFE"/>
                </a:solidFill>
                <a:latin typeface="Arial"/>
                <a:ea typeface="Arial"/>
                <a:cs typeface="Arial"/>
              </a:rPr>
              <a:t>avion</a:t>
            </a:r>
            <a:r>
              <a:rPr lang="en-US" sz="2000">
                <a:solidFill>
                  <a:srgbClr val="CCCCCC"/>
                </a:solidFill>
                <a:latin typeface="Arial"/>
                <a:ea typeface="Arial"/>
                <a:cs typeface="Arial"/>
              </a:rPr>
              <a:t> </a:t>
            </a:r>
            <a:r>
              <a:rPr lang="en-US" sz="2000">
                <a:solidFill>
                  <a:srgbClr val="D4D4D4"/>
                </a:solidFill>
                <a:latin typeface="Arial"/>
                <a:ea typeface="Arial"/>
                <a:cs typeface="Arial"/>
              </a:rPr>
              <a:t>=</a:t>
            </a:r>
            <a:r>
              <a:rPr lang="en-US" sz="2000">
                <a:solidFill>
                  <a:srgbClr val="CCCCCC"/>
                </a:solidFill>
                <a:latin typeface="Arial"/>
                <a:ea typeface="Arial"/>
                <a:cs typeface="Arial"/>
              </a:rPr>
              <a:t> </a:t>
            </a:r>
            <a:r>
              <a:rPr lang="en-US" sz="2000">
                <a:solidFill>
                  <a:srgbClr val="4EC9B0"/>
                </a:solidFill>
                <a:latin typeface="Arial"/>
                <a:ea typeface="Arial"/>
                <a:cs typeface="Arial"/>
              </a:rPr>
              <a:t>Avion</a:t>
            </a:r>
            <a:r>
              <a:rPr lang="en-US" sz="2000">
                <a:solidFill>
                  <a:srgbClr val="CCCCCC"/>
                </a:solidFill>
                <a:latin typeface="Arial"/>
                <a:ea typeface="Arial"/>
                <a:cs typeface="Arial"/>
              </a:rPr>
              <a:t>()</a:t>
            </a:r>
            <a:endParaRPr/>
          </a:p>
          <a:p>
            <a:pPr algn="l">
              <a:lnSpc>
                <a:spcPts val="2400"/>
              </a:lnSpc>
              <a:defRPr/>
            </a:pPr>
            <a:endParaRPr/>
          </a:p>
          <a:p>
            <a:pPr algn="l">
              <a:lnSpc>
                <a:spcPts val="2400"/>
              </a:lnSpc>
              <a:defRPr/>
            </a:pPr>
            <a:r>
              <a:rPr lang="en-US" sz="2000">
                <a:solidFill>
                  <a:srgbClr val="DCDCAA"/>
                </a:solidFill>
                <a:latin typeface="Arial"/>
                <a:ea typeface="Arial"/>
                <a:cs typeface="Arial"/>
              </a:rPr>
              <a:t>faire_voler</a:t>
            </a:r>
            <a:r>
              <a:rPr lang="en-US" sz="2000">
                <a:solidFill>
                  <a:srgbClr val="CCCCCC"/>
                </a:solidFill>
                <a:latin typeface="Arial"/>
                <a:ea typeface="Arial"/>
                <a:cs typeface="Arial"/>
              </a:rPr>
              <a:t>(</a:t>
            </a:r>
            <a:r>
              <a:rPr lang="en-US" sz="2000">
                <a:solidFill>
                  <a:srgbClr val="9CDCFE"/>
                </a:solidFill>
                <a:latin typeface="Arial"/>
                <a:ea typeface="Arial"/>
                <a:cs typeface="Arial"/>
              </a:rPr>
              <a:t>oiseau</a:t>
            </a:r>
            <a:r>
              <a:rPr lang="en-US" sz="2000">
                <a:solidFill>
                  <a:srgbClr val="CCCCCC"/>
                </a:solidFill>
                <a:latin typeface="Arial"/>
                <a:ea typeface="Arial"/>
                <a:cs typeface="Arial"/>
              </a:rPr>
              <a:t>)</a:t>
            </a:r>
            <a:endParaRPr/>
          </a:p>
          <a:p>
            <a:pPr algn="l">
              <a:lnSpc>
                <a:spcPts val="2400"/>
              </a:lnSpc>
              <a:defRPr/>
            </a:pPr>
            <a:r>
              <a:rPr lang="en-US" sz="2000">
                <a:solidFill>
                  <a:srgbClr val="DCDCAA"/>
                </a:solidFill>
                <a:latin typeface="Arial"/>
                <a:ea typeface="Arial"/>
                <a:cs typeface="Arial"/>
              </a:rPr>
              <a:t>faire_voler</a:t>
            </a:r>
            <a:r>
              <a:rPr lang="en-US" sz="2000">
                <a:solidFill>
                  <a:srgbClr val="CCCCCC"/>
                </a:solidFill>
                <a:latin typeface="Arial"/>
                <a:ea typeface="Arial"/>
                <a:cs typeface="Arial"/>
              </a:rPr>
              <a:t>(</a:t>
            </a:r>
            <a:r>
              <a:rPr lang="en-US" sz="2000">
                <a:solidFill>
                  <a:srgbClr val="9CDCFE"/>
                </a:solidFill>
                <a:latin typeface="Arial"/>
                <a:ea typeface="Arial"/>
                <a:cs typeface="Arial"/>
              </a:rPr>
              <a:t>avion</a:t>
            </a:r>
            <a:r>
              <a:rPr lang="en-US" sz="2000">
                <a:solidFill>
                  <a:srgbClr val="CCCCCC"/>
                </a:solidFill>
                <a:latin typeface="Arial"/>
                <a:ea typeface="Arial"/>
                <a:cs typeface="Arial"/>
              </a:rPr>
              <a:t>)</a:t>
            </a:r>
            <a:endParaRPr/>
          </a:p>
          <a:p>
            <a:pPr algn="l">
              <a:lnSpc>
                <a:spcPts val="2400"/>
              </a:lnSpc>
              <a:defRPr/>
            </a:pPr>
            <a:endParaRPr/>
          </a:p>
        </p:txBody>
      </p:sp>
      <p:sp>
        <p:nvSpPr>
          <p:cNvPr id="2130977370" name="TextBox 5"/>
          <p:cNvSpPr txBox="1"/>
          <p:nvPr/>
        </p:nvSpPr>
        <p:spPr bwMode="auto">
          <a:xfrm rot="0">
            <a:off x="3730341" y="9436298"/>
            <a:ext cx="9996682" cy="597767"/>
          </a:xfrm>
          <a:prstGeom prst="rect">
            <a:avLst/>
          </a:prstGeom>
        </p:spPr>
        <p:txBody>
          <a:bodyPr lIns="0" tIns="0" rIns="0" bIns="0" rtlCol="0" anchor="t">
            <a:spAutoFit/>
          </a:bodyPr>
          <a:lstStyle/>
          <a:p>
            <a:pPr algn="ctr">
              <a:lnSpc>
                <a:spcPts val="4704"/>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4329207" name="TextBox 2"/>
          <p:cNvSpPr txBox="1"/>
          <p:nvPr/>
        </p:nvSpPr>
        <p:spPr bwMode="auto">
          <a:xfrm rot="0" flipH="0" flipV="0">
            <a:off x="1532849" y="573275"/>
            <a:ext cx="4486155" cy="309731"/>
          </a:xfrm>
          <a:prstGeom prst="rect">
            <a:avLst/>
          </a:prstGeom>
        </p:spPr>
        <p:txBody>
          <a:bodyPr lIns="0" tIns="0" rIns="0" bIns="0" rtlCol="0" anchor="t">
            <a:spAutoFit/>
          </a:bodyPr>
          <a:lstStyle/>
          <a:p>
            <a:pPr algn="l">
              <a:lnSpc>
                <a:spcPts val="2435"/>
              </a:lnSpc>
              <a:defRPr/>
            </a:pPr>
            <a:r>
              <a:rPr lang="fr-FR" sz="2000" b="1">
                <a:solidFill>
                  <a:srgbClr val="2E3C4E"/>
                </a:solidFill>
                <a:latin typeface="Barlow Bold"/>
                <a:ea typeface="Barlow Bold"/>
                <a:cs typeface="Barlow Bold"/>
              </a:rPr>
              <a:t>2- </a:t>
            </a:r>
            <a:r>
              <a:rPr sz="2000" b="1" i="0" u="none">
                <a:solidFill>
                  <a:srgbClr val="000000"/>
                </a:solidFill>
                <a:latin typeface="Barlow Bold"/>
                <a:ea typeface="Barlow Bold"/>
                <a:cs typeface="Barlow Bold"/>
              </a:rPr>
              <a:t>Polymorphisme </a:t>
            </a:r>
            <a:r>
              <a:rPr sz="2000" b="1" i="0" u="none">
                <a:solidFill>
                  <a:srgbClr val="000000"/>
                </a:solidFill>
                <a:latin typeface="Barlow Bold"/>
                <a:ea typeface="Barlow Bold"/>
                <a:cs typeface="Barlow Bold"/>
              </a:rPr>
              <a:t>par </a:t>
            </a:r>
            <a:r>
              <a:rPr sz="2000" b="1" i="0" u="none">
                <a:solidFill>
                  <a:srgbClr val="000000"/>
                </a:solidFill>
                <a:latin typeface="Barlow Bold"/>
                <a:ea typeface="Barlow Bold"/>
                <a:cs typeface="Barlow Bold"/>
              </a:rPr>
              <a:t>héritage</a:t>
            </a:r>
            <a:endParaRPr sz="2000" b="1">
              <a:latin typeface="Barlow Bold"/>
              <a:cs typeface="Barlow Bold"/>
            </a:endParaRPr>
          </a:p>
        </p:txBody>
      </p:sp>
      <p:sp>
        <p:nvSpPr>
          <p:cNvPr id="1018234978" name="TextBox 3"/>
          <p:cNvSpPr txBox="1"/>
          <p:nvPr/>
        </p:nvSpPr>
        <p:spPr bwMode="auto">
          <a:xfrm rot="0" flipH="0" flipV="0">
            <a:off x="1532850" y="1102211"/>
            <a:ext cx="13442668" cy="305159"/>
          </a:xfrm>
          <a:prstGeom prst="rect">
            <a:avLst/>
          </a:prstGeom>
        </p:spPr>
        <p:txBody>
          <a:bodyPr lIns="0" tIns="0" rIns="0" bIns="0" rtlCol="0" anchor="t">
            <a:spAutoFit/>
          </a:bodyPr>
          <a:lstStyle/>
          <a:p>
            <a:pPr>
              <a:defRPr/>
            </a:pPr>
            <a:r>
              <a:rPr sz="2000" b="0" i="0" u="none">
                <a:solidFill>
                  <a:srgbClr val="000000"/>
                </a:solidFill>
                <a:latin typeface="Arial"/>
                <a:ea typeface="Arial"/>
                <a:cs typeface="Arial"/>
              </a:rPr>
              <a:t>Une </a:t>
            </a:r>
            <a:r>
              <a:rPr sz="2000" b="0" i="0" u="none">
                <a:solidFill>
                  <a:srgbClr val="000000"/>
                </a:solidFill>
                <a:latin typeface="Arial"/>
                <a:ea typeface="Arial"/>
                <a:cs typeface="Arial"/>
              </a:rPr>
              <a:t>classe fille</a:t>
            </a:r>
            <a:r>
              <a:rPr sz="2000" b="0" i="0" u="none">
                <a:solidFill>
                  <a:srgbClr val="000000"/>
                </a:solidFill>
                <a:latin typeface="Arial"/>
                <a:ea typeface="Arial"/>
                <a:cs typeface="Arial"/>
              </a:rPr>
              <a:t> hérite d’une </a:t>
            </a:r>
            <a:r>
              <a:rPr sz="2000" b="0" i="0" u="none">
                <a:solidFill>
                  <a:srgbClr val="000000"/>
                </a:solidFill>
                <a:latin typeface="Arial"/>
                <a:ea typeface="Arial"/>
                <a:cs typeface="Arial"/>
              </a:rPr>
              <a:t>classe mère</a:t>
            </a:r>
            <a:r>
              <a:rPr sz="2000" b="0" i="0" u="none">
                <a:solidFill>
                  <a:srgbClr val="000000"/>
                </a:solidFill>
                <a:latin typeface="Arial"/>
                <a:ea typeface="Arial"/>
                <a:cs typeface="Arial"/>
              </a:rPr>
              <a:t> et </a:t>
            </a:r>
            <a:r>
              <a:rPr sz="2000" b="0" i="0" u="none">
                <a:solidFill>
                  <a:srgbClr val="000000"/>
                </a:solidFill>
                <a:latin typeface="Arial"/>
                <a:ea typeface="Arial"/>
                <a:cs typeface="Arial"/>
              </a:rPr>
              <a:t>redéfinit</a:t>
            </a:r>
            <a:r>
              <a:rPr sz="2000" b="0" i="0" u="none">
                <a:solidFill>
                  <a:srgbClr val="000000"/>
                </a:solidFill>
                <a:latin typeface="Arial"/>
                <a:ea typeface="Arial"/>
                <a:cs typeface="Arial"/>
              </a:rPr>
              <a:t> une méthode existante pour </a:t>
            </a:r>
            <a:r>
              <a:rPr sz="2000" b="0" i="0" u="none">
                <a:solidFill>
                  <a:srgbClr val="000000"/>
                </a:solidFill>
                <a:latin typeface="Arial"/>
                <a:ea typeface="Arial"/>
                <a:cs typeface="Arial"/>
              </a:rPr>
              <a:t>adapter son comportement</a:t>
            </a:r>
            <a:r>
              <a:rPr sz="2000" b="0" i="0" u="none">
                <a:solidFill>
                  <a:srgbClr val="000000"/>
                </a:solidFill>
                <a:latin typeface="Arial"/>
                <a:ea typeface="Arial"/>
                <a:cs typeface="Arial"/>
              </a:rPr>
              <a:t>.</a:t>
            </a:r>
            <a:endParaRPr sz="2000" b="0">
              <a:latin typeface="Arial"/>
              <a:cs typeface="Arial"/>
            </a:endParaRPr>
          </a:p>
        </p:txBody>
      </p:sp>
      <p:sp>
        <p:nvSpPr>
          <p:cNvPr id="1344091790" name="TextBox 4"/>
          <p:cNvSpPr txBox="1"/>
          <p:nvPr/>
        </p:nvSpPr>
        <p:spPr bwMode="auto">
          <a:xfrm rot="0" flipH="0" flipV="0">
            <a:off x="1831592" y="1732718"/>
            <a:ext cx="11850353" cy="5181959"/>
          </a:xfrm>
          <a:prstGeom prst="rect">
            <a:avLst/>
          </a:prstGeom>
        </p:spPr>
        <p:txBody>
          <a:bodyPr lIns="0" tIns="0" rIns="0" bIns="0" rtlCol="0" anchor="t">
            <a:spAutoFit/>
          </a:bodyPr>
          <a:lstStyle/>
          <a:p>
            <a:pPr>
              <a:defRPr/>
            </a:pPr>
            <a:r>
              <a:rPr sz="2000" b="0" i="0" u="none">
                <a:solidFill>
                  <a:srgbClr val="569CD6"/>
                </a:solidFill>
                <a:latin typeface="Arial"/>
                <a:ea typeface="Arial"/>
                <a:cs typeface="Arial"/>
              </a:rPr>
              <a:t>class</a:t>
            </a:r>
            <a:r>
              <a:rPr sz="2000" b="0" i="0" u="none">
                <a:solidFill>
                  <a:srgbClr val="CCCCCC"/>
                </a:solidFill>
                <a:latin typeface="Arial"/>
                <a:ea typeface="Arial"/>
                <a:cs typeface="Arial"/>
              </a:rPr>
              <a:t> </a:t>
            </a:r>
            <a:r>
              <a:rPr sz="2000" b="0" i="0" u="none">
                <a:solidFill>
                  <a:srgbClr val="4EC9B0"/>
                </a:solidFill>
                <a:latin typeface="Arial"/>
                <a:ea typeface="Arial"/>
                <a:cs typeface="Arial"/>
              </a:rPr>
              <a:t>Animal</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parler</a:t>
            </a:r>
            <a:r>
              <a:rPr sz="2000" b="0" i="0" u="none">
                <a:solidFill>
                  <a:srgbClr val="CCCCCC"/>
                </a:solidFill>
                <a:latin typeface="Arial"/>
                <a:ea typeface="Arial"/>
                <a:cs typeface="Arial"/>
              </a:rPr>
              <a:t>(</a:t>
            </a:r>
            <a:r>
              <a:rPr sz="2000" b="0" i="0" u="none">
                <a:solidFill>
                  <a:srgbClr val="9CDCFE"/>
                </a:solidFill>
                <a:latin typeface="Arial"/>
                <a:ea typeface="Arial"/>
                <a:cs typeface="Arial"/>
              </a:rPr>
              <a:t>self</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C586C0"/>
                </a:solidFill>
                <a:latin typeface="Arial"/>
                <a:ea typeface="Arial"/>
                <a:cs typeface="Arial"/>
              </a:rPr>
              <a:t>return</a:t>
            </a:r>
            <a:r>
              <a:rPr sz="2000" b="0" i="0" u="none">
                <a:solidFill>
                  <a:srgbClr val="CCCCCC"/>
                </a:solidFill>
                <a:latin typeface="Arial"/>
                <a:ea typeface="Arial"/>
                <a:cs typeface="Arial"/>
              </a:rPr>
              <a:t> </a:t>
            </a:r>
            <a:r>
              <a:rPr sz="2000" b="0" i="0" u="none">
                <a:solidFill>
                  <a:srgbClr val="CE9178"/>
                </a:solidFill>
                <a:latin typeface="Arial"/>
                <a:ea typeface="Arial"/>
                <a:cs typeface="Arial"/>
              </a:rPr>
              <a:t>"Je suis un animal."</a:t>
            </a:r>
            <a:br>
              <a:rPr sz="2000" b="0" i="0" u="none">
                <a:solidFill>
                  <a:srgbClr val="CE9178"/>
                </a:solidFill>
                <a:latin typeface="Arial"/>
                <a:ea typeface="Arial"/>
                <a:cs typeface="Arial"/>
              </a:rPr>
            </a:br>
            <a:endParaRPr sz="2000">
              <a:latin typeface="Arial"/>
              <a:cs typeface="Arial"/>
            </a:endParaRPr>
          </a:p>
          <a:p>
            <a:pPr>
              <a:defRPr/>
            </a:pPr>
            <a:r>
              <a:rPr sz="2000" b="0" i="0" u="none">
                <a:solidFill>
                  <a:srgbClr val="569CD6"/>
                </a:solidFill>
                <a:latin typeface="Arial"/>
                <a:ea typeface="Arial"/>
                <a:cs typeface="Arial"/>
              </a:rPr>
              <a:t>class</a:t>
            </a:r>
            <a:r>
              <a:rPr sz="2000" b="0" i="0" u="none">
                <a:solidFill>
                  <a:srgbClr val="CCCCCC"/>
                </a:solidFill>
                <a:latin typeface="Arial"/>
                <a:ea typeface="Arial"/>
                <a:cs typeface="Arial"/>
              </a:rPr>
              <a:t> </a:t>
            </a:r>
            <a:r>
              <a:rPr sz="2000" b="0" i="0" u="none">
                <a:solidFill>
                  <a:srgbClr val="4EC9B0"/>
                </a:solidFill>
                <a:latin typeface="Arial"/>
                <a:ea typeface="Arial"/>
                <a:cs typeface="Arial"/>
              </a:rPr>
              <a:t>Chien</a:t>
            </a:r>
            <a:r>
              <a:rPr sz="2000" b="0" i="0" u="none">
                <a:solidFill>
                  <a:srgbClr val="CCCCCC"/>
                </a:solidFill>
                <a:latin typeface="Arial"/>
                <a:ea typeface="Arial"/>
                <a:cs typeface="Arial"/>
              </a:rPr>
              <a:t>(</a:t>
            </a:r>
            <a:r>
              <a:rPr sz="2000" b="0" i="0" u="none">
                <a:solidFill>
                  <a:srgbClr val="4EC9B0"/>
                </a:solidFill>
                <a:latin typeface="Arial"/>
                <a:ea typeface="Arial"/>
                <a:cs typeface="Arial"/>
              </a:rPr>
              <a:t>Animal</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parler</a:t>
            </a:r>
            <a:r>
              <a:rPr sz="2000" b="0" i="0" u="none">
                <a:solidFill>
                  <a:srgbClr val="CCCCCC"/>
                </a:solidFill>
                <a:latin typeface="Arial"/>
                <a:ea typeface="Arial"/>
                <a:cs typeface="Arial"/>
              </a:rPr>
              <a:t>(</a:t>
            </a:r>
            <a:r>
              <a:rPr sz="2000" b="0" i="0" u="none">
                <a:solidFill>
                  <a:srgbClr val="9CDCFE"/>
                </a:solidFill>
                <a:latin typeface="Arial"/>
                <a:ea typeface="Arial"/>
                <a:cs typeface="Arial"/>
              </a:rPr>
              <a:t>self</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C586C0"/>
                </a:solidFill>
                <a:latin typeface="Arial"/>
                <a:ea typeface="Arial"/>
                <a:cs typeface="Arial"/>
              </a:rPr>
              <a:t>return</a:t>
            </a:r>
            <a:r>
              <a:rPr sz="2000" b="0" i="0" u="none">
                <a:solidFill>
                  <a:srgbClr val="CCCCCC"/>
                </a:solidFill>
                <a:latin typeface="Arial"/>
                <a:ea typeface="Arial"/>
                <a:cs typeface="Arial"/>
              </a:rPr>
              <a:t> </a:t>
            </a:r>
            <a:r>
              <a:rPr sz="2000" b="0" i="0" u="none">
                <a:solidFill>
                  <a:srgbClr val="CE9178"/>
                </a:solidFill>
                <a:latin typeface="Arial"/>
                <a:ea typeface="Arial"/>
                <a:cs typeface="Arial"/>
              </a:rPr>
              <a:t>"Wouf Wouf!"</a:t>
            </a:r>
            <a:br>
              <a:rPr sz="2000" b="0" i="0" u="none">
                <a:solidFill>
                  <a:srgbClr val="CE9178"/>
                </a:solidFill>
                <a:latin typeface="Arial"/>
                <a:ea typeface="Arial"/>
                <a:cs typeface="Arial"/>
              </a:rPr>
            </a:br>
            <a:endParaRPr sz="2000">
              <a:latin typeface="Arial"/>
              <a:cs typeface="Arial"/>
            </a:endParaRPr>
          </a:p>
          <a:p>
            <a:pPr>
              <a:defRPr/>
            </a:pPr>
            <a:r>
              <a:rPr sz="2000" b="0" i="0" u="none">
                <a:solidFill>
                  <a:srgbClr val="569CD6"/>
                </a:solidFill>
                <a:latin typeface="Arial"/>
                <a:ea typeface="Arial"/>
                <a:cs typeface="Arial"/>
              </a:rPr>
              <a:t>class</a:t>
            </a:r>
            <a:r>
              <a:rPr sz="2000" b="0" i="0" u="none">
                <a:solidFill>
                  <a:srgbClr val="CCCCCC"/>
                </a:solidFill>
                <a:latin typeface="Arial"/>
                <a:ea typeface="Arial"/>
                <a:cs typeface="Arial"/>
              </a:rPr>
              <a:t> </a:t>
            </a:r>
            <a:r>
              <a:rPr sz="2000" b="0" i="0" u="none">
                <a:solidFill>
                  <a:srgbClr val="4EC9B0"/>
                </a:solidFill>
                <a:latin typeface="Arial"/>
                <a:ea typeface="Arial"/>
                <a:cs typeface="Arial"/>
              </a:rPr>
              <a:t>Chat</a:t>
            </a:r>
            <a:r>
              <a:rPr sz="2000" b="0" i="0" u="none">
                <a:solidFill>
                  <a:srgbClr val="CCCCCC"/>
                </a:solidFill>
                <a:latin typeface="Arial"/>
                <a:ea typeface="Arial"/>
                <a:cs typeface="Arial"/>
              </a:rPr>
              <a:t>(</a:t>
            </a:r>
            <a:r>
              <a:rPr sz="2000" b="0" i="0" u="none">
                <a:solidFill>
                  <a:srgbClr val="4EC9B0"/>
                </a:solidFill>
                <a:latin typeface="Arial"/>
                <a:ea typeface="Arial"/>
                <a:cs typeface="Arial"/>
              </a:rPr>
              <a:t>Animal</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parler</a:t>
            </a:r>
            <a:r>
              <a:rPr sz="2000" b="0" i="0" u="none">
                <a:solidFill>
                  <a:srgbClr val="CCCCCC"/>
                </a:solidFill>
                <a:latin typeface="Arial"/>
                <a:ea typeface="Arial"/>
                <a:cs typeface="Arial"/>
              </a:rPr>
              <a:t>(</a:t>
            </a:r>
            <a:r>
              <a:rPr sz="2000" b="0" i="0" u="none">
                <a:solidFill>
                  <a:srgbClr val="9CDCFE"/>
                </a:solidFill>
                <a:latin typeface="Arial"/>
                <a:ea typeface="Arial"/>
                <a:cs typeface="Arial"/>
              </a:rPr>
              <a:t>self</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C586C0"/>
                </a:solidFill>
                <a:latin typeface="Arial"/>
                <a:ea typeface="Arial"/>
                <a:cs typeface="Arial"/>
              </a:rPr>
              <a:t>return</a:t>
            </a:r>
            <a:r>
              <a:rPr sz="2000" b="0" i="0" u="none">
                <a:solidFill>
                  <a:srgbClr val="CCCCCC"/>
                </a:solidFill>
                <a:latin typeface="Arial"/>
                <a:ea typeface="Arial"/>
                <a:cs typeface="Arial"/>
              </a:rPr>
              <a:t> </a:t>
            </a:r>
            <a:r>
              <a:rPr sz="2000" b="0" i="0" u="none">
                <a:solidFill>
                  <a:srgbClr val="CE9178"/>
                </a:solidFill>
                <a:latin typeface="Arial"/>
                <a:ea typeface="Arial"/>
                <a:cs typeface="Arial"/>
              </a:rPr>
              <a:t>"Miaou!"</a:t>
            </a:r>
            <a:br>
              <a:rPr sz="2000" b="0" i="0" u="none">
                <a:solidFill>
                  <a:srgbClr val="CE9178"/>
                </a:solidFill>
                <a:latin typeface="Arial"/>
                <a:ea typeface="Arial"/>
                <a:cs typeface="Arial"/>
              </a:rPr>
            </a:br>
            <a:endParaRPr sz="2000">
              <a:latin typeface="Arial"/>
              <a:cs typeface="Arial"/>
            </a:endParaRPr>
          </a:p>
          <a:p>
            <a:pPr>
              <a:defRPr/>
            </a:pPr>
            <a:r>
              <a:rPr sz="2000" b="0" i="0" u="none">
                <a:solidFill>
                  <a:srgbClr val="9CDCFE"/>
                </a:solidFill>
                <a:latin typeface="Arial"/>
                <a:ea typeface="Arial"/>
                <a:cs typeface="Arial"/>
              </a:rPr>
              <a:t>animaux</a:t>
            </a:r>
            <a:r>
              <a:rPr sz="2000" b="0" i="0" u="none">
                <a:solidFill>
                  <a:srgbClr val="CCCCCC"/>
                </a:solidFill>
                <a:latin typeface="Arial"/>
                <a:ea typeface="Arial"/>
                <a:cs typeface="Arial"/>
              </a:rPr>
              <a:t> </a:t>
            </a:r>
            <a:r>
              <a:rPr sz="2000" b="0" i="0" u="none">
                <a:solidFill>
                  <a:srgbClr val="D4D4D4"/>
                </a:solidFill>
                <a:latin typeface="Arial"/>
                <a:ea typeface="Arial"/>
                <a:cs typeface="Arial"/>
              </a:rPr>
              <a:t>=</a:t>
            </a:r>
            <a:r>
              <a:rPr sz="2000" b="0" i="0" u="none">
                <a:solidFill>
                  <a:srgbClr val="CCCCCC"/>
                </a:solidFill>
                <a:latin typeface="Arial"/>
                <a:ea typeface="Arial"/>
                <a:cs typeface="Arial"/>
              </a:rPr>
              <a:t> [</a:t>
            </a:r>
            <a:r>
              <a:rPr sz="2000" b="0" i="0" u="none">
                <a:solidFill>
                  <a:srgbClr val="4EC9B0"/>
                </a:solidFill>
                <a:latin typeface="Arial"/>
                <a:ea typeface="Arial"/>
                <a:cs typeface="Arial"/>
              </a:rPr>
              <a:t>Chien</a:t>
            </a:r>
            <a:r>
              <a:rPr sz="2000" b="0" i="0" u="none">
                <a:solidFill>
                  <a:srgbClr val="CCCCCC"/>
                </a:solidFill>
                <a:latin typeface="Arial"/>
                <a:ea typeface="Arial"/>
                <a:cs typeface="Arial"/>
              </a:rPr>
              <a:t>(), </a:t>
            </a:r>
            <a:r>
              <a:rPr sz="2000" b="0" i="0" u="none">
                <a:solidFill>
                  <a:srgbClr val="4EC9B0"/>
                </a:solidFill>
                <a:latin typeface="Arial"/>
                <a:ea typeface="Arial"/>
                <a:cs typeface="Arial"/>
              </a:rPr>
              <a:t>Chat</a:t>
            </a:r>
            <a:r>
              <a:rPr sz="2000" b="0" i="0" u="none">
                <a:solidFill>
                  <a:srgbClr val="CCCCCC"/>
                </a:solidFill>
                <a:latin typeface="Arial"/>
                <a:ea typeface="Arial"/>
                <a:cs typeface="Arial"/>
              </a:rPr>
              <a:t>(), </a:t>
            </a:r>
            <a:r>
              <a:rPr sz="2000" b="0" i="0" u="none">
                <a:solidFill>
                  <a:srgbClr val="4EC9B0"/>
                </a:solidFill>
                <a:latin typeface="Arial"/>
                <a:ea typeface="Arial"/>
                <a:cs typeface="Arial"/>
              </a:rPr>
              <a:t>Animal</a:t>
            </a:r>
            <a:r>
              <a:rPr sz="2000" b="0" i="0" u="none">
                <a:solidFill>
                  <a:srgbClr val="CCCCCC"/>
                </a:solidFill>
                <a:latin typeface="Arial"/>
                <a:ea typeface="Arial"/>
                <a:cs typeface="Arial"/>
              </a:rPr>
              <a:t>()]</a:t>
            </a:r>
            <a:br>
              <a:rPr sz="2000" b="0" i="0" u="none">
                <a:solidFill>
                  <a:srgbClr val="CCCCCC"/>
                </a:solidFill>
                <a:latin typeface="Arial"/>
                <a:ea typeface="Arial"/>
                <a:cs typeface="Arial"/>
              </a:rPr>
            </a:br>
            <a:endParaRPr sz="2000">
              <a:latin typeface="Arial"/>
              <a:cs typeface="Arial"/>
            </a:endParaRPr>
          </a:p>
          <a:p>
            <a:pPr>
              <a:defRPr/>
            </a:pPr>
            <a:r>
              <a:rPr sz="2000" b="0" i="0" u="none">
                <a:solidFill>
                  <a:srgbClr val="C586C0"/>
                </a:solidFill>
                <a:latin typeface="Arial"/>
                <a:ea typeface="Arial"/>
                <a:cs typeface="Arial"/>
              </a:rPr>
              <a:t>for</a:t>
            </a:r>
            <a:r>
              <a:rPr sz="2000" b="0" i="0" u="none">
                <a:solidFill>
                  <a:srgbClr val="CCCCCC"/>
                </a:solidFill>
                <a:latin typeface="Arial"/>
                <a:ea typeface="Arial"/>
                <a:cs typeface="Arial"/>
              </a:rPr>
              <a:t> </a:t>
            </a:r>
            <a:r>
              <a:rPr sz="2000" b="0" i="0" u="none">
                <a:solidFill>
                  <a:srgbClr val="9CDCFE"/>
                </a:solidFill>
                <a:latin typeface="Arial"/>
                <a:ea typeface="Arial"/>
                <a:cs typeface="Arial"/>
              </a:rPr>
              <a:t>a</a:t>
            </a:r>
            <a:r>
              <a:rPr sz="2000" b="0" i="0" u="none">
                <a:solidFill>
                  <a:srgbClr val="CCCCCC"/>
                </a:solidFill>
                <a:latin typeface="Arial"/>
                <a:ea typeface="Arial"/>
                <a:cs typeface="Arial"/>
              </a:rPr>
              <a:t> </a:t>
            </a:r>
            <a:r>
              <a:rPr sz="2000" b="0" i="0" u="none">
                <a:solidFill>
                  <a:srgbClr val="C586C0"/>
                </a:solidFill>
                <a:latin typeface="Arial"/>
                <a:ea typeface="Arial"/>
                <a:cs typeface="Arial"/>
              </a:rPr>
              <a:t>in</a:t>
            </a:r>
            <a:r>
              <a:rPr sz="2000" b="0" i="0" u="none">
                <a:solidFill>
                  <a:srgbClr val="CCCCCC"/>
                </a:solidFill>
                <a:latin typeface="Arial"/>
                <a:ea typeface="Arial"/>
                <a:cs typeface="Arial"/>
              </a:rPr>
              <a:t> </a:t>
            </a:r>
            <a:r>
              <a:rPr sz="2000" b="0" i="0" u="none">
                <a:solidFill>
                  <a:srgbClr val="9CDCFE"/>
                </a:solidFill>
                <a:latin typeface="Arial"/>
                <a:ea typeface="Arial"/>
                <a:cs typeface="Arial"/>
              </a:rPr>
              <a:t>animaux</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DCDCAA"/>
                </a:solidFill>
                <a:latin typeface="Arial"/>
                <a:ea typeface="Arial"/>
                <a:cs typeface="Arial"/>
              </a:rPr>
              <a:t>print</a:t>
            </a:r>
            <a:r>
              <a:rPr sz="2000" b="0" i="0" u="none">
                <a:solidFill>
                  <a:srgbClr val="CCCCCC"/>
                </a:solidFill>
                <a:latin typeface="Arial"/>
                <a:ea typeface="Arial"/>
                <a:cs typeface="Arial"/>
              </a:rPr>
              <a:t>(</a:t>
            </a:r>
            <a:r>
              <a:rPr sz="2000" b="0" i="0" u="none">
                <a:solidFill>
                  <a:srgbClr val="9CDCFE"/>
                </a:solidFill>
                <a:latin typeface="Arial"/>
                <a:ea typeface="Arial"/>
                <a:cs typeface="Arial"/>
              </a:rPr>
              <a:t>a</a:t>
            </a:r>
            <a:r>
              <a:rPr sz="2000" b="0" i="0" u="none">
                <a:solidFill>
                  <a:srgbClr val="CCCCCC"/>
                </a:solidFill>
                <a:latin typeface="Arial"/>
                <a:ea typeface="Arial"/>
                <a:cs typeface="Arial"/>
              </a:rPr>
              <a:t>.parler())</a:t>
            </a:r>
            <a:br>
              <a:rPr sz="2000" b="0" i="0" u="none">
                <a:solidFill>
                  <a:srgbClr val="CCCCCC"/>
                </a:solidFill>
                <a:latin typeface="Arial"/>
                <a:ea typeface="Arial"/>
                <a:cs typeface="Arial"/>
              </a:rPr>
            </a:br>
            <a:endParaRPr sz="2000">
              <a:latin typeface="Arial"/>
              <a:cs typeface="Arial"/>
            </a:endParaRPr>
          </a:p>
        </p:txBody>
      </p:sp>
      <p:sp>
        <p:nvSpPr>
          <p:cNvPr id="1007522664" name="TextBox 5"/>
          <p:cNvSpPr txBox="1"/>
          <p:nvPr/>
        </p:nvSpPr>
        <p:spPr bwMode="auto">
          <a:xfrm rot="0">
            <a:off x="3730340" y="9436297"/>
            <a:ext cx="9996681" cy="597766"/>
          </a:xfrm>
          <a:prstGeom prst="rect">
            <a:avLst/>
          </a:prstGeom>
        </p:spPr>
        <p:txBody>
          <a:bodyPr lIns="0" tIns="0" rIns="0" bIns="0" rtlCol="0" anchor="t">
            <a:spAutoFit/>
          </a:bodyPr>
          <a:lstStyle/>
          <a:p>
            <a:pPr algn="ctr">
              <a:lnSpc>
                <a:spcPts val="4703"/>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5168732" name="TextBox 2"/>
          <p:cNvSpPr txBox="1"/>
          <p:nvPr/>
        </p:nvSpPr>
        <p:spPr bwMode="auto">
          <a:xfrm rot="0" flipH="0" flipV="0">
            <a:off x="1532849" y="573275"/>
            <a:ext cx="4487595" cy="309731"/>
          </a:xfrm>
          <a:prstGeom prst="rect">
            <a:avLst/>
          </a:prstGeom>
        </p:spPr>
        <p:txBody>
          <a:bodyPr lIns="0" tIns="0" rIns="0" bIns="0" rtlCol="0" anchor="t">
            <a:spAutoFit/>
          </a:bodyPr>
          <a:lstStyle/>
          <a:p>
            <a:pPr algn="l">
              <a:lnSpc>
                <a:spcPts val="2435"/>
              </a:lnSpc>
              <a:defRPr/>
            </a:pPr>
            <a:r>
              <a:rPr lang="fr-FR" sz="2000" b="1" i="0" u="none" strike="noStrike" cap="none" spc="0">
                <a:solidFill>
                  <a:srgbClr val="000000"/>
                </a:solidFill>
                <a:latin typeface="Barlow Bold"/>
                <a:ea typeface="Barlow Bold"/>
                <a:cs typeface="Barlow Bold"/>
              </a:rPr>
              <a:t>3- </a:t>
            </a:r>
            <a:r>
              <a:rPr lang="en-US" sz="2000" b="1" i="0" u="none" strike="noStrike" cap="none" spc="0">
                <a:solidFill>
                  <a:srgbClr val="000000"/>
                </a:solidFill>
                <a:latin typeface="Barlow Bold"/>
                <a:ea typeface="Barlow Bold"/>
                <a:cs typeface="Barlow Bold"/>
              </a:rPr>
              <a:t>Polymorphisme paramétrique</a:t>
            </a:r>
            <a:endParaRPr sz="2000" b="1">
              <a:latin typeface="Barlow Bold"/>
              <a:cs typeface="Barlow Bold"/>
            </a:endParaRPr>
          </a:p>
        </p:txBody>
      </p:sp>
      <p:sp>
        <p:nvSpPr>
          <p:cNvPr id="1536971859" name="TextBox 3"/>
          <p:cNvSpPr txBox="1"/>
          <p:nvPr/>
        </p:nvSpPr>
        <p:spPr bwMode="auto">
          <a:xfrm rot="0" flipH="0" flipV="0">
            <a:off x="1532850" y="1102212"/>
            <a:ext cx="13445188" cy="609959"/>
          </a:xfrm>
          <a:prstGeom prst="rect">
            <a:avLst/>
          </a:prstGeom>
        </p:spPr>
        <p:txBody>
          <a:bodyPr lIns="0" tIns="0" rIns="0" bIns="0" rtlCol="0" anchor="t">
            <a:spAutoFit/>
          </a:bodyPr>
          <a:lstStyle/>
          <a:p>
            <a:pPr>
              <a:defRPr/>
            </a:pPr>
            <a:r>
              <a:rPr lang="en-US" sz="2000" b="0" i="0" u="none" strike="noStrike" cap="none" spc="0">
                <a:solidFill>
                  <a:srgbClr val="000000"/>
                </a:solidFill>
                <a:latin typeface="Arial"/>
                <a:ea typeface="Arial"/>
                <a:cs typeface="Arial"/>
              </a:rPr>
              <a:t>Le polymorphisme paramétrique consiste à </a:t>
            </a:r>
            <a:r>
              <a:rPr lang="en-US" sz="2000" b="0" i="0" u="none" strike="noStrike" cap="none" spc="0">
                <a:solidFill>
                  <a:srgbClr val="000000"/>
                </a:solidFill>
                <a:latin typeface="Arial"/>
                <a:ea typeface="Arial"/>
                <a:cs typeface="Arial"/>
              </a:rPr>
              <a:t>écrire une fonction ou une classe</a:t>
            </a:r>
            <a:r>
              <a:rPr lang="en-US" sz="2000" b="0" i="0" u="none" strike="noStrike" cap="none" spc="0">
                <a:solidFill>
                  <a:srgbClr val="000000"/>
                </a:solidFill>
                <a:latin typeface="Arial"/>
                <a:ea typeface="Arial"/>
                <a:cs typeface="Arial"/>
              </a:rPr>
              <a:t> qui </a:t>
            </a:r>
            <a:r>
              <a:rPr lang="en-US" sz="2000" b="0" i="0" u="none" strike="noStrike" cap="none" spc="0">
                <a:solidFill>
                  <a:srgbClr val="000000"/>
                </a:solidFill>
                <a:latin typeface="Arial"/>
                <a:ea typeface="Arial"/>
                <a:cs typeface="Arial"/>
              </a:rPr>
              <a:t>peut travailler avec n’importe quel type d’objet</a:t>
            </a:r>
            <a:r>
              <a:rPr lang="en-US" sz="2000" b="0" i="0" u="none" strike="noStrike" cap="none" spc="0">
                <a:solidFill>
                  <a:srgbClr val="000000"/>
                </a:solidFill>
                <a:latin typeface="Arial"/>
                <a:ea typeface="Arial"/>
                <a:cs typeface="Arial"/>
              </a:rPr>
              <a:t>, sans se soucier de sa nature.</a:t>
            </a:r>
            <a:endParaRPr>
              <a:latin typeface="Arial"/>
              <a:cs typeface="Arial"/>
            </a:endParaRPr>
          </a:p>
        </p:txBody>
      </p:sp>
      <p:sp>
        <p:nvSpPr>
          <p:cNvPr id="983536502" name="TextBox 4"/>
          <p:cNvSpPr txBox="1"/>
          <p:nvPr/>
        </p:nvSpPr>
        <p:spPr bwMode="auto">
          <a:xfrm rot="0" flipH="0" flipV="0">
            <a:off x="1831592" y="2288343"/>
            <a:ext cx="11856833" cy="2438759"/>
          </a:xfrm>
          <a:prstGeom prst="rect">
            <a:avLst/>
          </a:prstGeom>
        </p:spPr>
        <p:txBody>
          <a:bodyPr lIns="0" tIns="0" rIns="0" bIns="0" rtlCol="0" anchor="t">
            <a:spAutoFit/>
          </a:bodyPr>
          <a:lstStyle/>
          <a:p>
            <a:pPr>
              <a:defRPr/>
            </a:pPr>
            <a:r>
              <a:rPr sz="2000" b="0" i="0" u="none">
                <a:solidFill>
                  <a:srgbClr val="569CD6"/>
                </a:solidFill>
                <a:latin typeface="Arial"/>
                <a:ea typeface="Arial"/>
                <a:cs typeface="Arial"/>
              </a:rPr>
              <a:t>def</a:t>
            </a:r>
            <a:r>
              <a:rPr sz="2000" b="0" i="0" u="none">
                <a:solidFill>
                  <a:srgbClr val="CCCCCC"/>
                </a:solidFill>
                <a:latin typeface="Arial"/>
                <a:ea typeface="Arial"/>
                <a:cs typeface="Arial"/>
              </a:rPr>
              <a:t> </a:t>
            </a:r>
            <a:r>
              <a:rPr sz="2000" b="0" i="0" u="none">
                <a:solidFill>
                  <a:srgbClr val="DCDCAA"/>
                </a:solidFill>
                <a:latin typeface="Arial"/>
                <a:ea typeface="Arial"/>
                <a:cs typeface="Arial"/>
              </a:rPr>
              <a:t>afficher_double</a:t>
            </a:r>
            <a:r>
              <a:rPr sz="2000" b="0" i="0" u="none">
                <a:solidFill>
                  <a:srgbClr val="CCCCCC"/>
                </a:solidFill>
                <a:latin typeface="Arial"/>
                <a:ea typeface="Arial"/>
                <a:cs typeface="Arial"/>
              </a:rPr>
              <a:t>(</a:t>
            </a:r>
            <a:r>
              <a:rPr sz="2000" b="0" i="0" u="none">
                <a:solidFill>
                  <a:srgbClr val="9CDCFE"/>
                </a:solidFill>
                <a:latin typeface="Arial"/>
                <a:ea typeface="Arial"/>
                <a:cs typeface="Arial"/>
              </a:rPr>
              <a:t>valeur</a:t>
            </a:r>
            <a:r>
              <a:rPr sz="2000" b="0" i="0" u="none">
                <a:solidFill>
                  <a:srgbClr val="CCCCCC"/>
                </a:solidFill>
                <a:latin typeface="Arial"/>
                <a:ea typeface="Arial"/>
                <a:cs typeface="Arial"/>
              </a:rPr>
              <a: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DCDCAA"/>
                </a:solidFill>
                <a:latin typeface="Arial"/>
                <a:ea typeface="Arial"/>
                <a:cs typeface="Arial"/>
              </a:rPr>
              <a:t>print</a:t>
            </a:r>
            <a:r>
              <a:rPr sz="2000" b="0" i="0" u="none">
                <a:solidFill>
                  <a:srgbClr val="CCCCCC"/>
                </a:solidFill>
                <a:latin typeface="Arial"/>
                <a:ea typeface="Arial"/>
                <a:cs typeface="Arial"/>
              </a:rPr>
              <a:t>(</a:t>
            </a:r>
            <a:r>
              <a:rPr sz="2000" b="0" i="0" u="none">
                <a:solidFill>
                  <a:srgbClr val="9CDCFE"/>
                </a:solidFill>
                <a:latin typeface="Arial"/>
                <a:ea typeface="Arial"/>
                <a:cs typeface="Arial"/>
              </a:rPr>
              <a:t>valeur</a:t>
            </a:r>
            <a:r>
              <a:rPr sz="2000" b="0" i="0" u="none">
                <a:solidFill>
                  <a:srgbClr val="CCCCCC"/>
                </a:solidFill>
                <a:latin typeface="Arial"/>
                <a:ea typeface="Arial"/>
                <a:cs typeface="Arial"/>
              </a:rPr>
              <a:t> </a:t>
            </a:r>
            <a:r>
              <a:rPr sz="2000" b="0" i="0" u="none">
                <a:solidFill>
                  <a:srgbClr val="D4D4D4"/>
                </a:solidFill>
                <a:latin typeface="Arial"/>
                <a:ea typeface="Arial"/>
                <a:cs typeface="Arial"/>
              </a:rPr>
              <a:t>*</a:t>
            </a:r>
            <a:r>
              <a:rPr sz="2000" b="0" i="0" u="none">
                <a:solidFill>
                  <a:srgbClr val="CCCCCC"/>
                </a:solidFill>
                <a:latin typeface="Arial"/>
                <a:ea typeface="Arial"/>
                <a:cs typeface="Arial"/>
              </a:rPr>
              <a:t> </a:t>
            </a:r>
            <a:r>
              <a:rPr sz="2000" b="0" i="0" u="none">
                <a:solidFill>
                  <a:srgbClr val="B5CEA8"/>
                </a:solidFill>
                <a:latin typeface="Arial"/>
                <a:ea typeface="Arial"/>
                <a:cs typeface="Arial"/>
              </a:rPr>
              <a:t>2</a:t>
            </a:r>
            <a:r>
              <a:rPr sz="2000" b="0" i="0" u="none">
                <a:solidFill>
                  <a:srgbClr val="CCCCCC"/>
                </a:solidFill>
                <a:latin typeface="Arial"/>
                <a:ea typeface="Arial"/>
                <a:cs typeface="Arial"/>
              </a:rPr>
              <a:t>)</a:t>
            </a:r>
            <a:br>
              <a:rPr sz="2000" b="0" i="0" u="none">
                <a:solidFill>
                  <a:srgbClr val="CCCCCC"/>
                </a:solidFill>
                <a:latin typeface="Arial"/>
                <a:ea typeface="Arial"/>
                <a:cs typeface="Arial"/>
              </a:rPr>
            </a:br>
            <a:endParaRPr sz="2000">
              <a:latin typeface="Arial"/>
              <a:cs typeface="Arial"/>
            </a:endParaRPr>
          </a:p>
          <a:p>
            <a:pPr>
              <a:defRPr/>
            </a:pPr>
            <a:r>
              <a:rPr sz="2000" b="0" i="0" u="none">
                <a:solidFill>
                  <a:srgbClr val="DCDCAA"/>
                </a:solidFill>
                <a:latin typeface="Arial"/>
                <a:ea typeface="Arial"/>
                <a:cs typeface="Arial"/>
              </a:rPr>
              <a:t>afficher_double</a:t>
            </a:r>
            <a:r>
              <a:rPr sz="2000" b="0" i="0" u="none">
                <a:solidFill>
                  <a:srgbClr val="CCCCCC"/>
                </a:solidFill>
                <a:latin typeface="Arial"/>
                <a:ea typeface="Arial"/>
                <a:cs typeface="Arial"/>
              </a:rPr>
              <a:t>(</a:t>
            </a:r>
            <a:r>
              <a:rPr sz="2000" b="0" i="0" u="none">
                <a:solidFill>
                  <a:srgbClr val="B5CEA8"/>
                </a:solidFill>
                <a:latin typeface="Arial"/>
                <a:ea typeface="Arial"/>
                <a:cs typeface="Arial"/>
              </a:rPr>
              <a:t>5</a:t>
            </a:r>
            <a:r>
              <a:rPr sz="2000" b="0" i="0" u="none">
                <a:solidFill>
                  <a:srgbClr val="CCCCCC"/>
                </a:solidFill>
                <a:latin typeface="Arial"/>
                <a:ea typeface="Arial"/>
                <a:cs typeface="Arial"/>
              </a:rPr>
              <a:t>)        </a:t>
            </a:r>
            <a:r>
              <a:rPr sz="2000" b="0" i="0" u="none">
                <a:solidFill>
                  <a:srgbClr val="6A9955"/>
                </a:solidFill>
                <a:latin typeface="Arial"/>
                <a:ea typeface="Arial"/>
                <a:cs typeface="Arial"/>
              </a:rPr>
              <a:t># 10 (entier)</a:t>
            </a:r>
            <a:endParaRPr sz="2000">
              <a:latin typeface="Arial"/>
              <a:cs typeface="Arial"/>
            </a:endParaRPr>
          </a:p>
          <a:p>
            <a:pPr>
              <a:defRPr/>
            </a:pPr>
            <a:r>
              <a:rPr sz="2000" b="0" i="0" u="none">
                <a:solidFill>
                  <a:srgbClr val="DCDCAA"/>
                </a:solidFill>
                <a:latin typeface="Arial"/>
                <a:ea typeface="Arial"/>
                <a:cs typeface="Arial"/>
              </a:rPr>
              <a:t>afficher_double</a:t>
            </a:r>
            <a:r>
              <a:rPr sz="2000" b="0" i="0" u="none">
                <a:solidFill>
                  <a:srgbClr val="CCCCCC"/>
                </a:solidFill>
                <a:latin typeface="Arial"/>
                <a:ea typeface="Arial"/>
                <a:cs typeface="Arial"/>
              </a:rPr>
              <a:t>(</a:t>
            </a:r>
            <a:r>
              <a:rPr sz="2000" b="0" i="0" u="none">
                <a:solidFill>
                  <a:srgbClr val="CE9178"/>
                </a:solidFill>
                <a:latin typeface="Arial"/>
                <a:ea typeface="Arial"/>
                <a:cs typeface="Arial"/>
              </a:rPr>
              <a:t>"Hello"</a:t>
            </a:r>
            <a:r>
              <a:rPr sz="2000" b="0" i="0" u="none">
                <a:solidFill>
                  <a:srgbClr val="CCCCCC"/>
                </a:solidFill>
                <a:latin typeface="Arial"/>
                <a:ea typeface="Arial"/>
                <a:cs typeface="Arial"/>
              </a:rPr>
              <a:t>)  </a:t>
            </a:r>
            <a:r>
              <a:rPr sz="2000" b="0" i="0" u="none">
                <a:solidFill>
                  <a:srgbClr val="6A9955"/>
                </a:solidFill>
                <a:latin typeface="Arial"/>
                <a:ea typeface="Arial"/>
                <a:cs typeface="Arial"/>
              </a:rPr>
              <a:t># HelloHello (chaîne)</a:t>
            </a:r>
            <a:endParaRPr sz="2000">
              <a:latin typeface="Arial"/>
              <a:cs typeface="Arial"/>
            </a:endParaRPr>
          </a:p>
          <a:p>
            <a:pPr>
              <a:defRPr/>
            </a:pPr>
            <a:r>
              <a:rPr sz="2000" b="0" i="0" u="none">
                <a:solidFill>
                  <a:srgbClr val="DCDCAA"/>
                </a:solidFill>
                <a:latin typeface="Arial"/>
                <a:ea typeface="Arial"/>
                <a:cs typeface="Arial"/>
              </a:rPr>
              <a:t>afficher_double</a:t>
            </a:r>
            <a:r>
              <a:rPr sz="2000" b="0" i="0" u="none">
                <a:solidFill>
                  <a:srgbClr val="CCCCCC"/>
                </a:solidFill>
                <a:latin typeface="Arial"/>
                <a:ea typeface="Arial"/>
                <a:cs typeface="Arial"/>
              </a:rPr>
              <a:t>([</a:t>
            </a:r>
            <a:r>
              <a:rPr sz="2000" b="0" i="0" u="none">
                <a:solidFill>
                  <a:srgbClr val="B5CEA8"/>
                </a:solidFill>
                <a:latin typeface="Arial"/>
                <a:ea typeface="Arial"/>
                <a:cs typeface="Arial"/>
              </a:rPr>
              <a:t>1</a:t>
            </a:r>
            <a:r>
              <a:rPr sz="2000" b="0" i="0" u="none">
                <a:solidFill>
                  <a:srgbClr val="CCCCCC"/>
                </a:solidFill>
                <a:latin typeface="Arial"/>
                <a:ea typeface="Arial"/>
                <a:cs typeface="Arial"/>
              </a:rPr>
              <a:t>, </a:t>
            </a:r>
            <a:r>
              <a:rPr sz="2000" b="0" i="0" u="none">
                <a:solidFill>
                  <a:srgbClr val="B5CEA8"/>
                </a:solidFill>
                <a:latin typeface="Arial"/>
                <a:ea typeface="Arial"/>
                <a:cs typeface="Arial"/>
              </a:rPr>
              <a:t>2</a:t>
            </a:r>
            <a:r>
              <a:rPr sz="2000" b="0" i="0" u="none">
                <a:solidFill>
                  <a:srgbClr val="CCCCCC"/>
                </a:solidFill>
                <a:latin typeface="Arial"/>
                <a:ea typeface="Arial"/>
                <a:cs typeface="Arial"/>
              </a:rPr>
              <a:t>])   </a:t>
            </a:r>
            <a:r>
              <a:rPr sz="2000" b="0" i="0" u="none">
                <a:solidFill>
                  <a:srgbClr val="6A9955"/>
                </a:solidFill>
                <a:latin typeface="Arial"/>
                <a:ea typeface="Arial"/>
                <a:cs typeface="Arial"/>
              </a:rPr>
              <a:t># [1, 2, 1, 2] (liste)</a:t>
            </a:r>
            <a:br>
              <a:rPr sz="2000" b="0" i="0" u="none">
                <a:solidFill>
                  <a:srgbClr val="6A9955"/>
                </a:solidFill>
                <a:latin typeface="Arial"/>
                <a:ea typeface="Arial"/>
                <a:cs typeface="Arial"/>
              </a:rPr>
            </a:br>
            <a:endParaRPr sz="2000">
              <a:latin typeface="Arial"/>
              <a:ea typeface="Arial"/>
              <a:cs typeface="Arial"/>
            </a:endParaRPr>
          </a:p>
          <a:p>
            <a:pPr>
              <a:defRPr/>
            </a:pPr>
            <a:endParaRPr sz="2000">
              <a:latin typeface="Arial"/>
              <a:cs typeface="Arial"/>
            </a:endParaRPr>
          </a:p>
        </p:txBody>
      </p:sp>
      <p:sp>
        <p:nvSpPr>
          <p:cNvPr id="2120853985" name="TextBox 5"/>
          <p:cNvSpPr txBox="1"/>
          <p:nvPr/>
        </p:nvSpPr>
        <p:spPr bwMode="auto">
          <a:xfrm rot="0">
            <a:off x="3730340" y="9436297"/>
            <a:ext cx="9996681" cy="597766"/>
          </a:xfrm>
          <a:prstGeom prst="rect">
            <a:avLst/>
          </a:prstGeom>
        </p:spPr>
        <p:txBody>
          <a:bodyPr lIns="0" tIns="0" rIns="0" bIns="0" rtlCol="0" anchor="t">
            <a:spAutoFit/>
          </a:bodyPr>
          <a:lstStyle/>
          <a:p>
            <a:pPr algn="ctr">
              <a:lnSpc>
                <a:spcPts val="4703"/>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972531007" name=""/>
          <p:cNvSpPr txBox="1"/>
          <p:nvPr/>
        </p:nvSpPr>
        <p:spPr bwMode="auto">
          <a:xfrm rot="0" flipH="0" flipV="0">
            <a:off x="1768124" y="5119687"/>
            <a:ext cx="13099754"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0" i="0" u="none" strike="noStrike" cap="none" spc="0">
                <a:solidFill>
                  <a:srgbClr val="000000"/>
                </a:solidFill>
                <a:latin typeface="Arial"/>
                <a:ea typeface="Arial"/>
                <a:cs typeface="Arial"/>
              </a:rPr>
              <a:t>La même fonction </a:t>
            </a:r>
            <a:r>
              <a:rPr lang="en-US" sz="2000" b="0" i="0" u="none" strike="noStrike" cap="none" spc="0">
                <a:solidFill>
                  <a:srgbClr val="000000"/>
                </a:solidFill>
                <a:latin typeface="Arial"/>
                <a:ea typeface="Arial"/>
                <a:cs typeface="Arial"/>
              </a:rPr>
              <a:t>afficher_double()</a:t>
            </a:r>
            <a:r>
              <a:rPr lang="en-US" sz="2000" b="0" i="0" u="none" strike="noStrike" cap="none" spc="0">
                <a:solidFill>
                  <a:srgbClr val="000000"/>
                </a:solidFill>
                <a:latin typeface="Arial"/>
                <a:ea typeface="Arial"/>
                <a:cs typeface="Arial"/>
              </a:rPr>
              <a:t> fonctionne avec des </a:t>
            </a:r>
            <a:r>
              <a:rPr lang="en-US" sz="2000" b="0" i="0" u="none" strike="noStrike" cap="none" spc="0">
                <a:solidFill>
                  <a:srgbClr val="000000"/>
                </a:solidFill>
                <a:latin typeface="Arial"/>
                <a:ea typeface="Arial"/>
                <a:cs typeface="Arial"/>
              </a:rPr>
              <a:t>types différents</a:t>
            </a:r>
            <a:r>
              <a:rPr lang="en-US" sz="2000" b="0" i="0" u="none" strike="noStrike" cap="none" spc="0">
                <a:solidFill>
                  <a:srgbClr val="000000"/>
                </a:solidFill>
                <a:latin typeface="Arial"/>
                <a:ea typeface="Arial"/>
                <a:cs typeface="Arial"/>
              </a:rPr>
              <a:t>.</a:t>
            </a:r>
            <a:endParaRPr sz="2000" b="0">
              <a:latin typeface="Arial"/>
              <a:cs typeface="Arial"/>
            </a:endParaRPr>
          </a:p>
          <a:p>
            <a:pPr>
              <a:defRPr/>
            </a:pPr>
            <a:r>
              <a:rPr lang="en-US" sz="2000" b="0" i="0" u="none" strike="noStrike" cap="none" spc="0">
                <a:solidFill>
                  <a:srgbClr val="000000"/>
                </a:solidFill>
                <a:latin typeface="Arial"/>
                <a:ea typeface="Arial"/>
                <a:cs typeface="Arial"/>
              </a:rPr>
              <a:t>Le comportement change selon le type passé sans qu’on ait besoin de le préciser.</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0849897" name="TextBox 2"/>
          <p:cNvSpPr txBox="1"/>
          <p:nvPr/>
        </p:nvSpPr>
        <p:spPr bwMode="auto">
          <a:xfrm rot="0" flipH="0" flipV="0">
            <a:off x="1532849" y="573275"/>
            <a:ext cx="4489395" cy="305159"/>
          </a:xfrm>
          <a:prstGeom prst="rect">
            <a:avLst/>
          </a:prstGeom>
        </p:spPr>
        <p:txBody>
          <a:bodyPr lIns="0" tIns="0" rIns="0" bIns="0" rtlCol="0" anchor="t">
            <a:spAutoFit/>
          </a:bodyPr>
          <a:lstStyle/>
          <a:p>
            <a:pPr>
              <a:defRPr/>
            </a:pPr>
            <a:r>
              <a:rPr sz="2000" b="0" i="0" u="none">
                <a:solidFill>
                  <a:srgbClr val="000000"/>
                </a:solidFill>
                <a:latin typeface="Barlow Bold"/>
                <a:ea typeface="Barlow Bold"/>
                <a:cs typeface="Barlow Bold"/>
              </a:rPr>
              <a:t>L’abstraction</a:t>
            </a:r>
            <a:endParaRPr sz="2000">
              <a:latin typeface="Barlow Bold"/>
              <a:cs typeface="Barlow Bold"/>
            </a:endParaRPr>
          </a:p>
        </p:txBody>
      </p:sp>
      <p:sp>
        <p:nvSpPr>
          <p:cNvPr id="1390360055" name="TextBox 3"/>
          <p:cNvSpPr txBox="1"/>
          <p:nvPr/>
        </p:nvSpPr>
        <p:spPr bwMode="auto">
          <a:xfrm rot="0" flipH="0" flipV="0">
            <a:off x="1532850" y="1499086"/>
            <a:ext cx="13485868" cy="2286360"/>
          </a:xfrm>
          <a:prstGeom prst="rect">
            <a:avLst/>
          </a:prstGeom>
        </p:spPr>
        <p:txBody>
          <a:bodyPr lIns="0" tIns="0" rIns="0" bIns="0" rtlCol="0" anchor="t">
            <a:spAutoFit/>
          </a:bodyPr>
          <a:lstStyle/>
          <a:p>
            <a:pPr marL="283879" indent="-283879">
              <a:lnSpc>
                <a:spcPct val="150000"/>
              </a:lnSpc>
              <a:buFont typeface="Arial"/>
              <a:buChar char="–"/>
              <a:defRPr/>
            </a:pPr>
            <a:r>
              <a:rPr sz="2000" b="0" i="0" u="none">
                <a:solidFill>
                  <a:srgbClr val="000000"/>
                </a:solidFill>
                <a:latin typeface="Arial"/>
                <a:ea typeface="Arial"/>
                <a:cs typeface="Arial"/>
              </a:rPr>
              <a:t>Une </a:t>
            </a:r>
            <a:r>
              <a:rPr sz="2000" b="0" i="0" u="none">
                <a:solidFill>
                  <a:srgbClr val="000000"/>
                </a:solidFill>
                <a:latin typeface="Arial"/>
                <a:ea typeface="Arial"/>
                <a:cs typeface="Arial"/>
              </a:rPr>
              <a:t>classe abstraite</a:t>
            </a:r>
            <a:r>
              <a:rPr sz="2000" b="0" i="0" u="none">
                <a:solidFill>
                  <a:srgbClr val="000000"/>
                </a:solidFill>
                <a:latin typeface="Arial"/>
                <a:ea typeface="Arial"/>
                <a:cs typeface="Arial"/>
              </a:rPr>
              <a:t> sert de </a:t>
            </a:r>
            <a:r>
              <a:rPr sz="2000" b="0" i="0" u="none">
                <a:solidFill>
                  <a:srgbClr val="000000"/>
                </a:solidFill>
                <a:latin typeface="Arial"/>
                <a:ea typeface="Arial"/>
                <a:cs typeface="Arial"/>
              </a:rPr>
              <a:t>modèle</a:t>
            </a:r>
            <a:r>
              <a:rPr sz="2000" b="0" i="0" u="none">
                <a:solidFill>
                  <a:srgbClr val="000000"/>
                </a:solidFill>
                <a:latin typeface="Arial"/>
                <a:ea typeface="Arial"/>
                <a:cs typeface="Arial"/>
              </a:rPr>
              <a:t> pour d’autres classes.</a:t>
            </a:r>
            <a:endParaRPr sz="2000" b="0">
              <a:latin typeface="Arial"/>
              <a:cs typeface="Arial"/>
            </a:endParaRPr>
          </a:p>
          <a:p>
            <a:pPr marL="283879" indent="-283879">
              <a:lnSpc>
                <a:spcPct val="150000"/>
              </a:lnSpc>
              <a:buFont typeface="Arial"/>
              <a:buChar char="–"/>
              <a:defRPr/>
            </a:pPr>
            <a:r>
              <a:rPr sz="2000" b="0" i="0" u="none">
                <a:solidFill>
                  <a:srgbClr val="000000"/>
                </a:solidFill>
                <a:latin typeface="Arial"/>
                <a:ea typeface="Arial"/>
                <a:cs typeface="Arial"/>
              </a:rPr>
              <a:t>Elle </a:t>
            </a:r>
            <a:r>
              <a:rPr sz="2000" b="0" i="0" u="none">
                <a:solidFill>
                  <a:srgbClr val="000000"/>
                </a:solidFill>
                <a:latin typeface="Arial"/>
                <a:ea typeface="Arial"/>
                <a:cs typeface="Arial"/>
              </a:rPr>
              <a:t>ne peut pas être instanciée directement</a:t>
            </a:r>
            <a:r>
              <a:rPr sz="2000" b="0" i="0" u="none">
                <a:solidFill>
                  <a:srgbClr val="000000"/>
                </a:solidFill>
                <a:latin typeface="Arial"/>
                <a:ea typeface="Arial"/>
                <a:cs typeface="Arial"/>
              </a:rPr>
              <a:t>.</a:t>
            </a:r>
            <a:endParaRPr sz="2000" b="0">
              <a:latin typeface="Arial"/>
              <a:cs typeface="Arial"/>
            </a:endParaRPr>
          </a:p>
          <a:p>
            <a:pPr marL="283879" indent="-283879">
              <a:lnSpc>
                <a:spcPct val="150000"/>
              </a:lnSpc>
              <a:buFont typeface="Arial"/>
              <a:buChar char="–"/>
              <a:defRPr/>
            </a:pPr>
            <a:r>
              <a:rPr lang="fr-FR" sz="2000" b="0">
                <a:latin typeface="Arial"/>
                <a:ea typeface="Arial"/>
                <a:cs typeface="Arial"/>
              </a:rPr>
              <a:t>Elle définit </a:t>
            </a:r>
            <a:r>
              <a:rPr sz="2000" b="0" i="0" u="none">
                <a:solidFill>
                  <a:srgbClr val="000000"/>
                </a:solidFill>
                <a:latin typeface="Arial"/>
                <a:ea typeface="Arial"/>
                <a:cs typeface="Arial"/>
              </a:rPr>
              <a:t>des </a:t>
            </a:r>
            <a:r>
              <a:rPr sz="2000" b="0" i="0" u="none">
                <a:solidFill>
                  <a:srgbClr val="000000"/>
                </a:solidFill>
                <a:latin typeface="Arial"/>
                <a:ea typeface="Arial"/>
                <a:cs typeface="Arial"/>
              </a:rPr>
              <a:t>méthodes </a:t>
            </a:r>
            <a:endParaRPr sz="2000" b="0" i="0" u="none">
              <a:solidFill>
                <a:srgbClr val="000000"/>
              </a:solidFill>
              <a:latin typeface="Arial"/>
              <a:cs typeface="Arial"/>
            </a:endParaRPr>
          </a:p>
          <a:p>
            <a:pPr marL="283879" indent="-283879">
              <a:lnSpc>
                <a:spcPct val="150000"/>
              </a:lnSpc>
              <a:buFont typeface="Arial"/>
              <a:buChar char="–"/>
              <a:defRPr/>
            </a:pPr>
            <a:r>
              <a:rPr lang="fr-FR" sz="2000" b="0" i="0" u="none">
                <a:solidFill>
                  <a:srgbClr val="000000"/>
                </a:solidFill>
                <a:latin typeface="Arial"/>
                <a:ea typeface="Arial"/>
                <a:cs typeface="Arial"/>
              </a:rPr>
              <a:t>Elle a au minimum une méthode abtraite</a:t>
            </a:r>
            <a:endParaRPr sz="2000" b="0" i="0" u="none">
              <a:solidFill>
                <a:srgbClr val="000000"/>
              </a:solidFill>
              <a:latin typeface="Arial"/>
              <a:cs typeface="Arial"/>
            </a:endParaRPr>
          </a:p>
          <a:p>
            <a:pPr marL="283879" indent="-283879">
              <a:lnSpc>
                <a:spcPct val="150000"/>
              </a:lnSpc>
              <a:buFont typeface="Arial"/>
              <a:buChar char="–"/>
              <a:defRPr/>
            </a:pPr>
            <a:r>
              <a:rPr sz="2000" b="0" i="0" u="none">
                <a:solidFill>
                  <a:srgbClr val="000000"/>
                </a:solidFill>
                <a:latin typeface="Arial"/>
                <a:ea typeface="Arial"/>
                <a:cs typeface="Arial"/>
              </a:rPr>
              <a:t>On utilise pour cela le module </a:t>
            </a:r>
            <a:r>
              <a:rPr sz="2000" b="0" i="0" u="none">
                <a:solidFill>
                  <a:srgbClr val="000000"/>
                </a:solidFill>
                <a:latin typeface="Arial"/>
                <a:ea typeface="Arial"/>
                <a:cs typeface="Arial"/>
              </a:rPr>
              <a:t>abc</a:t>
            </a:r>
            <a:r>
              <a:rPr sz="2000" b="0" i="0" u="none">
                <a:solidFill>
                  <a:srgbClr val="000000"/>
                </a:solidFill>
                <a:latin typeface="Arial"/>
                <a:ea typeface="Arial"/>
                <a:cs typeface="Arial"/>
              </a:rPr>
              <a:t> (</a:t>
            </a:r>
            <a:r>
              <a:rPr sz="2000" b="0" i="1" u="none">
                <a:solidFill>
                  <a:srgbClr val="000000"/>
                </a:solidFill>
                <a:latin typeface="Arial"/>
                <a:ea typeface="Arial"/>
                <a:cs typeface="Arial"/>
              </a:rPr>
              <a:t>Abstract Base Classes</a:t>
            </a:r>
            <a:r>
              <a:rPr sz="2000" b="0" i="0" u="none">
                <a:solidFill>
                  <a:srgbClr val="000000"/>
                </a:solidFill>
                <a:latin typeface="Arial"/>
                <a:ea typeface="Arial"/>
                <a:cs typeface="Arial"/>
              </a:rPr>
              <a:t>).</a:t>
            </a:r>
            <a:endParaRPr sz="2000" b="0">
              <a:latin typeface="Arial"/>
              <a:cs typeface="Arial"/>
            </a:endParaRPr>
          </a:p>
        </p:txBody>
      </p:sp>
      <p:sp>
        <p:nvSpPr>
          <p:cNvPr id="1545792709" name="TextBox 5"/>
          <p:cNvSpPr txBox="1"/>
          <p:nvPr/>
        </p:nvSpPr>
        <p:spPr bwMode="auto">
          <a:xfrm rot="0">
            <a:off x="3730340" y="9436297"/>
            <a:ext cx="9996681" cy="597766"/>
          </a:xfrm>
          <a:prstGeom prst="rect">
            <a:avLst/>
          </a:prstGeom>
        </p:spPr>
        <p:txBody>
          <a:bodyPr lIns="0" tIns="0" rIns="0" bIns="0" rtlCol="0" anchor="t">
            <a:spAutoFit/>
          </a:bodyPr>
          <a:lstStyle/>
          <a:p>
            <a:pPr algn="ctr">
              <a:lnSpc>
                <a:spcPts val="4703"/>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3087827" name=""/>
          <p:cNvSpPr txBox="1"/>
          <p:nvPr/>
        </p:nvSpPr>
        <p:spPr bwMode="auto">
          <a:xfrm rot="0" flipH="0" flipV="0">
            <a:off x="994216" y="912810"/>
            <a:ext cx="16730438" cy="9418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b="0" i="0" u="none">
                <a:solidFill>
                  <a:srgbClr val="C586C0"/>
                </a:solidFill>
                <a:latin typeface="Consolas"/>
                <a:ea typeface="Consolas"/>
                <a:cs typeface="Consolas"/>
              </a:rPr>
              <a:t>from</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abc</a:t>
            </a:r>
            <a:r>
              <a:rPr sz="1800" b="0" i="0" u="none">
                <a:solidFill>
                  <a:srgbClr val="CCCCCC"/>
                </a:solidFill>
                <a:latin typeface="Consolas"/>
                <a:ea typeface="Consolas"/>
                <a:cs typeface="Consolas"/>
              </a:rPr>
              <a:t> </a:t>
            </a:r>
            <a:r>
              <a:rPr sz="1800" b="0" i="0" u="none">
                <a:solidFill>
                  <a:srgbClr val="C586C0"/>
                </a:solidFill>
                <a:latin typeface="Consolas"/>
                <a:ea typeface="Consolas"/>
                <a:cs typeface="Consolas"/>
              </a:rPr>
              <a:t>import</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ABC</a:t>
            </a: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abstractmethod</a:t>
            </a:r>
            <a:br>
              <a:rPr sz="1800" b="0" i="0" u="none">
                <a:solidFill>
                  <a:srgbClr val="DCDCAA"/>
                </a:solidFill>
                <a:latin typeface="Consolas"/>
                <a:ea typeface="Consolas"/>
                <a:cs typeface="Consolas"/>
              </a:rPr>
            </a:br>
            <a:endParaRPr sz="1800"/>
          </a:p>
          <a:p>
            <a:pPr>
              <a:defRPr/>
            </a:pPr>
            <a:r>
              <a:rPr sz="1800" b="0" i="0" u="none">
                <a:solidFill>
                  <a:srgbClr val="569CD6"/>
                </a:solidFill>
                <a:latin typeface="Consolas"/>
                <a:ea typeface="Consolas"/>
                <a:cs typeface="Consolas"/>
              </a:rPr>
              <a:t>class</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Widget</a:t>
            </a:r>
            <a:r>
              <a:rPr sz="1800" b="0" i="0" u="none">
                <a:solidFill>
                  <a:srgbClr val="CCCCCC"/>
                </a:solidFill>
                <a:latin typeface="Consolas"/>
                <a:ea typeface="Consolas"/>
                <a:cs typeface="Consolas"/>
              </a:rPr>
              <a:t>(</a:t>
            </a:r>
            <a:r>
              <a:rPr sz="1800" b="0" i="0" u="none">
                <a:solidFill>
                  <a:srgbClr val="4EC9B0"/>
                </a:solidFill>
                <a:latin typeface="Consolas"/>
                <a:ea typeface="Consolas"/>
                <a:cs typeface="Consolas"/>
              </a:rPr>
              <a:t>ABC</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r>
              <a:rPr sz="1800" b="0" i="0" u="none">
                <a:solidFill>
                  <a:srgbClr val="569CD6"/>
                </a:solidFill>
                <a:latin typeface="Consolas"/>
                <a:ea typeface="Consolas"/>
                <a:cs typeface="Consolas"/>
              </a:rPr>
              <a:t>def</a:t>
            </a: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test</a:t>
            </a:r>
            <a:r>
              <a:rPr sz="1800" b="0" i="0" u="none">
                <a:solidFill>
                  <a:srgbClr val="CCCCCC"/>
                </a:solidFill>
                <a:latin typeface="Consolas"/>
                <a:ea typeface="Consolas"/>
                <a:cs typeface="Consolas"/>
              </a:rPr>
              <a:t>(</a:t>
            </a:r>
            <a:r>
              <a:rPr sz="1800" b="0" i="0" u="none">
                <a:solidFill>
                  <a:srgbClr val="9CDCFE"/>
                </a:solidFill>
                <a:latin typeface="Consolas"/>
                <a:ea typeface="Consolas"/>
                <a:cs typeface="Consolas"/>
              </a:rPr>
              <a:t>self</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print</a:t>
            </a:r>
            <a:r>
              <a:rPr sz="1800" b="0" i="0" u="none">
                <a:solidFill>
                  <a:srgbClr val="CCCCCC"/>
                </a:solidFill>
                <a:latin typeface="Consolas"/>
                <a:ea typeface="Consolas"/>
                <a:cs typeface="Consolas"/>
              </a:rPr>
              <a:t>(</a:t>
            </a:r>
            <a:r>
              <a:rPr sz="1800" b="0" i="0" u="none">
                <a:solidFill>
                  <a:srgbClr val="CE9178"/>
                </a:solidFill>
                <a:latin typeface="Consolas"/>
                <a:ea typeface="Consolas"/>
                <a:cs typeface="Consolas"/>
              </a:rPr>
              <a:t>"Test de widget"</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endParaRPr sz="1800"/>
          </a:p>
          <a:p>
            <a:pPr>
              <a:defRPr/>
            </a:pPr>
            <a:r>
              <a:rPr sz="1800" b="0" i="0" u="none">
                <a:solidFill>
                  <a:srgbClr val="CCCCCC"/>
                </a:solidFill>
                <a:latin typeface="Consolas"/>
                <a:ea typeface="Consolas"/>
                <a:cs typeface="Consolas"/>
              </a:rPr>
              <a:t>    </a:t>
            </a:r>
            <a:r>
              <a:rPr sz="1800" b="0" i="0" u="none">
                <a:solidFill>
                  <a:srgbClr val="6A9955"/>
                </a:solidFill>
                <a:latin typeface="Consolas"/>
                <a:ea typeface="Consolas"/>
                <a:cs typeface="Consolas"/>
              </a:rPr>
              <a:t># méthode abstraite</a:t>
            </a:r>
            <a:endParaRPr sz="1800"/>
          </a:p>
          <a:p>
            <a:pPr>
              <a:defRPr/>
            </a:pP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a:t>
            </a:r>
            <a:r>
              <a:rPr sz="1800" b="0" i="0" u="none">
                <a:solidFill>
                  <a:srgbClr val="DCDCAA"/>
                </a:solidFill>
                <a:latin typeface="Consolas"/>
                <a:ea typeface="Consolas"/>
                <a:cs typeface="Consolas"/>
              </a:rPr>
              <a:t>abstractmethod</a:t>
            </a:r>
            <a:endParaRPr sz="1800"/>
          </a:p>
          <a:p>
            <a:pPr>
              <a:defRPr/>
            </a:pPr>
            <a:r>
              <a:rPr sz="1800" b="0" i="0" u="none">
                <a:solidFill>
                  <a:srgbClr val="CCCCCC"/>
                </a:solidFill>
                <a:latin typeface="Consolas"/>
                <a:ea typeface="Consolas"/>
                <a:cs typeface="Consolas"/>
              </a:rPr>
              <a:t>    </a:t>
            </a:r>
            <a:r>
              <a:rPr sz="1800" b="0" i="0" u="none">
                <a:solidFill>
                  <a:srgbClr val="569CD6"/>
                </a:solidFill>
                <a:latin typeface="Consolas"/>
                <a:ea typeface="Consolas"/>
                <a:cs typeface="Consolas"/>
              </a:rPr>
              <a:t>def</a:t>
            </a: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render</a:t>
            </a:r>
            <a:r>
              <a:rPr sz="1800" b="0" i="0" u="none">
                <a:solidFill>
                  <a:srgbClr val="CCCCCC"/>
                </a:solidFill>
                <a:latin typeface="Consolas"/>
                <a:ea typeface="Consolas"/>
                <a:cs typeface="Consolas"/>
              </a:rPr>
              <a:t>(</a:t>
            </a:r>
            <a:r>
              <a:rPr sz="1800" b="0" i="0" u="none">
                <a:solidFill>
                  <a:srgbClr val="9CDCFE"/>
                </a:solidFill>
                <a:latin typeface="Consolas"/>
                <a:ea typeface="Consolas"/>
                <a:cs typeface="Consolas"/>
              </a:rPr>
              <a:t>self</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r>
              <a:rPr sz="1800" b="0" i="0" u="none">
                <a:solidFill>
                  <a:srgbClr val="C586C0"/>
                </a:solidFill>
                <a:latin typeface="Consolas"/>
                <a:ea typeface="Consolas"/>
                <a:cs typeface="Consolas"/>
              </a:rPr>
              <a:t>pass</a:t>
            </a:r>
            <a:br>
              <a:rPr sz="1800" b="0" i="0" u="none">
                <a:solidFill>
                  <a:srgbClr val="C586C0"/>
                </a:solidFill>
                <a:latin typeface="Consolas"/>
                <a:ea typeface="Consolas"/>
                <a:cs typeface="Consolas"/>
              </a:rPr>
            </a:br>
            <a:endParaRPr sz="1800"/>
          </a:p>
          <a:p>
            <a:pPr>
              <a:defRPr/>
            </a:pPr>
            <a:r>
              <a:rPr sz="1800" b="0" i="0" u="none">
                <a:solidFill>
                  <a:srgbClr val="6A9955"/>
                </a:solidFill>
                <a:latin typeface="Consolas"/>
                <a:ea typeface="Consolas"/>
                <a:cs typeface="Consolas"/>
              </a:rPr>
              <a:t># on ne pas instancier la classe abstraite</a:t>
            </a:r>
            <a:endParaRPr sz="1800"/>
          </a:p>
          <a:p>
            <a:pPr>
              <a:defRPr/>
            </a:pPr>
            <a:r>
              <a:rPr sz="1800" b="0" i="0" u="none">
                <a:solidFill>
                  <a:srgbClr val="6A9955"/>
                </a:solidFill>
                <a:latin typeface="Consolas"/>
                <a:ea typeface="Consolas"/>
                <a:cs typeface="Consolas"/>
              </a:rPr>
              <a:t># w = Widget() </a:t>
            </a:r>
            <a:endParaRPr sz="1800"/>
          </a:p>
          <a:p>
            <a:pPr>
              <a:defRPr/>
            </a:pPr>
            <a:r>
              <a:rPr sz="1800" b="0" i="0" u="none">
                <a:solidFill>
                  <a:srgbClr val="6A9955"/>
                </a:solidFill>
                <a:latin typeface="Consolas"/>
                <a:ea typeface="Consolas"/>
                <a:cs typeface="Consolas"/>
              </a:rPr>
              <a:t># print(w.test())</a:t>
            </a:r>
            <a:br>
              <a:rPr sz="1800" b="0" i="0" u="none">
                <a:solidFill>
                  <a:srgbClr val="6A9955"/>
                </a:solidFill>
                <a:latin typeface="Consolas"/>
                <a:ea typeface="Consolas"/>
                <a:cs typeface="Consolas"/>
              </a:rPr>
            </a:br>
            <a:br>
              <a:rPr sz="1800" b="0" i="0" u="none">
                <a:solidFill>
                  <a:srgbClr val="6A9955"/>
                </a:solidFill>
                <a:latin typeface="Consolas"/>
                <a:ea typeface="Consolas"/>
                <a:cs typeface="Consolas"/>
              </a:rPr>
            </a:br>
            <a:endParaRPr sz="1800"/>
          </a:p>
          <a:p>
            <a:pPr>
              <a:defRPr/>
            </a:pPr>
            <a:r>
              <a:rPr sz="1800" b="0" i="0" u="none">
                <a:solidFill>
                  <a:srgbClr val="569CD6"/>
                </a:solidFill>
                <a:latin typeface="Consolas"/>
                <a:ea typeface="Consolas"/>
                <a:cs typeface="Consolas"/>
              </a:rPr>
              <a:t>class</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Boutton</a:t>
            </a:r>
            <a:r>
              <a:rPr sz="1800" b="0" i="0" u="none">
                <a:solidFill>
                  <a:srgbClr val="CCCCCC"/>
                </a:solidFill>
                <a:latin typeface="Consolas"/>
                <a:ea typeface="Consolas"/>
                <a:cs typeface="Consolas"/>
              </a:rPr>
              <a:t>(</a:t>
            </a:r>
            <a:r>
              <a:rPr sz="1800" b="0" i="0" u="none">
                <a:solidFill>
                  <a:srgbClr val="4EC9B0"/>
                </a:solidFill>
                <a:latin typeface="Consolas"/>
                <a:ea typeface="Consolas"/>
                <a:cs typeface="Consolas"/>
              </a:rPr>
              <a:t>Widget</a:t>
            </a:r>
            <a:r>
              <a:rPr sz="1800" b="0" i="0" u="none">
                <a:solidFill>
                  <a:srgbClr val="CCCCCC"/>
                </a:solidFill>
                <a:latin typeface="Consolas"/>
                <a:ea typeface="Consolas"/>
                <a:cs typeface="Consolas"/>
              </a:rPr>
              <a:t>):	</a:t>
            </a:r>
            <a:endParaRPr sz="1800"/>
          </a:p>
          <a:p>
            <a:pPr>
              <a:defRPr/>
            </a:pPr>
            <a:r>
              <a:rPr sz="1800" b="0" i="0" u="none">
                <a:solidFill>
                  <a:srgbClr val="CCCCCC"/>
                </a:solidFill>
                <a:latin typeface="Consolas"/>
                <a:ea typeface="Consolas"/>
                <a:cs typeface="Consolas"/>
              </a:rPr>
              <a:t>    </a:t>
            </a:r>
            <a:r>
              <a:rPr sz="1800" b="0" i="0" u="none">
                <a:solidFill>
                  <a:srgbClr val="6A9955"/>
                </a:solidFill>
                <a:latin typeface="Consolas"/>
                <a:ea typeface="Consolas"/>
                <a:cs typeface="Consolas"/>
              </a:rPr>
              <a:t>#Implémentation de la métode abtraite</a:t>
            </a:r>
            <a:endParaRPr sz="1800"/>
          </a:p>
          <a:p>
            <a:pPr>
              <a:defRPr/>
            </a:pPr>
            <a:r>
              <a:rPr sz="1800" b="0" i="0" u="none">
                <a:solidFill>
                  <a:srgbClr val="CCCCCC"/>
                </a:solidFill>
                <a:latin typeface="Consolas"/>
                <a:ea typeface="Consolas"/>
                <a:cs typeface="Consolas"/>
              </a:rPr>
              <a:t>    </a:t>
            </a:r>
            <a:r>
              <a:rPr sz="1800" b="0" i="0" u="none">
                <a:solidFill>
                  <a:srgbClr val="569CD6"/>
                </a:solidFill>
                <a:latin typeface="Consolas"/>
                <a:ea typeface="Consolas"/>
                <a:cs typeface="Consolas"/>
              </a:rPr>
              <a:t>def</a:t>
            </a: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render</a:t>
            </a:r>
            <a:r>
              <a:rPr sz="1800" b="0" i="0" u="none">
                <a:solidFill>
                  <a:srgbClr val="CCCCCC"/>
                </a:solidFill>
                <a:latin typeface="Consolas"/>
                <a:ea typeface="Consolas"/>
                <a:cs typeface="Consolas"/>
              </a:rPr>
              <a:t>(</a:t>
            </a:r>
            <a:r>
              <a:rPr sz="1800" b="0" i="0" u="none">
                <a:solidFill>
                  <a:srgbClr val="9CDCFE"/>
                </a:solidFill>
                <a:latin typeface="Consolas"/>
                <a:ea typeface="Consolas"/>
                <a:cs typeface="Consolas"/>
              </a:rPr>
              <a:t>self</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print</a:t>
            </a:r>
            <a:r>
              <a:rPr sz="1800" b="0" i="0" u="none">
                <a:solidFill>
                  <a:srgbClr val="CCCCCC"/>
                </a:solidFill>
                <a:latin typeface="Consolas"/>
                <a:ea typeface="Consolas"/>
                <a:cs typeface="Consolas"/>
              </a:rPr>
              <a:t>(</a:t>
            </a:r>
            <a:r>
              <a:rPr sz="1800" b="0" i="0" u="none">
                <a:solidFill>
                  <a:srgbClr val="CE9178"/>
                </a:solidFill>
                <a:latin typeface="Consolas"/>
                <a:ea typeface="Consolas"/>
                <a:cs typeface="Consolas"/>
              </a:rPr>
              <a:t>"rendu d'un boutton"</a:t>
            </a:r>
            <a:r>
              <a:rPr sz="1800" b="0" i="0" u="none">
                <a:solidFill>
                  <a:srgbClr val="CCCCCC"/>
                </a:solidFill>
                <a:latin typeface="Consolas"/>
                <a:ea typeface="Consolas"/>
                <a:cs typeface="Consolas"/>
              </a:rPr>
              <a:t>)</a:t>
            </a:r>
            <a:br>
              <a:rPr sz="1800" b="0" i="0" u="none">
                <a:solidFill>
                  <a:srgbClr val="CCCCCC"/>
                </a:solidFill>
                <a:latin typeface="Consolas"/>
                <a:ea typeface="Consolas"/>
                <a:cs typeface="Consolas"/>
              </a:rPr>
            </a:br>
            <a:endParaRPr sz="1800"/>
          </a:p>
          <a:p>
            <a:pPr>
              <a:defRPr/>
            </a:pPr>
            <a:r>
              <a:rPr sz="1800" b="0" i="0" u="none">
                <a:solidFill>
                  <a:srgbClr val="569CD6"/>
                </a:solidFill>
                <a:latin typeface="Consolas"/>
                <a:ea typeface="Consolas"/>
                <a:cs typeface="Consolas"/>
              </a:rPr>
              <a:t>class</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Label</a:t>
            </a:r>
            <a:r>
              <a:rPr sz="1800" b="0" i="0" u="none">
                <a:solidFill>
                  <a:srgbClr val="CCCCCC"/>
                </a:solidFill>
                <a:latin typeface="Consolas"/>
                <a:ea typeface="Consolas"/>
                <a:cs typeface="Consolas"/>
              </a:rPr>
              <a:t>(</a:t>
            </a:r>
            <a:r>
              <a:rPr sz="1800" b="0" i="0" u="none">
                <a:solidFill>
                  <a:srgbClr val="4EC9B0"/>
                </a:solidFill>
                <a:latin typeface="Consolas"/>
                <a:ea typeface="Consolas"/>
                <a:cs typeface="Consolas"/>
              </a:rPr>
              <a:t>Widget</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r>
              <a:rPr sz="1800" b="0" i="0" u="none">
                <a:solidFill>
                  <a:srgbClr val="6A9955"/>
                </a:solidFill>
                <a:latin typeface="Consolas"/>
                <a:ea typeface="Consolas"/>
                <a:cs typeface="Consolas"/>
              </a:rPr>
              <a:t>#Implémentation de la métode abtraite</a:t>
            </a:r>
            <a:endParaRPr sz="1800"/>
          </a:p>
          <a:p>
            <a:pPr>
              <a:defRPr/>
            </a:pPr>
            <a:r>
              <a:rPr sz="1800" b="0" i="0" u="none">
                <a:solidFill>
                  <a:srgbClr val="CCCCCC"/>
                </a:solidFill>
                <a:latin typeface="Consolas"/>
                <a:ea typeface="Consolas"/>
                <a:cs typeface="Consolas"/>
              </a:rPr>
              <a:t>    </a:t>
            </a:r>
            <a:r>
              <a:rPr sz="1800" b="0" i="0" u="none">
                <a:solidFill>
                  <a:srgbClr val="569CD6"/>
                </a:solidFill>
                <a:latin typeface="Consolas"/>
                <a:ea typeface="Consolas"/>
                <a:cs typeface="Consolas"/>
              </a:rPr>
              <a:t>def</a:t>
            </a: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render</a:t>
            </a:r>
            <a:r>
              <a:rPr sz="1800" b="0" i="0" u="none">
                <a:solidFill>
                  <a:srgbClr val="CCCCCC"/>
                </a:solidFill>
                <a:latin typeface="Consolas"/>
                <a:ea typeface="Consolas"/>
                <a:cs typeface="Consolas"/>
              </a:rPr>
              <a:t>(</a:t>
            </a:r>
            <a:r>
              <a:rPr sz="1800" b="0" i="0" u="none">
                <a:solidFill>
                  <a:srgbClr val="9CDCFE"/>
                </a:solidFill>
                <a:latin typeface="Consolas"/>
                <a:ea typeface="Consolas"/>
                <a:cs typeface="Consolas"/>
              </a:rPr>
              <a:t>self</a:t>
            </a:r>
            <a:r>
              <a:rPr sz="1800" b="0" i="0" u="none">
                <a:solidFill>
                  <a:srgbClr val="CCCCCC"/>
                </a:solidFill>
                <a:latin typeface="Consolas"/>
                <a:ea typeface="Consolas"/>
                <a:cs typeface="Consolas"/>
              </a:rPr>
              <a:t>):</a:t>
            </a:r>
            <a:endParaRPr sz="1800"/>
          </a:p>
          <a:p>
            <a:pPr>
              <a:defRPr/>
            </a:pPr>
            <a:r>
              <a:rPr sz="1800" b="0" i="0" u="none">
                <a:solidFill>
                  <a:srgbClr val="CCCCCC"/>
                </a:solidFill>
                <a:latin typeface="Consolas"/>
                <a:ea typeface="Consolas"/>
                <a:cs typeface="Consolas"/>
              </a:rPr>
              <a:t>        </a:t>
            </a:r>
            <a:r>
              <a:rPr sz="1800" b="0" i="0" u="none">
                <a:solidFill>
                  <a:srgbClr val="DCDCAA"/>
                </a:solidFill>
                <a:latin typeface="Consolas"/>
                <a:ea typeface="Consolas"/>
                <a:cs typeface="Consolas"/>
              </a:rPr>
              <a:t>print</a:t>
            </a:r>
            <a:r>
              <a:rPr sz="1800" b="0" i="0" u="none">
                <a:solidFill>
                  <a:srgbClr val="CCCCCC"/>
                </a:solidFill>
                <a:latin typeface="Consolas"/>
                <a:ea typeface="Consolas"/>
                <a:cs typeface="Consolas"/>
              </a:rPr>
              <a:t>(</a:t>
            </a:r>
            <a:r>
              <a:rPr sz="1800" b="0" i="0" u="none">
                <a:solidFill>
                  <a:srgbClr val="CE9178"/>
                </a:solidFill>
                <a:latin typeface="Consolas"/>
                <a:ea typeface="Consolas"/>
                <a:cs typeface="Consolas"/>
              </a:rPr>
              <a:t>"rendu du label"</a:t>
            </a:r>
            <a:r>
              <a:rPr sz="1800" b="0" i="0" u="none">
                <a:solidFill>
                  <a:srgbClr val="CCCCCC"/>
                </a:solidFill>
                <a:latin typeface="Consolas"/>
                <a:ea typeface="Consolas"/>
                <a:cs typeface="Consolas"/>
              </a:rPr>
              <a:t>)</a:t>
            </a:r>
            <a:br>
              <a:rPr sz="1800" b="0" i="0" u="none">
                <a:solidFill>
                  <a:srgbClr val="CCCCCC"/>
                </a:solidFill>
                <a:latin typeface="Consolas"/>
                <a:ea typeface="Consolas"/>
                <a:cs typeface="Consolas"/>
              </a:rPr>
            </a:br>
            <a:endParaRPr sz="1800"/>
          </a:p>
          <a:p>
            <a:pPr>
              <a:defRPr/>
            </a:pPr>
            <a:r>
              <a:rPr sz="1800" b="0" i="0" u="none">
                <a:solidFill>
                  <a:srgbClr val="6A9955"/>
                </a:solidFill>
                <a:latin typeface="Consolas"/>
                <a:ea typeface="Consolas"/>
                <a:cs typeface="Consolas"/>
              </a:rPr>
              <a:t># Instancier les classes </a:t>
            </a:r>
            <a:br>
              <a:rPr sz="1800" b="0" i="0" u="none">
                <a:solidFill>
                  <a:srgbClr val="6A9955"/>
                </a:solidFill>
                <a:latin typeface="Consolas"/>
                <a:ea typeface="Consolas"/>
                <a:cs typeface="Consolas"/>
              </a:rPr>
            </a:br>
            <a:endParaRPr sz="1800"/>
          </a:p>
          <a:p>
            <a:pPr>
              <a:defRPr/>
            </a:pPr>
            <a:r>
              <a:rPr sz="1800" b="0" i="0" u="none">
                <a:solidFill>
                  <a:srgbClr val="9CDCFE"/>
                </a:solidFill>
                <a:latin typeface="Consolas"/>
                <a:ea typeface="Consolas"/>
                <a:cs typeface="Consolas"/>
              </a:rPr>
              <a:t>btn</a:t>
            </a:r>
            <a:r>
              <a:rPr sz="1800" b="0" i="0" u="none">
                <a:solidFill>
                  <a:srgbClr val="CCCCCC"/>
                </a:solidFill>
                <a:latin typeface="Consolas"/>
                <a:ea typeface="Consolas"/>
                <a:cs typeface="Consolas"/>
              </a:rPr>
              <a:t> </a:t>
            </a:r>
            <a:r>
              <a:rPr sz="1800" b="0" i="0" u="none">
                <a:solidFill>
                  <a:srgbClr val="D4D4D4"/>
                </a:solidFill>
                <a:latin typeface="Consolas"/>
                <a:ea typeface="Consolas"/>
                <a:cs typeface="Consolas"/>
              </a:rPr>
              <a:t>=</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Boutton</a:t>
            </a:r>
            <a:r>
              <a:rPr sz="1800" b="0" i="0" u="none">
                <a:solidFill>
                  <a:srgbClr val="CCCCCC"/>
                </a:solidFill>
                <a:latin typeface="Consolas"/>
                <a:ea typeface="Consolas"/>
                <a:cs typeface="Consolas"/>
              </a:rPr>
              <a:t>()</a:t>
            </a:r>
            <a:endParaRPr sz="1800"/>
          </a:p>
          <a:p>
            <a:pPr>
              <a:defRPr/>
            </a:pPr>
            <a:r>
              <a:rPr sz="1800" b="0" i="0" u="none">
                <a:solidFill>
                  <a:srgbClr val="9CDCFE"/>
                </a:solidFill>
                <a:latin typeface="Consolas"/>
                <a:ea typeface="Consolas"/>
                <a:cs typeface="Consolas"/>
              </a:rPr>
              <a:t>btn</a:t>
            </a:r>
            <a:r>
              <a:rPr sz="1800" b="0" i="0" u="none">
                <a:solidFill>
                  <a:srgbClr val="CCCCCC"/>
                </a:solidFill>
                <a:latin typeface="Consolas"/>
                <a:ea typeface="Consolas"/>
                <a:cs typeface="Consolas"/>
              </a:rPr>
              <a:t>.</a:t>
            </a:r>
            <a:r>
              <a:rPr sz="1800" b="0" i="0" u="none">
                <a:solidFill>
                  <a:srgbClr val="DCDCAA"/>
                </a:solidFill>
                <a:latin typeface="Consolas"/>
                <a:ea typeface="Consolas"/>
                <a:cs typeface="Consolas"/>
              </a:rPr>
              <a:t>render</a:t>
            </a:r>
            <a:r>
              <a:rPr sz="1800" b="0" i="0" u="none">
                <a:solidFill>
                  <a:srgbClr val="CCCCCC"/>
                </a:solidFill>
                <a:latin typeface="Consolas"/>
                <a:ea typeface="Consolas"/>
                <a:cs typeface="Consolas"/>
              </a:rPr>
              <a:t>()</a:t>
            </a:r>
            <a:br>
              <a:rPr sz="1800" b="0" i="0" u="none">
                <a:solidFill>
                  <a:srgbClr val="CCCCCC"/>
                </a:solidFill>
                <a:latin typeface="Consolas"/>
                <a:ea typeface="Consolas"/>
                <a:cs typeface="Consolas"/>
              </a:rPr>
            </a:br>
            <a:endParaRPr sz="1800"/>
          </a:p>
          <a:p>
            <a:pPr>
              <a:defRPr/>
            </a:pPr>
            <a:r>
              <a:rPr sz="1800" b="0" i="0" u="none">
                <a:solidFill>
                  <a:srgbClr val="9CDCFE"/>
                </a:solidFill>
                <a:latin typeface="Consolas"/>
                <a:ea typeface="Consolas"/>
                <a:cs typeface="Consolas"/>
              </a:rPr>
              <a:t>lab</a:t>
            </a:r>
            <a:r>
              <a:rPr sz="1800" b="0" i="0" u="none">
                <a:solidFill>
                  <a:srgbClr val="CCCCCC"/>
                </a:solidFill>
                <a:latin typeface="Consolas"/>
                <a:ea typeface="Consolas"/>
                <a:cs typeface="Consolas"/>
              </a:rPr>
              <a:t> </a:t>
            </a:r>
            <a:r>
              <a:rPr sz="1800" b="0" i="0" u="none">
                <a:solidFill>
                  <a:srgbClr val="D4D4D4"/>
                </a:solidFill>
                <a:latin typeface="Consolas"/>
                <a:ea typeface="Consolas"/>
                <a:cs typeface="Consolas"/>
              </a:rPr>
              <a:t>=</a:t>
            </a:r>
            <a:r>
              <a:rPr sz="1800" b="0" i="0" u="none">
                <a:solidFill>
                  <a:srgbClr val="CCCCCC"/>
                </a:solidFill>
                <a:latin typeface="Consolas"/>
                <a:ea typeface="Consolas"/>
                <a:cs typeface="Consolas"/>
              </a:rPr>
              <a:t> </a:t>
            </a:r>
            <a:r>
              <a:rPr sz="1800" b="0" i="0" u="none">
                <a:solidFill>
                  <a:srgbClr val="4EC9B0"/>
                </a:solidFill>
                <a:latin typeface="Consolas"/>
                <a:ea typeface="Consolas"/>
                <a:cs typeface="Consolas"/>
              </a:rPr>
              <a:t>Label</a:t>
            </a:r>
            <a:r>
              <a:rPr sz="1800" b="0" i="0" u="none">
                <a:solidFill>
                  <a:srgbClr val="CCCCCC"/>
                </a:solidFill>
                <a:latin typeface="Consolas"/>
                <a:ea typeface="Consolas"/>
                <a:cs typeface="Consolas"/>
              </a:rPr>
              <a:t>()</a:t>
            </a:r>
            <a:endParaRPr sz="1800"/>
          </a:p>
          <a:p>
            <a:pPr>
              <a:defRPr/>
            </a:pPr>
            <a:r>
              <a:rPr sz="1800" b="0" i="0" u="none">
                <a:solidFill>
                  <a:srgbClr val="9CDCFE"/>
                </a:solidFill>
                <a:latin typeface="Consolas"/>
                <a:ea typeface="Consolas"/>
                <a:cs typeface="Consolas"/>
              </a:rPr>
              <a:t>lab</a:t>
            </a:r>
            <a:r>
              <a:rPr sz="1800" b="0" i="0" u="none">
                <a:solidFill>
                  <a:srgbClr val="CCCCCC"/>
                </a:solidFill>
                <a:latin typeface="Consolas"/>
                <a:ea typeface="Consolas"/>
                <a:cs typeface="Consolas"/>
              </a:rPr>
              <a:t>.</a:t>
            </a:r>
            <a:r>
              <a:rPr sz="1800" b="0" i="0" u="none">
                <a:solidFill>
                  <a:srgbClr val="DCDCAA"/>
                </a:solidFill>
                <a:latin typeface="Consolas"/>
                <a:ea typeface="Consolas"/>
                <a:cs typeface="Consolas"/>
              </a:rPr>
              <a:t>render</a:t>
            </a:r>
            <a:r>
              <a:rPr sz="1800" b="0" i="0" u="none">
                <a:solidFill>
                  <a:srgbClr val="CCCCCC"/>
                </a:solidFill>
                <a:latin typeface="Consolas"/>
                <a:ea typeface="Consolas"/>
                <a:cs typeface="Consolas"/>
              </a:rPr>
              <a:t>()</a:t>
            </a:r>
            <a:br>
              <a:rPr sz="1800" b="0" i="0" u="none">
                <a:solidFill>
                  <a:srgbClr val="CCCCCC"/>
                </a:solidFill>
                <a:latin typeface="Consolas"/>
                <a:ea typeface="Consolas"/>
                <a:cs typeface="Consolas"/>
              </a:rPr>
            </a:b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663661933" name="Group 2"/>
          <p:cNvGrpSpPr>
            <a:grpSpLocks noChangeAspect="1"/>
          </p:cNvGrpSpPr>
          <p:nvPr/>
        </p:nvGrpSpPr>
        <p:grpSpPr bwMode="auto">
          <a:xfrm rot="0">
            <a:off x="0" y="0"/>
            <a:ext cx="18288000" cy="10287000"/>
            <a:chOff x="0" y="0"/>
            <a:chExt cx="24383999" cy="13716000"/>
          </a:xfrm>
        </p:grpSpPr>
        <p:sp>
          <p:nvSpPr>
            <p:cNvPr id="877939174" name="Freeform 3" descr="preencoded.png"/>
            <p:cNvSpPr/>
            <p:nvPr/>
          </p:nvSpPr>
          <p:spPr bwMode="auto">
            <a:xfrm rot="0" flipH="0" flipV="0">
              <a:off x="0" y="0"/>
              <a:ext cx="24383999" cy="13716000"/>
            </a:xfrm>
            <a:custGeom>
              <a:avLst/>
              <a:gdLst/>
              <a:ahLst/>
              <a:cxnLst/>
              <a:rect l="l" t="t" r="r" b="b"/>
              <a:pathLst>
                <a:path w="24384000" h="13716000" fill="norm" stroke="1" extrusionOk="0">
                  <a:moveTo>
                    <a:pt x="0" y="0"/>
                  </a:moveTo>
                  <a:lnTo>
                    <a:pt x="24384000" y="0"/>
                  </a:lnTo>
                  <a:lnTo>
                    <a:pt x="24384000" y="13716000"/>
                  </a:lnTo>
                  <a:lnTo>
                    <a:pt x="0" y="13716000"/>
                  </a:lnTo>
                  <a:lnTo>
                    <a:pt x="0" y="0"/>
                  </a:lnTo>
                  <a:close/>
                </a:path>
              </a:pathLst>
            </a:custGeom>
            <a:blipFill>
              <a:blip r:embed="rId3"/>
              <a:srcRect l="0" t="0" r="0" b="0"/>
              <a:stretch/>
            </a:blipFill>
          </p:spPr>
        </p:sp>
      </p:grpSp>
      <p:grpSp>
        <p:nvGrpSpPr>
          <p:cNvPr id="899891857" name="Group 4"/>
          <p:cNvGrpSpPr/>
          <p:nvPr/>
        </p:nvGrpSpPr>
        <p:grpSpPr bwMode="auto">
          <a:xfrm rot="0">
            <a:off x="0" y="0"/>
            <a:ext cx="18288000" cy="10287000"/>
            <a:chOff x="0" y="0"/>
            <a:chExt cx="24383999" cy="13716000"/>
          </a:xfrm>
        </p:grpSpPr>
        <p:sp>
          <p:nvSpPr>
            <p:cNvPr id="1984044920" name="Freeform 5"/>
            <p:cNvSpPr/>
            <p:nvPr/>
          </p:nvSpPr>
          <p:spPr bwMode="auto">
            <a:xfrm rot="0" flipH="0" flipV="0">
              <a:off x="0" y="0"/>
              <a:ext cx="24383999" cy="13716000"/>
            </a:xfrm>
            <a:custGeom>
              <a:avLst/>
              <a:gdLst/>
              <a:ahLst/>
              <a:cxnLst/>
              <a:rect l="l" t="t" r="r" b="b"/>
              <a:pathLst>
                <a:path w="24384000" h="13716000" fill="norm" stroke="1" extrusionOk="0">
                  <a:moveTo>
                    <a:pt x="0" y="0"/>
                  </a:moveTo>
                  <a:lnTo>
                    <a:pt x="24384000" y="0"/>
                  </a:lnTo>
                  <a:lnTo>
                    <a:pt x="24384000" y="13716000"/>
                  </a:lnTo>
                  <a:lnTo>
                    <a:pt x="0" y="13716000"/>
                  </a:lnTo>
                  <a:close/>
                </a:path>
              </a:pathLst>
            </a:custGeom>
            <a:solidFill>
              <a:srgbClr val="FFFFFF"/>
            </a:solidFill>
          </p:spPr>
        </p:sp>
      </p:grpSp>
      <p:sp>
        <p:nvSpPr>
          <p:cNvPr id="400856732" name="TextBox 6"/>
          <p:cNvSpPr txBox="1"/>
          <p:nvPr/>
        </p:nvSpPr>
        <p:spPr bwMode="auto">
          <a:xfrm rot="0">
            <a:off x="988369" y="4610919"/>
            <a:ext cx="10787214" cy="889359"/>
          </a:xfrm>
          <a:prstGeom prst="rect">
            <a:avLst/>
          </a:prstGeom>
        </p:spPr>
        <p:txBody>
          <a:bodyPr lIns="0" tIns="0" rIns="0" bIns="0" rtlCol="0" anchor="t">
            <a:spAutoFit/>
          </a:bodyPr>
          <a:lstStyle/>
          <a:p>
            <a:pPr algn="ctr">
              <a:lnSpc>
                <a:spcPts val="6999"/>
              </a:lnSpc>
              <a:defRPr/>
            </a:pPr>
            <a:r>
              <a:rPr lang="fr-FR" sz="5550" b="1">
                <a:solidFill>
                  <a:srgbClr val="2E3C4E"/>
                </a:solidFill>
                <a:latin typeface="Barlow Bold"/>
                <a:ea typeface="Barlow Bold"/>
                <a:cs typeface="Barlow Bold"/>
              </a:rPr>
              <a:t>DJANGO</a:t>
            </a:r>
            <a:endParaRPr/>
          </a:p>
        </p:txBody>
      </p:sp>
      <p:sp>
        <p:nvSpPr>
          <p:cNvPr id="1797609592" name="TextBox 9"/>
          <p:cNvSpPr txBox="1"/>
          <p:nvPr/>
        </p:nvSpPr>
        <p:spPr bwMode="auto">
          <a:xfrm rot="0">
            <a:off x="3913287" y="9407254"/>
            <a:ext cx="9997041" cy="597766"/>
          </a:xfrm>
          <a:prstGeom prst="rect">
            <a:avLst/>
          </a:prstGeom>
        </p:spPr>
        <p:txBody>
          <a:bodyPr lIns="0" tIns="0" rIns="0" bIns="0" rtlCol="0" anchor="t">
            <a:spAutoFit/>
          </a:bodyPr>
          <a:lstStyle/>
          <a:p>
            <a:pPr algn="ctr">
              <a:lnSpc>
                <a:spcPts val="4703"/>
              </a:lnSpc>
              <a:spcBef>
                <a:spcPts val="0"/>
              </a:spcBef>
              <a:defRPr/>
            </a:pPr>
            <a:r>
              <a:rPr lang="en-US" sz="1800" b="1">
                <a:solidFill>
                  <a:srgbClr val="2E3C4E"/>
                </a:solidFill>
                <a:latin typeface="Montserrat"/>
                <a:ea typeface="Montserrat"/>
                <a:cs typeface="Montserrat"/>
              </a:rPr>
              <a:t>COURS DE PYTHON                            IAI-TOGO</a:t>
            </a:r>
            <a:endParaRPr sz="1800" b="1"/>
          </a:p>
        </p:txBody>
      </p:sp>
      <p:pic>
        <p:nvPicPr>
          <p:cNvPr id="1819267198" name=""/>
          <p:cNvPicPr>
            <a:picLocks noChangeAspect="1"/>
          </p:cNvPicPr>
          <p:nvPr/>
        </p:nvPicPr>
        <p:blipFill>
          <a:blip r:embed="rId4"/>
          <a:stretch/>
        </p:blipFill>
        <p:spPr bwMode="auto">
          <a:xfrm rot="16199932" flipH="0" flipV="0">
            <a:off x="11053914" y="3353591"/>
            <a:ext cx="7292088" cy="3404016"/>
          </a:xfrm>
          <a:prstGeom prst="rect">
            <a:avLst/>
          </a:prstGeom>
        </p:spPr>
      </p:pic>
      <p:sp>
        <p:nvSpPr>
          <p:cNvPr id="956591698" name=""/>
          <p:cNvSpPr txBox="1"/>
          <p:nvPr/>
        </p:nvSpPr>
        <p:spPr bwMode="auto">
          <a:xfrm rot="0" flipH="0" flipV="0">
            <a:off x="795781" y="3790155"/>
            <a:ext cx="11172031"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705594" name="TextBox 5"/>
          <p:cNvSpPr txBox="1"/>
          <p:nvPr/>
        </p:nvSpPr>
        <p:spPr bwMode="auto">
          <a:xfrm rot="0">
            <a:off x="3730339" y="9436296"/>
            <a:ext cx="9997039"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651378050" name=""/>
          <p:cNvSpPr txBox="1"/>
          <p:nvPr/>
        </p:nvSpPr>
        <p:spPr bwMode="auto">
          <a:xfrm rot="0" flipH="0" flipV="0">
            <a:off x="1873485" y="873124"/>
            <a:ext cx="1093678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I- </a:t>
            </a:r>
            <a:r>
              <a:rPr sz="2000" b="1" i="0" u="none" spc="5">
                <a:solidFill>
                  <a:srgbClr val="4D4D4C"/>
                </a:solidFill>
                <a:latin typeface="Arial"/>
                <a:ea typeface="Arial"/>
                <a:cs typeface="Arial"/>
              </a:rPr>
              <a:t>Qu'est-ce que Django ?</a:t>
            </a:r>
            <a:endParaRPr sz="2000" b="1">
              <a:latin typeface="Arial"/>
              <a:cs typeface="Arial"/>
            </a:endParaRPr>
          </a:p>
        </p:txBody>
      </p:sp>
      <p:sp>
        <p:nvSpPr>
          <p:cNvPr id="1821045184" name=""/>
          <p:cNvSpPr txBox="1"/>
          <p:nvPr/>
        </p:nvSpPr>
        <p:spPr bwMode="auto">
          <a:xfrm rot="0" flipH="0" flipV="0">
            <a:off x="1609374" y="1567656"/>
            <a:ext cx="1494558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000000"/>
                </a:solidFill>
                <a:latin typeface="Arial"/>
                <a:ea typeface="Arial"/>
                <a:cs typeface="Arial"/>
              </a:rPr>
              <a:t>Django</a:t>
            </a:r>
            <a:r>
              <a:rPr sz="2000" b="0" i="0" u="none">
                <a:solidFill>
                  <a:srgbClr val="000000"/>
                </a:solidFill>
                <a:latin typeface="Arial"/>
                <a:ea typeface="Arial"/>
                <a:cs typeface="Arial"/>
              </a:rPr>
              <a:t> est un </a:t>
            </a:r>
            <a:r>
              <a:rPr sz="2000" b="0" i="1" u="none">
                <a:solidFill>
                  <a:srgbClr val="000000"/>
                </a:solidFill>
                <a:latin typeface="Arial"/>
                <a:ea typeface="Arial"/>
                <a:cs typeface="Arial"/>
              </a:rPr>
              <a:t>framework web</a:t>
            </a:r>
            <a:r>
              <a:rPr sz="2000" b="0" i="0" u="none">
                <a:solidFill>
                  <a:srgbClr val="000000"/>
                </a:solidFill>
                <a:latin typeface="Arial"/>
                <a:ea typeface="Arial"/>
                <a:cs typeface="Arial"/>
              </a:rPr>
              <a:t> écrit en </a:t>
            </a:r>
            <a:r>
              <a:rPr sz="2000" b="0" i="0" u="none">
                <a:solidFill>
                  <a:srgbClr val="000000"/>
                </a:solidFill>
                <a:latin typeface="Arial"/>
                <a:ea typeface="Arial"/>
                <a:cs typeface="Arial"/>
              </a:rPr>
              <a:t>Python</a:t>
            </a:r>
            <a:r>
              <a:rPr sz="2000" b="0" i="0" u="none">
                <a:solidFill>
                  <a:srgbClr val="000000"/>
                </a:solidFill>
                <a:latin typeface="Arial"/>
                <a:ea typeface="Arial"/>
                <a:cs typeface="Arial"/>
              </a:rPr>
              <a:t> qui sert à créer des sites et applications web </a:t>
            </a:r>
            <a:r>
              <a:rPr sz="2000" b="0" i="0" u="none">
                <a:solidFill>
                  <a:srgbClr val="000000"/>
                </a:solidFill>
                <a:latin typeface="Arial"/>
                <a:ea typeface="Arial"/>
                <a:cs typeface="Arial"/>
              </a:rPr>
              <a:t>rapidement, proprement et en sécurité</a:t>
            </a:r>
            <a:r>
              <a:rPr sz="2000" b="0" i="0" u="none">
                <a:solidFill>
                  <a:srgbClr val="000000"/>
                </a:solidFill>
                <a:latin typeface="Arial"/>
                <a:ea typeface="Arial"/>
                <a:cs typeface="Arial"/>
              </a:rPr>
              <a:t>.</a:t>
            </a:r>
            <a:endParaRPr sz="2000">
              <a:latin typeface="Arial"/>
              <a:cs typeface="Arial"/>
            </a:endParaRPr>
          </a:p>
        </p:txBody>
      </p:sp>
      <p:sp>
        <p:nvSpPr>
          <p:cNvPr id="1631657935" name=""/>
          <p:cNvSpPr txBox="1"/>
          <p:nvPr/>
        </p:nvSpPr>
        <p:spPr bwMode="auto">
          <a:xfrm rot="0" flipH="0" flipV="0">
            <a:off x="1708593" y="2381112"/>
            <a:ext cx="1081556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1" i="0" u="none" spc="5">
                <a:solidFill>
                  <a:srgbClr val="000000"/>
                </a:solidFill>
                <a:latin typeface="Arial"/>
                <a:ea typeface="Arial"/>
                <a:cs typeface="Arial"/>
              </a:rPr>
              <a:t>Installation et création du projet</a:t>
            </a:r>
            <a:endParaRPr sz="2000"/>
          </a:p>
        </p:txBody>
      </p:sp>
      <p:sp>
        <p:nvSpPr>
          <p:cNvPr id="930083583" name=""/>
          <p:cNvSpPr txBox="1"/>
          <p:nvPr/>
        </p:nvSpPr>
        <p:spPr bwMode="auto">
          <a:xfrm rot="0" flipH="0" flipV="0">
            <a:off x="1873485" y="2956718"/>
            <a:ext cx="6206729" cy="1920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1" u="none" spc="5">
                <a:solidFill>
                  <a:srgbClr val="8E908C"/>
                </a:solidFill>
                <a:latin typeface="Arial"/>
                <a:ea typeface="Arial"/>
                <a:cs typeface="Arial"/>
              </a:rPr>
              <a:t># Installation</a:t>
            </a:r>
            <a:endParaRPr sz="2000" b="0" i="1" u="none" spc="5">
              <a:solidFill>
                <a:srgbClr val="8E908C"/>
              </a:solidFill>
              <a:latin typeface="Arial"/>
              <a:ea typeface="Arial"/>
              <a:cs typeface="Arial"/>
            </a:endParaRPr>
          </a:p>
          <a:p>
            <a:pPr>
              <a:defRPr/>
            </a:pPr>
            <a:r>
              <a:rPr sz="2000" b="0" i="0" u="none" spc="5">
                <a:solidFill>
                  <a:srgbClr val="4D4D4C"/>
                </a:solidFill>
                <a:latin typeface="Arial"/>
                <a:ea typeface="Arial"/>
                <a:cs typeface="Arial"/>
              </a:rPr>
              <a:t>pip </a:t>
            </a:r>
            <a:r>
              <a:rPr sz="2000" b="0" i="0" u="none" spc="5">
                <a:solidFill>
                  <a:srgbClr val="4D4D4C"/>
                </a:solidFill>
                <a:latin typeface="Arial"/>
                <a:ea typeface="Arial"/>
                <a:cs typeface="Arial"/>
              </a:rPr>
              <a:t>install</a:t>
            </a:r>
            <a:r>
              <a:rPr sz="2000" b="0" i="0" u="none" spc="5">
                <a:solidFill>
                  <a:srgbClr val="4D4D4C"/>
                </a:solidFill>
                <a:latin typeface="Arial"/>
                <a:ea typeface="Arial"/>
                <a:cs typeface="Arial"/>
              </a:rPr>
              <a:t> django</a:t>
            </a:r>
            <a:endParaRPr sz="2000"/>
          </a:p>
          <a:p>
            <a:pPr>
              <a:defRPr/>
            </a:pPr>
            <a:endParaRPr sz="2000"/>
          </a:p>
          <a:p>
            <a:pPr>
              <a:defRPr/>
            </a:pPr>
            <a:r>
              <a:rPr sz="2000" b="0" i="1" u="none" spc="5">
                <a:solidFill>
                  <a:srgbClr val="8E908C"/>
                </a:solidFill>
                <a:latin typeface="Arial"/>
                <a:ea typeface="Arial"/>
                <a:cs typeface="Arial"/>
              </a:rPr>
              <a:t># Création du projet</a:t>
            </a:r>
            <a:endParaRPr sz="2000" b="0" i="0" u="none" spc="5">
              <a:solidFill>
                <a:srgbClr val="4D4D4C"/>
              </a:solidFill>
              <a:latin typeface="Arial"/>
              <a:ea typeface="Arial"/>
              <a:cs typeface="Arial"/>
            </a:endParaRPr>
          </a:p>
          <a:p>
            <a:pPr>
              <a:defRPr/>
            </a:pPr>
            <a:r>
              <a:rPr sz="2000" b="0" i="0" u="none" spc="5">
                <a:solidFill>
                  <a:srgbClr val="4D4D4C"/>
                </a:solidFill>
                <a:latin typeface="Arial"/>
                <a:ea typeface="Arial"/>
                <a:cs typeface="Arial"/>
              </a:rPr>
              <a:t>django-admin startproject </a:t>
            </a:r>
            <a:r>
              <a:rPr lang="fr-FR" sz="2000" b="0" i="0" u="none" spc="5">
                <a:solidFill>
                  <a:srgbClr val="4D4D4C"/>
                </a:solidFill>
                <a:latin typeface="Arial"/>
                <a:ea typeface="Arial"/>
                <a:cs typeface="Arial"/>
              </a:rPr>
              <a:t>BLOG</a:t>
            </a:r>
            <a:endParaRPr sz="2000" b="0" i="0" u="none" spc="5">
              <a:solidFill>
                <a:srgbClr val="4D4D4C"/>
              </a:solidFill>
              <a:latin typeface="Arial"/>
              <a:ea typeface="Arial"/>
              <a:cs typeface="Arial"/>
            </a:endParaRPr>
          </a:p>
          <a:p>
            <a:pPr>
              <a:defRPr/>
            </a:pPr>
            <a:br>
              <a:rPr sz="2000" b="0" i="0" u="none" spc="5">
                <a:solidFill>
                  <a:srgbClr val="4D4D4C"/>
                </a:solidFill>
                <a:latin typeface="Arial"/>
                <a:ea typeface="Arial"/>
                <a:cs typeface="Arial"/>
              </a:rPr>
            </a:br>
            <a:r>
              <a:rPr sz="2000" b="0" i="0" u="none" spc="5">
                <a:solidFill>
                  <a:srgbClr val="4271AE"/>
                </a:solidFill>
                <a:latin typeface="Arial"/>
                <a:ea typeface="Arial"/>
                <a:cs typeface="Arial"/>
              </a:rPr>
              <a:t>cd</a:t>
            </a:r>
            <a:r>
              <a:rPr sz="2000" b="0" i="0" u="none" spc="5">
                <a:solidFill>
                  <a:srgbClr val="4D4D4C"/>
                </a:solidFill>
                <a:latin typeface="Arial"/>
                <a:ea typeface="Arial"/>
                <a:cs typeface="Arial"/>
              </a:rPr>
              <a:t> </a:t>
            </a:r>
            <a:r>
              <a:rPr lang="fr-FR" sz="2000" b="0" i="0" u="none" spc="5">
                <a:solidFill>
                  <a:srgbClr val="4D4D4C"/>
                </a:solidFill>
                <a:latin typeface="Arial"/>
                <a:ea typeface="Arial"/>
                <a:cs typeface="Arial"/>
              </a:rPr>
              <a:t>BLOG</a:t>
            </a:r>
            <a:endParaRPr sz="2000" b="0" i="0" u="none" spc="5">
              <a:solidFill>
                <a:srgbClr val="4D4D4C"/>
              </a:solidFill>
              <a:latin typeface="Arial"/>
              <a:ea typeface="Arial"/>
              <a:cs typeface="Arial"/>
            </a:endParaRPr>
          </a:p>
        </p:txBody>
      </p:sp>
      <p:pic>
        <p:nvPicPr>
          <p:cNvPr id="1411691424" name=""/>
          <p:cNvPicPr>
            <a:picLocks noChangeAspect="1"/>
          </p:cNvPicPr>
          <p:nvPr/>
        </p:nvPicPr>
        <p:blipFill>
          <a:blip r:embed="rId3"/>
          <a:stretch/>
        </p:blipFill>
        <p:spPr bwMode="auto">
          <a:xfrm flipH="0" flipV="0">
            <a:off x="1609374" y="5000625"/>
            <a:ext cx="8118703" cy="44952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2324407" name="TextBox 5"/>
          <p:cNvSpPr txBox="1"/>
          <p:nvPr/>
        </p:nvSpPr>
        <p:spPr bwMode="auto">
          <a:xfrm rot="0">
            <a:off x="3730339" y="9436296"/>
            <a:ext cx="999740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342214359" name=""/>
          <p:cNvSpPr txBox="1"/>
          <p:nvPr/>
        </p:nvSpPr>
        <p:spPr bwMode="auto">
          <a:xfrm rot="0" flipH="0" flipV="0">
            <a:off x="1430781" y="793749"/>
            <a:ext cx="11650440"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1" i="0" u="none">
                <a:solidFill>
                  <a:srgbClr val="000000"/>
                </a:solidFill>
                <a:latin typeface="Arial"/>
                <a:ea typeface="Arial"/>
                <a:cs typeface="Arial"/>
              </a:rPr>
              <a:t>__init__.py</a:t>
            </a:r>
            <a:endParaRPr sz="2000" b="1">
              <a:latin typeface="Arial"/>
              <a:cs typeface="Arial"/>
            </a:endParaRPr>
          </a:p>
        </p:txBody>
      </p:sp>
      <p:sp>
        <p:nvSpPr>
          <p:cNvPr id="1245280971" name=""/>
          <p:cNvSpPr txBox="1"/>
          <p:nvPr/>
        </p:nvSpPr>
        <p:spPr bwMode="auto">
          <a:xfrm rot="0" flipH="0" flipV="0">
            <a:off x="1430781" y="1428748"/>
            <a:ext cx="14750386"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0" i="0" u="none">
                <a:solidFill>
                  <a:srgbClr val="000000"/>
                </a:solidFill>
                <a:latin typeface="Arial"/>
                <a:ea typeface="Arial"/>
                <a:cs typeface="Arial"/>
              </a:rPr>
              <a:t>C’</a:t>
            </a:r>
            <a:r>
              <a:rPr sz="2000" b="0" i="0" u="none">
                <a:solidFill>
                  <a:srgbClr val="000000"/>
                </a:solidFill>
                <a:latin typeface="Arial"/>
                <a:ea typeface="Arial"/>
                <a:cs typeface="Arial"/>
              </a:rPr>
              <a:t>est un fichier spécial que l’on met dans un dossier Python pour dire à Python que ce dossier est un </a:t>
            </a:r>
            <a:r>
              <a:rPr sz="2000" b="0" i="0" u="none">
                <a:solidFill>
                  <a:srgbClr val="000000"/>
                </a:solidFill>
                <a:latin typeface="Arial"/>
                <a:ea typeface="Arial"/>
                <a:cs typeface="Arial"/>
              </a:rPr>
              <a:t>package</a:t>
            </a:r>
            <a:r>
              <a:rPr sz="2000" b="0" i="0" u="none">
                <a:solidFill>
                  <a:srgbClr val="000000"/>
                </a:solidFill>
                <a:latin typeface="Arial"/>
                <a:ea typeface="Arial"/>
                <a:cs typeface="Arial"/>
              </a:rPr>
              <a:t> (un module contenant d’autres modules).</a:t>
            </a:r>
            <a:br>
              <a:rPr sz="2000" b="0" i="0" u="none">
                <a:solidFill>
                  <a:srgbClr val="000000"/>
                </a:solidFill>
                <a:latin typeface="Arial"/>
                <a:ea typeface="Arial"/>
                <a:cs typeface="Arial"/>
              </a:rPr>
            </a:br>
            <a:r>
              <a:rPr sz="2000" b="0" i="0" u="none">
                <a:solidFill>
                  <a:srgbClr val="000000"/>
                </a:solidFill>
                <a:latin typeface="Arial"/>
                <a:ea typeface="Arial"/>
                <a:cs typeface="Arial"/>
              </a:rPr>
              <a:t> Même s’il est vide, il permet d’importer les fichiers du dossier comme un module et de structurer le projet correctement.</a:t>
            </a:r>
            <a:endParaRPr sz="2000" b="0">
              <a:latin typeface="Arial"/>
              <a:cs typeface="Arial"/>
            </a:endParaRPr>
          </a:p>
        </p:txBody>
      </p:sp>
      <p:sp>
        <p:nvSpPr>
          <p:cNvPr id="1602028590" name=""/>
          <p:cNvSpPr txBox="1"/>
          <p:nvPr/>
        </p:nvSpPr>
        <p:spPr bwMode="auto">
          <a:xfrm rot="0" flipH="0" flipV="0">
            <a:off x="1472628" y="2718593"/>
            <a:ext cx="14668491" cy="1920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1" i="0" u="none">
                <a:solidFill>
                  <a:srgbClr val="000000"/>
                </a:solidFill>
                <a:latin typeface="Arial"/>
                <a:ea typeface="Arial"/>
                <a:cs typeface="Arial"/>
              </a:rPr>
              <a:t>asgi.py</a:t>
            </a:r>
            <a:r>
              <a:rPr sz="2000" b="1" i="0" u="none">
                <a:solidFill>
                  <a:srgbClr val="000000"/>
                </a:solidFill>
                <a:latin typeface="Arial"/>
                <a:ea typeface="Arial"/>
                <a:cs typeface="Arial"/>
              </a:rPr>
              <a:t> </a:t>
            </a:r>
            <a:endParaRPr sz="2000" b="1" i="0" u="none">
              <a:solidFill>
                <a:srgbClr val="000000"/>
              </a:solidFill>
              <a:latin typeface="Arial"/>
              <a:ea typeface="Arial"/>
              <a:cs typeface="Arial"/>
            </a:endParaRPr>
          </a:p>
          <a:p>
            <a:pPr>
              <a:defRPr/>
            </a:pPr>
            <a:endParaRPr sz="2000" b="0" i="0" u="none">
              <a:solidFill>
                <a:srgbClr val="000000"/>
              </a:solidFill>
              <a:latin typeface="Arial"/>
              <a:ea typeface="Arial"/>
              <a:cs typeface="Arial"/>
            </a:endParaRPr>
          </a:p>
          <a:p>
            <a:pPr>
              <a:defRPr/>
            </a:pPr>
            <a:r>
              <a:rPr sz="2000" b="0" i="0" u="none">
                <a:solidFill>
                  <a:srgbClr val="000000"/>
                </a:solidFill>
                <a:latin typeface="Arial"/>
                <a:ea typeface="Arial"/>
                <a:cs typeface="Arial"/>
              </a:rPr>
              <a:t>permet de gérer :</a:t>
            </a:r>
            <a:endParaRPr sz="2000" b="0">
              <a:latin typeface="Arial"/>
              <a:cs typeface="Arial"/>
            </a:endParaRPr>
          </a:p>
          <a:p>
            <a:pPr marL="305908" indent="-305908">
              <a:buFont typeface="Wingdings"/>
              <a:buChar char="ü"/>
              <a:defRPr/>
            </a:pPr>
            <a:r>
              <a:rPr sz="2000" b="0" i="0" u="none">
                <a:solidFill>
                  <a:srgbClr val="000000"/>
                </a:solidFill>
                <a:latin typeface="Arial"/>
                <a:ea typeface="Arial"/>
                <a:cs typeface="Arial"/>
              </a:rPr>
              <a:t>WebSockets</a:t>
            </a:r>
            <a:r>
              <a:rPr sz="2000" b="0" i="0" u="none">
                <a:solidFill>
                  <a:srgbClr val="000000"/>
                </a:solidFill>
                <a:latin typeface="Arial"/>
                <a:ea typeface="Arial"/>
                <a:cs typeface="Arial"/>
              </a:rPr>
              <a:t> (chat en temps réel, notifications)</a:t>
            </a:r>
            <a:endParaRPr sz="2000" b="0">
              <a:latin typeface="Arial"/>
              <a:cs typeface="Arial"/>
            </a:endParaRPr>
          </a:p>
          <a:p>
            <a:pPr marL="305908" indent="-305908">
              <a:buFont typeface="Wingdings"/>
              <a:buChar char="ü"/>
              <a:defRPr/>
            </a:pPr>
            <a:r>
              <a:rPr sz="2000" b="0" i="0" u="none">
                <a:solidFill>
                  <a:srgbClr val="000000"/>
                </a:solidFill>
                <a:latin typeface="Arial"/>
                <a:ea typeface="Arial"/>
                <a:cs typeface="Arial"/>
              </a:rPr>
              <a:t>HTTP asynchrone</a:t>
            </a:r>
            <a:r>
              <a:rPr sz="2000" b="0" i="0" u="none">
                <a:solidFill>
                  <a:srgbClr val="000000"/>
                </a:solidFill>
                <a:latin typeface="Arial"/>
                <a:ea typeface="Arial"/>
                <a:cs typeface="Arial"/>
              </a:rPr>
              <a:t> (plusieurs requêtes en parallèle)</a:t>
            </a:r>
            <a:endParaRPr sz="2000" b="0">
              <a:latin typeface="Arial"/>
              <a:cs typeface="Arial"/>
            </a:endParaRPr>
          </a:p>
          <a:p>
            <a:pPr marL="305908" indent="-305908">
              <a:buFont typeface="Wingdings"/>
              <a:buChar char="ü"/>
              <a:defRPr/>
            </a:pPr>
            <a:r>
              <a:rPr sz="2000" b="0" i="0" u="none">
                <a:solidFill>
                  <a:srgbClr val="000000"/>
                </a:solidFill>
                <a:latin typeface="Arial"/>
                <a:ea typeface="Arial"/>
                <a:cs typeface="Arial"/>
              </a:rPr>
              <a:t>Applications en temps réel ou microservices</a:t>
            </a:r>
            <a:endParaRPr sz="2000" b="0">
              <a:latin typeface="Arial"/>
              <a:cs typeface="Arial"/>
            </a:endParaRPr>
          </a:p>
        </p:txBody>
      </p:sp>
      <p:sp>
        <p:nvSpPr>
          <p:cNvPr id="2090596378" name=""/>
          <p:cNvSpPr txBox="1"/>
          <p:nvPr/>
        </p:nvSpPr>
        <p:spPr bwMode="auto">
          <a:xfrm rot="0" flipH="0" flipV="0">
            <a:off x="1549842" y="4901406"/>
            <a:ext cx="1552557"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fr-FR" sz="2000" b="1">
                <a:latin typeface="Arial"/>
                <a:ea typeface="Arial"/>
                <a:cs typeface="Arial"/>
              </a:rPr>
              <a:t>Settings.py</a:t>
            </a:r>
            <a:endParaRPr sz="2000" b="1">
              <a:latin typeface="Arial"/>
              <a:cs typeface="Arial"/>
            </a:endParaRPr>
          </a:p>
        </p:txBody>
      </p:sp>
      <p:sp>
        <p:nvSpPr>
          <p:cNvPr id="1688297878" name=""/>
          <p:cNvSpPr txBox="1"/>
          <p:nvPr/>
        </p:nvSpPr>
        <p:spPr bwMode="auto">
          <a:xfrm rot="0" flipH="0" flipV="0">
            <a:off x="1391093" y="5595937"/>
            <a:ext cx="13336799"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05908" indent="-305908">
              <a:buFont typeface="Wingdings"/>
              <a:buChar char="ü"/>
              <a:defRPr/>
            </a:pPr>
            <a:r>
              <a:rPr sz="2000" b="0" i="0" u="none">
                <a:solidFill>
                  <a:srgbClr val="000000"/>
                </a:solidFill>
                <a:latin typeface="Arial"/>
                <a:ea typeface="Arial"/>
                <a:cs typeface="Arial"/>
              </a:rPr>
              <a:t>settings.py</a:t>
            </a:r>
            <a:r>
              <a:rPr sz="2000" b="0" i="0" u="none">
                <a:solidFill>
                  <a:srgbClr val="000000"/>
                </a:solidFill>
                <a:latin typeface="Arial"/>
                <a:ea typeface="Arial"/>
                <a:cs typeface="Arial"/>
              </a:rPr>
              <a:t> est le </a:t>
            </a:r>
            <a:r>
              <a:rPr sz="2000" b="0" i="0" u="none">
                <a:solidFill>
                  <a:srgbClr val="000000"/>
                </a:solidFill>
                <a:latin typeface="Arial"/>
                <a:ea typeface="Arial"/>
                <a:cs typeface="Arial"/>
              </a:rPr>
              <a:t>cœur de la configuration d</a:t>
            </a:r>
            <a:r>
              <a:rPr lang="fr-FR" sz="2000" b="0" i="0" u="none">
                <a:solidFill>
                  <a:srgbClr val="000000"/>
                </a:solidFill>
                <a:latin typeface="Arial"/>
                <a:ea typeface="Arial"/>
                <a:cs typeface="Arial"/>
              </a:rPr>
              <a:t>u</a:t>
            </a:r>
            <a:r>
              <a:rPr sz="2000" b="0" i="0" u="none">
                <a:solidFill>
                  <a:srgbClr val="000000"/>
                </a:solidFill>
                <a:latin typeface="Arial"/>
                <a:ea typeface="Arial"/>
                <a:cs typeface="Arial"/>
              </a:rPr>
              <a:t> projet Django</a:t>
            </a:r>
            <a:r>
              <a:rPr sz="2000" b="0" i="0" u="none">
                <a:solidFill>
                  <a:srgbClr val="000000"/>
                </a:solidFill>
                <a:latin typeface="Arial"/>
                <a:ea typeface="Arial"/>
                <a:cs typeface="Arial"/>
              </a:rPr>
              <a:t>.</a:t>
            </a:r>
            <a:endParaRPr sz="2000" b="0">
              <a:latin typeface="Arial"/>
              <a:cs typeface="Arial"/>
            </a:endParaRPr>
          </a:p>
          <a:p>
            <a:pPr marL="305908" indent="-305908">
              <a:buFont typeface="Wingdings"/>
              <a:buChar char="ü"/>
              <a:defRPr/>
            </a:pPr>
            <a:r>
              <a:rPr sz="2000" b="0" i="0" u="none">
                <a:solidFill>
                  <a:srgbClr val="000000"/>
                </a:solidFill>
                <a:latin typeface="Arial"/>
                <a:ea typeface="Arial"/>
                <a:cs typeface="Arial"/>
              </a:rPr>
              <a:t>Il contient tous les </a:t>
            </a:r>
            <a:r>
              <a:rPr sz="2000" b="0" i="0" u="none">
                <a:solidFill>
                  <a:srgbClr val="000000"/>
                </a:solidFill>
                <a:latin typeface="Arial"/>
                <a:ea typeface="Arial"/>
                <a:cs typeface="Arial"/>
              </a:rPr>
              <a:t>paramètres nécessaires pour que ton site fonctionne</a:t>
            </a:r>
            <a:r>
              <a:rPr sz="2000" b="0" i="0" u="none">
                <a:solidFill>
                  <a:srgbClr val="000000"/>
                </a:solidFill>
                <a:latin typeface="Arial"/>
                <a:ea typeface="Arial"/>
                <a:cs typeface="Arial"/>
              </a:rPr>
              <a:t> : base de données, applications installées, sécurité, fichiers statiques, langues, fuseau horaire, etc.</a:t>
            </a:r>
            <a:endParaRPr sz="2000" b="0">
              <a:latin typeface="Arial"/>
              <a:cs typeface="Arial"/>
            </a:endParaRPr>
          </a:p>
        </p:txBody>
      </p:sp>
      <p:sp>
        <p:nvSpPr>
          <p:cNvPr id="1090405252" name=""/>
          <p:cNvSpPr txBox="1"/>
          <p:nvPr/>
        </p:nvSpPr>
        <p:spPr bwMode="auto">
          <a:xfrm rot="0" flipH="0" flipV="0">
            <a:off x="1472628" y="6998218"/>
            <a:ext cx="1016407"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fr-FR" sz="2000" b="1">
                <a:latin typeface="Arial"/>
                <a:ea typeface="Arial"/>
                <a:cs typeface="Arial"/>
              </a:rPr>
              <a:t>urls.py</a:t>
            </a:r>
            <a:endParaRPr sz="2000" b="1">
              <a:latin typeface="Arial"/>
              <a:cs typeface="Arial"/>
            </a:endParaRPr>
          </a:p>
        </p:txBody>
      </p:sp>
      <p:sp>
        <p:nvSpPr>
          <p:cNvPr id="1321536317" name=""/>
          <p:cNvSpPr txBox="1"/>
          <p:nvPr/>
        </p:nvSpPr>
        <p:spPr bwMode="auto">
          <a:xfrm rot="0" flipH="0" flipV="0">
            <a:off x="1430781" y="7593529"/>
            <a:ext cx="13339318"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000000"/>
                </a:solidFill>
                <a:latin typeface="Arial"/>
                <a:ea typeface="Arial"/>
                <a:cs typeface="Arial"/>
              </a:rPr>
              <a:t>Le fichier </a:t>
            </a:r>
            <a:r>
              <a:rPr sz="2000" b="0" i="0" u="none">
                <a:solidFill>
                  <a:srgbClr val="000000"/>
                </a:solidFill>
                <a:latin typeface="Arial"/>
                <a:ea typeface="Arial"/>
                <a:cs typeface="Arial"/>
              </a:rPr>
              <a:t>urls.py</a:t>
            </a:r>
            <a:r>
              <a:rPr sz="2000" b="0" i="0" u="none">
                <a:solidFill>
                  <a:srgbClr val="000000"/>
                </a:solidFill>
                <a:latin typeface="Arial"/>
                <a:ea typeface="Arial"/>
                <a:cs typeface="Arial"/>
              </a:rPr>
              <a:t> est le </a:t>
            </a:r>
            <a:r>
              <a:rPr sz="2000" b="0" i="0" u="none">
                <a:solidFill>
                  <a:srgbClr val="000000"/>
                </a:solidFill>
                <a:latin typeface="Arial"/>
                <a:ea typeface="Arial"/>
                <a:cs typeface="Arial"/>
              </a:rPr>
              <a:t>contrôleur des routes</a:t>
            </a:r>
            <a:endParaRPr sz="2000" b="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4480742" name="TextBox 5"/>
          <p:cNvSpPr txBox="1"/>
          <p:nvPr/>
        </p:nvSpPr>
        <p:spPr bwMode="auto">
          <a:xfrm rot="0">
            <a:off x="3730339" y="9436296"/>
            <a:ext cx="999740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780037802" name=""/>
          <p:cNvSpPr txBox="1"/>
          <p:nvPr/>
        </p:nvSpPr>
        <p:spPr bwMode="auto">
          <a:xfrm rot="0" flipH="0" flipV="0">
            <a:off x="1529998" y="535781"/>
            <a:ext cx="11655120"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1" i="0" u="none">
                <a:solidFill>
                  <a:srgbClr val="000000"/>
                </a:solidFill>
                <a:latin typeface="Arial"/>
                <a:ea typeface="Arial"/>
                <a:cs typeface="Arial"/>
              </a:rPr>
              <a:t>wsgi</a:t>
            </a:r>
            <a:r>
              <a:rPr sz="2000" b="1" i="0" u="none">
                <a:solidFill>
                  <a:srgbClr val="000000"/>
                </a:solidFill>
                <a:latin typeface="Arial"/>
                <a:ea typeface="Arial"/>
                <a:cs typeface="Arial"/>
              </a:rPr>
              <a:t>.py</a:t>
            </a:r>
            <a:endParaRPr sz="2000" b="1">
              <a:latin typeface="Arial"/>
              <a:cs typeface="Arial"/>
            </a:endParaRPr>
          </a:p>
        </p:txBody>
      </p:sp>
      <p:sp>
        <p:nvSpPr>
          <p:cNvPr id="2129910051" name=""/>
          <p:cNvSpPr txBox="1"/>
          <p:nvPr/>
        </p:nvSpPr>
        <p:spPr bwMode="auto">
          <a:xfrm rot="0" flipH="0" flipV="0">
            <a:off x="1450624" y="1051718"/>
            <a:ext cx="14753266" cy="1310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000000"/>
                </a:solidFill>
                <a:latin typeface="Arial"/>
                <a:ea typeface="Arial"/>
                <a:cs typeface="Arial"/>
              </a:rPr>
              <a:t>WSGI = Web Server Gateway Interface</a:t>
            </a:r>
            <a:endParaRPr sz="2000" b="0">
              <a:latin typeface="Arial"/>
              <a:cs typeface="Arial"/>
            </a:endParaRPr>
          </a:p>
          <a:p>
            <a:pPr>
              <a:defRPr/>
            </a:pPr>
            <a:r>
              <a:rPr sz="2000" b="0" i="0" u="none">
                <a:solidFill>
                  <a:srgbClr val="000000"/>
                </a:solidFill>
                <a:latin typeface="Arial"/>
                <a:ea typeface="Arial"/>
                <a:cs typeface="Arial"/>
              </a:rPr>
              <a:t>C’est un </a:t>
            </a:r>
            <a:r>
              <a:rPr sz="2000" b="0" i="0" u="none">
                <a:solidFill>
                  <a:srgbClr val="000000"/>
                </a:solidFill>
                <a:latin typeface="Arial"/>
                <a:ea typeface="Arial"/>
                <a:cs typeface="Arial"/>
              </a:rPr>
              <a:t>standard Python</a:t>
            </a:r>
            <a:r>
              <a:rPr sz="2000" b="0" i="0" u="none">
                <a:solidFill>
                  <a:srgbClr val="000000"/>
                </a:solidFill>
                <a:latin typeface="Arial"/>
                <a:ea typeface="Arial"/>
                <a:cs typeface="Arial"/>
              </a:rPr>
              <a:t> qui permet à Django (ou n’importe quel framework Python) de communiquer avec un serveur web (comme </a:t>
            </a:r>
            <a:r>
              <a:rPr sz="2000" b="0" i="0" u="none">
                <a:solidFill>
                  <a:srgbClr val="000000"/>
                </a:solidFill>
                <a:latin typeface="Arial"/>
                <a:ea typeface="Arial"/>
                <a:cs typeface="Arial"/>
              </a:rPr>
              <a:t>Gunicorn, uWSGI, Apache, Nginx</a:t>
            </a:r>
            <a:r>
              <a:rPr sz="2000" b="0" i="0" u="none">
                <a:solidFill>
                  <a:srgbClr val="000000"/>
                </a:solidFill>
                <a:latin typeface="Arial"/>
                <a:ea typeface="Arial"/>
                <a:cs typeface="Arial"/>
              </a:rPr>
              <a:t>).</a:t>
            </a:r>
            <a:endParaRPr sz="2000" b="0">
              <a:latin typeface="Arial"/>
              <a:cs typeface="Arial"/>
            </a:endParaRPr>
          </a:p>
          <a:p>
            <a:pPr>
              <a:defRPr/>
            </a:pPr>
            <a:r>
              <a:rPr sz="2000" b="0" i="0" u="none">
                <a:solidFill>
                  <a:srgbClr val="000000"/>
                </a:solidFill>
                <a:latin typeface="Arial"/>
                <a:ea typeface="Arial"/>
                <a:cs typeface="Arial"/>
              </a:rPr>
              <a:t>En gros : </a:t>
            </a:r>
            <a:r>
              <a:rPr sz="2000" b="0" i="0" u="none">
                <a:solidFill>
                  <a:srgbClr val="000000"/>
                </a:solidFill>
                <a:latin typeface="Arial"/>
                <a:ea typeface="Arial"/>
                <a:cs typeface="Arial"/>
              </a:rPr>
              <a:t>WSGI est le pont entre ton code Python et le serveur web</a:t>
            </a:r>
            <a:r>
              <a:rPr sz="2000" b="0" i="0" u="none">
                <a:solidFill>
                  <a:srgbClr val="000000"/>
                </a:solidFill>
                <a:latin typeface="Arial"/>
                <a:ea typeface="Arial"/>
                <a:cs typeface="Arial"/>
              </a:rPr>
              <a:t>.</a:t>
            </a:r>
            <a:endParaRPr sz="2000" b="0">
              <a:latin typeface="Arial"/>
              <a:cs typeface="Arial"/>
            </a:endParaRPr>
          </a:p>
        </p:txBody>
      </p:sp>
      <p:sp>
        <p:nvSpPr>
          <p:cNvPr id="636884779" name=""/>
          <p:cNvSpPr txBox="1"/>
          <p:nvPr/>
        </p:nvSpPr>
        <p:spPr bwMode="auto">
          <a:xfrm rot="0" flipH="0" flipV="0">
            <a:off x="1530000" y="2516324"/>
            <a:ext cx="1001204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Création de l’application</a:t>
            </a:r>
            <a:endParaRPr/>
          </a:p>
        </p:txBody>
      </p:sp>
      <p:sp>
        <p:nvSpPr>
          <p:cNvPr id="1192276764" name=""/>
          <p:cNvSpPr txBox="1"/>
          <p:nvPr/>
        </p:nvSpPr>
        <p:spPr bwMode="auto">
          <a:xfrm rot="0" flipH="0" flipV="0">
            <a:off x="1450624" y="2996406"/>
            <a:ext cx="14945943" cy="16157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spc="5">
                <a:solidFill>
                  <a:srgbClr val="000000"/>
                </a:solidFill>
                <a:latin typeface="Arial"/>
                <a:ea typeface="Arial"/>
                <a:cs typeface="Arial"/>
              </a:rPr>
              <a:t>on peut créer</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plusieurs applications (</a:t>
            </a:r>
            <a:r>
              <a:rPr sz="2000" b="0" i="0" u="none" spc="5">
                <a:solidFill>
                  <a:srgbClr val="000000"/>
                </a:solidFill>
                <a:latin typeface="Arial"/>
                <a:ea typeface="Arial"/>
                <a:cs typeface="Arial"/>
              </a:rPr>
              <a:t>apps</a:t>
            </a:r>
            <a:r>
              <a:rPr sz="2000" b="0" i="0" u="none" spc="5">
                <a:solidFill>
                  <a:srgbClr val="000000"/>
                </a:solidFill>
                <a:latin typeface="Arial"/>
                <a:ea typeface="Arial"/>
                <a:cs typeface="Arial"/>
              </a:rPr>
              <a:t>) au sein d’un même projet</a:t>
            </a:r>
            <a:r>
              <a:rPr sz="2000" b="0" i="0" u="none" spc="5">
                <a:solidFill>
                  <a:srgbClr val="000000"/>
                </a:solidFill>
                <a:latin typeface="Arial"/>
                <a:ea typeface="Arial"/>
                <a:cs typeface="Arial"/>
              </a:rPr>
              <a:t>. Chaque app est une unité fonctionnelle séparée du projet, regroupant ses propres modèles, vues, templates, URLs, etc.</a:t>
            </a:r>
            <a:endParaRPr sz="2000" b="0" i="0" u="none" spc="5">
              <a:solidFill>
                <a:srgbClr val="000000"/>
              </a:solidFill>
              <a:latin typeface="Arial"/>
              <a:ea typeface="Arial"/>
              <a:cs typeface="Arial"/>
            </a:endParaRPr>
          </a:p>
          <a:p>
            <a:pPr>
              <a:defRPr/>
            </a:pPr>
            <a:endParaRPr sz="2000" b="0" i="0" u="none" spc="5">
              <a:solidFill>
                <a:srgbClr val="000000"/>
              </a:solidFill>
              <a:latin typeface="Arial"/>
              <a:ea typeface="Arial"/>
              <a:cs typeface="Arial"/>
            </a:endParaRPr>
          </a:p>
          <a:p>
            <a:pPr>
              <a:defRPr/>
            </a:pPr>
            <a:r>
              <a:rPr sz="2000" b="0" i="1" u="none" spc="5">
                <a:solidFill>
                  <a:srgbClr val="8E908C"/>
                </a:solidFill>
                <a:latin typeface="Arial"/>
                <a:ea typeface="Arial"/>
                <a:cs typeface="Arial"/>
              </a:rPr>
              <a:t># Création de l'app</a:t>
            </a:r>
            <a:endParaRPr lang="fr-FR" sz="2000" b="0" i="0" u="none" spc="5">
              <a:solidFill>
                <a:srgbClr val="4D4D4C"/>
              </a:solidFill>
              <a:latin typeface="Arial"/>
              <a:ea typeface="Arial"/>
              <a:cs typeface="Arial"/>
            </a:endParaRPr>
          </a:p>
          <a:p>
            <a:pPr>
              <a:defRPr/>
            </a:pPr>
            <a:r>
              <a:rPr lang="fr-FR" sz="2000" b="0" i="0" u="none" spc="5">
                <a:solidFill>
                  <a:srgbClr val="4D4D4C"/>
                </a:solidFill>
                <a:latin typeface="Arial"/>
                <a:ea typeface="Arial"/>
                <a:cs typeface="Arial"/>
              </a:rPr>
              <a:t> </a:t>
            </a:r>
            <a:r>
              <a:rPr sz="2000" b="0" i="0" u="none" spc="5">
                <a:solidFill>
                  <a:srgbClr val="4D4D4C"/>
                </a:solidFill>
                <a:latin typeface="Arial"/>
                <a:ea typeface="Arial"/>
                <a:cs typeface="Arial"/>
              </a:rPr>
              <a:t>python manage.py startapp articles</a:t>
            </a:r>
            <a:r>
              <a:rPr sz="2000" b="0" i="0" u="none" spc="5">
                <a:solidFill>
                  <a:srgbClr val="000000"/>
                </a:solidFill>
                <a:latin typeface="Arial"/>
                <a:ea typeface="Arial"/>
                <a:cs typeface="Arial"/>
              </a:rPr>
              <a:t> </a:t>
            </a:r>
            <a:endParaRPr sz="2000" b="0" i="0" u="none" spc="5">
              <a:solidFill>
                <a:srgbClr val="000000"/>
              </a:solidFill>
              <a:latin typeface="Arial"/>
              <a:ea typeface="Arial"/>
              <a:cs typeface="Arial"/>
            </a:endParaRPr>
          </a:p>
        </p:txBody>
      </p:sp>
      <p:pic>
        <p:nvPicPr>
          <p:cNvPr id="554330820" name=""/>
          <p:cNvPicPr>
            <a:picLocks noChangeAspect="1"/>
          </p:cNvPicPr>
          <p:nvPr/>
        </p:nvPicPr>
        <p:blipFill>
          <a:blip r:embed="rId3"/>
          <a:stretch/>
        </p:blipFill>
        <p:spPr bwMode="auto">
          <a:xfrm flipH="0" flipV="0">
            <a:off x="1768124" y="4669267"/>
            <a:ext cx="6310312" cy="476702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50636075" name="TextBox 5"/>
          <p:cNvSpPr txBox="1"/>
          <p:nvPr/>
        </p:nvSpPr>
        <p:spPr bwMode="auto">
          <a:xfrm rot="0">
            <a:off x="3730339" y="9436296"/>
            <a:ext cx="999740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pic>
        <p:nvPicPr>
          <p:cNvPr id="1184715040" name=""/>
          <p:cNvPicPr>
            <a:picLocks noChangeAspect="1"/>
          </p:cNvPicPr>
          <p:nvPr/>
        </p:nvPicPr>
        <p:blipFill>
          <a:blip r:embed="rId3"/>
          <a:stretch/>
        </p:blipFill>
        <p:spPr bwMode="auto">
          <a:xfrm flipH="0" flipV="0">
            <a:off x="1289843" y="793749"/>
            <a:ext cx="14190312" cy="813100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2456735" name="TextBox 5"/>
          <p:cNvSpPr txBox="1"/>
          <p:nvPr/>
        </p:nvSpPr>
        <p:spPr bwMode="auto">
          <a:xfrm rot="0">
            <a:off x="3730339" y="9436296"/>
            <a:ext cx="999776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363012134" name=""/>
          <p:cNvSpPr txBox="1"/>
          <p:nvPr/>
        </p:nvSpPr>
        <p:spPr bwMode="auto">
          <a:xfrm rot="0" flipH="0" flipV="0">
            <a:off x="1470468" y="277812"/>
            <a:ext cx="1145704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ARCHITECTURE</a:t>
            </a:r>
            <a:endParaRPr sz="2000" b="1">
              <a:latin typeface="Arial"/>
              <a:cs typeface="Arial"/>
            </a:endParaRPr>
          </a:p>
        </p:txBody>
      </p:sp>
      <p:sp>
        <p:nvSpPr>
          <p:cNvPr id="1543441234" name=""/>
          <p:cNvSpPr txBox="1"/>
          <p:nvPr/>
        </p:nvSpPr>
        <p:spPr bwMode="auto">
          <a:xfrm rot="0" flipH="0" flipV="0">
            <a:off x="1252187" y="813731"/>
            <a:ext cx="1421064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spc="5">
                <a:solidFill>
                  <a:srgbClr val="000000"/>
                </a:solidFill>
                <a:latin typeface="Arial"/>
                <a:ea typeface="Arial"/>
                <a:cs typeface="Arial"/>
              </a:rPr>
              <a:t>Django utilise MTV</a:t>
            </a:r>
            <a:r>
              <a:rPr sz="2000" b="0" i="0" u="none" spc="5">
                <a:solidFill>
                  <a:srgbClr val="000000"/>
                </a:solidFill>
                <a:latin typeface="Arial"/>
                <a:ea typeface="Arial"/>
                <a:cs typeface="Arial"/>
              </a:rPr>
              <a:t> </a:t>
            </a:r>
            <a:r>
              <a:rPr sz="2000" b="1" i="0" u="none" spc="5">
                <a:solidFill>
                  <a:srgbClr val="000000"/>
                </a:solidFill>
                <a:latin typeface="Arial"/>
                <a:ea typeface="Arial"/>
                <a:cs typeface="Arial"/>
              </a:rPr>
              <a:t>(Model-Template-View)</a:t>
            </a:r>
            <a:endParaRPr sz="2000" b="0"/>
          </a:p>
        </p:txBody>
      </p:sp>
      <p:pic>
        <p:nvPicPr>
          <p:cNvPr id="1204955311" name=""/>
          <p:cNvPicPr>
            <a:picLocks noChangeAspect="1"/>
          </p:cNvPicPr>
          <p:nvPr/>
        </p:nvPicPr>
        <p:blipFill>
          <a:blip r:embed="rId3"/>
          <a:stretch/>
        </p:blipFill>
        <p:spPr bwMode="auto">
          <a:xfrm flipH="0" flipV="0">
            <a:off x="992187" y="1984374"/>
            <a:ext cx="15792820" cy="702468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1664429" name="TextBox 5"/>
          <p:cNvSpPr txBox="1"/>
          <p:nvPr/>
        </p:nvSpPr>
        <p:spPr bwMode="auto">
          <a:xfrm rot="0">
            <a:off x="3730339" y="9436296"/>
            <a:ext cx="999740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322445078" name=""/>
          <p:cNvSpPr txBox="1"/>
          <p:nvPr/>
        </p:nvSpPr>
        <p:spPr bwMode="auto">
          <a:xfrm rot="0" flipH="0" flipV="0">
            <a:off x="1885875" y="6503987"/>
            <a:ext cx="1151405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Migrations</a:t>
            </a:r>
            <a:endParaRPr sz="2000" b="1">
              <a:latin typeface="Arial"/>
              <a:cs typeface="Arial"/>
            </a:endParaRPr>
          </a:p>
        </p:txBody>
      </p:sp>
      <p:sp>
        <p:nvSpPr>
          <p:cNvPr id="891960930" name=""/>
          <p:cNvSpPr txBox="1"/>
          <p:nvPr/>
        </p:nvSpPr>
        <p:spPr bwMode="auto">
          <a:xfrm rot="0" flipH="0" flipV="0">
            <a:off x="1885875" y="6988693"/>
            <a:ext cx="11792227" cy="2530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2000" b="0" i="0" u="none" strike="noStrike" cap="none" spc="5">
                <a:solidFill>
                  <a:srgbClr val="000000"/>
                </a:solidFill>
                <a:latin typeface="Arial"/>
                <a:ea typeface="Arial"/>
                <a:cs typeface="Arial"/>
              </a:rPr>
              <a:t>Une</a:t>
            </a:r>
            <a:r>
              <a:rPr lang="en-US" sz="2000" b="0" i="0" u="none" strike="noStrike" cap="none" spc="5">
                <a:solidFill>
                  <a:srgbClr val="000000"/>
                </a:solidFill>
                <a:latin typeface="Arial"/>
                <a:ea typeface="Arial"/>
                <a:cs typeface="Arial"/>
              </a:rPr>
              <a:t> </a:t>
            </a:r>
            <a:r>
              <a:rPr lang="en-US" sz="2000" b="0" i="0" u="none" strike="noStrike" cap="none" spc="5">
                <a:solidFill>
                  <a:srgbClr val="000000"/>
                </a:solidFill>
                <a:latin typeface="Arial"/>
                <a:ea typeface="Arial"/>
                <a:cs typeface="Arial"/>
              </a:rPr>
              <a:t>migration dans Django</a:t>
            </a:r>
            <a:r>
              <a:rPr lang="en-US" sz="2000" b="0" i="0" u="none" strike="noStrike" cap="none" spc="5">
                <a:solidFill>
                  <a:srgbClr val="000000"/>
                </a:solidFill>
                <a:latin typeface="Arial"/>
                <a:ea typeface="Arial"/>
                <a:cs typeface="Arial"/>
              </a:rPr>
              <a:t> </a:t>
            </a:r>
            <a:r>
              <a:rPr lang="en-US" sz="2000" b="0" i="0" u="none" strike="noStrike" cap="none" spc="5">
                <a:solidFill>
                  <a:srgbClr val="000000"/>
                </a:solidFill>
                <a:latin typeface="Arial"/>
                <a:ea typeface="Arial"/>
                <a:cs typeface="Arial"/>
              </a:rPr>
              <a:t>est un mécanisme qui permet de</a:t>
            </a:r>
            <a:r>
              <a:rPr lang="en-US" sz="2000" b="0" i="0" u="none" strike="noStrike" cap="none" spc="5">
                <a:solidFill>
                  <a:srgbClr val="000000"/>
                </a:solidFill>
                <a:latin typeface="Arial"/>
                <a:ea typeface="Arial"/>
                <a:cs typeface="Arial"/>
              </a:rPr>
              <a:t> </a:t>
            </a:r>
            <a:r>
              <a:rPr lang="en-US" sz="2000" b="0" i="0" u="none" strike="noStrike" cap="none" spc="5">
                <a:solidFill>
                  <a:srgbClr val="000000"/>
                </a:solidFill>
                <a:latin typeface="Arial"/>
                <a:ea typeface="Arial"/>
                <a:cs typeface="Arial"/>
              </a:rPr>
              <a:t>propager les modifications faites sur vos modèles Python</a:t>
            </a:r>
            <a:r>
              <a:rPr lang="en-US" sz="2000" b="0" i="0" u="none" strike="noStrike" cap="none" spc="5">
                <a:solidFill>
                  <a:srgbClr val="000000"/>
                </a:solidFill>
                <a:latin typeface="Arial"/>
                <a:ea typeface="Arial"/>
                <a:cs typeface="Arial"/>
              </a:rPr>
              <a:t> </a:t>
            </a:r>
            <a:r>
              <a:rPr lang="en-US" sz="2000" b="0" i="0" u="none" strike="noStrike" cap="none" spc="5">
                <a:solidFill>
                  <a:srgbClr val="000000"/>
                </a:solidFill>
                <a:latin typeface="Arial"/>
                <a:ea typeface="Arial"/>
                <a:cs typeface="Arial"/>
              </a:rPr>
              <a:t>(dans le fichier</a:t>
            </a:r>
            <a:r>
              <a:rPr lang="en-US" sz="2000" b="0" i="0" u="none" strike="noStrike" cap="none" spc="5">
                <a:solidFill>
                  <a:srgbClr val="000000"/>
                </a:solidFill>
                <a:latin typeface="Arial"/>
                <a:ea typeface="Arial"/>
                <a:cs typeface="Arial"/>
              </a:rPr>
              <a:t> </a:t>
            </a:r>
            <a:r>
              <a:rPr lang="en-US" sz="2000" b="0" i="0" u="none" strike="noStrike" cap="none" spc="5">
                <a:solidFill>
                  <a:srgbClr val="000000"/>
                </a:solidFill>
                <a:latin typeface="Arial"/>
                <a:ea typeface="Arial"/>
                <a:cs typeface="Arial"/>
              </a:rPr>
              <a:t>models.py</a:t>
            </a:r>
            <a:r>
              <a:rPr lang="en-US" sz="2000" b="0" i="0" u="none" strike="noStrike" cap="none" spc="5">
                <a:solidFill>
                  <a:srgbClr val="000000"/>
                </a:solidFill>
                <a:latin typeface="Arial"/>
                <a:ea typeface="Arial"/>
                <a:cs typeface="Arial"/>
              </a:rPr>
              <a:t>) vers la structure de la base de données.</a:t>
            </a:r>
            <a:endParaRPr sz="2000" b="0"/>
          </a:p>
          <a:p>
            <a:pPr>
              <a:defRPr/>
            </a:pPr>
            <a:endParaRPr sz="2000" b="0" i="1" u="none" spc="5">
              <a:solidFill>
                <a:srgbClr val="8E908C"/>
              </a:solidFill>
              <a:latin typeface="Arial"/>
              <a:ea typeface="Arial"/>
              <a:cs typeface="Arial"/>
            </a:endParaRPr>
          </a:p>
          <a:p>
            <a:pPr>
              <a:defRPr/>
            </a:pPr>
            <a:r>
              <a:rPr sz="2000" b="0" i="1" u="none" spc="5">
                <a:solidFill>
                  <a:srgbClr val="8E908C"/>
                </a:solidFill>
                <a:latin typeface="Arial"/>
                <a:ea typeface="Arial"/>
                <a:cs typeface="Arial"/>
              </a:rPr>
              <a:t>Créer les migrations</a:t>
            </a:r>
            <a:endParaRPr sz="2000" b="0" i="1" u="none" spc="5">
              <a:solidFill>
                <a:srgbClr val="8E908C"/>
              </a:solidFill>
              <a:latin typeface="Arial"/>
              <a:ea typeface="Arial"/>
              <a:cs typeface="Arial"/>
            </a:endParaRPr>
          </a:p>
          <a:p>
            <a:pPr>
              <a:defRPr/>
            </a:pPr>
            <a:r>
              <a:rPr sz="2000" b="0" i="0" u="none" spc="5">
                <a:solidFill>
                  <a:srgbClr val="4D4D4C"/>
                </a:solidFill>
                <a:latin typeface="Arial"/>
                <a:ea typeface="Arial"/>
                <a:cs typeface="Arial"/>
              </a:rPr>
              <a:t>python manage.py makemigrations articles</a:t>
            </a:r>
            <a:endParaRPr sz="2000" b="0"/>
          </a:p>
          <a:p>
            <a:pPr>
              <a:defRPr/>
            </a:pPr>
            <a:endParaRPr sz="2000" b="0"/>
          </a:p>
          <a:p>
            <a:pPr>
              <a:defRPr/>
            </a:pPr>
            <a:r>
              <a:rPr sz="2000" b="0" i="1" u="none" spc="5">
                <a:solidFill>
                  <a:srgbClr val="8E908C"/>
                </a:solidFill>
                <a:latin typeface="Arial"/>
                <a:ea typeface="Arial"/>
                <a:cs typeface="Arial"/>
              </a:rPr>
              <a:t>Appliquer les migrations</a:t>
            </a:r>
            <a:endParaRPr sz="2000" b="0" i="0" u="none" spc="5">
              <a:solidFill>
                <a:srgbClr val="4D4D4C"/>
              </a:solidFill>
              <a:latin typeface="Arial"/>
              <a:ea typeface="Arial"/>
              <a:cs typeface="Arial"/>
            </a:endParaRPr>
          </a:p>
          <a:p>
            <a:pPr>
              <a:defRPr/>
            </a:pPr>
            <a:r>
              <a:rPr sz="2000" b="0" i="0" u="none" spc="5">
                <a:solidFill>
                  <a:srgbClr val="4D4D4C"/>
                </a:solidFill>
                <a:latin typeface="Arial"/>
                <a:ea typeface="Arial"/>
                <a:cs typeface="Arial"/>
              </a:rPr>
              <a:t>python manage.py migrate</a:t>
            </a:r>
            <a:endParaRPr sz="2000" b="0"/>
          </a:p>
        </p:txBody>
      </p:sp>
      <p:sp>
        <p:nvSpPr>
          <p:cNvPr id="510517488" name=""/>
          <p:cNvSpPr txBox="1"/>
          <p:nvPr/>
        </p:nvSpPr>
        <p:spPr bwMode="auto">
          <a:xfrm rot="0" flipH="0" flipV="0">
            <a:off x="1937673" y="509724"/>
            <a:ext cx="115190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Model</a:t>
            </a:r>
            <a:endParaRPr sz="2000" b="1">
              <a:latin typeface="Arial"/>
              <a:cs typeface="Arial"/>
            </a:endParaRPr>
          </a:p>
        </p:txBody>
      </p:sp>
      <p:sp>
        <p:nvSpPr>
          <p:cNvPr id="1406261022" name=""/>
          <p:cNvSpPr txBox="1"/>
          <p:nvPr/>
        </p:nvSpPr>
        <p:spPr bwMode="auto">
          <a:xfrm rot="0" flipH="0" flipV="0">
            <a:off x="1937673" y="1091406"/>
            <a:ext cx="14149313"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spc="5">
                <a:solidFill>
                  <a:srgbClr val="000000"/>
                </a:solidFill>
                <a:latin typeface="Arial"/>
                <a:ea typeface="Arial"/>
                <a:cs typeface="Arial"/>
              </a:rPr>
              <a:t>Un</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modèle</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dans Django est une</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classe Python</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qui représente une</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structure de données</a:t>
            </a:r>
            <a:r>
              <a:rPr sz="2000" b="0" i="0" u="none" spc="5">
                <a:solidFill>
                  <a:srgbClr val="000000"/>
                </a:solidFill>
                <a:latin typeface="Arial"/>
                <a:ea typeface="Arial"/>
                <a:cs typeface="Arial"/>
              </a:rPr>
              <a:t>, généralement une table dans une base de données relationnelle. Chaque modèle définit des</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attributs</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(appelés champs) qui correspondent aux colonnes de cette table.</a:t>
            </a:r>
            <a:endParaRPr sz="2000" b="0"/>
          </a:p>
        </p:txBody>
      </p:sp>
      <p:sp>
        <p:nvSpPr>
          <p:cNvPr id="707100487" name=""/>
          <p:cNvSpPr txBox="1"/>
          <p:nvPr/>
        </p:nvSpPr>
        <p:spPr bwMode="auto">
          <a:xfrm rot="0" flipH="0" flipV="0">
            <a:off x="1728437" y="2224224"/>
            <a:ext cx="14848884" cy="4358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b="0" i="0" u="none">
                <a:solidFill>
                  <a:srgbClr val="CE92A4"/>
                </a:solidFill>
                <a:latin typeface="Consolas"/>
                <a:ea typeface="Consolas"/>
                <a:cs typeface="Consolas"/>
              </a:rPr>
              <a:t>from</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django</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db</a:t>
            </a:r>
            <a:r>
              <a:rPr sz="1400" b="0" i="0" u="none">
                <a:solidFill>
                  <a:srgbClr val="CCCCCC"/>
                </a:solidFill>
                <a:latin typeface="Consolas"/>
                <a:ea typeface="Consolas"/>
                <a:cs typeface="Consolas"/>
              </a:rPr>
              <a:t> </a:t>
            </a:r>
            <a:r>
              <a:rPr sz="1400" b="0" i="0" u="none">
                <a:solidFill>
                  <a:srgbClr val="CE92A4"/>
                </a:solidFill>
                <a:latin typeface="Consolas"/>
                <a:ea typeface="Consolas"/>
                <a:cs typeface="Consolas"/>
              </a:rPr>
              <a:t>import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br>
              <a:rPr sz="1400" b="0" i="0" u="none">
                <a:solidFill>
                  <a:srgbClr val="4EC9B0"/>
                </a:solidFill>
                <a:latin typeface="Consolas"/>
                <a:ea typeface="Consolas"/>
                <a:cs typeface="Consolas"/>
              </a:rPr>
            </a:br>
            <a:endParaRPr sz="1400"/>
          </a:p>
          <a:p>
            <a:pPr>
              <a:defRPr/>
            </a:pPr>
            <a:r>
              <a:rPr sz="1400" b="0" i="0" u="none">
                <a:solidFill>
                  <a:srgbClr val="569CD6"/>
                </a:solidFill>
                <a:latin typeface="Consolas"/>
                <a:ea typeface="Consolas"/>
                <a:cs typeface="Consolas"/>
              </a:rPr>
              <a:t>class</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Categorie</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Model</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nom</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CharField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max_length</a:t>
            </a:r>
            <a:r>
              <a:rPr sz="1400" b="0" i="0" u="none">
                <a:solidFill>
                  <a:srgbClr val="D4D4D4"/>
                </a:solidFill>
                <a:latin typeface="Consolas"/>
                <a:ea typeface="Consolas"/>
                <a:cs typeface="Consolas"/>
              </a:rPr>
              <a:t>=</a:t>
            </a:r>
            <a:r>
              <a:rPr sz="1400" b="0" i="0" u="none">
                <a:solidFill>
                  <a:srgbClr val="B5CEA8"/>
                </a:solidFill>
                <a:latin typeface="Consolas"/>
                <a:ea typeface="Consolas"/>
                <a:cs typeface="Consolas"/>
              </a:rPr>
              <a:t>100</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description</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TextField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blank</a:t>
            </a:r>
            <a:r>
              <a:rPr sz="1400" b="0" i="0" u="none">
                <a:solidFill>
                  <a:srgbClr val="D4D4D4"/>
                </a:solidFill>
                <a:latin typeface="Consolas"/>
                <a:ea typeface="Consolas"/>
                <a:cs typeface="Consolas"/>
              </a:rPr>
              <a:t>=</a:t>
            </a:r>
            <a:r>
              <a:rPr sz="1400" b="0" i="0" u="none">
                <a:solidFill>
                  <a:srgbClr val="569CD6"/>
                </a:solidFill>
                <a:latin typeface="Consolas"/>
                <a:ea typeface="Consolas"/>
                <a:cs typeface="Consolas"/>
              </a:rPr>
              <a:t>True</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couleur</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CharField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max_length</a:t>
            </a:r>
            <a:r>
              <a:rPr sz="1400" b="0" i="0" u="none">
                <a:solidFill>
                  <a:srgbClr val="D4D4D4"/>
                </a:solidFill>
                <a:latin typeface="Consolas"/>
                <a:ea typeface="Consolas"/>
                <a:cs typeface="Consolas"/>
              </a:rPr>
              <a:t>=</a:t>
            </a:r>
            <a:r>
              <a:rPr sz="1400" b="0" i="0" u="none">
                <a:solidFill>
                  <a:srgbClr val="B5CEA8"/>
                </a:solidFill>
                <a:latin typeface="Consolas"/>
                <a:ea typeface="Consolas"/>
                <a:cs typeface="Consolas"/>
              </a:rPr>
              <a:t>7</a:t>
            </a: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default</a:t>
            </a:r>
            <a:r>
              <a:rPr sz="1400" b="0" i="0" u="none">
                <a:solidFill>
                  <a:srgbClr val="D4D4D4"/>
                </a:solidFill>
                <a:latin typeface="Consolas"/>
                <a:ea typeface="Consolas"/>
                <a:cs typeface="Consolas"/>
              </a:rPr>
              <a:t>=</a:t>
            </a:r>
            <a:r>
              <a:rPr sz="1400" b="0" i="0" u="none">
                <a:solidFill>
                  <a:srgbClr val="CE9178"/>
                </a:solidFill>
                <a:latin typeface="Consolas"/>
                <a:ea typeface="Consolas"/>
                <a:cs typeface="Consolas"/>
              </a:rPr>
              <a:t>"#007bff"</a:t>
            </a:r>
            <a:r>
              <a:rPr sz="1400" b="0" i="0" u="none">
                <a:solidFill>
                  <a:srgbClr val="CCCCCC"/>
                </a:solidFill>
                <a:latin typeface="Consolas"/>
                <a:ea typeface="Consolas"/>
                <a:cs typeface="Consolas"/>
              </a:rPr>
              <a:t>)  </a:t>
            </a:r>
            <a:r>
              <a:rPr sz="1400" b="0" i="0" u="none">
                <a:solidFill>
                  <a:srgbClr val="6A9955"/>
                </a:solidFill>
                <a:latin typeface="Consolas"/>
                <a:ea typeface="Consolas"/>
                <a:cs typeface="Consolas"/>
              </a:rPr>
              <a:t># Hex color</a:t>
            </a:r>
            <a:br>
              <a:rPr sz="1400" b="0" i="0" u="none">
                <a:solidFill>
                  <a:srgbClr val="6A9955"/>
                </a:solidFill>
                <a:latin typeface="Consolas"/>
                <a:ea typeface="Consolas"/>
                <a:cs typeface="Consolas"/>
              </a:rPr>
            </a:br>
            <a:endParaRPr sz="1400"/>
          </a:p>
          <a:p>
            <a:pPr>
              <a:defRPr/>
            </a:pPr>
            <a:r>
              <a:rPr sz="1400" b="0" i="0" u="none">
                <a:solidFill>
                  <a:srgbClr val="569CD6"/>
                </a:solidFill>
                <a:latin typeface="Consolas"/>
                <a:ea typeface="Consolas"/>
                <a:cs typeface="Consolas"/>
              </a:rPr>
              <a:t>class</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Article</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Model</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titre</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CharField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max_length</a:t>
            </a:r>
            <a:r>
              <a:rPr sz="1400" b="0" i="0" u="none">
                <a:solidFill>
                  <a:srgbClr val="D4D4D4"/>
                </a:solidFill>
                <a:latin typeface="Consolas"/>
                <a:ea typeface="Consolas"/>
                <a:cs typeface="Consolas"/>
              </a:rPr>
              <a:t>=</a:t>
            </a:r>
            <a:r>
              <a:rPr sz="1400" b="0" i="0" u="none">
                <a:solidFill>
                  <a:srgbClr val="B5CEA8"/>
                </a:solidFill>
                <a:latin typeface="Consolas"/>
                <a:ea typeface="Consolas"/>
                <a:cs typeface="Consolas"/>
              </a:rPr>
              <a:t>200</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slug</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SlugField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max_length</a:t>
            </a:r>
            <a:r>
              <a:rPr sz="1400" b="0" i="0" u="none">
                <a:solidFill>
                  <a:srgbClr val="D4D4D4"/>
                </a:solidFill>
                <a:latin typeface="Consolas"/>
                <a:ea typeface="Consolas"/>
                <a:cs typeface="Consolas"/>
              </a:rPr>
              <a:t>=</a:t>
            </a:r>
            <a:r>
              <a:rPr sz="1400" b="0" i="0" u="none">
                <a:solidFill>
                  <a:srgbClr val="B5CEA8"/>
                </a:solidFill>
                <a:latin typeface="Consolas"/>
                <a:ea typeface="Consolas"/>
                <a:cs typeface="Consolas"/>
              </a:rPr>
              <a:t>200</a:t>
            </a: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unique</a:t>
            </a:r>
            <a:r>
              <a:rPr sz="1400" b="0" i="0" u="none">
                <a:solidFill>
                  <a:srgbClr val="D4D4D4"/>
                </a:solidFill>
                <a:latin typeface="Consolas"/>
                <a:ea typeface="Consolas"/>
                <a:cs typeface="Consolas"/>
              </a:rPr>
              <a:t>=</a:t>
            </a:r>
            <a:r>
              <a:rPr sz="1400" b="0" i="0" u="none">
                <a:solidFill>
                  <a:srgbClr val="569CD6"/>
                </a:solidFill>
                <a:latin typeface="Consolas"/>
                <a:ea typeface="Consolas"/>
                <a:cs typeface="Consolas"/>
              </a:rPr>
              <a:t>True</a:t>
            </a:r>
            <a:r>
              <a:rPr sz="1400" b="0" i="0" u="none">
                <a:solidFill>
                  <a:srgbClr val="CCCCCC"/>
                </a:solidFill>
                <a:latin typeface="Consolas"/>
                <a:ea typeface="Consolas"/>
                <a:cs typeface="Consolas"/>
              </a:rPr>
              <a:t>)  </a:t>
            </a:r>
            <a:r>
              <a:rPr sz="1400" b="0" i="0" u="none">
                <a:solidFill>
                  <a:srgbClr val="6A9955"/>
                </a:solidFill>
                <a:latin typeface="Consolas"/>
                <a:ea typeface="Consolas"/>
                <a:cs typeface="Consolas"/>
              </a:rPr>
              <a:t># URL friendly</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contenu</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TextField</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resume</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CharField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max_length</a:t>
            </a:r>
            <a:r>
              <a:rPr sz="1400" b="0" i="0" u="none">
                <a:solidFill>
                  <a:srgbClr val="D4D4D4"/>
                </a:solidFill>
                <a:latin typeface="Consolas"/>
                <a:ea typeface="Consolas"/>
                <a:cs typeface="Consolas"/>
              </a:rPr>
              <a:t>=</a:t>
            </a:r>
            <a:r>
              <a:rPr sz="1400" b="0" i="0" u="none">
                <a:solidFill>
                  <a:srgbClr val="B5CEA8"/>
                </a:solidFill>
                <a:latin typeface="Consolas"/>
                <a:ea typeface="Consolas"/>
                <a:cs typeface="Consolas"/>
              </a:rPr>
              <a:t>300</a:t>
            </a: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blank</a:t>
            </a:r>
            <a:r>
              <a:rPr sz="1400" b="0" i="0" u="none">
                <a:solidFill>
                  <a:srgbClr val="D4D4D4"/>
                </a:solidFill>
                <a:latin typeface="Consolas"/>
                <a:ea typeface="Consolas"/>
                <a:cs typeface="Consolas"/>
              </a:rPr>
              <a:t>=</a:t>
            </a:r>
            <a:r>
              <a:rPr sz="1400" b="0" i="0" u="none">
                <a:solidFill>
                  <a:srgbClr val="569CD6"/>
                </a:solidFill>
                <a:latin typeface="Consolas"/>
                <a:ea typeface="Consolas"/>
                <a:cs typeface="Consolas"/>
              </a:rPr>
              <a:t>True</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image</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ImageField</a:t>
            </a:r>
            <a:r>
              <a:rPr sz="1400" b="0" i="0" u="none">
                <a:solidFill>
                  <a:srgbClr val="CCCCCC"/>
                </a:solidFill>
                <a:latin typeface="Consolas"/>
                <a:ea typeface="Consolas"/>
                <a:cs typeface="Consolas"/>
              </a:rPr>
              <a:t>(</a:t>
            </a:r>
            <a:r>
              <a:rPr sz="1400" b="0" i="0" u="none">
                <a:solidFill>
                  <a:srgbClr val="9CDCFE"/>
                </a:solidFill>
                <a:latin typeface="Consolas"/>
                <a:ea typeface="Consolas"/>
                <a:cs typeface="Consolas"/>
              </a:rPr>
              <a:t>upload_to</a:t>
            </a:r>
            <a:r>
              <a:rPr sz="1400" b="0" i="0" u="none">
                <a:solidFill>
                  <a:srgbClr val="D4D4D4"/>
                </a:solidFill>
                <a:latin typeface="Consolas"/>
                <a:ea typeface="Consolas"/>
                <a:cs typeface="Consolas"/>
              </a:rPr>
              <a:t>=</a:t>
            </a:r>
            <a:r>
              <a:rPr sz="1400" b="0" i="0" u="none">
                <a:solidFill>
                  <a:srgbClr val="CE9178"/>
                </a:solidFill>
                <a:latin typeface="Consolas"/>
                <a:ea typeface="Consolas"/>
                <a:cs typeface="Consolas"/>
              </a:rPr>
              <a:t>'articles/'</a:t>
            </a: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blank</a:t>
            </a:r>
            <a:r>
              <a:rPr sz="1400" b="0" i="0" u="none">
                <a:solidFill>
                  <a:srgbClr val="D4D4D4"/>
                </a:solidFill>
                <a:latin typeface="Consolas"/>
                <a:ea typeface="Consolas"/>
                <a:cs typeface="Consolas"/>
              </a:rPr>
              <a:t>=</a:t>
            </a:r>
            <a:r>
              <a:rPr sz="1400" b="0" i="0" u="none">
                <a:solidFill>
                  <a:srgbClr val="569CD6"/>
                </a:solidFill>
                <a:latin typeface="Consolas"/>
                <a:ea typeface="Consolas"/>
                <a:cs typeface="Consolas"/>
              </a:rPr>
              <a:t>True</a:t>
            </a: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null</a:t>
            </a:r>
            <a:r>
              <a:rPr sz="1400" b="0" i="0" u="none">
                <a:solidFill>
                  <a:srgbClr val="D4D4D4"/>
                </a:solidFill>
                <a:latin typeface="Consolas"/>
                <a:ea typeface="Consolas"/>
                <a:cs typeface="Consolas"/>
              </a:rPr>
              <a:t>=</a:t>
            </a:r>
            <a:r>
              <a:rPr sz="1400" b="0" i="0" u="none">
                <a:solidFill>
                  <a:srgbClr val="569CD6"/>
                </a:solidFill>
                <a:latin typeface="Consolas"/>
                <a:ea typeface="Consolas"/>
                <a:cs typeface="Consolas"/>
              </a:rPr>
              <a:t>True</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endParaRPr sz="1400"/>
          </a:p>
          <a:p>
            <a:pPr>
              <a:defRPr/>
            </a:pPr>
            <a:r>
              <a:rPr sz="1400" b="0" i="0" u="none">
                <a:solidFill>
                  <a:srgbClr val="CCCCCC"/>
                </a:solidFill>
                <a:latin typeface="Consolas"/>
                <a:ea typeface="Consolas"/>
                <a:cs typeface="Consolas"/>
              </a:rPr>
              <a:t>    </a:t>
            </a:r>
            <a:r>
              <a:rPr sz="1400" b="0" i="0" u="none">
                <a:solidFill>
                  <a:srgbClr val="6A9955"/>
                </a:solidFill>
                <a:latin typeface="Consolas"/>
                <a:ea typeface="Consolas"/>
                <a:cs typeface="Consolas"/>
              </a:rPr>
              <a:t># Relations</a:t>
            </a:r>
            <a:endParaRPr sz="1400"/>
          </a:p>
          <a:p>
            <a:pPr>
              <a:defRPr/>
            </a:pPr>
            <a:r>
              <a:rPr sz="1400" b="0" i="0" u="none">
                <a:solidFill>
                  <a:srgbClr val="CCCCCC"/>
                </a:solidFill>
                <a:latin typeface="Consolas"/>
                <a:ea typeface="Consolas"/>
                <a:cs typeface="Consolas"/>
              </a:rPr>
              <a:t>    </a:t>
            </a:r>
            <a:r>
              <a:rPr sz="1400" b="0" i="0" u="none">
                <a:solidFill>
                  <a:srgbClr val="6A9955"/>
                </a:solidFill>
                <a:latin typeface="Consolas"/>
                <a:ea typeface="Consolas"/>
                <a:cs typeface="Consolas"/>
              </a:rPr>
              <a:t># </a:t>
            </a:r>
            <a:r>
              <a:rPr lang="en-US" sz="1400" b="0" i="0" u="none" strike="noStrike" cap="none" spc="0">
                <a:solidFill>
                  <a:srgbClr val="9CDCFE"/>
                </a:solidFill>
                <a:latin typeface="Consolas"/>
                <a:ea typeface="Consolas"/>
                <a:cs typeface="Consolas"/>
              </a:rPr>
              <a:t>on_delete</a:t>
            </a:r>
            <a:r>
              <a:rPr lang="en-US" sz="1400" b="0" i="0" u="none" strike="noStrike" cap="none" spc="0">
                <a:solidFill>
                  <a:srgbClr val="D4D4D4"/>
                </a:solidFill>
                <a:latin typeface="Consolas"/>
                <a:ea typeface="Consolas"/>
                <a:cs typeface="Consolas"/>
              </a:rPr>
              <a:t>=</a:t>
            </a:r>
            <a:r>
              <a:rPr lang="en-US" sz="1400" b="0" i="0" u="none" strike="noStrike" cap="none" spc="0">
                <a:solidFill>
                  <a:srgbClr val="4EC9B0"/>
                </a:solidFill>
                <a:latin typeface="Consolas"/>
                <a:ea typeface="Consolas"/>
                <a:cs typeface="Consolas"/>
              </a:rPr>
              <a:t>models</a:t>
            </a:r>
            <a:r>
              <a:rPr lang="en-US" sz="1400" b="0" i="0" u="none" strike="noStrike" cap="none" spc="0">
                <a:solidFill>
                  <a:srgbClr val="CCCCCC"/>
                </a:solidFill>
                <a:latin typeface="Consolas"/>
                <a:ea typeface="Consolas"/>
                <a:cs typeface="Consolas"/>
              </a:rPr>
              <a:t>.</a:t>
            </a:r>
            <a:r>
              <a:rPr lang="en-US" sz="1400" b="0" i="0" u="none" strike="noStrike" cap="none" spc="0">
                <a:solidFill>
                  <a:srgbClr val="DCDCAA"/>
                </a:solidFill>
                <a:latin typeface="Consolas"/>
                <a:ea typeface="Consolas"/>
                <a:cs typeface="Consolas"/>
              </a:rPr>
              <a:t>CASCADE</a:t>
            </a:r>
            <a:r>
              <a:rPr lang="fr-FR" sz="1400" b="0" i="0" u="none">
                <a:solidFill>
                  <a:srgbClr val="6A9955"/>
                </a:solidFill>
                <a:latin typeface="Consolas"/>
                <a:ea typeface="Consolas"/>
                <a:cs typeface="Consolas"/>
              </a:rPr>
              <a:t> </a:t>
            </a:r>
            <a:r>
              <a:rPr sz="1400" b="0" i="0" u="none">
                <a:solidFill>
                  <a:srgbClr val="6A9955"/>
                </a:solidFill>
                <a:latin typeface="Consolas"/>
                <a:ea typeface="Consolas"/>
                <a:cs typeface="Consolas"/>
              </a:rPr>
              <a:t>signifie que si une catégorie est supprimée, tous les articles liés seront aussi supprimés automatiquement.</a:t>
            </a:r>
            <a:endParaRPr sz="1400"/>
          </a:p>
          <a:p>
            <a:pPr>
              <a:defRPr/>
            </a:pP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categorie</a:t>
            </a:r>
            <a:r>
              <a:rPr sz="1400" b="0" i="0" u="none">
                <a:solidFill>
                  <a:srgbClr val="CCCCCC"/>
                </a:solidFill>
                <a:latin typeface="Consolas"/>
                <a:ea typeface="Consolas"/>
                <a:cs typeface="Consolas"/>
              </a:rPr>
              <a:t> </a:t>
            </a:r>
            <a:r>
              <a:rPr sz="1400" b="0" i="0" u="none">
                <a:solidFill>
                  <a:srgbClr val="D4D4D4"/>
                </a:solidFill>
                <a:latin typeface="Consolas"/>
                <a:ea typeface="Consolas"/>
                <a:cs typeface="Consolas"/>
              </a:rPr>
              <a:t>=</a:t>
            </a:r>
            <a:r>
              <a:rPr sz="1400" b="0" i="0" u="none">
                <a:solidFill>
                  <a:srgbClr val="CCCCCC"/>
                </a:solidFill>
                <a:latin typeface="Consolas"/>
                <a:ea typeface="Consolas"/>
                <a:cs typeface="Consolas"/>
              </a:rPr>
              <a:t> </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ForeignKey</a:t>
            </a:r>
            <a:r>
              <a:rPr sz="1400" b="0" i="0" u="none">
                <a:solidFill>
                  <a:srgbClr val="CCCCCC"/>
                </a:solidFill>
                <a:latin typeface="Consolas"/>
                <a:ea typeface="Consolas"/>
                <a:cs typeface="Consolas"/>
              </a:rPr>
              <a:t>(</a:t>
            </a:r>
            <a:r>
              <a:rPr sz="1400" b="0" i="0" u="none">
                <a:solidFill>
                  <a:srgbClr val="4EC9B0"/>
                </a:solidFill>
                <a:latin typeface="Consolas"/>
                <a:ea typeface="Consolas"/>
                <a:cs typeface="Consolas"/>
              </a:rPr>
              <a:t>Categorie</a:t>
            </a:r>
            <a:r>
              <a:rPr sz="1400" b="0" i="0" u="none">
                <a:solidFill>
                  <a:srgbClr val="CCCCCC"/>
                </a:solidFill>
                <a:latin typeface="Consolas"/>
                <a:ea typeface="Consolas"/>
                <a:cs typeface="Consolas"/>
              </a:rPr>
              <a:t>, </a:t>
            </a:r>
            <a:r>
              <a:rPr sz="1400" b="0" i="0" u="none">
                <a:solidFill>
                  <a:srgbClr val="9CDCFE"/>
                </a:solidFill>
                <a:latin typeface="Consolas"/>
                <a:ea typeface="Consolas"/>
                <a:cs typeface="Consolas"/>
              </a:rPr>
              <a:t>on_delete</a:t>
            </a:r>
            <a:r>
              <a:rPr sz="1400" b="0" i="0" u="none">
                <a:solidFill>
                  <a:srgbClr val="D4D4D4"/>
                </a:solidFill>
                <a:latin typeface="Consolas"/>
                <a:ea typeface="Consolas"/>
                <a:cs typeface="Consolas"/>
              </a:rPr>
              <a:t>=</a:t>
            </a:r>
            <a:r>
              <a:rPr sz="1400" b="0" i="0" u="none">
                <a:solidFill>
                  <a:srgbClr val="4EC9B0"/>
                </a:solidFill>
                <a:latin typeface="Consolas"/>
                <a:ea typeface="Consolas"/>
                <a:cs typeface="Consolas"/>
              </a:rPr>
              <a:t>models</a:t>
            </a:r>
            <a:r>
              <a:rPr sz="1400" b="0" i="0" u="none">
                <a:solidFill>
                  <a:srgbClr val="CCCCCC"/>
                </a:solidFill>
                <a:latin typeface="Consolas"/>
                <a:ea typeface="Consolas"/>
                <a:cs typeface="Consolas"/>
              </a:rPr>
              <a:t>.</a:t>
            </a:r>
            <a:r>
              <a:rPr sz="1400" b="0" i="0" u="none">
                <a:solidFill>
                  <a:srgbClr val="DCDCAA"/>
                </a:solidFill>
                <a:latin typeface="Consolas"/>
                <a:ea typeface="Consolas"/>
                <a:cs typeface="Consolas"/>
              </a:rPr>
              <a:t>CASCADE</a:t>
            </a:r>
            <a:r>
              <a:rPr sz="1400" b="0" i="0" u="none">
                <a:solidFill>
                  <a:srgbClr val="CCCCCC"/>
                </a:solidFill>
                <a:latin typeface="Consolas"/>
                <a:ea typeface="Consolas"/>
                <a:cs typeface="Consolas"/>
              </a:rPr>
              <a:t>)</a:t>
            </a:r>
            <a:endParaRPr sz="1400"/>
          </a:p>
          <a:p>
            <a:pPr>
              <a:defRPr/>
            </a:pPr>
            <a:r>
              <a:rPr sz="1400" b="0" i="0" u="none">
                <a:solidFill>
                  <a:srgbClr val="CCCCCC"/>
                </a:solidFill>
                <a:latin typeface="Consolas"/>
                <a:ea typeface="Consolas"/>
                <a:cs typeface="Consolas"/>
              </a:rPr>
              <a:t>    </a:t>
            </a:r>
            <a:br>
              <a:rPr sz="1400" b="0" i="0" u="none">
                <a:solidFill>
                  <a:srgbClr val="CCCCCC"/>
                </a:solidFill>
                <a:latin typeface="Consolas"/>
                <a:ea typeface="Consolas"/>
                <a:cs typeface="Consolas"/>
              </a:rPr>
            </a:br>
            <a:br>
              <a:rPr sz="1400" b="0" i="0" u="none">
                <a:solidFill>
                  <a:srgbClr val="CCCCCC"/>
                </a:solidFill>
                <a:latin typeface="Consolas"/>
                <a:ea typeface="Consolas"/>
                <a:cs typeface="Consolas"/>
              </a:rPr>
            </a:b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0565030" name="TextBox 5"/>
          <p:cNvSpPr txBox="1"/>
          <p:nvPr/>
        </p:nvSpPr>
        <p:spPr bwMode="auto">
          <a:xfrm rot="0">
            <a:off x="3730339" y="9436296"/>
            <a:ext cx="999776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394598988" name=""/>
          <p:cNvSpPr txBox="1"/>
          <p:nvPr/>
        </p:nvSpPr>
        <p:spPr bwMode="auto">
          <a:xfrm rot="0" flipH="0" flipV="0">
            <a:off x="1787968" y="714375"/>
            <a:ext cx="7884088"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Templates</a:t>
            </a:r>
            <a:endParaRPr sz="2000" b="1">
              <a:latin typeface="Arial"/>
              <a:cs typeface="Arial"/>
            </a:endParaRPr>
          </a:p>
        </p:txBody>
      </p:sp>
      <p:sp>
        <p:nvSpPr>
          <p:cNvPr id="1202190119" name=""/>
          <p:cNvSpPr txBox="1"/>
          <p:nvPr/>
        </p:nvSpPr>
        <p:spPr bwMode="auto">
          <a:xfrm rot="0" flipH="0" flipV="0">
            <a:off x="1510156" y="1369218"/>
            <a:ext cx="15381066"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spc="5">
                <a:solidFill>
                  <a:srgbClr val="000000"/>
                </a:solidFill>
                <a:latin typeface="Arial"/>
                <a:ea typeface="Arial"/>
                <a:cs typeface="Arial"/>
              </a:rPr>
              <a:t>Un template = fichier HTML "intelligent"</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qui mélange :</a:t>
            </a:r>
            <a:endParaRPr sz="2000" b="0"/>
          </a:p>
          <a:p>
            <a:pPr marL="305908" indent="-305908">
              <a:buFont typeface="Wingdings"/>
              <a:buChar char="ü"/>
              <a:defRPr/>
            </a:pPr>
            <a:r>
              <a:rPr sz="2000" b="0" i="0" u="none" spc="5">
                <a:solidFill>
                  <a:srgbClr val="000000"/>
                </a:solidFill>
                <a:latin typeface="Arial"/>
                <a:ea typeface="Arial"/>
                <a:cs typeface="Arial"/>
              </a:rPr>
              <a:t>HTML statique</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(structure fixe)</a:t>
            </a:r>
            <a:endParaRPr sz="2000" b="0"/>
          </a:p>
          <a:p>
            <a:pPr marL="305908" indent="-305908">
              <a:buFont typeface="Wingdings"/>
              <a:buChar char="ü"/>
              <a:defRPr/>
            </a:pPr>
            <a:r>
              <a:rPr sz="2000" b="0" i="0" u="none" spc="5">
                <a:solidFill>
                  <a:srgbClr val="000000"/>
                </a:solidFill>
                <a:latin typeface="Arial"/>
                <a:ea typeface="Arial"/>
                <a:cs typeface="Arial"/>
              </a:rPr>
              <a:t>Code Django spécial</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(variables, boucles, conditions dynamiques)</a:t>
            </a:r>
            <a:endParaRPr sz="2000" b="0"/>
          </a:p>
        </p:txBody>
      </p:sp>
      <p:sp>
        <p:nvSpPr>
          <p:cNvPr id="691846981" name=""/>
          <p:cNvSpPr txBox="1"/>
          <p:nvPr/>
        </p:nvSpPr>
        <p:spPr bwMode="auto">
          <a:xfrm rot="0" flipH="0" flipV="0">
            <a:off x="1668906" y="2678906"/>
            <a:ext cx="10225650"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b="1"/>
              <a:t>Notion de TAGS</a:t>
            </a:r>
            <a:endParaRPr b="1"/>
          </a:p>
        </p:txBody>
      </p:sp>
      <p:sp>
        <p:nvSpPr>
          <p:cNvPr id="1051527246" name=""/>
          <p:cNvSpPr txBox="1"/>
          <p:nvPr/>
        </p:nvSpPr>
        <p:spPr bwMode="auto">
          <a:xfrm rot="0" flipH="0" flipV="0">
            <a:off x="1450624" y="3135312"/>
            <a:ext cx="14268376"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spc="5">
                <a:solidFill>
                  <a:srgbClr val="000000"/>
                </a:solidFill>
                <a:latin typeface="Arial"/>
                <a:ea typeface="Arial"/>
                <a:cs typeface="Arial"/>
              </a:rPr>
              <a:t>Un</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tag</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est une</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instruction spéciale</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dans un template Django, entourée par des accolades et pourcentages</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 ... %}</a:t>
            </a:r>
            <a:r>
              <a:rPr sz="2000" b="0" i="0" u="none" spc="5">
                <a:solidFill>
                  <a:srgbClr val="000000"/>
                </a:solidFill>
                <a:latin typeface="Arial"/>
                <a:ea typeface="Arial"/>
                <a:cs typeface="Arial"/>
              </a:rPr>
              <a:t>.</a:t>
            </a:r>
            <a:endParaRPr sz="2000" b="0"/>
          </a:p>
          <a:p>
            <a:pPr>
              <a:defRPr/>
            </a:pPr>
            <a:r>
              <a:rPr sz="2000" b="0" i="0" u="none" spc="5">
                <a:solidFill>
                  <a:srgbClr val="000000"/>
                </a:solidFill>
                <a:latin typeface="Arial"/>
                <a:ea typeface="Arial"/>
                <a:cs typeface="Arial"/>
              </a:rPr>
              <a:t>Il sert à ajouter de la</a:t>
            </a:r>
            <a:r>
              <a:rPr sz="2000" b="0" i="0" u="none" spc="5">
                <a:solidFill>
                  <a:srgbClr val="000000"/>
                </a:solidFill>
                <a:latin typeface="Arial"/>
                <a:ea typeface="Arial"/>
                <a:cs typeface="Arial"/>
              </a:rPr>
              <a:t> </a:t>
            </a:r>
            <a:r>
              <a:rPr sz="2000" b="0" i="0" u="none" spc="5">
                <a:solidFill>
                  <a:srgbClr val="000000"/>
                </a:solidFill>
                <a:latin typeface="Arial"/>
                <a:ea typeface="Arial"/>
                <a:cs typeface="Arial"/>
              </a:rPr>
              <a:t>logique dans le template</a:t>
            </a:r>
            <a:r>
              <a:rPr sz="2000" b="0" i="0" u="none" spc="5">
                <a:solidFill>
                  <a:srgbClr val="000000"/>
                </a:solidFill>
                <a:latin typeface="Arial"/>
                <a:ea typeface="Arial"/>
                <a:cs typeface="Arial"/>
              </a:rPr>
              <a:t> </a:t>
            </a:r>
            <a:endParaRPr sz="2000" b="0"/>
          </a:p>
        </p:txBody>
      </p:sp>
      <p:sp>
        <p:nvSpPr>
          <p:cNvPr id="537042663" name=""/>
          <p:cNvSpPr txBox="1"/>
          <p:nvPr/>
        </p:nvSpPr>
        <p:spPr bwMode="auto">
          <a:xfrm rot="0" flipH="0" flipV="0">
            <a:off x="2760312" y="5119687"/>
            <a:ext cx="11152906"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1316295021" name=""/>
          <p:cNvSpPr txBox="1"/>
          <p:nvPr/>
        </p:nvSpPr>
        <p:spPr bwMode="auto">
          <a:xfrm rot="0" flipH="0" flipV="0">
            <a:off x="1510155" y="4330222"/>
            <a:ext cx="12523925" cy="44809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lang="fr-FR" sz="1800" b="0" i="0" u="none" strike="noStrike" cap="none" spc="0">
                <a:solidFill>
                  <a:schemeClr val="tx1"/>
                </a:solidFill>
                <a:latin typeface="Calibri"/>
                <a:ea typeface="Calibri"/>
                <a:cs typeface="Calibri"/>
              </a:rPr>
              <a:t># </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&lt;!DOCTYPE html&gt;</a:t>
            </a:r>
            <a:endParaRPr lang="en-US" sz="1800" b="0" i="0" u="none" strike="noStrike" cap="none" spc="0">
              <a:solidFill>
                <a:schemeClr val="tx1"/>
              </a:solidFill>
              <a:latin typeface="Calibri"/>
              <a:ea typeface="Calibri"/>
              <a:cs typeface="Calibri"/>
            </a:endParaRPr>
          </a:p>
          <a:p>
            <a:pPr algn="l">
              <a:defRPr/>
            </a:pPr>
            <a:r>
              <a:rPr lang="en-US" sz="1800" b="0" i="0" u="none" strike="noStrike" cap="none" spc="0">
                <a:solidFill>
                  <a:schemeClr val="tx1"/>
                </a:solidFill>
                <a:latin typeface="Calibri"/>
                <a:ea typeface="Calibri"/>
                <a:cs typeface="Calibri"/>
              </a:rPr>
              <a:t>&lt;html&gt;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&lt;body&gt;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&lt;h1&gt;Mes Articles&lt;/h1&gt;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 for article in articles %}        &lt;!-- Balise boucle --&gt;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&lt;div&gt;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&lt;h2&gt;{{ article.titre\|upper }}&lt;/h2&gt;   &lt;!-- Variable + filtre --&gt;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&lt;p&gt;{{ article.resume }}&lt;/p&gt;           &lt;!-- Variable simple --&gt;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&lt;/div&gt;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 empty %}                           &lt;!-- Condition vide --&gt;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&lt;p&gt;Aucun article disponible&lt;/p&gt;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    {% endfor %}</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&lt;/body&gt;</a:t>
            </a:r>
            <a:endParaRPr lang="en-US" sz="1800" b="0" i="0" u="none" strike="noStrike" cap="none" spc="0">
              <a:solidFill>
                <a:schemeClr val="tx1"/>
              </a:solidFill>
              <a:latin typeface="Calibri"/>
              <a:cs typeface="Calibri"/>
            </a:endParaRPr>
          </a:p>
          <a:p>
            <a:pPr algn="l">
              <a:defRPr/>
            </a:pPr>
            <a:r>
              <a:rPr lang="en-US" sz="1800" b="0" i="0" u="none" strike="noStrike" cap="none" spc="0">
                <a:solidFill>
                  <a:schemeClr val="tx1"/>
                </a:solidFill>
                <a:latin typeface="Calibri"/>
                <a:ea typeface="Calibri"/>
                <a:cs typeface="Calibri"/>
              </a:rPr>
              <a:t>&lt;/html&gt;</a:t>
            </a:r>
            <a:endParaRPr lang="en-US" sz="1800" b="0" i="0" u="none" strike="noStrike" cap="none" spc="0">
              <a:solidFill>
                <a:schemeClr val="tx1"/>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4319343" name="TextBox 5"/>
          <p:cNvSpPr txBox="1"/>
          <p:nvPr/>
        </p:nvSpPr>
        <p:spPr bwMode="auto">
          <a:xfrm rot="0">
            <a:off x="3730339" y="9436296"/>
            <a:ext cx="9997760" cy="597640"/>
          </a:xfrm>
          <a:prstGeom prst="rect">
            <a:avLst/>
          </a:prstGeom>
        </p:spPr>
        <p:txBody>
          <a:bodyPr lIns="0" tIns="0" rIns="0" bIns="0" rtlCol="0" anchor="t">
            <a:spAutoFit/>
          </a:bodyPr>
          <a:lstStyle/>
          <a:p>
            <a:pPr algn="ctr">
              <a:lnSpc>
                <a:spcPts val="4702"/>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357080214" name=""/>
          <p:cNvSpPr txBox="1"/>
          <p:nvPr/>
        </p:nvSpPr>
        <p:spPr bwMode="auto">
          <a:xfrm rot="0" flipH="0" flipV="0">
            <a:off x="1172812" y="714375"/>
            <a:ext cx="7885168"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Vues</a:t>
            </a:r>
            <a:endParaRPr sz="2000" b="1">
              <a:latin typeface="Arial"/>
              <a:cs typeface="Arial"/>
            </a:endParaRPr>
          </a:p>
        </p:txBody>
      </p:sp>
      <p:sp>
        <p:nvSpPr>
          <p:cNvPr id="177653834" name=""/>
          <p:cNvSpPr txBox="1"/>
          <p:nvPr/>
        </p:nvSpPr>
        <p:spPr bwMode="auto">
          <a:xfrm rot="0" flipH="0" flipV="0">
            <a:off x="875156" y="1349374"/>
            <a:ext cx="16194976"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01271" indent="-201271">
              <a:buFont typeface="Wingdings"/>
              <a:buChar char="ü"/>
              <a:defRPr/>
            </a:pPr>
            <a:r>
              <a:rPr sz="2000" b="0" i="0" u="none" spc="5">
                <a:solidFill>
                  <a:srgbClr val="4D4D4C"/>
                </a:solidFill>
                <a:latin typeface="Arial"/>
                <a:ea typeface="Arial"/>
                <a:cs typeface="Arial"/>
              </a:rPr>
              <a:t>R</a:t>
            </a:r>
            <a:r>
              <a:rPr lang="fr-FR" sz="2000" b="0" i="0" u="none" spc="5">
                <a:solidFill>
                  <a:srgbClr val="4D4D4C"/>
                </a:solidFill>
                <a:latin typeface="Arial"/>
                <a:ea typeface="Arial"/>
                <a:cs typeface="Arial"/>
              </a:rPr>
              <a:t>eçoit</a:t>
            </a:r>
            <a:r>
              <a:rPr sz="2000" b="0" i="0" u="none" spc="5">
                <a:solidFill>
                  <a:srgbClr val="4D4D4C"/>
                </a:solidFill>
                <a:latin typeface="Arial"/>
                <a:ea typeface="Arial"/>
                <a:cs typeface="Arial"/>
              </a:rPr>
              <a:t> une requête HTTP</a:t>
            </a:r>
            <a:endParaRPr sz="2000" b="0">
              <a:latin typeface="Arial"/>
              <a:cs typeface="Arial"/>
            </a:endParaRPr>
          </a:p>
          <a:p>
            <a:pPr marL="201271" indent="-201271">
              <a:buFont typeface="Wingdings"/>
              <a:buChar char="ü"/>
              <a:defRPr/>
            </a:pPr>
            <a:r>
              <a:rPr sz="2000" b="0" i="0" u="none" spc="5">
                <a:solidFill>
                  <a:srgbClr val="4D4D4C"/>
                </a:solidFill>
                <a:latin typeface="Arial"/>
                <a:ea typeface="Arial"/>
                <a:cs typeface="Arial"/>
              </a:rPr>
              <a:t>T</a:t>
            </a:r>
            <a:r>
              <a:rPr lang="fr-FR" sz="2000" b="0" i="0" u="none" spc="5">
                <a:solidFill>
                  <a:srgbClr val="4D4D4C"/>
                </a:solidFill>
                <a:latin typeface="Arial"/>
                <a:ea typeface="Arial"/>
                <a:cs typeface="Arial"/>
              </a:rPr>
              <a:t>raite</a:t>
            </a:r>
            <a:r>
              <a:rPr sz="2000" b="0" i="0" u="none" spc="5">
                <a:solidFill>
                  <a:srgbClr val="4D4D4C"/>
                </a:solidFill>
                <a:latin typeface="Arial"/>
                <a:ea typeface="Arial"/>
                <a:cs typeface="Arial"/>
              </a:rPr>
              <a:t> la logique métier</a:t>
            </a:r>
            <a:endParaRPr sz="2000" b="0">
              <a:latin typeface="Arial"/>
              <a:cs typeface="Arial"/>
            </a:endParaRPr>
          </a:p>
          <a:p>
            <a:pPr marL="201271" indent="-201271">
              <a:buFont typeface="Wingdings"/>
              <a:buChar char="ü"/>
              <a:defRPr/>
            </a:pPr>
            <a:r>
              <a:rPr lang="fr-FR" sz="2000" b="0">
                <a:latin typeface="Arial"/>
                <a:ea typeface="Arial"/>
                <a:cs typeface="Arial"/>
              </a:rPr>
              <a:t>Renvoie </a:t>
            </a:r>
            <a:r>
              <a:rPr sz="2000" b="0" i="0" u="none" spc="5">
                <a:solidFill>
                  <a:srgbClr val="4D4D4C"/>
                </a:solidFill>
                <a:latin typeface="Arial"/>
                <a:ea typeface="Arial"/>
                <a:cs typeface="Arial"/>
              </a:rPr>
              <a:t>une réponse HTTP</a:t>
            </a:r>
            <a:endParaRPr sz="2000" b="0">
              <a:latin typeface="Arial"/>
              <a:cs typeface="Arial"/>
            </a:endParaRPr>
          </a:p>
        </p:txBody>
      </p:sp>
      <p:sp>
        <p:nvSpPr>
          <p:cNvPr id="1390153454" name=""/>
          <p:cNvSpPr txBox="1"/>
          <p:nvPr/>
        </p:nvSpPr>
        <p:spPr bwMode="auto">
          <a:xfrm rot="0" flipH="0" flipV="0">
            <a:off x="1093437" y="2619374"/>
            <a:ext cx="14387438"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569CD6"/>
                </a:solidFill>
                <a:latin typeface="Consolas"/>
                <a:ea typeface="Consolas"/>
                <a:cs typeface="Consolas"/>
              </a:rPr>
              <a:t>def</a:t>
            </a:r>
            <a:r>
              <a:rPr sz="2000" b="0" i="0" u="none">
                <a:solidFill>
                  <a:srgbClr val="CCCCCC"/>
                </a:solidFill>
                <a:latin typeface="Consolas"/>
                <a:ea typeface="Consolas"/>
                <a:cs typeface="Consolas"/>
              </a:rPr>
              <a:t> </a:t>
            </a:r>
            <a:r>
              <a:rPr sz="2000" b="0" i="0" u="none">
                <a:solidFill>
                  <a:srgbClr val="DCDCAA"/>
                </a:solidFill>
                <a:latin typeface="Consolas"/>
                <a:ea typeface="Consolas"/>
                <a:cs typeface="Consolas"/>
              </a:rPr>
              <a:t>accueil</a:t>
            </a:r>
            <a:r>
              <a:rPr sz="2000" b="0" i="0" u="none">
                <a:solidFill>
                  <a:srgbClr val="CCCCCC"/>
                </a:solidFill>
                <a:latin typeface="Consolas"/>
                <a:ea typeface="Consolas"/>
                <a:cs typeface="Consolas"/>
              </a:rPr>
              <a:t>(</a:t>
            </a:r>
            <a:r>
              <a:rPr sz="2000" b="0" i="0" u="none">
                <a:solidFill>
                  <a:srgbClr val="9CDCFE"/>
                </a:solidFill>
                <a:latin typeface="Consolas"/>
                <a:ea typeface="Consolas"/>
                <a:cs typeface="Consolas"/>
              </a:rPr>
              <a:t>request</a:t>
            </a:r>
            <a:r>
              <a:rPr sz="2000" b="0" i="0" u="none">
                <a:solidFill>
                  <a:srgbClr val="CCCCCC"/>
                </a:solidFill>
                <a:latin typeface="Consolas"/>
                <a:ea typeface="Consolas"/>
                <a:cs typeface="Consolas"/>
              </a:rPr>
              <a:t>):</a:t>
            </a:r>
            <a:endParaRPr sz="2000"/>
          </a:p>
          <a:p>
            <a:pPr>
              <a:defRPr/>
            </a:pPr>
            <a:r>
              <a:rPr sz="2000" b="0" i="0" u="none">
                <a:solidFill>
                  <a:srgbClr val="CCCCCC"/>
                </a:solidFill>
                <a:latin typeface="Consolas"/>
                <a:ea typeface="Consolas"/>
                <a:cs typeface="Consolas"/>
              </a:rPr>
              <a:t>    </a:t>
            </a:r>
            <a:r>
              <a:rPr sz="2000" b="0" i="0" u="none">
                <a:solidFill>
                  <a:srgbClr val="9CDCFE"/>
                </a:solidFill>
                <a:latin typeface="Consolas"/>
                <a:ea typeface="Consolas"/>
                <a:cs typeface="Consolas"/>
              </a:rPr>
              <a:t>articles</a:t>
            </a:r>
            <a:r>
              <a:rPr sz="2000" b="0" i="0" u="none">
                <a:solidFill>
                  <a:srgbClr val="CCCCCC"/>
                </a:solidFill>
                <a:latin typeface="Consolas"/>
                <a:ea typeface="Consolas"/>
                <a:cs typeface="Consolas"/>
              </a:rPr>
              <a:t> </a:t>
            </a:r>
            <a:r>
              <a:rPr sz="2000" b="0" i="0" u="none">
                <a:solidFill>
                  <a:srgbClr val="D4D4D4"/>
                </a:solidFill>
                <a:latin typeface="Consolas"/>
                <a:ea typeface="Consolas"/>
                <a:cs typeface="Consolas"/>
              </a:rPr>
              <a:t>=</a:t>
            </a:r>
            <a:r>
              <a:rPr sz="2000" b="0" i="0" u="none">
                <a:solidFill>
                  <a:srgbClr val="CCCCCC"/>
                </a:solidFill>
                <a:latin typeface="Consolas"/>
                <a:ea typeface="Consolas"/>
                <a:cs typeface="Consolas"/>
              </a:rPr>
              <a:t> </a:t>
            </a:r>
            <a:r>
              <a:rPr sz="2000" b="0" i="0" u="none">
                <a:solidFill>
                  <a:srgbClr val="4EC9B0"/>
                </a:solidFill>
                <a:latin typeface="Consolas"/>
                <a:ea typeface="Consolas"/>
                <a:cs typeface="Consolas"/>
              </a:rPr>
              <a:t>Article</a:t>
            </a:r>
            <a:r>
              <a:rPr sz="2000" b="0" i="0" u="none">
                <a:solidFill>
                  <a:srgbClr val="CCCCCC"/>
                </a:solidFill>
                <a:latin typeface="Consolas"/>
                <a:ea typeface="Consolas"/>
                <a:cs typeface="Consolas"/>
              </a:rPr>
              <a:t>.</a:t>
            </a:r>
            <a:r>
              <a:rPr sz="2000" b="0" i="0" u="none">
                <a:solidFill>
                  <a:srgbClr val="9CDCFE"/>
                </a:solidFill>
                <a:latin typeface="Consolas"/>
                <a:ea typeface="Consolas"/>
                <a:cs typeface="Consolas"/>
              </a:rPr>
              <a:t>objects</a:t>
            </a:r>
            <a:r>
              <a:rPr sz="2000" b="0" i="0" u="none">
                <a:solidFill>
                  <a:srgbClr val="CCCCCC"/>
                </a:solidFill>
                <a:latin typeface="Consolas"/>
                <a:ea typeface="Consolas"/>
                <a:cs typeface="Consolas"/>
              </a:rPr>
              <a:t>.</a:t>
            </a:r>
            <a:r>
              <a:rPr sz="2000" b="0" i="0" u="none">
                <a:solidFill>
                  <a:srgbClr val="DCDCAA"/>
                </a:solidFill>
                <a:latin typeface="Consolas"/>
                <a:ea typeface="Consolas"/>
                <a:cs typeface="Consolas"/>
              </a:rPr>
              <a:t>all</a:t>
            </a:r>
            <a:r>
              <a:rPr sz="2000" b="0" i="0" u="none">
                <a:solidFill>
                  <a:srgbClr val="CCCCCC"/>
                </a:solidFill>
                <a:latin typeface="Consolas"/>
                <a:ea typeface="Consolas"/>
                <a:cs typeface="Consolas"/>
              </a:rPr>
              <a:t>()</a:t>
            </a:r>
            <a:endParaRPr sz="2000"/>
          </a:p>
          <a:p>
            <a:pPr>
              <a:defRPr/>
            </a:pPr>
            <a:r>
              <a:rPr sz="2000" b="0" i="0" u="none">
                <a:solidFill>
                  <a:srgbClr val="CCCCCC"/>
                </a:solidFill>
                <a:latin typeface="Consolas"/>
                <a:ea typeface="Consolas"/>
                <a:cs typeface="Consolas"/>
              </a:rPr>
              <a:t>    </a:t>
            </a:r>
            <a:r>
              <a:rPr sz="2000" b="0" i="0" u="none">
                <a:solidFill>
                  <a:srgbClr val="CE92A4"/>
                </a:solidFill>
                <a:latin typeface="Consolas"/>
                <a:ea typeface="Consolas"/>
                <a:cs typeface="Consolas"/>
              </a:rPr>
              <a:t>return</a:t>
            </a:r>
            <a:r>
              <a:rPr sz="2000" b="0" i="0" u="none">
                <a:solidFill>
                  <a:srgbClr val="CCCCCC"/>
                </a:solidFill>
                <a:latin typeface="Consolas"/>
                <a:ea typeface="Consolas"/>
                <a:cs typeface="Consolas"/>
              </a:rPr>
              <a:t> </a:t>
            </a:r>
            <a:r>
              <a:rPr sz="2000" b="0" i="0" u="none">
                <a:solidFill>
                  <a:srgbClr val="DCDCAA"/>
                </a:solidFill>
                <a:latin typeface="Consolas"/>
                <a:ea typeface="Consolas"/>
                <a:cs typeface="Consolas"/>
              </a:rPr>
              <a:t>render</a:t>
            </a:r>
            <a:r>
              <a:rPr sz="2000" b="0" i="0" u="none">
                <a:solidFill>
                  <a:srgbClr val="CCCCCC"/>
                </a:solidFill>
                <a:latin typeface="Consolas"/>
                <a:ea typeface="Consolas"/>
                <a:cs typeface="Consolas"/>
              </a:rPr>
              <a:t>(</a:t>
            </a:r>
            <a:r>
              <a:rPr sz="2000" b="0" i="0" u="none">
                <a:solidFill>
                  <a:srgbClr val="9CDCFE"/>
                </a:solidFill>
                <a:latin typeface="Consolas"/>
                <a:ea typeface="Consolas"/>
                <a:cs typeface="Consolas"/>
              </a:rPr>
              <a:t>request</a:t>
            </a:r>
            <a:r>
              <a:rPr sz="2000" b="0" i="0" u="none">
                <a:solidFill>
                  <a:srgbClr val="CCCCCC"/>
                </a:solidFill>
                <a:latin typeface="Consolas"/>
                <a:ea typeface="Consolas"/>
                <a:cs typeface="Consolas"/>
              </a:rPr>
              <a:t>, </a:t>
            </a:r>
            <a:r>
              <a:rPr sz="2000" b="0" i="0" u="none">
                <a:solidFill>
                  <a:srgbClr val="CE9178"/>
                </a:solidFill>
                <a:latin typeface="Consolas"/>
                <a:ea typeface="Consolas"/>
                <a:cs typeface="Consolas"/>
              </a:rPr>
              <a:t>'accueil.html'</a:t>
            </a:r>
            <a:r>
              <a:rPr sz="2000" b="0" i="0" u="none">
                <a:solidFill>
                  <a:srgbClr val="CCCCCC"/>
                </a:solidFill>
                <a:latin typeface="Consolas"/>
                <a:ea typeface="Consolas"/>
                <a:cs typeface="Consolas"/>
              </a:rPr>
              <a:t>, {</a:t>
            </a:r>
            <a:r>
              <a:rPr sz="2000" b="0" i="0" u="none">
                <a:solidFill>
                  <a:srgbClr val="CE9178"/>
                </a:solidFill>
                <a:latin typeface="Consolas"/>
                <a:ea typeface="Consolas"/>
                <a:cs typeface="Consolas"/>
              </a:rPr>
              <a:t>'articles'</a:t>
            </a:r>
            <a:r>
              <a:rPr sz="2000" b="0" i="0" u="none">
                <a:solidFill>
                  <a:srgbClr val="CCCCCC"/>
                </a:solidFill>
                <a:latin typeface="Consolas"/>
                <a:ea typeface="Consolas"/>
                <a:cs typeface="Consolas"/>
              </a:rPr>
              <a:t>: </a:t>
            </a:r>
            <a:r>
              <a:rPr sz="2000" b="0" i="0" u="none">
                <a:solidFill>
                  <a:srgbClr val="9CDCFE"/>
                </a:solidFill>
                <a:latin typeface="Consolas"/>
                <a:ea typeface="Consolas"/>
                <a:cs typeface="Consolas"/>
              </a:rPr>
              <a:t>articles</a:t>
            </a:r>
            <a:r>
              <a:rPr sz="2000" b="0" i="0" u="none">
                <a:solidFill>
                  <a:srgbClr val="CCCCCC"/>
                </a:solidFill>
                <a:latin typeface="Consolas"/>
                <a:ea typeface="Consolas"/>
                <a:cs typeface="Consolas"/>
              </a:rPr>
              <a:t>})</a:t>
            </a:r>
            <a:endParaRPr sz="2000"/>
          </a:p>
        </p:txBody>
      </p:sp>
      <p:sp>
        <p:nvSpPr>
          <p:cNvPr id="746406920" name=""/>
          <p:cNvSpPr txBox="1"/>
          <p:nvPr/>
        </p:nvSpPr>
        <p:spPr bwMode="auto">
          <a:xfrm rot="0" flipH="0" flipV="0">
            <a:off x="1014061" y="4147342"/>
            <a:ext cx="11154706"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1">
                <a:latin typeface="Arial"/>
                <a:ea typeface="Arial"/>
                <a:cs typeface="Arial"/>
              </a:rPr>
              <a:t>URLS</a:t>
            </a:r>
            <a:endParaRPr/>
          </a:p>
        </p:txBody>
      </p:sp>
      <p:sp>
        <p:nvSpPr>
          <p:cNvPr id="691575417" name=""/>
          <p:cNvSpPr txBox="1"/>
          <p:nvPr/>
        </p:nvSpPr>
        <p:spPr bwMode="auto">
          <a:xfrm rot="0" flipH="0" flipV="0">
            <a:off x="1014062" y="4901406"/>
            <a:ext cx="14727302" cy="1737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1800" b="0" i="0" u="none" strike="noStrike" cap="none" spc="0">
                <a:solidFill>
                  <a:schemeClr val="tx1"/>
                </a:solidFill>
                <a:latin typeface="Calibri"/>
                <a:ea typeface="Calibri"/>
                <a:cs typeface="Calibri"/>
              </a:rPr>
              <a:t>from django.urls import path, include</a:t>
            </a:r>
            <a:endParaRPr lang="en-US" sz="1800" b="0" i="0" u="none" strike="noStrike" cap="none" spc="0">
              <a:solidFill>
                <a:schemeClr val="tx1"/>
              </a:solidFill>
              <a:latin typeface="Calibri"/>
              <a:cs typeface="Calibri"/>
            </a:endParaRPr>
          </a:p>
          <a:p>
            <a:pPr>
              <a:defRPr/>
            </a:pPr>
            <a:endParaRPr lang="en-US" sz="1800" b="0" i="0" u="none" strike="noStrike" cap="none" spc="0">
              <a:solidFill>
                <a:schemeClr val="tx1"/>
              </a:solidFill>
              <a:latin typeface="Calibri"/>
              <a:cs typeface="Calibri"/>
            </a:endParaRPr>
          </a:p>
          <a:p>
            <a:pPr>
              <a:defRPr/>
            </a:pPr>
            <a:r>
              <a:rPr lang="en-US" sz="1800" b="0" i="0" u="none" strike="noStrike" cap="none" spc="0">
                <a:solidFill>
                  <a:schemeClr val="tx1"/>
                </a:solidFill>
                <a:latin typeface="Calibri"/>
                <a:ea typeface="Calibri"/>
                <a:cs typeface="Calibri"/>
              </a:rPr>
              <a:t>urlpatterns = [</a:t>
            </a:r>
            <a:endParaRPr lang="en-US" sz="1800" b="0" i="0" u="none" strike="noStrike" cap="none" spc="0">
              <a:solidFill>
                <a:schemeClr val="tx1"/>
              </a:solidFill>
              <a:latin typeface="Calibri"/>
              <a:cs typeface="Calibri"/>
            </a:endParaRPr>
          </a:p>
          <a:p>
            <a:pPr>
              <a:defRPr/>
            </a:pPr>
            <a:r>
              <a:rPr lang="en-US" sz="1800" b="0" i="0" u="none" strike="noStrike" cap="none" spc="0">
                <a:solidFill>
                  <a:schemeClr val="tx1"/>
                </a:solidFill>
                <a:latin typeface="Calibri"/>
                <a:ea typeface="Calibri"/>
                <a:cs typeface="Calibri"/>
              </a:rPr>
              <a:t>    path('admin/', admin.site.urls),</a:t>
            </a:r>
            <a:endParaRPr lang="en-US" sz="1800" b="0" i="0" u="none" strike="noStrike" cap="none" spc="0">
              <a:solidFill>
                <a:schemeClr val="tx1"/>
              </a:solidFill>
              <a:latin typeface="Calibri"/>
              <a:cs typeface="Calibri"/>
            </a:endParaRPr>
          </a:p>
          <a:p>
            <a:pPr>
              <a:defRPr/>
            </a:pPr>
            <a:r>
              <a:rPr lang="en-US" sz="1800" b="0" i="0" u="none" strike="noStrike" cap="none" spc="0">
                <a:solidFill>
                  <a:schemeClr val="tx1"/>
                </a:solidFill>
                <a:latin typeface="Calibri"/>
                <a:ea typeface="Calibri"/>
                <a:cs typeface="Calibri"/>
              </a:rPr>
              <a:t>    path('', include('articles.urls')),  # ← Redirige vers l'app</a:t>
            </a:r>
            <a:r>
              <a:rPr lang="fr-FR" sz="1800" b="0" i="0" u="none" strike="noStrike" cap="none" spc="0">
                <a:solidFill>
                  <a:schemeClr val="tx1"/>
                </a:solidFill>
                <a:latin typeface="Calibri"/>
                <a:ea typeface="Calibri"/>
                <a:cs typeface="Calibri"/>
              </a:rPr>
              <a:t>lication</a:t>
            </a:r>
            <a:endParaRPr lang="en-US" sz="1800" b="0" i="0" u="none" strike="noStrike" cap="none" spc="0">
              <a:solidFill>
                <a:schemeClr val="tx1"/>
              </a:solidFill>
              <a:latin typeface="Calibri"/>
              <a:cs typeface="Calibri"/>
            </a:endParaRPr>
          </a:p>
          <a:p>
            <a:pPr>
              <a:defRPr/>
            </a:pPr>
            <a:r>
              <a:rPr lang="en-US" sz="1800" b="0" i="0" u="none" strike="noStrike" cap="none" spc="0">
                <a:solidFill>
                  <a:schemeClr val="tx1"/>
                </a:solidFill>
                <a:latin typeface="Calibri"/>
                <a:ea typeface="Calibri"/>
                <a:cs typeface="Calibri"/>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0943125" name="TextBox 5"/>
          <p:cNvSpPr txBox="1"/>
          <p:nvPr/>
        </p:nvSpPr>
        <p:spPr bwMode="auto">
          <a:xfrm rot="0">
            <a:off x="3730338" y="9436295"/>
            <a:ext cx="9998119" cy="597513"/>
          </a:xfrm>
          <a:prstGeom prst="rect">
            <a:avLst/>
          </a:prstGeom>
        </p:spPr>
        <p:txBody>
          <a:bodyPr lIns="0" tIns="0" rIns="0" bIns="0" rtlCol="0" anchor="t">
            <a:spAutoFit/>
          </a:bodyPr>
          <a:lstStyle/>
          <a:p>
            <a:pPr algn="ctr">
              <a:lnSpc>
                <a:spcPts val="4701"/>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370973486" name=""/>
          <p:cNvSpPr txBox="1"/>
          <p:nvPr/>
        </p:nvSpPr>
        <p:spPr bwMode="auto">
          <a:xfrm rot="0" flipH="0" flipV="0">
            <a:off x="3335781" y="297655"/>
            <a:ext cx="1127664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lang="fr-FR" sz="2000" b="1">
                <a:latin typeface="Arial"/>
                <a:ea typeface="Arial"/>
                <a:cs typeface="Arial"/>
              </a:rPr>
              <a:t>Formulaires</a:t>
            </a:r>
            <a:endParaRPr sz="2000" b="1">
              <a:latin typeface="Arial"/>
              <a:cs typeface="Arial"/>
            </a:endParaRPr>
          </a:p>
        </p:txBody>
      </p:sp>
      <p:sp>
        <p:nvSpPr>
          <p:cNvPr id="1585611861" name=""/>
          <p:cNvSpPr txBox="1"/>
          <p:nvPr/>
        </p:nvSpPr>
        <p:spPr bwMode="auto">
          <a:xfrm rot="0" flipH="0" flipV="0">
            <a:off x="1014062" y="1269999"/>
            <a:ext cx="17699861" cy="4968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0" i="0" u="none" strike="noStrike" cap="none" spc="0">
                <a:solidFill>
                  <a:schemeClr val="tx1"/>
                </a:solidFill>
                <a:latin typeface="Arial"/>
                <a:ea typeface="Arial"/>
                <a:cs typeface="Arial"/>
              </a:rPr>
              <a:t>#</a:t>
            </a:r>
            <a:r>
              <a:rPr sz="2000" b="1" i="0" u="none" spc="5">
                <a:solidFill>
                  <a:srgbClr val="000000"/>
                </a:solidFill>
                <a:latin typeface="Arial"/>
                <a:ea typeface="Arial"/>
                <a:cs typeface="Arial"/>
              </a:rPr>
              <a:t>articles/forms.py</a:t>
            </a:r>
            <a:endParaRPr lang="en-US" sz="2000" b="0" i="0" u="none" strike="noStrike" cap="none" spc="0">
              <a:solidFill>
                <a:schemeClr val="tx1"/>
              </a:solidFill>
              <a:latin typeface="Arial"/>
              <a:ea typeface="Arial"/>
              <a:cs typeface="Arial"/>
            </a:endParaRPr>
          </a:p>
          <a:p>
            <a:pPr>
              <a:defRPr/>
            </a:pP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from django import forms</a:t>
            </a:r>
            <a:endParaRPr sz="2000" b="0" i="0" u="none" strike="noStrike" cap="none" spc="0">
              <a:solidFill>
                <a:schemeClr val="tx1"/>
              </a:solidFill>
              <a:latin typeface="Arial"/>
              <a:ea typeface="Arial"/>
              <a:cs typeface="Arial"/>
            </a:endParaRPr>
          </a:p>
          <a:p>
            <a:pPr>
              <a:defRPr/>
            </a:pPr>
            <a:r>
              <a:rPr lang="en-US" sz="2000" b="0" i="0" u="none" strike="noStrike" cap="none" spc="0">
                <a:solidFill>
                  <a:schemeClr val="tx1"/>
                </a:solidFill>
                <a:latin typeface="Arial"/>
                <a:ea typeface="Arial"/>
                <a:cs typeface="Arial"/>
              </a:rPr>
              <a:t>from .models import Article</a:t>
            </a:r>
            <a:endParaRPr sz="2000" b="0" i="0" u="none" strike="noStrike" cap="none" spc="0">
              <a:solidFill>
                <a:schemeClr val="tx1"/>
              </a:solidFill>
              <a:latin typeface="Arial"/>
              <a:cs typeface="Arial"/>
            </a:endParaRPr>
          </a:p>
          <a:p>
            <a:pPr>
              <a:defRPr/>
            </a:pPr>
            <a:endParaRPr sz="2000" b="0" i="0" u="none" strike="noStrike" cap="none" spc="0">
              <a:solidFill>
                <a:schemeClr val="tx1"/>
              </a:solidFill>
              <a:latin typeface="Arial"/>
              <a:cs typeface="Arial"/>
            </a:endParaRPr>
          </a:p>
          <a:p>
            <a:pPr>
              <a:defRPr/>
            </a:pPr>
            <a:r>
              <a:rPr sz="2000" b="0" i="0" u="none">
                <a:solidFill>
                  <a:srgbClr val="6A9955"/>
                </a:solidFill>
                <a:latin typeface="Arial"/>
                <a:ea typeface="Arial"/>
                <a:cs typeface="Arial"/>
              </a:rPr>
              <a:t># Créer un formulaire, gérer les validations, labels,les types d’inputs basé directement sur le modèle Article</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class</a:t>
            </a:r>
            <a:r>
              <a:rPr sz="2000" b="0" i="0" u="none">
                <a:solidFill>
                  <a:srgbClr val="CCCCCC"/>
                </a:solidFill>
                <a:latin typeface="Arial"/>
                <a:ea typeface="Arial"/>
                <a:cs typeface="Arial"/>
              </a:rPr>
              <a:t> </a:t>
            </a:r>
            <a:r>
              <a:rPr sz="2000" b="0" i="0" u="none">
                <a:solidFill>
                  <a:srgbClr val="4EC9B0"/>
                </a:solidFill>
                <a:latin typeface="Arial"/>
                <a:ea typeface="Arial"/>
                <a:cs typeface="Arial"/>
              </a:rPr>
              <a:t>Meta</a:t>
            </a:r>
            <a:r>
              <a:rPr sz="2000" b="0" i="0" u="none">
                <a:solidFill>
                  <a:srgbClr val="CCCCCC"/>
                </a:solidFill>
                <a:latin typeface="Arial"/>
                <a:ea typeface="Arial"/>
                <a:cs typeface="Arial"/>
              </a:rPr>
              <a:t>:</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class ArticleForm(forms.ModelForm):</a:t>
            </a:r>
            <a:r>
              <a:rPr lang="fr-FR" sz="2000" b="0" i="0" u="none" strike="noStrike" cap="none" spc="0">
                <a:solidFill>
                  <a:schemeClr val="tx1"/>
                </a:solidFill>
                <a:latin typeface="Arial"/>
                <a:ea typeface="Arial"/>
                <a:cs typeface="Arial"/>
              </a:rPr>
              <a:t> </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    class Meta:</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        model = Article</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        fields = ['titre', 'contenu', 'categorie']  # </a:t>
            </a:r>
            <a:r>
              <a:rPr lang="fr-FR" sz="2000" b="0" i="0" u="none" strike="noStrike" cap="none" spc="0">
                <a:solidFill>
                  <a:schemeClr val="tx1"/>
                </a:solidFill>
                <a:latin typeface="Arial"/>
                <a:ea typeface="Arial"/>
                <a:cs typeface="Arial"/>
              </a:rPr>
              <a:t>les champs du formulaire</a:t>
            </a:r>
            <a:endParaRPr sz="2000" b="0" i="0" u="none" strike="noStrike" cap="none" spc="0">
              <a:solidFill>
                <a:schemeClr val="tx1"/>
              </a:solidFill>
              <a:latin typeface="Arial"/>
              <a:cs typeface="Arial"/>
            </a:endParaRPr>
          </a:p>
          <a:p>
            <a:pPr>
              <a:defRPr/>
            </a:pPr>
            <a:r>
              <a:rPr sz="2000" b="0" i="0" u="none">
                <a:solidFill>
                  <a:srgbClr val="6A9955"/>
                </a:solidFill>
                <a:latin typeface="Arial"/>
                <a:ea typeface="Arial"/>
                <a:cs typeface="Arial"/>
              </a:rPr>
              <a:t>#Définir le textarea</a:t>
            </a:r>
            <a:endParaRPr sz="2000">
              <a:latin typeface="Arial"/>
              <a:cs typeface="Arial"/>
            </a:endParaRPr>
          </a:p>
          <a:p>
            <a:pPr>
              <a:defRPr/>
            </a:pPr>
            <a:r>
              <a:rPr sz="2000" b="0" i="0" u="none">
                <a:solidFill>
                  <a:srgbClr val="CCCCCC"/>
                </a:solidFill>
                <a:latin typeface="Arial"/>
                <a:ea typeface="Arial"/>
                <a:cs typeface="Arial"/>
              </a:rPr>
              <a:t>        }</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        widgets = {</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            'contenu': forms.Textarea(attrs={'rows': 4}),</a:t>
            </a:r>
            <a:endParaRPr sz="2000" b="0" i="0" u="none" strike="noStrike" cap="none" spc="0">
              <a:solidFill>
                <a:schemeClr val="tx1"/>
              </a:solidFill>
              <a:latin typeface="Arial"/>
              <a:cs typeface="Arial"/>
            </a:endParaRPr>
          </a:p>
          <a:p>
            <a:pPr>
              <a:defRPr/>
            </a:pPr>
            <a:r>
              <a:rPr lang="en-US" sz="2000" b="0" i="0" u="none" strike="noStrike" cap="none" spc="0">
                <a:solidFill>
                  <a:schemeClr val="tx1"/>
                </a:solidFill>
                <a:latin typeface="Arial"/>
                <a:ea typeface="Arial"/>
                <a:cs typeface="Arial"/>
              </a:rPr>
              <a:t>        }</a:t>
            </a:r>
            <a:endParaRPr sz="20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0942495" name=""/>
          <p:cNvSpPr txBox="1"/>
          <p:nvPr/>
        </p:nvSpPr>
        <p:spPr bwMode="auto">
          <a:xfrm rot="0" flipH="0" flipV="0">
            <a:off x="2879374" y="535781"/>
            <a:ext cx="11371908"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1" i="0" u="none" spc="5">
                <a:solidFill>
                  <a:srgbClr val="000000"/>
                </a:solidFill>
                <a:latin typeface="Arial"/>
                <a:ea typeface="Arial"/>
                <a:cs typeface="Arial"/>
              </a:rPr>
              <a:t>Widgets INPUT</a:t>
            </a:r>
            <a:r>
              <a:rPr sz="2000" b="1" i="0" u="none" spc="5">
                <a:solidFill>
                  <a:srgbClr val="000000"/>
                </a:solidFill>
                <a:latin typeface="Arial"/>
                <a:ea typeface="Arial"/>
                <a:cs typeface="Arial"/>
              </a:rPr>
              <a:t> </a:t>
            </a:r>
            <a:endParaRPr sz="2000"/>
          </a:p>
        </p:txBody>
      </p:sp>
      <p:pic>
        <p:nvPicPr>
          <p:cNvPr id="1542452105" name=""/>
          <p:cNvPicPr>
            <a:picLocks noChangeAspect="1"/>
          </p:cNvPicPr>
          <p:nvPr/>
        </p:nvPicPr>
        <p:blipFill>
          <a:blip r:embed="rId3"/>
          <a:stretch/>
        </p:blipFill>
        <p:spPr bwMode="auto">
          <a:xfrm flipH="0" flipV="0">
            <a:off x="2004218" y="1210468"/>
            <a:ext cx="13773593" cy="7360520"/>
          </a:xfrm>
          <a:prstGeom prst="rect">
            <a:avLst/>
          </a:prstGeom>
        </p:spPr>
      </p:pic>
      <p:sp>
        <p:nvSpPr>
          <p:cNvPr id="79408436" name="TextBox 5"/>
          <p:cNvSpPr txBox="1"/>
          <p:nvPr/>
        </p:nvSpPr>
        <p:spPr bwMode="auto">
          <a:xfrm rot="0">
            <a:off x="3566089" y="9137538"/>
            <a:ext cx="9998479" cy="597513"/>
          </a:xfrm>
          <a:prstGeom prst="rect">
            <a:avLst/>
          </a:prstGeom>
        </p:spPr>
        <p:txBody>
          <a:bodyPr lIns="0" tIns="0" rIns="0" bIns="0" rtlCol="0" anchor="t">
            <a:spAutoFit/>
          </a:bodyPr>
          <a:lstStyle/>
          <a:p>
            <a:pPr algn="ctr">
              <a:lnSpc>
                <a:spcPts val="4701"/>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6997838" name="TextBox 5"/>
          <p:cNvSpPr txBox="1"/>
          <p:nvPr/>
        </p:nvSpPr>
        <p:spPr bwMode="auto">
          <a:xfrm rot="0">
            <a:off x="3730338" y="9436295"/>
            <a:ext cx="9998479" cy="597513"/>
          </a:xfrm>
          <a:prstGeom prst="rect">
            <a:avLst/>
          </a:prstGeom>
        </p:spPr>
        <p:txBody>
          <a:bodyPr lIns="0" tIns="0" rIns="0" bIns="0" rtlCol="0" anchor="t">
            <a:spAutoFit/>
          </a:bodyPr>
          <a:lstStyle/>
          <a:p>
            <a:pPr algn="ctr">
              <a:lnSpc>
                <a:spcPts val="4701"/>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743477970" name=""/>
          <p:cNvSpPr txBox="1"/>
          <p:nvPr/>
        </p:nvSpPr>
        <p:spPr bwMode="auto">
          <a:xfrm rot="0" flipH="0" flipV="0">
            <a:off x="4447031" y="377031"/>
            <a:ext cx="9247907"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1" i="0" u="none" spc="5">
                <a:solidFill>
                  <a:srgbClr val="000000"/>
                </a:solidFill>
                <a:latin typeface="Arial"/>
                <a:ea typeface="Arial"/>
                <a:cs typeface="Arial"/>
              </a:rPr>
              <a:t>Widgets CHOIX (Select, Radio, Checkbox)</a:t>
            </a:r>
            <a:endParaRPr sz="2000"/>
          </a:p>
        </p:txBody>
      </p:sp>
      <p:pic>
        <p:nvPicPr>
          <p:cNvPr id="1524675703" name=""/>
          <p:cNvPicPr>
            <a:picLocks noChangeAspect="1"/>
          </p:cNvPicPr>
          <p:nvPr/>
        </p:nvPicPr>
        <p:blipFill>
          <a:blip r:embed="rId3"/>
          <a:stretch/>
        </p:blipFill>
        <p:spPr bwMode="auto">
          <a:xfrm flipH="0" flipV="0">
            <a:off x="2659062" y="1760625"/>
            <a:ext cx="13039374" cy="50052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4314857" name="TextBox 5"/>
          <p:cNvSpPr txBox="1"/>
          <p:nvPr/>
        </p:nvSpPr>
        <p:spPr bwMode="auto">
          <a:xfrm rot="0">
            <a:off x="3730338" y="9436295"/>
            <a:ext cx="9998839" cy="597513"/>
          </a:xfrm>
          <a:prstGeom prst="rect">
            <a:avLst/>
          </a:prstGeom>
        </p:spPr>
        <p:txBody>
          <a:bodyPr lIns="0" tIns="0" rIns="0" bIns="0" rtlCol="0" anchor="t">
            <a:spAutoFit/>
          </a:bodyPr>
          <a:lstStyle/>
          <a:p>
            <a:pPr algn="ctr">
              <a:lnSpc>
                <a:spcPts val="4701"/>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2143543854" name=""/>
          <p:cNvSpPr txBox="1"/>
          <p:nvPr/>
        </p:nvSpPr>
        <p:spPr bwMode="auto">
          <a:xfrm rot="0" flipH="0" flipV="0">
            <a:off x="4744687" y="456406"/>
            <a:ext cx="8772017"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i="0" u="none" spc="5">
                <a:solidFill>
                  <a:srgbClr val="000000"/>
                </a:solidFill>
                <a:latin typeface="Arial"/>
                <a:ea typeface="Arial"/>
                <a:cs typeface="Arial"/>
              </a:rPr>
              <a:t>Widgets TEXTAREA et fichiers</a:t>
            </a:r>
            <a:endParaRPr sz="2000"/>
          </a:p>
        </p:txBody>
      </p:sp>
      <p:pic>
        <p:nvPicPr>
          <p:cNvPr id="1759567290" name=""/>
          <p:cNvPicPr>
            <a:picLocks noChangeAspect="1"/>
          </p:cNvPicPr>
          <p:nvPr/>
        </p:nvPicPr>
        <p:blipFill>
          <a:blip r:embed="rId3"/>
          <a:stretch/>
        </p:blipFill>
        <p:spPr bwMode="auto">
          <a:xfrm flipH="0" flipV="0">
            <a:off x="2650516" y="2163905"/>
            <a:ext cx="13436249" cy="5157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7964320" name="TextBox 5"/>
          <p:cNvSpPr txBox="1"/>
          <p:nvPr/>
        </p:nvSpPr>
        <p:spPr bwMode="auto">
          <a:xfrm rot="0">
            <a:off x="3730338" y="9436295"/>
            <a:ext cx="9999199" cy="597513"/>
          </a:xfrm>
          <a:prstGeom prst="rect">
            <a:avLst/>
          </a:prstGeom>
        </p:spPr>
        <p:txBody>
          <a:bodyPr lIns="0" tIns="0" rIns="0" bIns="0" rtlCol="0" anchor="t">
            <a:spAutoFit/>
          </a:bodyPr>
          <a:lstStyle/>
          <a:p>
            <a:pPr algn="ctr">
              <a:lnSpc>
                <a:spcPts val="4701"/>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479088467" name=""/>
          <p:cNvSpPr txBox="1"/>
          <p:nvPr/>
        </p:nvSpPr>
        <p:spPr bwMode="auto">
          <a:xfrm rot="0" flipH="0" flipV="0">
            <a:off x="4744687" y="297655"/>
            <a:ext cx="8097328"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i="0" u="none" spc="5">
                <a:solidFill>
                  <a:srgbClr val="000000"/>
                </a:solidFill>
                <a:latin typeface="Arial"/>
                <a:ea typeface="Arial"/>
                <a:cs typeface="Arial"/>
              </a:rPr>
              <a:t>Widgets DATE (Calendrier)</a:t>
            </a:r>
            <a:endParaRPr sz="2000"/>
          </a:p>
        </p:txBody>
      </p:sp>
      <p:pic>
        <p:nvPicPr>
          <p:cNvPr id="1798527659" name=""/>
          <p:cNvPicPr>
            <a:picLocks noChangeAspect="1"/>
          </p:cNvPicPr>
          <p:nvPr/>
        </p:nvPicPr>
        <p:blipFill>
          <a:blip r:embed="rId3"/>
          <a:stretch/>
        </p:blipFill>
        <p:spPr bwMode="auto">
          <a:xfrm flipH="0" flipV="0">
            <a:off x="2043906" y="1904999"/>
            <a:ext cx="13644757" cy="44545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90815145" name="TextBox 5"/>
          <p:cNvSpPr txBox="1"/>
          <p:nvPr/>
        </p:nvSpPr>
        <p:spPr bwMode="auto">
          <a:xfrm rot="0">
            <a:off x="3730338" y="9436295"/>
            <a:ext cx="9998479" cy="597513"/>
          </a:xfrm>
          <a:prstGeom prst="rect">
            <a:avLst/>
          </a:prstGeom>
        </p:spPr>
        <p:txBody>
          <a:bodyPr lIns="0" tIns="0" rIns="0" bIns="0" rtlCol="0" anchor="t">
            <a:spAutoFit/>
          </a:bodyPr>
          <a:lstStyle/>
          <a:p>
            <a:pPr algn="ctr">
              <a:lnSpc>
                <a:spcPts val="4701"/>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732501848" name=""/>
          <p:cNvSpPr txBox="1"/>
          <p:nvPr/>
        </p:nvSpPr>
        <p:spPr bwMode="auto">
          <a:xfrm rot="0" flipH="0" flipV="0">
            <a:off x="3792187" y="575468"/>
            <a:ext cx="1194593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103569120" name=""/>
          <p:cNvSpPr txBox="1"/>
          <p:nvPr/>
        </p:nvSpPr>
        <p:spPr bwMode="auto">
          <a:xfrm rot="0" flipH="0" flipV="0">
            <a:off x="5320155" y="773906"/>
            <a:ext cx="5209612" cy="3965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lang="fr-FR" sz="2000">
                <a:latin typeface="Arial"/>
                <a:ea typeface="Arial"/>
                <a:cs typeface="Arial"/>
              </a:rPr>
              <a:t>Nous allons rattacher notre form au template</a:t>
            </a:r>
            <a:endParaRPr sz="2000">
              <a:latin typeface="Arial"/>
              <a:cs typeface="Arial"/>
            </a:endParaRPr>
          </a:p>
        </p:txBody>
      </p:sp>
      <p:sp>
        <p:nvSpPr>
          <p:cNvPr id="1539443154" name=""/>
          <p:cNvSpPr txBox="1"/>
          <p:nvPr/>
        </p:nvSpPr>
        <p:spPr bwMode="auto">
          <a:xfrm rot="0" flipH="0" flipV="0">
            <a:off x="974374" y="1567656"/>
            <a:ext cx="16898551" cy="7420874"/>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600">
                <a:latin typeface="Arial"/>
                <a:ea typeface="Arial"/>
                <a:cs typeface="Arial"/>
              </a:rPr>
              <a:t>#creer_article.html</a:t>
            </a:r>
            <a:endParaRPr sz="1600">
              <a:latin typeface="Arial"/>
              <a:cs typeface="Arial"/>
            </a:endParaRPr>
          </a:p>
          <a:p>
            <a:pPr>
              <a:defRPr/>
            </a:pP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CCCCCC"/>
                </a:solidFill>
                <a:latin typeface="Arial"/>
                <a:ea typeface="Arial"/>
                <a:cs typeface="Arial"/>
              </a:rPr>
              <a:t>DOCTYPE html</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569CD6"/>
                </a:solidFill>
                <a:latin typeface="Arial"/>
                <a:ea typeface="Arial"/>
                <a:cs typeface="Arial"/>
              </a:rPr>
              <a:t>html</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569CD6"/>
                </a:solidFill>
                <a:latin typeface="Arial"/>
                <a:ea typeface="Arial"/>
                <a:cs typeface="Arial"/>
              </a:rPr>
              <a:t>head</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title</a:t>
            </a:r>
            <a:r>
              <a:rPr sz="1600" b="0" i="0" u="none">
                <a:solidFill>
                  <a:srgbClr val="808080"/>
                </a:solidFill>
                <a:latin typeface="Arial"/>
                <a:ea typeface="Arial"/>
                <a:cs typeface="Arial"/>
              </a:rPr>
              <a:t>&gt;</a:t>
            </a:r>
            <a:r>
              <a:rPr sz="1600" b="0" i="0" u="none">
                <a:solidFill>
                  <a:srgbClr val="CCCCCC"/>
                </a:solidFill>
                <a:latin typeface="Arial"/>
                <a:ea typeface="Arial"/>
                <a:cs typeface="Arial"/>
              </a:rPr>
              <a:t>Créer un Article</a:t>
            </a:r>
            <a:r>
              <a:rPr sz="1600" b="0" i="0" u="none">
                <a:solidFill>
                  <a:srgbClr val="808080"/>
                </a:solidFill>
                <a:latin typeface="Arial"/>
                <a:ea typeface="Arial"/>
                <a:cs typeface="Arial"/>
              </a:rPr>
              <a:t>&lt;/</a:t>
            </a:r>
            <a:r>
              <a:rPr sz="1600" b="0" i="0" u="none">
                <a:solidFill>
                  <a:srgbClr val="569CD6"/>
                </a:solidFill>
                <a:latin typeface="Arial"/>
                <a:ea typeface="Arial"/>
                <a:cs typeface="Arial"/>
              </a:rPr>
              <a:t>title</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style</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body { font-family: Arial; max-width: 800px; margin: 50px auto; }</a:t>
            </a:r>
            <a:endParaRPr sz="1600">
              <a:latin typeface="Arial"/>
              <a:cs typeface="Arial"/>
            </a:endParaRPr>
          </a:p>
          <a:p>
            <a:pPr>
              <a:defRPr/>
            </a:pPr>
            <a:r>
              <a:rPr sz="1600" b="0" i="0" u="none">
                <a:solidFill>
                  <a:srgbClr val="CCCCCC"/>
                </a:solidFill>
                <a:latin typeface="Arial"/>
                <a:ea typeface="Arial"/>
                <a:cs typeface="Arial"/>
              </a:rPr>
              <a:t>        form { background: #f5f5f5; padding: 20px; border-radius: 8px; }</a:t>
            </a:r>
            <a:endParaRPr sz="1600">
              <a:latin typeface="Arial"/>
              <a:cs typeface="Arial"/>
            </a:endParaRPr>
          </a:p>
          <a:p>
            <a:pPr>
              <a:defRPr/>
            </a:pPr>
            <a:r>
              <a:rPr sz="1600" b="0" i="0" u="none">
                <a:solidFill>
                  <a:srgbClr val="CCCCCC"/>
                </a:solidFill>
                <a:latin typeface="Arial"/>
                <a:ea typeface="Arial"/>
                <a:cs typeface="Arial"/>
              </a:rPr>
              <a:t>        input, textarea { width: 100%; padding: 10px; margin: 5px 0; border: 1px solid #ddd; border-radius: 4px; }</a:t>
            </a:r>
            <a:endParaRPr sz="1600">
              <a:latin typeface="Arial"/>
              <a:cs typeface="Arial"/>
            </a:endParaRPr>
          </a:p>
          <a:p>
            <a:pPr>
              <a:defRPr/>
            </a:pPr>
            <a:r>
              <a:rPr sz="1600" b="0" i="0" u="none">
                <a:solidFill>
                  <a:srgbClr val="CCCCCC"/>
                </a:solidFill>
                <a:latin typeface="Arial"/>
                <a:ea typeface="Arial"/>
                <a:cs typeface="Arial"/>
              </a:rPr>
              <a:t>        button { background: #007cba; color: white; padding: 12px 24px; border: none; border-radius: 4px; cursor: pointer; }</a:t>
            </a:r>
            <a:endParaRPr sz="1600">
              <a:latin typeface="Arial"/>
              <a:cs typeface="Arial"/>
            </a:endParaRPr>
          </a:p>
          <a:p>
            <a:pPr>
              <a:defRPr/>
            </a:pPr>
            <a:r>
              <a:rPr sz="1600" b="0" i="0" u="none">
                <a:solidFill>
                  <a:srgbClr val="CCCCCC"/>
                </a:solidFill>
                <a:latin typeface="Arial"/>
                <a:ea typeface="Arial"/>
                <a:cs typeface="Arial"/>
              </a:rPr>
              <a:t>        .errors { color: red; }</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style</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569CD6"/>
                </a:solidFill>
                <a:latin typeface="Arial"/>
                <a:ea typeface="Arial"/>
                <a:cs typeface="Arial"/>
              </a:rPr>
              <a:t>head</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569CD6"/>
                </a:solidFill>
                <a:latin typeface="Arial"/>
                <a:ea typeface="Arial"/>
                <a:cs typeface="Arial"/>
              </a:rPr>
              <a:t>body</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h1</a:t>
            </a:r>
            <a:r>
              <a:rPr sz="1600" b="0" i="0" u="none">
                <a:solidFill>
                  <a:srgbClr val="808080"/>
                </a:solidFill>
                <a:latin typeface="Arial"/>
                <a:ea typeface="Arial"/>
                <a:cs typeface="Arial"/>
              </a:rPr>
              <a:t>&gt;</a:t>
            </a:r>
            <a:r>
              <a:rPr sz="1600" b="0" i="0" u="none">
                <a:solidFill>
                  <a:srgbClr val="CCCCCC"/>
                </a:solidFill>
                <a:latin typeface="Arial"/>
                <a:ea typeface="Arial"/>
                <a:cs typeface="Arial"/>
              </a:rPr>
              <a:t>➕ Créer un Nouvel Article</a:t>
            </a:r>
            <a:r>
              <a:rPr sz="1600" b="0" i="0" u="none">
                <a:solidFill>
                  <a:srgbClr val="808080"/>
                </a:solidFill>
                <a:latin typeface="Arial"/>
                <a:ea typeface="Arial"/>
                <a:cs typeface="Arial"/>
              </a:rPr>
              <a:t>&lt;/</a:t>
            </a:r>
            <a:r>
              <a:rPr sz="1600" b="0" i="0" u="none">
                <a:solidFill>
                  <a:srgbClr val="569CD6"/>
                </a:solidFill>
                <a:latin typeface="Arial"/>
                <a:ea typeface="Arial"/>
                <a:cs typeface="Arial"/>
              </a:rPr>
              <a:t>h1</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form</a:t>
            </a:r>
            <a:r>
              <a:rPr sz="1600" b="0" i="0" u="none">
                <a:solidFill>
                  <a:srgbClr val="CCCCCC"/>
                </a:solidFill>
                <a:latin typeface="Arial"/>
                <a:ea typeface="Arial"/>
                <a:cs typeface="Arial"/>
              </a:rPr>
              <a:t> </a:t>
            </a:r>
            <a:r>
              <a:rPr sz="1600" b="0" i="0" u="none">
                <a:solidFill>
                  <a:srgbClr val="9CDCFE"/>
                </a:solidFill>
                <a:latin typeface="Arial"/>
                <a:ea typeface="Arial"/>
                <a:cs typeface="Arial"/>
              </a:rPr>
              <a:t>method</a:t>
            </a:r>
            <a:r>
              <a:rPr sz="1600" b="0" i="0" u="none">
                <a:solidFill>
                  <a:srgbClr val="CCCCCC"/>
                </a:solidFill>
                <a:latin typeface="Arial"/>
                <a:ea typeface="Arial"/>
                <a:cs typeface="Arial"/>
              </a:rPr>
              <a:t>=</a:t>
            </a:r>
            <a:r>
              <a:rPr sz="1600" b="0" i="0" u="none">
                <a:solidFill>
                  <a:srgbClr val="CE9178"/>
                </a:solidFill>
                <a:latin typeface="Arial"/>
                <a:ea typeface="Arial"/>
                <a:cs typeface="Arial"/>
              </a:rPr>
              <a:t>"post"</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569CD6"/>
                </a:solidFill>
                <a:latin typeface="Arial"/>
                <a:ea typeface="Arial"/>
                <a:cs typeface="Arial"/>
              </a:rPr>
              <a:t>{% </a:t>
            </a:r>
            <a:r>
              <a:rPr sz="1600" b="0" i="0" u="none">
                <a:solidFill>
                  <a:srgbClr val="C586C0"/>
                </a:solidFill>
                <a:latin typeface="Arial"/>
                <a:ea typeface="Arial"/>
                <a:cs typeface="Arial"/>
              </a:rPr>
              <a:t>csrf_token</a:t>
            </a:r>
            <a:r>
              <a:rPr sz="1600" b="0" i="0" u="none">
                <a:solidFill>
                  <a:srgbClr val="569CD6"/>
                </a:solidFill>
                <a:latin typeface="Arial"/>
                <a:ea typeface="Arial"/>
                <a:cs typeface="Arial"/>
              </a:rPr>
              <a:t> %}</a:t>
            </a:r>
            <a:endParaRPr sz="1600">
              <a:latin typeface="Arial"/>
              <a:cs typeface="Arial"/>
            </a:endParaRPr>
          </a:p>
          <a:p>
            <a:pPr>
              <a:defRPr/>
            </a:pPr>
            <a:r>
              <a:rPr sz="1600" b="0" i="0" u="none">
                <a:solidFill>
                  <a:srgbClr val="CCCCCC"/>
                </a:solidFill>
                <a:latin typeface="Arial"/>
                <a:ea typeface="Arial"/>
                <a:cs typeface="Arial"/>
              </a:rPr>
              <a:t>        </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569CD6"/>
                </a:solidFill>
                <a:latin typeface="Arial"/>
                <a:ea typeface="Arial"/>
                <a:cs typeface="Arial"/>
              </a:rPr>
              <a:t>{{ </a:t>
            </a:r>
            <a:r>
              <a:rPr sz="1600" b="0" i="0" u="none">
                <a:solidFill>
                  <a:srgbClr val="CE9178"/>
                </a:solidFill>
                <a:latin typeface="Arial"/>
                <a:ea typeface="Arial"/>
                <a:cs typeface="Arial"/>
              </a:rPr>
              <a:t>form.as_p</a:t>
            </a:r>
            <a:r>
              <a:rPr sz="1600" b="0" i="0" u="none">
                <a:solidFill>
                  <a:srgbClr val="569CD6"/>
                </a:solidFill>
                <a:latin typeface="Arial"/>
                <a:ea typeface="Arial"/>
                <a:cs typeface="Arial"/>
              </a:rPr>
              <a:t> }}</a:t>
            </a:r>
            <a:r>
              <a:rPr sz="1600" b="0" i="0" u="none">
                <a:solidFill>
                  <a:srgbClr val="CCCCCC"/>
                </a:solidFill>
                <a:latin typeface="Arial"/>
                <a:ea typeface="Arial"/>
                <a:cs typeface="Arial"/>
              </a:rPr>
              <a:t>  </a:t>
            </a:r>
            <a:r>
              <a:rPr sz="1600" b="0" i="0" u="none">
                <a:solidFill>
                  <a:srgbClr val="6A9955"/>
                </a:solidFill>
                <a:latin typeface="Arial"/>
                <a:ea typeface="Arial"/>
                <a:cs typeface="Arial"/>
              </a:rPr>
              <a:t>&lt;!-- Génère automatiquement les champs --&gt;</a:t>
            </a:r>
            <a:endParaRPr sz="1600">
              <a:latin typeface="Arial"/>
              <a:cs typeface="Arial"/>
            </a:endParaRPr>
          </a:p>
          <a:p>
            <a:pPr>
              <a:defRPr/>
            </a:pPr>
            <a:r>
              <a:rPr sz="1600" b="0" i="0" u="none">
                <a:solidFill>
                  <a:srgbClr val="CCCCCC"/>
                </a:solidFill>
                <a:latin typeface="Arial"/>
                <a:ea typeface="Arial"/>
                <a:cs typeface="Arial"/>
              </a:rPr>
              <a:t>        </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button</a:t>
            </a:r>
            <a:r>
              <a:rPr sz="1600" b="0" i="0" u="none">
                <a:solidFill>
                  <a:srgbClr val="CCCCCC"/>
                </a:solidFill>
                <a:latin typeface="Arial"/>
                <a:ea typeface="Arial"/>
                <a:cs typeface="Arial"/>
              </a:rPr>
              <a:t> </a:t>
            </a:r>
            <a:r>
              <a:rPr sz="1600" b="0" i="0" u="none">
                <a:solidFill>
                  <a:srgbClr val="9CDCFE"/>
                </a:solidFill>
                <a:latin typeface="Arial"/>
                <a:ea typeface="Arial"/>
                <a:cs typeface="Arial"/>
              </a:rPr>
              <a:t>type</a:t>
            </a:r>
            <a:r>
              <a:rPr sz="1600" b="0" i="0" u="none">
                <a:solidFill>
                  <a:srgbClr val="CCCCCC"/>
                </a:solidFill>
                <a:latin typeface="Arial"/>
                <a:ea typeface="Arial"/>
                <a:cs typeface="Arial"/>
              </a:rPr>
              <a:t>=</a:t>
            </a:r>
            <a:r>
              <a:rPr sz="1600" b="0" i="0" u="none">
                <a:solidFill>
                  <a:srgbClr val="CE9178"/>
                </a:solidFill>
                <a:latin typeface="Arial"/>
                <a:ea typeface="Arial"/>
                <a:cs typeface="Arial"/>
              </a:rPr>
              <a:t>"submit"</a:t>
            </a:r>
            <a:r>
              <a:rPr sz="1600" b="0" i="0" u="none">
                <a:solidFill>
                  <a:srgbClr val="808080"/>
                </a:solidFill>
                <a:latin typeface="Arial"/>
                <a:ea typeface="Arial"/>
                <a:cs typeface="Arial"/>
              </a:rPr>
              <a:t>&gt;</a:t>
            </a:r>
            <a:r>
              <a:rPr sz="1600" b="0" i="0" u="none">
                <a:solidFill>
                  <a:srgbClr val="CCCCCC"/>
                </a:solidFill>
                <a:latin typeface="Arial"/>
                <a:ea typeface="Arial"/>
                <a:cs typeface="Arial"/>
              </a:rPr>
              <a:t>💾 Publier l'Article</a:t>
            </a:r>
            <a:r>
              <a:rPr sz="1600" b="0" i="0" u="none">
                <a:solidFill>
                  <a:srgbClr val="808080"/>
                </a:solidFill>
                <a:latin typeface="Arial"/>
                <a:ea typeface="Arial"/>
                <a:cs typeface="Arial"/>
              </a:rPr>
              <a:t>&lt;/</a:t>
            </a:r>
            <a:r>
              <a:rPr sz="1600" b="0" i="0" u="none">
                <a:solidFill>
                  <a:srgbClr val="569CD6"/>
                </a:solidFill>
                <a:latin typeface="Arial"/>
                <a:ea typeface="Arial"/>
                <a:cs typeface="Arial"/>
              </a:rPr>
              <a:t>button</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form</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br</a:t>
            </a:r>
            <a:r>
              <a:rPr sz="1600" b="0" i="0" u="none">
                <a:solidFill>
                  <a:srgbClr val="808080"/>
                </a:solidFill>
                <a:latin typeface="Arial"/>
                <a:ea typeface="Arial"/>
                <a:cs typeface="Arial"/>
              </a:rPr>
              <a:t>&gt;&lt;</a:t>
            </a:r>
            <a:r>
              <a:rPr sz="1600" b="0" i="0" u="none">
                <a:solidFill>
                  <a:srgbClr val="569CD6"/>
                </a:solidFill>
                <a:latin typeface="Arial"/>
                <a:ea typeface="Arial"/>
                <a:cs typeface="Arial"/>
              </a:rPr>
              <a:t>br</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CCCCCC"/>
                </a:solidFill>
                <a:latin typeface="Arial"/>
                <a:ea typeface="Arial"/>
                <a:cs typeface="Arial"/>
              </a:rPr>
              <a:t>    </a:t>
            </a:r>
            <a:r>
              <a:rPr sz="1600" b="0" i="0" u="none">
                <a:solidFill>
                  <a:srgbClr val="808080"/>
                </a:solidFill>
                <a:latin typeface="Arial"/>
                <a:ea typeface="Arial"/>
                <a:cs typeface="Arial"/>
              </a:rPr>
              <a:t>&lt;</a:t>
            </a:r>
            <a:r>
              <a:rPr sz="1600" b="0" i="0" u="none">
                <a:solidFill>
                  <a:srgbClr val="569CD6"/>
                </a:solidFill>
                <a:latin typeface="Arial"/>
                <a:ea typeface="Arial"/>
                <a:cs typeface="Arial"/>
              </a:rPr>
              <a:t>a</a:t>
            </a:r>
            <a:r>
              <a:rPr sz="1600" b="0" i="0" u="none">
                <a:solidFill>
                  <a:srgbClr val="CCCCCC"/>
                </a:solidFill>
                <a:latin typeface="Arial"/>
                <a:ea typeface="Arial"/>
                <a:cs typeface="Arial"/>
              </a:rPr>
              <a:t> </a:t>
            </a:r>
            <a:r>
              <a:rPr sz="1600" b="0" i="0" u="none">
                <a:solidFill>
                  <a:srgbClr val="9CDCFE"/>
                </a:solidFill>
                <a:latin typeface="Arial"/>
                <a:ea typeface="Arial"/>
                <a:cs typeface="Arial"/>
              </a:rPr>
              <a:t>href</a:t>
            </a:r>
            <a:r>
              <a:rPr sz="1600" b="0" i="0" u="none">
                <a:solidFill>
                  <a:srgbClr val="CCCCCC"/>
                </a:solidFill>
                <a:latin typeface="Arial"/>
                <a:ea typeface="Arial"/>
                <a:cs typeface="Arial"/>
              </a:rPr>
              <a:t>=</a:t>
            </a:r>
            <a:r>
              <a:rPr sz="1600" b="0" i="0" u="none">
                <a:solidFill>
                  <a:srgbClr val="CE9178"/>
                </a:solidFill>
                <a:latin typeface="Arial"/>
                <a:ea typeface="Arial"/>
                <a:cs typeface="Arial"/>
              </a:rPr>
              <a:t>"{% url 'accueil' %}"</a:t>
            </a:r>
            <a:r>
              <a:rPr sz="1600" b="0" i="0" u="none">
                <a:solidFill>
                  <a:srgbClr val="808080"/>
                </a:solidFill>
                <a:latin typeface="Arial"/>
                <a:ea typeface="Arial"/>
                <a:cs typeface="Arial"/>
              </a:rPr>
              <a:t>&gt;</a:t>
            </a:r>
            <a:r>
              <a:rPr sz="1600" b="0" i="0" u="none">
                <a:solidFill>
                  <a:srgbClr val="CCCCCC"/>
                </a:solidFill>
                <a:latin typeface="Arial"/>
                <a:ea typeface="Arial"/>
                <a:cs typeface="Arial"/>
              </a:rPr>
              <a:t>← Retour à la liste des articles</a:t>
            </a:r>
            <a:r>
              <a:rPr sz="1600" b="0" i="0" u="none">
                <a:solidFill>
                  <a:srgbClr val="808080"/>
                </a:solidFill>
                <a:latin typeface="Arial"/>
                <a:ea typeface="Arial"/>
                <a:cs typeface="Arial"/>
              </a:rPr>
              <a:t>&lt;/</a:t>
            </a:r>
            <a:r>
              <a:rPr sz="1600" b="0" i="0" u="none">
                <a:solidFill>
                  <a:srgbClr val="569CD6"/>
                </a:solidFill>
                <a:latin typeface="Arial"/>
                <a:ea typeface="Arial"/>
                <a:cs typeface="Arial"/>
              </a:rPr>
              <a:t>a</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569CD6"/>
                </a:solidFill>
                <a:latin typeface="Arial"/>
                <a:ea typeface="Arial"/>
                <a:cs typeface="Arial"/>
              </a:rPr>
              <a:t>body</a:t>
            </a:r>
            <a:r>
              <a:rPr sz="1600" b="0" i="0" u="none">
                <a:solidFill>
                  <a:srgbClr val="808080"/>
                </a:solidFill>
                <a:latin typeface="Arial"/>
                <a:ea typeface="Arial"/>
                <a:cs typeface="Arial"/>
              </a:rPr>
              <a:t>&gt;</a:t>
            </a:r>
            <a:endParaRPr sz="1600">
              <a:latin typeface="Arial"/>
              <a:cs typeface="Arial"/>
            </a:endParaRPr>
          </a:p>
          <a:p>
            <a:pPr>
              <a:defRPr/>
            </a:pPr>
            <a:r>
              <a:rPr sz="1600" b="0" i="0" u="none">
                <a:solidFill>
                  <a:srgbClr val="808080"/>
                </a:solidFill>
                <a:latin typeface="Arial"/>
                <a:ea typeface="Arial"/>
                <a:cs typeface="Arial"/>
              </a:rPr>
              <a:t>&lt;/</a:t>
            </a:r>
            <a:r>
              <a:rPr sz="1600" b="0" i="0" u="none">
                <a:solidFill>
                  <a:srgbClr val="569CD6"/>
                </a:solidFill>
                <a:latin typeface="Arial"/>
                <a:ea typeface="Arial"/>
                <a:cs typeface="Arial"/>
              </a:rPr>
              <a:t>html</a:t>
            </a:r>
            <a:r>
              <a:rPr sz="1600" b="0" i="0" u="none">
                <a:solidFill>
                  <a:srgbClr val="808080"/>
                </a:solidFill>
                <a:latin typeface="Arial"/>
                <a:ea typeface="Arial"/>
                <a:cs typeface="Arial"/>
              </a:rPr>
              <a:t>&gt;</a:t>
            </a:r>
            <a:br>
              <a:rPr sz="1600" b="0" i="0" u="none">
                <a:solidFill>
                  <a:srgbClr val="808080"/>
                </a:solidFill>
                <a:latin typeface="Arial"/>
                <a:ea typeface="Arial"/>
                <a:cs typeface="Arial"/>
              </a:rPr>
            </a:br>
            <a:endParaRPr sz="16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169967" name=""/>
          <p:cNvSpPr txBox="1"/>
          <p:nvPr/>
        </p:nvSpPr>
        <p:spPr bwMode="auto">
          <a:xfrm rot="0" flipH="0" flipV="0">
            <a:off x="1510156" y="1706562"/>
            <a:ext cx="15164181" cy="1310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2000" b="0" i="0" u="none" spc="5">
                <a:solidFill>
                  <a:srgbClr val="4D4D4C"/>
                </a:solidFill>
                <a:latin typeface="Arial"/>
                <a:ea typeface="Arial"/>
                <a:cs typeface="Arial"/>
              </a:rPr>
              <a:t># Ajouter cette fonction pour ajouter les catégories</a:t>
            </a:r>
            <a:endParaRPr sz="2000"/>
          </a:p>
          <a:p>
            <a:pPr>
              <a:defRPr/>
            </a:pPr>
            <a:r>
              <a:rPr sz="2000" b="1" i="0" u="none" spc="5">
                <a:solidFill>
                  <a:srgbClr val="8959A8"/>
                </a:solidFill>
                <a:latin typeface="Arial"/>
                <a:ea typeface="Arial"/>
                <a:cs typeface="Arial"/>
              </a:rPr>
              <a:t>def</a:t>
            </a:r>
            <a:r>
              <a:rPr sz="2000" b="0" i="0" u="none" spc="5">
                <a:solidFill>
                  <a:srgbClr val="4D4D4C"/>
                </a:solidFill>
                <a:latin typeface="Arial"/>
                <a:ea typeface="Arial"/>
                <a:cs typeface="Arial"/>
              </a:rPr>
              <a:t> </a:t>
            </a:r>
            <a:r>
              <a:rPr sz="2000" b="0" i="0" u="none" spc="5">
                <a:solidFill>
                  <a:srgbClr val="4D4D4C"/>
                </a:solidFill>
                <a:latin typeface="Arial"/>
                <a:ea typeface="Arial"/>
                <a:cs typeface="Arial"/>
              </a:rPr>
              <a:t>creer_categorie</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request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1" i="0" u="none" spc="5">
                <a:solidFill>
                  <a:srgbClr val="8959A8"/>
                </a:solidFill>
                <a:latin typeface="Arial"/>
                <a:ea typeface="Arial"/>
                <a:cs typeface="Arial"/>
              </a:rPr>
              <a:t>if</a:t>
            </a:r>
            <a:r>
              <a:rPr sz="2000" b="0" i="0" u="none" spc="5">
                <a:solidFill>
                  <a:srgbClr val="4D4D4C"/>
                </a:solidFill>
                <a:latin typeface="Arial"/>
                <a:ea typeface="Arial"/>
                <a:cs typeface="Arial"/>
              </a:rPr>
              <a:t> request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method </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0" i="0" u="none" spc="5">
                <a:solidFill>
                  <a:srgbClr val="718C00"/>
                </a:solidFill>
                <a:latin typeface="Arial"/>
                <a:ea typeface="Arial"/>
                <a:cs typeface="Arial"/>
              </a:rPr>
              <a:t>'POST'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form </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CategorieForm</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request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POST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1" i="0" u="none" spc="5">
                <a:solidFill>
                  <a:srgbClr val="8959A8"/>
                </a:solidFill>
                <a:latin typeface="Arial"/>
                <a:ea typeface="Arial"/>
                <a:cs typeface="Arial"/>
              </a:rPr>
              <a:t>if</a:t>
            </a:r>
            <a:r>
              <a:rPr sz="2000" b="0" i="0" u="none" spc="5">
                <a:solidFill>
                  <a:srgbClr val="4D4D4C"/>
                </a:solidFill>
                <a:latin typeface="Arial"/>
                <a:ea typeface="Arial"/>
                <a:cs typeface="Arial"/>
              </a:rPr>
              <a:t> form</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is_valid</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form</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save</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1" i="0" u="none" spc="5">
                <a:solidFill>
                  <a:srgbClr val="8959A8"/>
                </a:solidFill>
                <a:latin typeface="Arial"/>
                <a:ea typeface="Arial"/>
                <a:cs typeface="Arial"/>
              </a:rPr>
              <a:t>return</a:t>
            </a:r>
            <a:r>
              <a:rPr sz="2000" b="0" i="0" u="none" spc="5">
                <a:solidFill>
                  <a:srgbClr val="4D4D4C"/>
                </a:solidFill>
                <a:latin typeface="Arial"/>
                <a:ea typeface="Arial"/>
                <a:cs typeface="Arial"/>
              </a:rPr>
              <a:t> redirect</a:t>
            </a:r>
            <a:r>
              <a:rPr sz="2000" b="0" i="0" u="none" spc="5">
                <a:solidFill>
                  <a:srgbClr val="4D4D4C"/>
                </a:solidFill>
                <a:latin typeface="Arial"/>
                <a:ea typeface="Arial"/>
                <a:cs typeface="Arial"/>
              </a:rPr>
              <a:t>(</a:t>
            </a:r>
            <a:r>
              <a:rPr sz="2000" b="0" i="0" u="none" spc="5">
                <a:solidFill>
                  <a:srgbClr val="718C00"/>
                </a:solidFill>
                <a:latin typeface="Arial"/>
                <a:ea typeface="Arial"/>
                <a:cs typeface="Arial"/>
              </a:rPr>
              <a:t>'accueil'</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1" i="0" u="none" spc="5">
                <a:solidFill>
                  <a:srgbClr val="8959A8"/>
                </a:solidFill>
                <a:latin typeface="Arial"/>
                <a:ea typeface="Arial"/>
                <a:cs typeface="Arial"/>
              </a:rPr>
              <a:t>else</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form </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CategorieForm</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1" i="0" u="none" spc="5">
                <a:solidFill>
                  <a:srgbClr val="8959A8"/>
                </a:solidFill>
                <a:latin typeface="Arial"/>
                <a:ea typeface="Arial"/>
                <a:cs typeface="Arial"/>
              </a:rPr>
              <a:t>return</a:t>
            </a:r>
            <a:r>
              <a:rPr sz="2000" b="0" i="0" u="none" spc="5">
                <a:solidFill>
                  <a:srgbClr val="4D4D4C"/>
                </a:solidFill>
                <a:latin typeface="Arial"/>
                <a:ea typeface="Arial"/>
                <a:cs typeface="Arial"/>
              </a:rPr>
              <a:t> render</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request</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0" i="0" u="none" spc="5">
                <a:solidFill>
                  <a:srgbClr val="718C00"/>
                </a:solidFill>
                <a:latin typeface="Arial"/>
                <a:ea typeface="Arial"/>
                <a:cs typeface="Arial"/>
              </a:rPr>
              <a:t>'articles/creer_categorie.html'</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a:t>
            </a:r>
            <a:r>
              <a:rPr sz="2000" b="0" i="0" u="none" spc="5">
                <a:solidFill>
                  <a:srgbClr val="4D4D4C"/>
                </a:solidFill>
                <a:latin typeface="Arial"/>
                <a:ea typeface="Arial"/>
                <a:cs typeface="Arial"/>
              </a:rPr>
              <a:t>{</a:t>
            </a:r>
            <a:r>
              <a:rPr sz="2000" b="0" i="0" u="none" spc="5">
                <a:solidFill>
                  <a:srgbClr val="718C00"/>
                </a:solidFill>
                <a:latin typeface="Arial"/>
                <a:ea typeface="Arial"/>
                <a:cs typeface="Arial"/>
              </a:rPr>
              <a:t>'form'</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 form</a:t>
            </a:r>
            <a:r>
              <a:rPr sz="2000" b="0" i="0" u="none" spc="5">
                <a:solidFill>
                  <a:srgbClr val="4D4D4C"/>
                </a:solidFill>
                <a:latin typeface="Arial"/>
                <a:ea typeface="Arial"/>
                <a:cs typeface="Arial"/>
              </a:rPr>
              <a:t>}</a:t>
            </a:r>
            <a:r>
              <a:rPr sz="2000" b="0" i="0" u="none" spc="5">
                <a:solidFill>
                  <a:srgbClr val="4D4D4C"/>
                </a:solidFill>
                <a:latin typeface="Arial"/>
                <a:ea typeface="Arial"/>
                <a:cs typeface="Arial"/>
              </a:rPr>
              <a:t>)</a:t>
            </a:r>
            <a:endParaRPr sz="2000" b="0" i="0" u="none" spc="5">
              <a:solidFill>
                <a:srgbClr val="4D4D4C"/>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6760252" name="TextBox 5"/>
          <p:cNvSpPr txBox="1"/>
          <p:nvPr/>
        </p:nvSpPr>
        <p:spPr bwMode="auto">
          <a:xfrm rot="0">
            <a:off x="3730338" y="9436294"/>
            <a:ext cx="9998838" cy="597386"/>
          </a:xfrm>
          <a:prstGeom prst="rect">
            <a:avLst/>
          </a:prstGeom>
        </p:spPr>
        <p:txBody>
          <a:bodyPr lIns="0" tIns="0" rIns="0" bIns="0" rtlCol="0" anchor="t">
            <a:spAutoFit/>
          </a:bodyPr>
          <a:lstStyle/>
          <a:p>
            <a:pPr algn="ctr">
              <a:lnSpc>
                <a:spcPts val="4700"/>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012523733" name=""/>
          <p:cNvSpPr txBox="1"/>
          <p:nvPr/>
        </p:nvSpPr>
        <p:spPr bwMode="auto">
          <a:xfrm rot="0" flipH="0" flipV="0">
            <a:off x="1043357" y="773905"/>
            <a:ext cx="16164644"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lang="fr-FR" sz="2000" b="1">
                <a:latin typeface="Arial"/>
                <a:ea typeface="Arial"/>
                <a:cs typeface="Arial"/>
              </a:rPr>
              <a:t>Héritage de templates</a:t>
            </a:r>
            <a:endParaRPr sz="2000">
              <a:latin typeface="Arial"/>
              <a:cs typeface="Arial"/>
            </a:endParaRPr>
          </a:p>
        </p:txBody>
      </p:sp>
      <p:sp>
        <p:nvSpPr>
          <p:cNvPr id="586479245" name=""/>
          <p:cNvSpPr txBox="1"/>
          <p:nvPr/>
        </p:nvSpPr>
        <p:spPr bwMode="auto">
          <a:xfrm rot="0" flipH="0" flipV="0">
            <a:off x="1043357" y="1726405"/>
            <a:ext cx="15242879"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83879" indent="-283879">
              <a:buFont typeface="Wingdings"/>
              <a:buChar char="ü"/>
              <a:defRPr/>
            </a:pPr>
            <a:r>
              <a:rPr sz="2000" b="0" i="0" u="none">
                <a:solidFill>
                  <a:srgbClr val="000000"/>
                </a:solidFill>
                <a:latin typeface="Arial"/>
                <a:ea typeface="Arial"/>
                <a:cs typeface="Arial"/>
              </a:rPr>
              <a:t>Réutiliser une structure commune </a:t>
            </a:r>
            <a:endParaRPr sz="2000">
              <a:latin typeface="Arial"/>
              <a:cs typeface="Arial"/>
            </a:endParaRPr>
          </a:p>
          <a:p>
            <a:pPr marL="283879" indent="-283879">
              <a:buFont typeface="Wingdings"/>
              <a:buChar char="ü"/>
              <a:defRPr/>
            </a:pPr>
            <a:r>
              <a:rPr sz="2000" b="0" i="0" u="none">
                <a:solidFill>
                  <a:srgbClr val="000000"/>
                </a:solidFill>
                <a:latin typeface="Arial"/>
                <a:ea typeface="Arial"/>
                <a:cs typeface="Arial"/>
              </a:rPr>
              <a:t>Éviter la duplication de code HTML</a:t>
            </a:r>
            <a:endParaRPr sz="2000">
              <a:latin typeface="Arial"/>
              <a:cs typeface="Arial"/>
            </a:endParaRPr>
          </a:p>
          <a:p>
            <a:pPr marL="283879" indent="-283879">
              <a:buFont typeface="Wingdings"/>
              <a:buChar char="ü"/>
              <a:defRPr/>
            </a:pPr>
            <a:r>
              <a:rPr sz="2000" b="0" i="0" u="none">
                <a:solidFill>
                  <a:srgbClr val="000000"/>
                </a:solidFill>
                <a:latin typeface="Arial"/>
                <a:ea typeface="Arial"/>
                <a:cs typeface="Arial"/>
              </a:rPr>
              <a:t>Garder un site cohérent et facile à maintenir</a:t>
            </a:r>
            <a:endParaRPr sz="2000">
              <a:latin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3485729" name=""/>
          <p:cNvSpPr txBox="1"/>
          <p:nvPr/>
        </p:nvSpPr>
        <p:spPr bwMode="auto">
          <a:xfrm rot="0" flipH="0" flipV="0">
            <a:off x="2184843" y="535781"/>
            <a:ext cx="1344105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800" b="1">
                <a:latin typeface="Arial"/>
                <a:ea typeface="Arial"/>
                <a:cs typeface="Arial"/>
              </a:rPr>
              <a:t>Template parent</a:t>
            </a:r>
            <a:endParaRPr sz="2200" b="1">
              <a:latin typeface="Arial"/>
              <a:cs typeface="Arial"/>
            </a:endParaRPr>
          </a:p>
        </p:txBody>
      </p:sp>
      <p:sp>
        <p:nvSpPr>
          <p:cNvPr id="696044815" name=""/>
          <p:cNvSpPr txBox="1"/>
          <p:nvPr/>
        </p:nvSpPr>
        <p:spPr bwMode="auto">
          <a:xfrm rot="0" flipH="0" flipV="0">
            <a:off x="2026093" y="1686718"/>
            <a:ext cx="14390678" cy="61877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808080"/>
                </a:solidFill>
                <a:latin typeface="Arial"/>
                <a:ea typeface="Arial"/>
                <a:cs typeface="Arial"/>
              </a:rPr>
              <a:t>&lt;!</a:t>
            </a:r>
            <a:r>
              <a:rPr sz="2000" b="0" i="0" u="none">
                <a:solidFill>
                  <a:srgbClr val="CCCCCC"/>
                </a:solidFill>
                <a:latin typeface="Arial"/>
                <a:ea typeface="Arial"/>
                <a:cs typeface="Arial"/>
              </a:rPr>
              <a:t>DOCTYPE html</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html</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head</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title</a:t>
            </a:r>
            <a:r>
              <a:rPr sz="2000" b="0" i="0" u="none">
                <a:solidFill>
                  <a:srgbClr val="808080"/>
                </a:solidFill>
                <a:latin typeface="Arial"/>
                <a:ea typeface="Arial"/>
                <a:cs typeface="Arial"/>
              </a:rPr>
              <a:t>&gt;</a:t>
            </a:r>
            <a:r>
              <a:rPr sz="2000" b="0" i="0" u="none">
                <a:solidFill>
                  <a:srgbClr val="569CD6"/>
                </a:solidFill>
                <a:latin typeface="Arial"/>
                <a:ea typeface="Arial"/>
                <a:cs typeface="Arial"/>
              </a:rPr>
              <a:t>{% </a:t>
            </a:r>
            <a:r>
              <a:rPr sz="2000" b="0" i="0" u="none">
                <a:solidFill>
                  <a:srgbClr val="C586C0"/>
                </a:solidFill>
                <a:latin typeface="Arial"/>
                <a:ea typeface="Arial"/>
                <a:cs typeface="Arial"/>
              </a:rPr>
              <a:t>block</a:t>
            </a:r>
            <a:r>
              <a:rPr sz="2000" b="0" i="0" u="none">
                <a:solidFill>
                  <a:srgbClr val="569CD6"/>
                </a:solidFill>
                <a:latin typeface="Arial"/>
                <a:ea typeface="Arial"/>
                <a:cs typeface="Arial"/>
              </a:rPr>
              <a:t> </a:t>
            </a:r>
            <a:r>
              <a:rPr sz="2000" b="0" i="0" u="none">
                <a:solidFill>
                  <a:srgbClr val="C586C0"/>
                </a:solidFill>
                <a:latin typeface="Arial"/>
                <a:ea typeface="Arial"/>
                <a:cs typeface="Arial"/>
              </a:rPr>
              <a:t>title</a:t>
            </a:r>
            <a:r>
              <a:rPr sz="2000" b="0" i="0" u="none">
                <a:solidFill>
                  <a:srgbClr val="569CD6"/>
                </a:solidFill>
                <a:latin typeface="Arial"/>
                <a:ea typeface="Arial"/>
                <a:cs typeface="Arial"/>
              </a:rPr>
              <a:t> %}</a:t>
            </a:r>
            <a:r>
              <a:rPr sz="2000" b="0" i="0" u="none">
                <a:solidFill>
                  <a:srgbClr val="CCCCCC"/>
                </a:solidFill>
                <a:latin typeface="Arial"/>
                <a:ea typeface="Arial"/>
                <a:cs typeface="Arial"/>
              </a:rPr>
              <a:t>Mon site</a:t>
            </a:r>
            <a:r>
              <a:rPr sz="2000" b="0" i="0" u="none">
                <a:solidFill>
                  <a:srgbClr val="569CD6"/>
                </a:solidFill>
                <a:latin typeface="Arial"/>
                <a:ea typeface="Arial"/>
                <a:cs typeface="Arial"/>
              </a:rPr>
              <a:t>{% </a:t>
            </a:r>
            <a:r>
              <a:rPr sz="2000" b="0" i="0" u="none">
                <a:solidFill>
                  <a:srgbClr val="C586C0"/>
                </a:solidFill>
                <a:latin typeface="Arial"/>
                <a:ea typeface="Arial"/>
                <a:cs typeface="Arial"/>
              </a:rPr>
              <a:t>endblock</a:t>
            </a:r>
            <a:r>
              <a:rPr sz="2000" b="0" i="0" u="none">
                <a:solidFill>
                  <a:srgbClr val="569CD6"/>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title</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head</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body</a:t>
            </a:r>
            <a:r>
              <a:rPr sz="2000" b="0" i="0" u="none">
                <a:solidFill>
                  <a:srgbClr val="808080"/>
                </a:solidFill>
                <a:latin typeface="Arial"/>
                <a:ea typeface="Arial"/>
                <a:cs typeface="Arial"/>
              </a:rPr>
              <a:t>&gt;</a:t>
            </a:r>
            <a:br>
              <a:rPr sz="2000" b="0" i="0" u="none">
                <a:solidFill>
                  <a:srgbClr val="808080"/>
                </a:solidFill>
                <a:latin typeface="Arial"/>
                <a:ea typeface="Arial"/>
                <a:cs typeface="Arial"/>
              </a:rPr>
            </a:b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header</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h1</a:t>
            </a:r>
            <a:r>
              <a:rPr sz="2000" b="0" i="0" u="none">
                <a:solidFill>
                  <a:srgbClr val="808080"/>
                </a:solidFill>
                <a:latin typeface="Arial"/>
                <a:ea typeface="Arial"/>
                <a:cs typeface="Arial"/>
              </a:rPr>
              <a:t>&gt;</a:t>
            </a:r>
            <a:r>
              <a:rPr sz="2000" b="0" i="0" u="none">
                <a:solidFill>
                  <a:srgbClr val="CCCCCC"/>
                </a:solidFill>
                <a:latin typeface="Arial"/>
                <a:ea typeface="Arial"/>
                <a:cs typeface="Arial"/>
              </a:rPr>
              <a:t>Mes Articles</a:t>
            </a:r>
            <a:r>
              <a:rPr sz="2000" b="0" i="0" u="none">
                <a:solidFill>
                  <a:srgbClr val="808080"/>
                </a:solidFill>
                <a:latin typeface="Arial"/>
                <a:ea typeface="Arial"/>
                <a:cs typeface="Arial"/>
              </a:rPr>
              <a:t>&lt;/</a:t>
            </a:r>
            <a:r>
              <a:rPr sz="2000" b="0" i="0" u="none">
                <a:solidFill>
                  <a:srgbClr val="569CD6"/>
                </a:solidFill>
                <a:latin typeface="Arial"/>
                <a:ea typeface="Arial"/>
                <a:cs typeface="Arial"/>
              </a:rPr>
              <a:t>h1</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header</a:t>
            </a:r>
            <a:r>
              <a:rPr sz="2000" b="0" i="0" u="none">
                <a:solidFill>
                  <a:srgbClr val="808080"/>
                </a:solidFill>
                <a:latin typeface="Arial"/>
                <a:ea typeface="Arial"/>
                <a:cs typeface="Arial"/>
              </a:rPr>
              <a:t>&gt;</a:t>
            </a:r>
            <a:br>
              <a:rPr sz="2000" b="0" i="0" u="none">
                <a:solidFill>
                  <a:srgbClr val="808080"/>
                </a:solidFill>
                <a:latin typeface="Arial"/>
                <a:ea typeface="Arial"/>
                <a:cs typeface="Arial"/>
              </a:rPr>
            </a:b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main</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 </a:t>
            </a:r>
            <a:r>
              <a:rPr sz="2000" b="0" i="0" u="none">
                <a:solidFill>
                  <a:srgbClr val="C586C0"/>
                </a:solidFill>
                <a:latin typeface="Arial"/>
                <a:ea typeface="Arial"/>
                <a:cs typeface="Arial"/>
              </a:rPr>
              <a:t>block</a:t>
            </a:r>
            <a:r>
              <a:rPr sz="2000" b="0" i="0" u="none">
                <a:solidFill>
                  <a:srgbClr val="569CD6"/>
                </a:solidFill>
                <a:latin typeface="Arial"/>
                <a:ea typeface="Arial"/>
                <a:cs typeface="Arial"/>
              </a:rPr>
              <a:t> </a:t>
            </a:r>
            <a:r>
              <a:rPr sz="2000" b="0" i="0" u="none">
                <a:solidFill>
                  <a:srgbClr val="CE9178"/>
                </a:solidFill>
                <a:latin typeface="Arial"/>
                <a:ea typeface="Arial"/>
                <a:cs typeface="Arial"/>
              </a:rPr>
              <a:t>content</a:t>
            </a:r>
            <a:r>
              <a:rPr sz="2000" b="0" i="0" u="none">
                <a:solidFill>
                  <a:srgbClr val="569CD6"/>
                </a:solidFill>
                <a:latin typeface="Arial"/>
                <a:ea typeface="Arial"/>
                <a:cs typeface="Arial"/>
              </a:rPr>
              <a:t> %}</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6A9955"/>
                </a:solidFill>
                <a:latin typeface="Arial"/>
                <a:ea typeface="Arial"/>
                <a:cs typeface="Arial"/>
              </a:rPr>
              <a:t>&lt;!-- Le contenu spécifique des pages va s'insérer ici --&gt;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569CD6"/>
                </a:solidFill>
                <a:latin typeface="Arial"/>
                <a:ea typeface="Arial"/>
                <a:cs typeface="Arial"/>
              </a:rPr>
              <a:t>{% </a:t>
            </a:r>
            <a:r>
              <a:rPr sz="2000" b="0" i="0" u="none">
                <a:solidFill>
                  <a:srgbClr val="C586C0"/>
                </a:solidFill>
                <a:latin typeface="Arial"/>
                <a:ea typeface="Arial"/>
                <a:cs typeface="Arial"/>
              </a:rPr>
              <a:t>endblock</a:t>
            </a:r>
            <a:r>
              <a:rPr sz="2000" b="0" i="0" u="none">
                <a:solidFill>
                  <a:srgbClr val="569CD6"/>
                </a:solidFill>
                <a:latin typeface="Arial"/>
                <a:ea typeface="Arial"/>
                <a:cs typeface="Arial"/>
              </a:rPr>
              <a:t> %}</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main</a:t>
            </a:r>
            <a:r>
              <a:rPr sz="2000" b="0" i="0" u="none">
                <a:solidFill>
                  <a:srgbClr val="808080"/>
                </a:solidFill>
                <a:latin typeface="Arial"/>
                <a:ea typeface="Arial"/>
                <a:cs typeface="Arial"/>
              </a:rPr>
              <a:t>&gt;</a:t>
            </a:r>
            <a:br>
              <a:rPr sz="2000" b="0" i="0" u="none">
                <a:solidFill>
                  <a:srgbClr val="808080"/>
                </a:solidFill>
                <a:latin typeface="Arial"/>
                <a:ea typeface="Arial"/>
                <a:cs typeface="Arial"/>
              </a:rPr>
            </a:b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body</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html</a:t>
            </a:r>
            <a:r>
              <a:rPr sz="2000" b="0" i="0" u="none">
                <a:solidFill>
                  <a:srgbClr val="808080"/>
                </a:solidFill>
                <a:latin typeface="Arial"/>
                <a:ea typeface="Arial"/>
                <a:cs typeface="Arial"/>
              </a:rPr>
              <a:t>&gt;</a:t>
            </a:r>
            <a:br>
              <a:rPr sz="2000" b="0" i="0" u="none">
                <a:solidFill>
                  <a:srgbClr val="808080"/>
                </a:solidFill>
                <a:latin typeface="Arial"/>
                <a:ea typeface="Arial"/>
                <a:cs typeface="Arial"/>
              </a:rPr>
            </a:br>
            <a:endParaRPr sz="2000">
              <a:latin typeface="Arial"/>
              <a:cs typeface="Arial"/>
            </a:endParaRPr>
          </a:p>
        </p:txBody>
      </p:sp>
      <p:sp>
        <p:nvSpPr>
          <p:cNvPr id="1522269477" name="TextBox 5"/>
          <p:cNvSpPr txBox="1"/>
          <p:nvPr/>
        </p:nvSpPr>
        <p:spPr bwMode="auto">
          <a:xfrm rot="0">
            <a:off x="3730338" y="9436294"/>
            <a:ext cx="9999198" cy="597386"/>
          </a:xfrm>
          <a:prstGeom prst="rect">
            <a:avLst/>
          </a:prstGeom>
        </p:spPr>
        <p:txBody>
          <a:bodyPr lIns="0" tIns="0" rIns="0" bIns="0" rtlCol="0" anchor="t">
            <a:spAutoFit/>
          </a:bodyPr>
          <a:lstStyle/>
          <a:p>
            <a:pPr algn="ctr">
              <a:lnSpc>
                <a:spcPts val="4700"/>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9516242" name=""/>
          <p:cNvSpPr txBox="1"/>
          <p:nvPr/>
        </p:nvSpPr>
        <p:spPr bwMode="auto">
          <a:xfrm rot="0" flipH="0" flipV="0">
            <a:off x="2184842" y="535780"/>
            <a:ext cx="1344573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800" b="1">
                <a:latin typeface="Arial"/>
                <a:ea typeface="Arial"/>
                <a:cs typeface="Arial"/>
              </a:rPr>
              <a:t>Template enfant</a:t>
            </a:r>
            <a:endParaRPr sz="2200" b="1">
              <a:latin typeface="Arial"/>
              <a:cs typeface="Arial"/>
            </a:endParaRPr>
          </a:p>
        </p:txBody>
      </p:sp>
      <p:sp>
        <p:nvSpPr>
          <p:cNvPr id="874565864" name=""/>
          <p:cNvSpPr txBox="1"/>
          <p:nvPr/>
        </p:nvSpPr>
        <p:spPr bwMode="auto">
          <a:xfrm rot="0" flipH="0" flipV="0">
            <a:off x="2026092" y="1686717"/>
            <a:ext cx="14391037" cy="8025271"/>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i="0" u="none">
                <a:solidFill>
                  <a:srgbClr val="6A9955"/>
                </a:solidFill>
                <a:latin typeface="Arial"/>
                <a:ea typeface="Arial"/>
                <a:cs typeface="Arial"/>
              </a:rPr>
              <a:t>&lt;!-- accueil.html --&gt;</a:t>
            </a: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extends</a:t>
            </a:r>
            <a:r>
              <a:rPr sz="2000" b="0" i="0" u="none">
                <a:solidFill>
                  <a:srgbClr val="569CD6"/>
                </a:solidFill>
                <a:latin typeface="Arial"/>
                <a:ea typeface="Arial"/>
                <a:cs typeface="Arial"/>
              </a:rPr>
              <a:t> "articles/base.html" %}</a:t>
            </a:r>
            <a:br>
              <a:rPr sz="2000" b="0" i="0" u="none">
                <a:solidFill>
                  <a:srgbClr val="569CD6"/>
                </a:solidFill>
                <a:latin typeface="Arial"/>
                <a:ea typeface="Arial"/>
                <a:cs typeface="Arial"/>
              </a:rPr>
            </a:b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block</a:t>
            </a:r>
            <a:r>
              <a:rPr sz="2000" b="0" i="0" u="none">
                <a:solidFill>
                  <a:srgbClr val="569CD6"/>
                </a:solidFill>
                <a:latin typeface="Arial"/>
                <a:ea typeface="Arial"/>
                <a:cs typeface="Arial"/>
              </a:rPr>
              <a:t> </a:t>
            </a:r>
            <a:r>
              <a:rPr sz="2000" b="0" i="0" u="none">
                <a:solidFill>
                  <a:srgbClr val="C586C0"/>
                </a:solidFill>
                <a:latin typeface="Arial"/>
                <a:ea typeface="Arial"/>
                <a:cs typeface="Arial"/>
              </a:rPr>
              <a:t>title</a:t>
            </a:r>
            <a:r>
              <a:rPr sz="2000" b="0" i="0" u="none">
                <a:solidFill>
                  <a:srgbClr val="569CD6"/>
                </a:solidFill>
                <a:latin typeface="Arial"/>
                <a:ea typeface="Arial"/>
                <a:cs typeface="Arial"/>
              </a:rPr>
              <a:t> %}</a:t>
            </a:r>
            <a:r>
              <a:rPr sz="2000" b="0" i="0" u="none">
                <a:solidFill>
                  <a:srgbClr val="CCCCCC"/>
                </a:solidFill>
                <a:latin typeface="Arial"/>
                <a:ea typeface="Arial"/>
                <a:cs typeface="Arial"/>
              </a:rPr>
              <a:t>Accueil</a:t>
            </a:r>
            <a:r>
              <a:rPr sz="2000" b="0" i="0" u="none">
                <a:solidFill>
                  <a:srgbClr val="569CD6"/>
                </a:solidFill>
                <a:latin typeface="Arial"/>
                <a:ea typeface="Arial"/>
                <a:cs typeface="Arial"/>
              </a:rPr>
              <a:t>{% </a:t>
            </a:r>
            <a:r>
              <a:rPr sz="2000" b="0" i="0" u="none">
                <a:solidFill>
                  <a:srgbClr val="C586C0"/>
                </a:solidFill>
                <a:latin typeface="Arial"/>
                <a:ea typeface="Arial"/>
                <a:cs typeface="Arial"/>
              </a:rPr>
              <a:t>endblock</a:t>
            </a:r>
            <a:r>
              <a:rPr sz="2000" b="0" i="0" u="none">
                <a:solidFill>
                  <a:srgbClr val="569CD6"/>
                </a:solidFill>
                <a:latin typeface="Arial"/>
                <a:ea typeface="Arial"/>
                <a:cs typeface="Arial"/>
              </a:rPr>
              <a:t> %}</a:t>
            </a:r>
            <a:br>
              <a:rPr sz="2000" b="0" i="0" u="none">
                <a:solidFill>
                  <a:srgbClr val="569CD6"/>
                </a:solidFill>
                <a:latin typeface="Arial"/>
                <a:ea typeface="Arial"/>
                <a:cs typeface="Arial"/>
              </a:rPr>
            </a:b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block</a:t>
            </a:r>
            <a:r>
              <a:rPr sz="2000" b="0" i="0" u="none">
                <a:solidFill>
                  <a:srgbClr val="569CD6"/>
                </a:solidFill>
                <a:latin typeface="Arial"/>
                <a:ea typeface="Arial"/>
                <a:cs typeface="Arial"/>
              </a:rPr>
              <a:t> </a:t>
            </a:r>
            <a:r>
              <a:rPr sz="2000" b="0" i="0" u="none">
                <a:solidFill>
                  <a:srgbClr val="CE9178"/>
                </a:solidFill>
                <a:latin typeface="Arial"/>
                <a:ea typeface="Arial"/>
                <a:cs typeface="Arial"/>
              </a:rPr>
              <a:t>content</a:t>
            </a:r>
            <a:r>
              <a:rPr sz="2000" b="0" i="0" u="none">
                <a:solidFill>
                  <a:srgbClr val="569CD6"/>
                </a:solidFill>
                <a:latin typeface="Arial"/>
                <a:ea typeface="Arial"/>
                <a:cs typeface="Arial"/>
              </a:rPr>
              <a:t> %}</a:t>
            </a:r>
            <a:br>
              <a:rPr sz="2000" b="0" i="0" u="none">
                <a:solidFill>
                  <a:srgbClr val="569CD6"/>
                </a:solidFill>
                <a:latin typeface="Arial"/>
                <a:ea typeface="Arial"/>
                <a:cs typeface="Arial"/>
              </a:rPr>
            </a:b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div</a:t>
            </a:r>
            <a:r>
              <a:rPr sz="2000" b="0" i="0" u="none">
                <a:solidFill>
                  <a:srgbClr val="CCCCCC"/>
                </a:solidFill>
                <a:latin typeface="Arial"/>
                <a:ea typeface="Arial"/>
                <a:cs typeface="Arial"/>
              </a:rPr>
              <a:t> </a:t>
            </a:r>
            <a:r>
              <a:rPr sz="2000" b="0" i="0" u="none">
                <a:solidFill>
                  <a:srgbClr val="9CDCFE"/>
                </a:solidFill>
                <a:latin typeface="Arial"/>
                <a:ea typeface="Arial"/>
                <a:cs typeface="Arial"/>
              </a:rPr>
              <a:t>style</a:t>
            </a:r>
            <a:r>
              <a:rPr sz="2000" b="0" i="0" u="none">
                <a:solidFill>
                  <a:srgbClr val="CCCCCC"/>
                </a:solidFill>
                <a:latin typeface="Arial"/>
                <a:ea typeface="Arial"/>
                <a:cs typeface="Arial"/>
              </a:rPr>
              <a:t>=</a:t>
            </a:r>
            <a:r>
              <a:rPr sz="2000" b="0" i="0" u="none">
                <a:solidFill>
                  <a:srgbClr val="CE9178"/>
                </a:solidFill>
                <a:latin typeface="Arial"/>
                <a:ea typeface="Arial"/>
                <a:cs typeface="Arial"/>
              </a:rPr>
              <a:t>"margin-bottom: 20px;"</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a</a:t>
            </a:r>
            <a:r>
              <a:rPr sz="2000" b="0" i="0" u="none">
                <a:solidFill>
                  <a:srgbClr val="CCCCCC"/>
                </a:solidFill>
                <a:latin typeface="Arial"/>
                <a:ea typeface="Arial"/>
                <a:cs typeface="Arial"/>
              </a:rPr>
              <a:t> </a:t>
            </a:r>
            <a:r>
              <a:rPr sz="2000" b="0" i="0" u="none">
                <a:solidFill>
                  <a:srgbClr val="9CDCFE"/>
                </a:solidFill>
                <a:latin typeface="Arial"/>
                <a:ea typeface="Arial"/>
                <a:cs typeface="Arial"/>
              </a:rPr>
              <a:t>href</a:t>
            </a:r>
            <a:r>
              <a:rPr sz="2000" b="0" i="0" u="none">
                <a:solidFill>
                  <a:srgbClr val="CCCCCC"/>
                </a:solidFill>
                <a:latin typeface="Arial"/>
                <a:ea typeface="Arial"/>
                <a:cs typeface="Arial"/>
              </a:rPr>
              <a:t>=</a:t>
            </a:r>
            <a:r>
              <a:rPr sz="2000" b="0" i="0" u="none">
                <a:solidFill>
                  <a:srgbClr val="CE9178"/>
                </a:solidFill>
                <a:latin typeface="Arial"/>
                <a:ea typeface="Arial"/>
                <a:cs typeface="Arial"/>
              </a:rPr>
              <a:t>"{% url 'creer_article' %}"</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9CDCFE"/>
                </a:solidFill>
                <a:latin typeface="Arial"/>
                <a:ea typeface="Arial"/>
                <a:cs typeface="Arial"/>
              </a:rPr>
              <a:t>style</a:t>
            </a:r>
            <a:r>
              <a:rPr sz="2000" b="0" i="0" u="none">
                <a:solidFill>
                  <a:srgbClr val="CCCCCC"/>
                </a:solidFill>
                <a:latin typeface="Arial"/>
                <a:ea typeface="Arial"/>
                <a:cs typeface="Arial"/>
              </a:rPr>
              <a:t>=</a:t>
            </a:r>
            <a:r>
              <a:rPr sz="2000" b="0" i="0" u="none">
                <a:solidFill>
                  <a:srgbClr val="CE9178"/>
                </a:solidFill>
                <a:latin typeface="Arial"/>
                <a:ea typeface="Arial"/>
                <a:cs typeface="Arial"/>
              </a:rPr>
              <a:t>"background:#007cba; color:white; padding:12px 24px;</a:t>
            </a:r>
            <a:endParaRPr sz="2000">
              <a:latin typeface="Arial"/>
              <a:cs typeface="Arial"/>
            </a:endParaRPr>
          </a:p>
          <a:p>
            <a:pPr>
              <a:defRPr/>
            </a:pPr>
            <a:r>
              <a:rPr sz="2000" b="0" i="0" u="none">
                <a:solidFill>
                  <a:srgbClr val="CE9178"/>
                </a:solidFill>
                <a:latin typeface="Arial"/>
                <a:ea typeface="Arial"/>
                <a:cs typeface="Arial"/>
              </a:rPr>
              <a:t>              text-decoration:none; border-radius:5px; font-weight:bold;"</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 Créer Nouvel Article</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a</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808080"/>
                </a:solidFill>
                <a:latin typeface="Arial"/>
                <a:ea typeface="Arial"/>
                <a:cs typeface="Arial"/>
              </a:rPr>
              <a:t>&lt;/</a:t>
            </a:r>
            <a:r>
              <a:rPr sz="2000" b="0" i="0" u="none">
                <a:solidFill>
                  <a:srgbClr val="569CD6"/>
                </a:solidFill>
                <a:latin typeface="Arial"/>
                <a:ea typeface="Arial"/>
                <a:cs typeface="Arial"/>
              </a:rPr>
              <a:t>div</a:t>
            </a:r>
            <a:r>
              <a:rPr sz="2000" b="0" i="0" u="none">
                <a:solidFill>
                  <a:srgbClr val="808080"/>
                </a:solidFill>
                <a:latin typeface="Arial"/>
                <a:ea typeface="Arial"/>
                <a:cs typeface="Arial"/>
              </a:rPr>
              <a:t>&gt;</a:t>
            </a:r>
            <a:br>
              <a:rPr sz="2000" b="0" i="0" u="none">
                <a:solidFill>
                  <a:srgbClr val="808080"/>
                </a:solidFill>
                <a:latin typeface="Arial"/>
                <a:ea typeface="Arial"/>
                <a:cs typeface="Arial"/>
              </a:rPr>
            </a:b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for</a:t>
            </a:r>
            <a:r>
              <a:rPr sz="2000" b="0" i="0" u="none">
                <a:solidFill>
                  <a:srgbClr val="569CD6"/>
                </a:solidFill>
                <a:latin typeface="Arial"/>
                <a:ea typeface="Arial"/>
                <a:cs typeface="Arial"/>
              </a:rPr>
              <a:t> </a:t>
            </a:r>
            <a:r>
              <a:rPr sz="2000" b="0" i="0" u="none">
                <a:solidFill>
                  <a:srgbClr val="CE9178"/>
                </a:solidFill>
                <a:latin typeface="Arial"/>
                <a:ea typeface="Arial"/>
                <a:cs typeface="Arial"/>
              </a:rPr>
              <a:t>article</a:t>
            </a:r>
            <a:r>
              <a:rPr sz="2000" b="0" i="0" u="none">
                <a:solidFill>
                  <a:srgbClr val="569CD6"/>
                </a:solidFill>
                <a:latin typeface="Arial"/>
                <a:ea typeface="Arial"/>
                <a:cs typeface="Arial"/>
              </a:rPr>
              <a:t> </a:t>
            </a:r>
            <a:r>
              <a:rPr sz="2000" b="0" i="0" u="none">
                <a:solidFill>
                  <a:srgbClr val="D4D4D4"/>
                </a:solidFill>
                <a:latin typeface="Arial"/>
                <a:ea typeface="Arial"/>
                <a:cs typeface="Arial"/>
              </a:rPr>
              <a:t>in</a:t>
            </a:r>
            <a:r>
              <a:rPr sz="2000" b="0" i="0" u="none">
                <a:solidFill>
                  <a:srgbClr val="569CD6"/>
                </a:solidFill>
                <a:latin typeface="Arial"/>
                <a:ea typeface="Arial"/>
                <a:cs typeface="Arial"/>
              </a:rPr>
              <a:t> </a:t>
            </a:r>
            <a:r>
              <a:rPr sz="2000" b="0" i="0" u="none">
                <a:solidFill>
                  <a:srgbClr val="CE9178"/>
                </a:solidFill>
                <a:latin typeface="Arial"/>
                <a:ea typeface="Arial"/>
                <a:cs typeface="Arial"/>
              </a:rPr>
              <a:t>articles</a:t>
            </a:r>
            <a:r>
              <a:rPr sz="2000" b="0" i="0" u="none">
                <a:solidFill>
                  <a:srgbClr val="569CD6"/>
                </a:solidFill>
                <a:latin typeface="Arial"/>
                <a:ea typeface="Arial"/>
                <a:cs typeface="Arial"/>
              </a:rPr>
              <a:t> %}</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div</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h2</a:t>
            </a:r>
            <a:r>
              <a:rPr sz="2000" b="0" i="0" u="none">
                <a:solidFill>
                  <a:srgbClr val="808080"/>
                </a:solidFill>
                <a:latin typeface="Arial"/>
                <a:ea typeface="Arial"/>
                <a:cs typeface="Arial"/>
              </a:rPr>
              <a:t>&gt;</a:t>
            </a:r>
            <a:r>
              <a:rPr sz="2000" b="0" i="0" u="none">
                <a:solidFill>
                  <a:srgbClr val="569CD6"/>
                </a:solidFill>
                <a:latin typeface="Arial"/>
                <a:ea typeface="Arial"/>
                <a:cs typeface="Arial"/>
              </a:rPr>
              <a:t>{{ </a:t>
            </a:r>
            <a:r>
              <a:rPr sz="2000" b="0" i="0" u="none">
                <a:solidFill>
                  <a:srgbClr val="CE9178"/>
                </a:solidFill>
                <a:latin typeface="Arial"/>
                <a:ea typeface="Arial"/>
                <a:cs typeface="Arial"/>
              </a:rPr>
              <a:t>article.titre|</a:t>
            </a:r>
            <a:r>
              <a:rPr sz="2000" b="0" i="0" u="none">
                <a:solidFill>
                  <a:srgbClr val="C586C0"/>
                </a:solidFill>
                <a:latin typeface="Arial"/>
                <a:ea typeface="Arial"/>
                <a:cs typeface="Arial"/>
              </a:rPr>
              <a:t>upper</a:t>
            </a:r>
            <a:r>
              <a:rPr sz="2000" b="0" i="0" u="none">
                <a:solidFill>
                  <a:srgbClr val="569CD6"/>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h2</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p</a:t>
            </a:r>
            <a:r>
              <a:rPr sz="2000" b="0" i="0" u="none">
                <a:solidFill>
                  <a:srgbClr val="808080"/>
                </a:solidFill>
                <a:latin typeface="Arial"/>
                <a:ea typeface="Arial"/>
                <a:cs typeface="Arial"/>
              </a:rPr>
              <a:t>&gt;</a:t>
            </a:r>
            <a:r>
              <a:rPr sz="2000" b="0" i="0" u="none">
                <a:solidFill>
                  <a:srgbClr val="569CD6"/>
                </a:solidFill>
                <a:latin typeface="Arial"/>
                <a:ea typeface="Arial"/>
                <a:cs typeface="Arial"/>
              </a:rPr>
              <a:t>{{ </a:t>
            </a:r>
            <a:r>
              <a:rPr sz="2000" b="0" i="0" u="none">
                <a:solidFill>
                  <a:srgbClr val="CE9178"/>
                </a:solidFill>
                <a:latin typeface="Arial"/>
                <a:ea typeface="Arial"/>
                <a:cs typeface="Arial"/>
              </a:rPr>
              <a:t>article.contenu</a:t>
            </a:r>
            <a:r>
              <a:rPr sz="2000" b="0" i="0" u="none">
                <a:solidFill>
                  <a:srgbClr val="569CD6"/>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p</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div</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empty</a:t>
            </a:r>
            <a:r>
              <a:rPr sz="2000" b="0" i="0" u="none">
                <a:solidFill>
                  <a:srgbClr val="569CD6"/>
                </a:solidFill>
                <a:latin typeface="Arial"/>
                <a:ea typeface="Arial"/>
                <a:cs typeface="Arial"/>
              </a:rPr>
              <a:t> %}</a:t>
            </a:r>
            <a:endParaRPr sz="2000">
              <a:latin typeface="Arial"/>
              <a:cs typeface="Arial"/>
            </a:endParaRPr>
          </a:p>
          <a:p>
            <a:pPr>
              <a:defRPr/>
            </a:pPr>
            <a:r>
              <a:rPr sz="2000" b="0" i="0" u="none">
                <a:solidFill>
                  <a:srgbClr val="CCCCCC"/>
                </a:solidFill>
                <a:latin typeface="Arial"/>
                <a:ea typeface="Arial"/>
                <a:cs typeface="Arial"/>
              </a:rPr>
              <a:t>    </a:t>
            </a:r>
            <a:r>
              <a:rPr sz="2000" b="0" i="0" u="none">
                <a:solidFill>
                  <a:srgbClr val="808080"/>
                </a:solidFill>
                <a:latin typeface="Arial"/>
                <a:ea typeface="Arial"/>
                <a:cs typeface="Arial"/>
              </a:rPr>
              <a:t>&lt;</a:t>
            </a:r>
            <a:r>
              <a:rPr sz="2000" b="0" i="0" u="none">
                <a:solidFill>
                  <a:srgbClr val="569CD6"/>
                </a:solidFill>
                <a:latin typeface="Arial"/>
                <a:ea typeface="Arial"/>
                <a:cs typeface="Arial"/>
              </a:rPr>
              <a:t>p</a:t>
            </a:r>
            <a:r>
              <a:rPr sz="2000" b="0" i="0" u="none">
                <a:solidFill>
                  <a:srgbClr val="808080"/>
                </a:solidFill>
                <a:latin typeface="Arial"/>
                <a:ea typeface="Arial"/>
                <a:cs typeface="Arial"/>
              </a:rPr>
              <a:t>&gt;</a:t>
            </a:r>
            <a:r>
              <a:rPr sz="2000" b="0" i="0" u="none">
                <a:solidFill>
                  <a:srgbClr val="CCCCCC"/>
                </a:solidFill>
                <a:latin typeface="Arial"/>
                <a:ea typeface="Arial"/>
                <a:cs typeface="Arial"/>
              </a:rPr>
              <a:t>Aucun article disponible</a:t>
            </a:r>
            <a:r>
              <a:rPr sz="2000" b="0" i="0" u="none">
                <a:solidFill>
                  <a:srgbClr val="808080"/>
                </a:solidFill>
                <a:latin typeface="Arial"/>
                <a:ea typeface="Arial"/>
                <a:cs typeface="Arial"/>
              </a:rPr>
              <a:t>&lt;/</a:t>
            </a:r>
            <a:r>
              <a:rPr sz="2000" b="0" i="0" u="none">
                <a:solidFill>
                  <a:srgbClr val="569CD6"/>
                </a:solidFill>
                <a:latin typeface="Arial"/>
                <a:ea typeface="Arial"/>
                <a:cs typeface="Arial"/>
              </a:rPr>
              <a:t>p</a:t>
            </a:r>
            <a:r>
              <a:rPr sz="2000" b="0" i="0" u="none">
                <a:solidFill>
                  <a:srgbClr val="808080"/>
                </a:solidFill>
                <a:latin typeface="Arial"/>
                <a:ea typeface="Arial"/>
                <a:cs typeface="Arial"/>
              </a:rPr>
              <a:t>&gt;</a:t>
            </a: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endfor</a:t>
            </a:r>
            <a:r>
              <a:rPr sz="2000" b="0" i="0" u="none">
                <a:solidFill>
                  <a:srgbClr val="569CD6"/>
                </a:solidFill>
                <a:latin typeface="Arial"/>
                <a:ea typeface="Arial"/>
                <a:cs typeface="Arial"/>
              </a:rPr>
              <a:t> %}</a:t>
            </a:r>
            <a:br>
              <a:rPr sz="2000" b="0" i="0" u="none">
                <a:solidFill>
                  <a:srgbClr val="569CD6"/>
                </a:solidFill>
                <a:latin typeface="Arial"/>
                <a:ea typeface="Arial"/>
                <a:cs typeface="Arial"/>
              </a:rPr>
            </a:br>
            <a:endParaRPr sz="2000">
              <a:latin typeface="Arial"/>
              <a:cs typeface="Arial"/>
            </a:endParaRPr>
          </a:p>
          <a:p>
            <a:pPr>
              <a:defRPr/>
            </a:pPr>
            <a:r>
              <a:rPr sz="2000" b="0" i="0" u="none">
                <a:solidFill>
                  <a:srgbClr val="569CD6"/>
                </a:solidFill>
                <a:latin typeface="Arial"/>
                <a:ea typeface="Arial"/>
                <a:cs typeface="Arial"/>
              </a:rPr>
              <a:t>{% </a:t>
            </a:r>
            <a:r>
              <a:rPr sz="2000" b="0" i="0" u="none">
                <a:solidFill>
                  <a:srgbClr val="C586C0"/>
                </a:solidFill>
                <a:latin typeface="Arial"/>
                <a:ea typeface="Arial"/>
                <a:cs typeface="Arial"/>
              </a:rPr>
              <a:t>endblock</a:t>
            </a:r>
            <a:r>
              <a:rPr sz="2000" b="0" i="0" u="none">
                <a:solidFill>
                  <a:srgbClr val="569CD6"/>
                </a:solidFill>
                <a:latin typeface="Arial"/>
                <a:ea typeface="Arial"/>
                <a:cs typeface="Arial"/>
              </a:rPr>
              <a:t> %}</a:t>
            </a:r>
            <a:br>
              <a:rPr sz="2000" b="0" i="0" u="none">
                <a:solidFill>
                  <a:srgbClr val="569CD6"/>
                </a:solidFill>
                <a:latin typeface="Arial"/>
                <a:ea typeface="Arial"/>
                <a:cs typeface="Arial"/>
              </a:rPr>
            </a:br>
            <a:endParaRPr sz="2000">
              <a:latin typeface="Arial"/>
              <a:cs typeface="Arial"/>
            </a:endParaRPr>
          </a:p>
        </p:txBody>
      </p:sp>
      <p:sp>
        <p:nvSpPr>
          <p:cNvPr id="1720238104" name="TextBox 5"/>
          <p:cNvSpPr txBox="1"/>
          <p:nvPr/>
        </p:nvSpPr>
        <p:spPr bwMode="auto">
          <a:xfrm rot="0">
            <a:off x="3730338" y="9436294"/>
            <a:ext cx="9999558" cy="597386"/>
          </a:xfrm>
          <a:prstGeom prst="rect">
            <a:avLst/>
          </a:prstGeom>
        </p:spPr>
        <p:txBody>
          <a:bodyPr lIns="0" tIns="0" rIns="0" bIns="0" rtlCol="0" anchor="t">
            <a:spAutoFit/>
          </a:bodyPr>
          <a:lstStyle/>
          <a:p>
            <a:pPr algn="ctr">
              <a:lnSpc>
                <a:spcPts val="4700"/>
              </a:lnSpc>
              <a:spcBef>
                <a:spcPts val="0"/>
              </a:spcBef>
              <a:defRPr/>
            </a:pPr>
            <a:r>
              <a:rPr lang="en-US" sz="1600" b="1">
                <a:solidFill>
                  <a:srgbClr val="2E3C4E"/>
                </a:solidFill>
                <a:latin typeface="Montserrat"/>
                <a:ea typeface="Montserrat"/>
                <a:cs typeface="Montserrat"/>
              </a:rPr>
              <a:t>COURS DE PYTHON                            IAI-TOGO</a:t>
            </a:r>
            <a:endParaRPr sz="16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8768423" name=""/>
          <p:cNvSpPr txBox="1"/>
          <p:nvPr/>
        </p:nvSpPr>
        <p:spPr bwMode="auto">
          <a:xfrm rot="0" flipH="0" flipV="0">
            <a:off x="2184842" y="535780"/>
            <a:ext cx="13472016"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fr-FR" sz="1800" b="1">
                <a:latin typeface="Arial"/>
                <a:ea typeface="Arial"/>
                <a:cs typeface="Arial"/>
              </a:rPr>
              <a:t>Génération du superAdmin</a:t>
            </a:r>
            <a:endParaRPr sz="2200" b="1">
              <a:latin typeface="Arial"/>
              <a:cs typeface="Arial"/>
            </a:endParaRPr>
          </a:p>
        </p:txBody>
      </p:sp>
      <p:sp>
        <p:nvSpPr>
          <p:cNvPr id="533736660" name="TextBox 5"/>
          <p:cNvSpPr txBox="1"/>
          <p:nvPr/>
        </p:nvSpPr>
        <p:spPr bwMode="auto">
          <a:xfrm rot="0">
            <a:off x="3730338" y="9436294"/>
            <a:ext cx="9999918" cy="597386"/>
          </a:xfrm>
          <a:prstGeom prst="rect">
            <a:avLst/>
          </a:prstGeom>
        </p:spPr>
        <p:txBody>
          <a:bodyPr lIns="0" tIns="0" rIns="0" bIns="0" rtlCol="0" anchor="t">
            <a:spAutoFit/>
          </a:bodyPr>
          <a:lstStyle/>
          <a:p>
            <a:pPr algn="ctr">
              <a:lnSpc>
                <a:spcPts val="4700"/>
              </a:lnSpc>
              <a:spcBef>
                <a:spcPts val="0"/>
              </a:spcBef>
              <a:defRPr/>
            </a:pPr>
            <a:r>
              <a:rPr lang="en-US" sz="1600" b="1">
                <a:solidFill>
                  <a:srgbClr val="2E3C4E"/>
                </a:solidFill>
                <a:latin typeface="Montserrat"/>
                <a:ea typeface="Montserrat"/>
                <a:cs typeface="Montserrat"/>
              </a:rPr>
              <a:t>COURS DE PYTHON                            IAI-TOGO</a:t>
            </a:r>
            <a:endParaRPr sz="1600" b="1"/>
          </a:p>
        </p:txBody>
      </p:sp>
      <p:sp>
        <p:nvSpPr>
          <p:cNvPr id="1314654957" name=""/>
          <p:cNvSpPr txBox="1"/>
          <p:nvPr/>
        </p:nvSpPr>
        <p:spPr bwMode="auto">
          <a:xfrm rot="0" flipH="0" flipV="0">
            <a:off x="1391093" y="1408906"/>
            <a:ext cx="15994062"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1966243574" name=""/>
          <p:cNvSpPr txBox="1"/>
          <p:nvPr/>
        </p:nvSpPr>
        <p:spPr bwMode="auto">
          <a:xfrm rot="0" flipH="0" flipV="0">
            <a:off x="1887187" y="1189650"/>
            <a:ext cx="14880248" cy="9147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lang="fr-FR"/>
          </a:p>
          <a:p>
            <a:pPr>
              <a:defRPr/>
            </a:pPr>
            <a:r>
              <a:rPr lang="fr-FR" sz="1800" b="0" i="0" u="none" strike="noStrike" cap="none" spc="0">
                <a:solidFill>
                  <a:schemeClr val="tx1"/>
                </a:solidFill>
                <a:latin typeface="Calibri"/>
                <a:ea typeface="Calibri"/>
                <a:cs typeface="Calibri"/>
              </a:rPr>
              <a:t>python manage.py createsuperuser</a:t>
            </a:r>
            <a:endParaRPr lang="fr-F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ONLYOFFICE/9.0.4.50</Application>
  <PresentationFormat>On-screen Show (4:3)</PresentationFormat>
  <Paragraphs>0</Paragraphs>
  <Slides>43</Slides>
  <Notes>43</Notes>
  <HiddenSlides>0</HiddenSlides>
  <MMClips>2</MMClips>
  <ScaleCrop>0</ScaleCrop>
  <HeadingPairs>
    <vt:vector size="4" baseType="variant">
      <vt:variant>
        <vt:lpstr>Theme</vt:lpstr>
      </vt:variant>
      <vt:variant>
        <vt:i4>1</vt:i4>
      </vt:variant>
      <vt:variant>
        <vt:lpstr>Slide Titles</vt:lpstr>
      </vt:variant>
      <vt:variant>
        <vt:i4>43</vt:i4>
      </vt:variant>
    </vt:vector>
  </HeadingPairs>
  <TitlesOfParts>
    <vt:vector size="44"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BASES-DU-LANGAGE-PYTHON (1).pptx</dc:title>
  <dc:identifier>DAG3uoehNt0</dc:identifier>
  <cp:lastModifiedBy/>
  <cp:revision>9</cp:revision>
  <dcterms:created xsi:type="dcterms:W3CDTF">2006-08-16T00:00:00Z</dcterms:created>
  <dcterms:modified xsi:type="dcterms:W3CDTF">2025-12-18T09:08:42Z</dcterms:modified>
</cp:coreProperties>
</file>