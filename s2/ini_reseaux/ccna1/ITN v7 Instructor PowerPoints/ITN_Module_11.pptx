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8.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9.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2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1.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22.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23.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24.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25.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26.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27.xml" ContentType="application/vnd.openxmlformats-officedocument.presentationml.tags+xml"/>
  <Override PartName="/ppt/notesSlides/notesSlide67.xml" ContentType="application/vnd.openxmlformats-officedocument.presentationml.notesSlide+xml"/>
  <Override PartName="/ppt/tags/tag28.xml" ContentType="application/vnd.openxmlformats-officedocument.presentationml.tags+xml"/>
  <Override PartName="/ppt/notesSlides/notesSlide68.xml" ContentType="application/vnd.openxmlformats-officedocument.presentationml.notesSlide+xml"/>
  <Override PartName="/ppt/tags/tag29.xml" ContentType="application/vnd.openxmlformats-officedocument.presentationml.tags+xml"/>
  <Override PartName="/ppt/notesSlides/notesSlide69.xml" ContentType="application/vnd.openxmlformats-officedocument.presentationml.notesSlide+xml"/>
  <Override PartName="/ppt/tags/tag30.xml" ContentType="application/vnd.openxmlformats-officedocument.presentationml.tags+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4"/>
  </p:notesMasterIdLst>
  <p:sldIdLst>
    <p:sldId id="513" r:id="rId2"/>
    <p:sldId id="730" r:id="rId3"/>
    <p:sldId id="1158" r:id="rId4"/>
    <p:sldId id="1159" r:id="rId5"/>
    <p:sldId id="1053" r:id="rId6"/>
    <p:sldId id="763" r:id="rId7"/>
    <p:sldId id="1094" r:id="rId8"/>
    <p:sldId id="1151" r:id="rId9"/>
    <p:sldId id="1052" r:id="rId10"/>
    <p:sldId id="1069" r:id="rId11"/>
    <p:sldId id="1160" r:id="rId12"/>
    <p:sldId id="1152" r:id="rId13"/>
    <p:sldId id="1153" r:id="rId14"/>
    <p:sldId id="876" r:id="rId15"/>
    <p:sldId id="1096" r:id="rId16"/>
    <p:sldId id="759" r:id="rId17"/>
    <p:sldId id="1054" r:id="rId18"/>
    <p:sldId id="1098" r:id="rId19"/>
    <p:sldId id="1099" r:id="rId20"/>
    <p:sldId id="1100" r:id="rId21"/>
    <p:sldId id="1101" r:id="rId22"/>
    <p:sldId id="1102" r:id="rId23"/>
    <p:sldId id="1056" r:id="rId24"/>
    <p:sldId id="1103" r:id="rId25"/>
    <p:sldId id="1104" r:id="rId26"/>
    <p:sldId id="1106" r:id="rId27"/>
    <p:sldId id="1111" r:id="rId28"/>
    <p:sldId id="1118" r:id="rId29"/>
    <p:sldId id="1125" r:id="rId30"/>
    <p:sldId id="1126" r:id="rId31"/>
    <p:sldId id="1127" r:id="rId32"/>
    <p:sldId id="1128" r:id="rId33"/>
    <p:sldId id="1112" r:id="rId34"/>
    <p:sldId id="1119" r:id="rId35"/>
    <p:sldId id="1129" r:id="rId36"/>
    <p:sldId id="1130" r:id="rId37"/>
    <p:sldId id="1113" r:id="rId38"/>
    <p:sldId id="1120" r:id="rId39"/>
    <p:sldId id="1150" r:id="rId40"/>
    <p:sldId id="1131" r:id="rId41"/>
    <p:sldId id="1132" r:id="rId42"/>
    <p:sldId id="1133" r:id="rId43"/>
    <p:sldId id="1135" r:id="rId44"/>
    <p:sldId id="1114" r:id="rId45"/>
    <p:sldId id="1121" r:id="rId46"/>
    <p:sldId id="1137" r:id="rId47"/>
    <p:sldId id="1138" r:id="rId48"/>
    <p:sldId id="1139" r:id="rId49"/>
    <p:sldId id="1140" r:id="rId50"/>
    <p:sldId id="1115" r:id="rId51"/>
    <p:sldId id="1122" r:id="rId52"/>
    <p:sldId id="1141" r:id="rId53"/>
    <p:sldId id="1142" r:id="rId54"/>
    <p:sldId id="1143" r:id="rId55"/>
    <p:sldId id="1116" r:id="rId56"/>
    <p:sldId id="1123" r:id="rId57"/>
    <p:sldId id="1144" r:id="rId58"/>
    <p:sldId id="1145" r:id="rId59"/>
    <p:sldId id="1154" r:id="rId60"/>
    <p:sldId id="1146" r:id="rId61"/>
    <p:sldId id="1147" r:id="rId62"/>
    <p:sldId id="1117" r:id="rId63"/>
    <p:sldId id="1124" r:id="rId64"/>
    <p:sldId id="1148" r:id="rId65"/>
    <p:sldId id="1149" r:id="rId66"/>
    <p:sldId id="957" r:id="rId67"/>
    <p:sldId id="1155" r:id="rId68"/>
    <p:sldId id="1156" r:id="rId69"/>
    <p:sldId id="958" r:id="rId70"/>
    <p:sldId id="1157" r:id="rId71"/>
    <p:sldId id="874" r:id="rId72"/>
    <p:sldId id="291" r:id="rId73"/>
  </p:sldIdLst>
  <p:sldSz cx="9144000" cy="5143500" type="screen16x9"/>
  <p:notesSz cx="6858000" cy="9144000"/>
  <p:custDataLst>
    <p:tags r:id="rId7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xmlns="">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cmAuthor>
  <p:cmAuthor id="2" name="Bob Vachon" initials="BV" lastIdx="24" clrIdx="2">
    <p:extLst/>
  </p:cmAuthor>
  <p:cmAuthor id="3" name="Sue Livingston -X (suliving - UNICON INC at Cisco)" initials="SL-(-UIaC" lastIdx="29" clrIdx="3">
    <p:extLst/>
  </p:cmAuthor>
  <p:cmAuthor id="4" name="jagibbon" initials="jmg" lastIdx="8"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83918" autoAdjust="0"/>
  </p:normalViewPr>
  <p:slideViewPr>
    <p:cSldViewPr snapToGrid="0" showGuides="1">
      <p:cViewPr varScale="1">
        <p:scale>
          <a:sx n="98" d="100"/>
          <a:sy n="98" d="100"/>
        </p:scale>
        <p:origin x="-1176" y="-7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343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6/2/2020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b="0"/>
              <a:t>Programme de L’Académie Réseau de Cisco (Cisco Networking Academy)</a:t>
            </a:r>
          </a:p>
          <a:p>
            <a:pPr rtl="0">
              <a:buFontTx/>
              <a:buNone/>
            </a:pPr>
            <a:r>
              <a:rPr lang="fr-FR" b="0" baseline="0"/>
              <a:t>Présentation des réseaux V</a:t>
            </a:r>
            <a:r>
              <a:rPr lang="fr-FR" b="0"/>
              <a:t>7.0 (ITN)</a:t>
            </a:r>
          </a:p>
          <a:p>
            <a:pPr rtl="0">
              <a:buFontTx/>
              <a:buNone/>
            </a:pPr>
            <a:r>
              <a:rPr lang="fr-FR">
                <a:solidFill>
                  <a:schemeClr val="accent5">
                    <a:lumMod val="40000"/>
                    <a:lumOff val="60000"/>
                  </a:schemeClr>
                </a:solidFill>
              </a:rPr>
              <a:t>Module 11: Adressage IPv4</a:t>
            </a:r>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7</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185351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8</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011303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9</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10</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11</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65193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12</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793685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13</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10745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b="0"/>
              <a:t>Programme de L’Académie Réseau de Cisco (Cisco Networking Academy)</a:t>
            </a:r>
          </a:p>
          <a:p>
            <a:pPr rtl="0">
              <a:buFontTx/>
              <a:buNone/>
            </a:pPr>
            <a:r>
              <a:rPr lang="fr-FR" b="0" baseline="0"/>
              <a:t>Présentation des réseaux V</a:t>
            </a:r>
            <a:r>
              <a:rPr lang="fr-FR" b="0"/>
              <a:t>7.0 (ITN)</a:t>
            </a:r>
          </a:p>
          <a:p>
            <a:pPr rtl="0"/>
            <a:r>
              <a:rPr lang="fr-FR">
                <a:solidFill>
                  <a:schemeClr val="accent5">
                    <a:lumMod val="40000"/>
                    <a:lumOff val="60000"/>
                  </a:schemeClr>
                </a:solidFill>
              </a:rPr>
              <a:t>Module 11: Adressage IPv4</a:t>
            </a:r>
          </a:p>
        </p:txBody>
      </p:sp>
      <p:sp>
        <p:nvSpPr>
          <p:cNvPr id="4" name="Slide Number Placeholder 3"/>
          <p:cNvSpPr>
            <a:spLocks noGrp="1"/>
          </p:cNvSpPr>
          <p:nvPr>
            <p:ph type="sldNum" sz="quarter" idx="10"/>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5081187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15</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fr-FR" sz="1200">
                <a:solidFill>
                  <a:schemeClr val="accent5">
                    <a:lumMod val="40000"/>
                    <a:lumOff val="60000"/>
                  </a:schemeClr>
                </a:solidFill>
              </a:rPr>
              <a:t>11</a:t>
            </a:r>
            <a:r>
              <a:rPr lang="fr-FR" sz="1200" baseline="0">
                <a:solidFill>
                  <a:schemeClr val="accent5">
                    <a:lumMod val="40000"/>
                    <a:lumOff val="60000"/>
                  </a:schemeClr>
                </a:solidFill>
              </a:rPr>
              <a:t> - </a:t>
            </a:r>
            <a:r>
              <a:rPr lang="fr-FR" sz="1200">
                <a:solidFill>
                  <a:schemeClr val="accent5">
                    <a:lumMod val="40000"/>
                    <a:lumOff val="60000"/>
                  </a:schemeClr>
                </a:solidFill>
              </a:rPr>
              <a:t>Adressage IPv4</a:t>
            </a:r>
          </a:p>
          <a:p>
            <a:pPr rtl="0">
              <a:buFontTx/>
              <a:buNone/>
            </a:pPr>
            <a:r>
              <a:rPr lang="fr-FR" sz="1200" b="0"/>
              <a:t>11.0 - Présentation</a:t>
            </a:r>
          </a:p>
          <a:p>
            <a:pPr rtl="0">
              <a:lnSpc>
                <a:spcPct val="80000"/>
              </a:lnSpc>
              <a:buFontTx/>
              <a:buNone/>
            </a:pPr>
            <a:r>
              <a:rPr lang="fr-FR" sz="1200" kern="1200">
                <a:solidFill>
                  <a:schemeClr val="tx1"/>
                </a:solidFill>
                <a:latin typeface="Arial" charset="0"/>
                <a:ea typeface="ＭＳ Ｐゴシック" charset="0"/>
                <a:cs typeface="ＭＳ Ｐゴシック" charset="0"/>
              </a:rPr>
              <a:t>11.0.2 - </a:t>
            </a:r>
            <a:r>
              <a:rPr lang="fr-FR" sz="1200" kern="1200">
                <a:solidFill>
                  <a:schemeClr val="tx1"/>
                </a:solidFill>
                <a:latin typeface="+mn-lt"/>
                <a:ea typeface="+mn-ea"/>
                <a:cs typeface="+mn-cs"/>
              </a:rPr>
              <a:t>Qu'</a:t>
            </a:r>
            <a:r>
              <a:rPr lang="fr-FR" sz="1200" kern="1200" baseline="0">
                <a:solidFill>
                  <a:schemeClr val="tx1"/>
                </a:solidFill>
                <a:latin typeface="+mn-lt"/>
                <a:ea typeface="+mn-ea"/>
                <a:cs typeface="+mn-cs"/>
              </a:rPr>
              <a:t>est-ce que je vais apprendre dans ce module?</a:t>
            </a: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sz="1200">
                <a:solidFill>
                  <a:schemeClr val="accent5">
                    <a:lumMod val="40000"/>
                    <a:lumOff val="60000"/>
                  </a:schemeClr>
                </a:solidFill>
              </a:rPr>
              <a:t>11</a:t>
            </a:r>
            <a:r>
              <a:rPr lang="fr-FR" sz="1200" baseline="0">
                <a:solidFill>
                  <a:schemeClr val="accent5">
                    <a:lumMod val="40000"/>
                    <a:lumOff val="60000"/>
                  </a:schemeClr>
                </a:solidFill>
              </a:rPr>
              <a:t> - </a:t>
            </a:r>
            <a:r>
              <a:rPr lang="fr-FR" sz="1200">
                <a:solidFill>
                  <a:schemeClr val="accent5">
                    <a:lumMod val="40000"/>
                    <a:lumOff val="60000"/>
                  </a:schemeClr>
                </a:solidFill>
              </a:rPr>
              <a:t>Adressage IPv4</a:t>
            </a:r>
          </a:p>
          <a:p>
            <a:pPr rtl="0">
              <a:buFontTx/>
              <a:buNone/>
            </a:pPr>
            <a:r>
              <a:rPr lang="fr-FR" sz="1200" b="0"/>
              <a:t>11.1 - </a:t>
            </a:r>
            <a:r>
              <a:rPr lang="fr-FR"/>
              <a:t>Structure de l'adresse IPv4</a:t>
            </a:r>
          </a:p>
        </p:txBody>
      </p:sp>
      <p:sp>
        <p:nvSpPr>
          <p:cNvPr id="4" name="Slide Number Placeholder 3"/>
          <p:cNvSpPr>
            <a:spLocks noGrp="1"/>
          </p:cNvSpPr>
          <p:nvPr>
            <p:ph type="sldNum" sz="quarter" idx="10"/>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sz="1200">
                <a:solidFill>
                  <a:schemeClr val="accent5">
                    <a:lumMod val="40000"/>
                    <a:lumOff val="60000"/>
                  </a:schemeClr>
                </a:solidFill>
              </a:rPr>
              <a:t>11</a:t>
            </a:r>
            <a:r>
              <a:rPr lang="fr-FR" sz="1200" baseline="0">
                <a:solidFill>
                  <a:schemeClr val="accent5">
                    <a:lumMod val="40000"/>
                    <a:lumOff val="60000"/>
                  </a:schemeClr>
                </a:solidFill>
              </a:rPr>
              <a:t> - </a:t>
            </a:r>
            <a:r>
              <a:rPr lang="fr-FR" sz="1200">
                <a:solidFill>
                  <a:schemeClr val="accent5">
                    <a:lumMod val="40000"/>
                    <a:lumOff val="60000"/>
                  </a:schemeClr>
                </a:solidFill>
              </a:rPr>
              <a:t>Adressage IPv4</a:t>
            </a:r>
          </a:p>
          <a:p>
            <a:pPr rtl="0"/>
            <a:r>
              <a:rPr lang="fr-FR"/>
              <a:t>11.1 - Structure de l'adresse IPv4</a:t>
            </a:r>
          </a:p>
          <a:p>
            <a:pPr rtl="0"/>
            <a:r>
              <a:rPr lang="fr-FR"/>
              <a:t>11.1.1 - Les parties réseau et hôte</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sz="1200">
                <a:solidFill>
                  <a:schemeClr val="accent5">
                    <a:lumMod val="40000"/>
                    <a:lumOff val="60000"/>
                  </a:schemeClr>
                </a:solidFill>
              </a:rPr>
              <a:t>11</a:t>
            </a:r>
            <a:r>
              <a:rPr lang="fr-FR" sz="1200" baseline="0">
                <a:solidFill>
                  <a:schemeClr val="accent5">
                    <a:lumMod val="40000"/>
                    <a:lumOff val="60000"/>
                  </a:schemeClr>
                </a:solidFill>
              </a:rPr>
              <a:t> - </a:t>
            </a:r>
            <a:r>
              <a:rPr lang="fr-FR" sz="1200">
                <a:solidFill>
                  <a:schemeClr val="accent5">
                    <a:lumMod val="40000"/>
                    <a:lumOff val="60000"/>
                  </a:schemeClr>
                </a:solidFill>
              </a:rPr>
              <a:t>Adressage IPv4</a:t>
            </a:r>
          </a:p>
          <a:p>
            <a:pPr rtl="0"/>
            <a:r>
              <a:rPr lang="fr-FR"/>
              <a:t>11.1 - Structure de l'adresse IPv4</a:t>
            </a:r>
          </a:p>
          <a:p>
            <a:pPr rtl="0"/>
            <a:r>
              <a:rPr lang="fr-FR"/>
              <a:t>11.1.2 - Masque de sous-réseau</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3189098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sz="1200">
                <a:solidFill>
                  <a:schemeClr val="accent5">
                    <a:lumMod val="40000"/>
                    <a:lumOff val="60000"/>
                  </a:schemeClr>
                </a:solidFill>
              </a:rPr>
              <a:t>11</a:t>
            </a:r>
            <a:r>
              <a:rPr lang="fr-FR" sz="1200" baseline="0">
                <a:solidFill>
                  <a:schemeClr val="accent5">
                    <a:lumMod val="40000"/>
                    <a:lumOff val="60000"/>
                  </a:schemeClr>
                </a:solidFill>
              </a:rPr>
              <a:t> - </a:t>
            </a:r>
            <a:r>
              <a:rPr lang="fr-FR" sz="1200">
                <a:solidFill>
                  <a:schemeClr val="accent5">
                    <a:lumMod val="40000"/>
                    <a:lumOff val="60000"/>
                  </a:schemeClr>
                </a:solidFill>
              </a:rPr>
              <a:t>Adressage IPv4</a:t>
            </a:r>
          </a:p>
          <a:p>
            <a:pPr rtl="0"/>
            <a:r>
              <a:rPr lang="fr-FR"/>
              <a:t>11.1 - Structure de l'adresse IPv4</a:t>
            </a:r>
          </a:p>
          <a:p>
            <a:pPr rtl="0"/>
            <a:r>
              <a:rPr lang="fr-FR"/>
              <a:t>11.1.3 - Le longueur de préfixe</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12295882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sz="1200">
                <a:solidFill>
                  <a:schemeClr val="accent5">
                    <a:lumMod val="40000"/>
                    <a:lumOff val="60000"/>
                  </a:schemeClr>
                </a:solidFill>
              </a:rPr>
              <a:t>11</a:t>
            </a:r>
            <a:r>
              <a:rPr lang="fr-FR" sz="1200" baseline="0">
                <a:solidFill>
                  <a:schemeClr val="accent5">
                    <a:lumMod val="40000"/>
                    <a:lumOff val="60000"/>
                  </a:schemeClr>
                </a:solidFill>
              </a:rPr>
              <a:t> - </a:t>
            </a:r>
            <a:r>
              <a:rPr lang="fr-FR" sz="1200">
                <a:solidFill>
                  <a:schemeClr val="accent5">
                    <a:lumMod val="40000"/>
                    <a:lumOff val="60000"/>
                  </a:schemeClr>
                </a:solidFill>
              </a:rPr>
              <a:t>Adressage IPv4</a:t>
            </a:r>
          </a:p>
          <a:p>
            <a:pPr rtl="0"/>
            <a:r>
              <a:rPr lang="fr-FR"/>
              <a:t>11.1 - Structure de l'adresse IPv4</a:t>
            </a:r>
          </a:p>
          <a:p>
            <a:pPr rtl="0"/>
            <a:r>
              <a:rPr lang="fr-FR"/>
              <a:t>11.1.4 - Détermination du réseau: AND (ET) logique</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66883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11.1 - Structure de l'adresse IPv4</a:t>
            </a:r>
          </a:p>
          <a:p>
            <a:pPr rtl="0"/>
            <a:r>
              <a:rPr lang="fr-FR"/>
              <a:t>11.1.5 - Vidéo - Adresses réseau, d'hôte et de diffusion</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3015082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11.1 - Structure de l'adresse IPv4</a:t>
            </a:r>
          </a:p>
          <a:p>
            <a:pPr rtl="0"/>
            <a:r>
              <a:rPr lang="fr-FR"/>
              <a:t>11.1.6 - Adresses réseau, d'hôte et de diffusion</a:t>
            </a:r>
          </a:p>
          <a:p>
            <a:pPr rtl="0"/>
            <a:r>
              <a:rPr lang="fr-FR"/>
              <a:t>11.1.7 - Exercice - Utilisation de l'opération AND pour déterminer l'adresse réseau</a:t>
            </a:r>
          </a:p>
          <a:p>
            <a:pPr rtl="0"/>
            <a:r>
              <a:rPr lang="fr-FR"/>
              <a:t>11.1.8 - Vérifiez votre compréhension - Structure d'adresse IPv4</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3732201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11.2 - Adresses IPv4 de monodiffusion, de diffusion et de multidiffusion</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11.2 - Adresses IPv4 de monodiffusion, de diffusion et de multidiffusion</a:t>
            </a:r>
          </a:p>
          <a:p>
            <a:pPr rtl="0"/>
            <a:r>
              <a:rPr lang="fr-FR"/>
              <a:t>11.2.1 - Monodiffusion</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24491579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11.2 - Adresses IPv4 de monodiffusion, de diffusion et de multidiffusion</a:t>
            </a:r>
          </a:p>
          <a:p>
            <a:pPr rtl="0"/>
            <a:r>
              <a:rPr lang="fr-FR"/>
              <a:t>11.2.2 - Diffusion</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30190846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11.2 - Adresses IPv4 de monodiffusion, de diffusion et de multidiffusion</a:t>
            </a:r>
          </a:p>
          <a:p>
            <a:pPr rtl="0"/>
            <a:r>
              <a:rPr lang="fr-FR"/>
              <a:t>11.2.3 - Multidiffusion</a:t>
            </a:r>
          </a:p>
          <a:p>
            <a:pPr marL="0" marR="0" lvl="0" indent="0" algn="l" defTabSz="457200" rtl="0" eaLnBrk="1" fontAlgn="auto" latinLnBrk="0" hangingPunct="1">
              <a:lnSpc>
                <a:spcPct val="100000"/>
              </a:lnSpc>
              <a:spcBef>
                <a:spcPts val="0"/>
              </a:spcBef>
              <a:spcAft>
                <a:spcPts val="0"/>
              </a:spcAft>
              <a:buClrTx/>
              <a:buSzTx/>
              <a:buFontTx/>
              <a:buNone/>
              <a:tabLst/>
              <a:defRPr/>
            </a:pPr>
            <a:r>
              <a:rPr lang="fr-FR"/>
              <a:t>11.2.4 - </a:t>
            </a:r>
            <a:r>
              <a:rPr lang="fr-FR" sz="1200" b="0" i="0" kern="1200">
                <a:solidFill>
                  <a:schemeClr val="tx1"/>
                </a:solidFill>
                <a:effectLst/>
                <a:latin typeface="+mn-lt"/>
                <a:ea typeface="+mn-ea"/>
                <a:cs typeface="+mn-cs"/>
              </a:rPr>
              <a:t>Exercice - Monodiffusion, diffusion ou multidiffusion</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2938994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11.3 - Types d'adresses IPv4</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8967279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11.3 - Types d'adresses IPv4</a:t>
            </a:r>
          </a:p>
          <a:p>
            <a:pPr rtl="0"/>
            <a:r>
              <a:rPr lang="fr-FR"/>
              <a:t>11.3.1 - Adresses IPv4 publiques et privées</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12408230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11.3 - Types d'adresses IPv4</a:t>
            </a:r>
          </a:p>
          <a:p>
            <a:pPr rtl="0"/>
            <a:r>
              <a:rPr lang="fr-FR"/>
              <a:t>11.3.2 - Routage vers l'internet</a:t>
            </a:r>
          </a:p>
          <a:p>
            <a:pPr marL="0" marR="0" lvl="0" indent="0" algn="l" defTabSz="457200" rtl="0" eaLnBrk="1" fontAlgn="auto" latinLnBrk="0" hangingPunct="1">
              <a:lnSpc>
                <a:spcPct val="100000"/>
              </a:lnSpc>
              <a:spcBef>
                <a:spcPts val="0"/>
              </a:spcBef>
              <a:spcAft>
                <a:spcPts val="0"/>
              </a:spcAft>
              <a:buClrTx/>
              <a:buSzTx/>
              <a:buFontTx/>
              <a:buNone/>
              <a:tabLst/>
              <a:defRPr/>
            </a:pPr>
            <a:r>
              <a:rPr lang="fr-FR"/>
              <a:t>11.3.3 - </a:t>
            </a:r>
            <a:r>
              <a:rPr lang="fr-FR" sz="1200" b="0" i="0" kern="1200">
                <a:solidFill>
                  <a:schemeClr val="tx1"/>
                </a:solidFill>
                <a:effectLst/>
                <a:latin typeface="+mn-lt"/>
                <a:ea typeface="+mn-ea"/>
                <a:cs typeface="+mn-cs"/>
              </a:rPr>
              <a:t>Exercice - Autoriser ou bloquer les adresses IPv4</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3362594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11.3 - Types d'adresses IPv4</a:t>
            </a:r>
          </a:p>
          <a:p>
            <a:pPr rtl="0"/>
            <a:r>
              <a:rPr lang="fr-FR"/>
              <a:t>11.3.4 - Adresses IPv4 d'utilisateur spéciales</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29014941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11.3 - Types d'adresses IPv4</a:t>
            </a:r>
          </a:p>
          <a:p>
            <a:pPr rtl="0"/>
            <a:r>
              <a:rPr lang="fr-FR"/>
              <a:t>11.3.5 - L'ancien système d'adressage par classe</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9591470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11.3 - Types d'adresses IPv4</a:t>
            </a:r>
          </a:p>
          <a:p>
            <a:pPr rtl="0"/>
            <a:r>
              <a:rPr lang="fr-FR"/>
              <a:t>11.3.6 - Attribution des adresses IP</a:t>
            </a:r>
          </a:p>
          <a:p>
            <a:pPr marL="0" marR="0" lvl="0" indent="0" algn="l" defTabSz="457200" rtl="0" eaLnBrk="1" fontAlgn="auto" latinLnBrk="0" hangingPunct="1">
              <a:lnSpc>
                <a:spcPct val="100000"/>
              </a:lnSpc>
              <a:spcBef>
                <a:spcPts val="0"/>
              </a:spcBef>
              <a:spcAft>
                <a:spcPts val="0"/>
              </a:spcAft>
              <a:buClrTx/>
              <a:buSzTx/>
              <a:buFontTx/>
              <a:buNone/>
              <a:tabLst/>
              <a:defRPr/>
            </a:pPr>
            <a:r>
              <a:rPr lang="fr-FR"/>
              <a:t>11.3.7 - </a:t>
            </a:r>
            <a:r>
              <a:rPr lang="fr-FR" sz="1200" b="0" i="0" kern="1200">
                <a:solidFill>
                  <a:schemeClr val="tx1"/>
                </a:solidFill>
                <a:effectLst/>
                <a:latin typeface="+mn-lt"/>
                <a:ea typeface="+mn-ea"/>
                <a:cs typeface="+mn-cs"/>
              </a:rPr>
              <a:t>Exercice – Adresses IPv4 publiques ou privées</a:t>
            </a:r>
          </a:p>
          <a:p>
            <a:pPr marL="0" marR="0" lvl="0" indent="0" algn="l" defTabSz="457200" rtl="0" eaLnBrk="1" fontAlgn="auto" latinLnBrk="0" hangingPunct="1">
              <a:lnSpc>
                <a:spcPct val="100000"/>
              </a:lnSpc>
              <a:spcBef>
                <a:spcPts val="0"/>
              </a:spcBef>
              <a:spcAft>
                <a:spcPts val="0"/>
              </a:spcAft>
              <a:buClrTx/>
              <a:buSzTx/>
              <a:buFontTx/>
              <a:buNone/>
              <a:tabLst/>
              <a:defRPr/>
            </a:pPr>
            <a:r>
              <a:rPr lang="fr-FR"/>
              <a:t>11.3.8 -</a:t>
            </a:r>
            <a:r>
              <a:rPr lang="fr-FR" sz="1200" b="0" i="0" kern="1200">
                <a:solidFill>
                  <a:schemeClr val="tx1"/>
                </a:solidFill>
                <a:effectLst/>
                <a:latin typeface="+mn-lt"/>
                <a:ea typeface="+mn-ea"/>
                <a:cs typeface="+mn-cs"/>
              </a:rPr>
              <a:t>Vérifiez votre compréhension - Types d'adresses IPv4</a:t>
            </a:r>
          </a:p>
          <a:p>
            <a:endParaRPr lang="en-US" dirty="0"/>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20437822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11.4 - Segmentation du réseau</a:t>
            </a:r>
          </a:p>
          <a:p>
            <a:endParaRPr lang="en-US"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30742313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11.4 - Segmentation du réseau</a:t>
            </a:r>
          </a:p>
          <a:p>
            <a:pPr rtl="0"/>
            <a:r>
              <a:rPr lang="fr-FR"/>
              <a:t>11.4.1 - Domaines de diffusion et de segmentation</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17490744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11.4 - Segmentation du réseau</a:t>
            </a:r>
          </a:p>
          <a:p>
            <a:pPr rtl="0"/>
            <a:r>
              <a:rPr lang="fr-FR"/>
              <a:t>11.4.2 - Problèmes liés aux domaines de diffusion importants</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33086440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11.4 - Segmentation du réseau</a:t>
            </a:r>
          </a:p>
          <a:p>
            <a:pPr rtl="0"/>
            <a:r>
              <a:rPr lang="fr-FR"/>
              <a:t>11.4.3 - Raisons de la segmentation des réseaux</a:t>
            </a:r>
          </a:p>
          <a:p>
            <a:pPr marL="0" marR="0" lvl="0" indent="0" algn="l" defTabSz="457200" rtl="0" eaLnBrk="1" fontAlgn="auto" latinLnBrk="0" hangingPunct="1">
              <a:lnSpc>
                <a:spcPct val="100000"/>
              </a:lnSpc>
              <a:spcBef>
                <a:spcPts val="0"/>
              </a:spcBef>
              <a:spcAft>
                <a:spcPts val="0"/>
              </a:spcAft>
              <a:buClrTx/>
              <a:buSzTx/>
              <a:buFontTx/>
              <a:buNone/>
              <a:tabLst/>
              <a:defRPr/>
            </a:pPr>
            <a:r>
              <a:rPr lang="fr-FR"/>
              <a:t>11.4.4 - </a:t>
            </a:r>
            <a:r>
              <a:rPr lang="fr-FR" sz="1200" b="0" i="0" kern="1200">
                <a:solidFill>
                  <a:schemeClr val="tx1"/>
                </a:solidFill>
                <a:effectLst/>
                <a:latin typeface="+mn-lt"/>
                <a:ea typeface="+mn-ea"/>
                <a:cs typeface="+mn-cs"/>
              </a:rPr>
              <a:t>Vérifiez votre compréhension - Segmentation du réseau</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4592482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11.5 - Segmentation un réseau IPv4 en sous- réseaux</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29829977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11.5 - Segmentation un réseau IPv4 en sous- réseaux</a:t>
            </a:r>
          </a:p>
          <a:p>
            <a:pPr rtl="0"/>
            <a:r>
              <a:rPr lang="fr-FR"/>
              <a:t>11.5.1 - Création de sous-réseaux au niveau de la limite d'octet</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36278872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11.5 - Segmentation un réseau IPv4 en sous- réseaux</a:t>
            </a:r>
          </a:p>
          <a:p>
            <a:pPr rtl="0"/>
            <a:r>
              <a:rPr lang="fr-FR"/>
              <a:t>11.5.1 - Création de sous-réseaux au niveau de la limite d'octet (Cont.)</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29824262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11.5 - Segmentation un réseau IPv4 en sous- réseaux</a:t>
            </a:r>
          </a:p>
          <a:p>
            <a:pPr rtl="0"/>
            <a:r>
              <a:rPr lang="fr-FR"/>
              <a:t>11.5.2 - Création de sous-réseaux au niveau de la limite d'octet</a:t>
            </a:r>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11699841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11.5 - Segmentation un réseau IPv4 en sous- réseaux</a:t>
            </a:r>
          </a:p>
          <a:p>
            <a:pPr rtl="0"/>
            <a:r>
              <a:rPr lang="fr-FR"/>
              <a:t>11.5.3 - Vidéo - Masque de sous-réseau</a:t>
            </a:r>
          </a:p>
        </p:txBody>
      </p:sp>
      <p:sp>
        <p:nvSpPr>
          <p:cNvPr id="4" name="Slide Number Placeholder 3"/>
          <p:cNvSpPr>
            <a:spLocks noGrp="1"/>
          </p:cNvSpPr>
          <p:nvPr>
            <p:ph type="sldNum" sz="quarter" idx="5"/>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36359008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11.5 - Segmentation un réseau IPv4 en sous- réseaux</a:t>
            </a:r>
          </a:p>
          <a:p>
            <a:pPr rtl="0"/>
            <a:r>
              <a:rPr lang="fr-FR"/>
              <a:t>11.5.4 - Vidéo - Segmenter en sous-réseaux à l'aide du nombre magique</a:t>
            </a:r>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18706598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11.5 - Segmentation un réseau IPv4 en sous- réseaux</a:t>
            </a:r>
          </a:p>
          <a:p>
            <a:pPr rtl="0"/>
            <a:r>
              <a:rPr lang="fr-FR"/>
              <a:t>11.5.5 - Packet Tracer - Segmentation un réseau IPv4 en sous- réseaux</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6874563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11.6 - Création de sous-réseaux avec le préfixe /16 et /8</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2760207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11.6 - Création de sous-réseaux avec le préfixe /16 et /8</a:t>
            </a:r>
          </a:p>
          <a:p>
            <a:pPr rtl="0"/>
            <a:r>
              <a:rPr lang="fr-FR"/>
              <a:t>11.6.1 - Créer des sous-réseaux avec un préfixe Slash 16</a:t>
            </a:r>
          </a:p>
        </p:txBody>
      </p:sp>
      <p:sp>
        <p:nvSpPr>
          <p:cNvPr id="4" name="Slide Number Placeholder 3"/>
          <p:cNvSpPr>
            <a:spLocks noGrp="1"/>
          </p:cNvSpPr>
          <p:nvPr>
            <p:ph type="sldNum" sz="quarter" idx="5"/>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17655035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11.6 - Création de sous-réseaux avec le préfixe /16 et /8</a:t>
            </a:r>
          </a:p>
          <a:p>
            <a:pPr rtl="0"/>
            <a:r>
              <a:rPr lang="fr-FR"/>
              <a:t>11.6.2 - Créer 100 sous-réseaux avec un préfixe /16</a:t>
            </a:r>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25680850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11.6 - Création de sous-réseaux avec le préfixe /16 et /8</a:t>
            </a:r>
          </a:p>
          <a:p>
            <a:pPr rtl="0"/>
            <a:r>
              <a:rPr lang="fr-FR"/>
              <a:t>11.6.3 — Crée 1000 sous-réseaux avec un préfixe /8</a:t>
            </a:r>
          </a:p>
        </p:txBody>
      </p:sp>
      <p:sp>
        <p:nvSpPr>
          <p:cNvPr id="4" name="Slide Number Placeholder 3"/>
          <p:cNvSpPr>
            <a:spLocks noGrp="1"/>
          </p:cNvSpPr>
          <p:nvPr>
            <p:ph type="sldNum" sz="quarter" idx="5"/>
          </p:nvPr>
        </p:nvSpPr>
        <p:spPr/>
        <p:txBody>
          <a:bodyPr/>
          <a:lstStyle/>
          <a:p>
            <a:pPr rtl="0"/>
            <a:fld id="{5641018C-6CAF-B84E-B92C-ECB119457FBA}" type="slidenum">
              <a:rPr/>
              <a:t>47</a:t>
            </a:fld>
            <a:endParaRPr/>
          </a:p>
        </p:txBody>
      </p:sp>
    </p:spTree>
    <p:extLst>
      <p:ext uri="{BB962C8B-B14F-4D97-AF65-F5344CB8AC3E}">
        <p14:creationId xmlns:p14="http://schemas.microsoft.com/office/powerpoint/2010/main" val="18854180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11.6 - Création de sous-réseaux avec le préfixe /16 et /8</a:t>
            </a:r>
          </a:p>
          <a:p>
            <a:pPr rtl="0"/>
            <a:r>
              <a:rPr lang="fr-FR"/>
              <a:t>11.6.4 - Démonstration vidéo - Segmentation en sous-réseaux sur plusieurs octets</a:t>
            </a:r>
          </a:p>
          <a:p>
            <a:pPr marL="0" marR="0" lvl="0" indent="0" algn="l" defTabSz="457200" rtl="0" eaLnBrk="1" fontAlgn="auto" latinLnBrk="0" hangingPunct="1">
              <a:lnSpc>
                <a:spcPct val="100000"/>
              </a:lnSpc>
              <a:spcBef>
                <a:spcPts val="0"/>
              </a:spcBef>
              <a:spcAft>
                <a:spcPts val="0"/>
              </a:spcAft>
              <a:buClrTx/>
              <a:buSzTx/>
              <a:buFontTx/>
              <a:buNone/>
              <a:tabLst/>
              <a:defRPr/>
            </a:pPr>
            <a:r>
              <a:rPr lang="fr-FR"/>
              <a:t>11.6.5 - </a:t>
            </a:r>
            <a:r>
              <a:rPr lang="fr-FR" sz="1200" b="0" i="0" kern="1200">
                <a:solidFill>
                  <a:schemeClr val="tx1"/>
                </a:solidFill>
                <a:effectLst/>
                <a:latin typeface="+mn-lt"/>
                <a:ea typeface="+mn-ea"/>
                <a:cs typeface="+mn-cs"/>
              </a:rPr>
              <a:t>Exercice - Formules de calcul des sous-réseaux</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48</a:t>
            </a:fld>
            <a:endParaRPr/>
          </a:p>
        </p:txBody>
      </p:sp>
    </p:spTree>
    <p:extLst>
      <p:ext uri="{BB962C8B-B14F-4D97-AF65-F5344CB8AC3E}">
        <p14:creationId xmlns:p14="http://schemas.microsoft.com/office/powerpoint/2010/main" val="29924931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11.6 - Création de sous-réseaux avec le préfixe /16 et /8</a:t>
            </a:r>
          </a:p>
          <a:p>
            <a:pPr rtl="0"/>
            <a:r>
              <a:rPr lang="fr-FR"/>
              <a:t>11.6.6 - Travaux pratiques - Calcul des sous-réseaux IPv4</a:t>
            </a:r>
          </a:p>
        </p:txBody>
      </p:sp>
      <p:sp>
        <p:nvSpPr>
          <p:cNvPr id="4" name="Slide Number Placeholder 3"/>
          <p:cNvSpPr>
            <a:spLocks noGrp="1"/>
          </p:cNvSpPr>
          <p:nvPr>
            <p:ph type="sldNum" sz="quarter" idx="5"/>
          </p:nvPr>
        </p:nvSpPr>
        <p:spPr/>
        <p:txBody>
          <a:bodyPr/>
          <a:lstStyle/>
          <a:p>
            <a:pPr rtl="0"/>
            <a:fld id="{5641018C-6CAF-B84E-B92C-ECB119457FBA}" type="slidenum">
              <a:rPr/>
              <a:t>49</a:t>
            </a:fld>
            <a:endParaRPr/>
          </a:p>
        </p:txBody>
      </p:sp>
    </p:spTree>
    <p:extLst>
      <p:ext uri="{BB962C8B-B14F-4D97-AF65-F5344CB8AC3E}">
        <p14:creationId xmlns:p14="http://schemas.microsoft.com/office/powerpoint/2010/main" val="39770051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11.7 - Segmentation du réseau selon ses besoins</a:t>
            </a:r>
          </a:p>
          <a:p>
            <a:endParaRPr lang="en-US"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50</a:t>
            </a:fld>
            <a:endParaRPr/>
          </a:p>
        </p:txBody>
      </p:sp>
    </p:spTree>
    <p:extLst>
      <p:ext uri="{BB962C8B-B14F-4D97-AF65-F5344CB8AC3E}">
        <p14:creationId xmlns:p14="http://schemas.microsoft.com/office/powerpoint/2010/main" val="21516756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11.7 - Segmentation du réseau selon ses besoins</a:t>
            </a:r>
          </a:p>
          <a:p>
            <a:pPr rtl="0"/>
            <a:r>
              <a:rPr lang="fr-FR"/>
              <a:t>11.7.1 - Segmentation du réseau en sous-réseaux de l'espace d'adressage IPv4 privé par rapport à l'espace d'adressage IPv4 public</a:t>
            </a:r>
          </a:p>
        </p:txBody>
      </p:sp>
      <p:sp>
        <p:nvSpPr>
          <p:cNvPr id="4" name="Slide Number Placeholder 3"/>
          <p:cNvSpPr>
            <a:spLocks noGrp="1"/>
          </p:cNvSpPr>
          <p:nvPr>
            <p:ph type="sldNum" sz="quarter" idx="5"/>
          </p:nvPr>
        </p:nvSpPr>
        <p:spPr/>
        <p:txBody>
          <a:bodyPr/>
          <a:lstStyle/>
          <a:p>
            <a:pPr rtl="0"/>
            <a:fld id="{5641018C-6CAF-B84E-B92C-ECB119457FBA}" type="slidenum">
              <a:rPr/>
              <a:t>51</a:t>
            </a:fld>
            <a:endParaRPr/>
          </a:p>
        </p:txBody>
      </p:sp>
    </p:spTree>
    <p:extLst>
      <p:ext uri="{BB962C8B-B14F-4D97-AF65-F5344CB8AC3E}">
        <p14:creationId xmlns:p14="http://schemas.microsoft.com/office/powerpoint/2010/main" val="36834504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11.7 - Segmentation du réseau selon ses besoins</a:t>
            </a:r>
          </a:p>
          <a:p>
            <a:pPr rtl="0"/>
            <a:r>
              <a:rPr lang="fr-FR"/>
              <a:t>11.7.2 - Réduire les adresses IPv4 de l'hôte inutilisées et maximiser les sous-réseaux</a:t>
            </a:r>
          </a:p>
        </p:txBody>
      </p:sp>
      <p:sp>
        <p:nvSpPr>
          <p:cNvPr id="4" name="Slide Number Placeholder 3"/>
          <p:cNvSpPr>
            <a:spLocks noGrp="1"/>
          </p:cNvSpPr>
          <p:nvPr>
            <p:ph type="sldNum" sz="quarter" idx="5"/>
          </p:nvPr>
        </p:nvSpPr>
        <p:spPr/>
        <p:txBody>
          <a:bodyPr/>
          <a:lstStyle/>
          <a:p>
            <a:pPr rtl="0"/>
            <a:fld id="{5641018C-6CAF-B84E-B92C-ECB119457FBA}" type="slidenum">
              <a:rPr/>
              <a:t>52</a:t>
            </a:fld>
            <a:endParaRPr/>
          </a:p>
        </p:txBody>
      </p:sp>
    </p:spTree>
    <p:extLst>
      <p:ext uri="{BB962C8B-B14F-4D97-AF65-F5344CB8AC3E}">
        <p14:creationId xmlns:p14="http://schemas.microsoft.com/office/powerpoint/2010/main" val="29491420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11.7 - Segmentation du réseau selon ses besoins</a:t>
            </a:r>
          </a:p>
          <a:p>
            <a:pPr rtl="0"/>
            <a:r>
              <a:rPr lang="fr-FR"/>
              <a:t>11.7.3 - Exemple de besoins d'un réseau</a:t>
            </a:r>
          </a:p>
          <a:p>
            <a:pPr marL="0" marR="0" lvl="0" indent="0" algn="l" defTabSz="457200" rtl="0" eaLnBrk="1" fontAlgn="auto" latinLnBrk="0" hangingPunct="1">
              <a:lnSpc>
                <a:spcPct val="100000"/>
              </a:lnSpc>
              <a:spcBef>
                <a:spcPts val="0"/>
              </a:spcBef>
              <a:spcAft>
                <a:spcPts val="0"/>
              </a:spcAft>
              <a:buClrTx/>
              <a:buSzTx/>
              <a:buFontTx/>
              <a:buNone/>
              <a:tabLst/>
              <a:defRPr/>
            </a:pPr>
            <a:r>
              <a:rPr lang="fr-FR"/>
              <a:t>11.7.4 - </a:t>
            </a:r>
            <a:r>
              <a:rPr lang="fr-FR" sz="1200" b="0" i="0" kern="1200">
                <a:solidFill>
                  <a:schemeClr val="tx1"/>
                </a:solidFill>
                <a:effectLst/>
                <a:latin typeface="+mn-lt"/>
                <a:ea typeface="+mn-ea"/>
                <a:cs typeface="+mn-cs"/>
              </a:rPr>
              <a:t>Exercice – Déterminer le nombre de bits à emprunter</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53</a:t>
            </a:fld>
            <a:endParaRPr/>
          </a:p>
        </p:txBody>
      </p:sp>
    </p:spTree>
    <p:extLst>
      <p:ext uri="{BB962C8B-B14F-4D97-AF65-F5344CB8AC3E}">
        <p14:creationId xmlns:p14="http://schemas.microsoft.com/office/powerpoint/2010/main" val="34033917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11.7 - Segmentation du réseau selon ses besoins</a:t>
            </a:r>
          </a:p>
          <a:p>
            <a:pPr rtl="0"/>
            <a:r>
              <a:rPr lang="fr-FR"/>
              <a:t>11.7.5 - Packet Tracer - Scénario de segmentation en sous-réseaux</a:t>
            </a:r>
          </a:p>
        </p:txBody>
      </p:sp>
      <p:sp>
        <p:nvSpPr>
          <p:cNvPr id="4" name="Slide Number Placeholder 3"/>
          <p:cNvSpPr>
            <a:spLocks noGrp="1"/>
          </p:cNvSpPr>
          <p:nvPr>
            <p:ph type="sldNum" sz="quarter" idx="5"/>
          </p:nvPr>
        </p:nvSpPr>
        <p:spPr/>
        <p:txBody>
          <a:bodyPr/>
          <a:lstStyle/>
          <a:p>
            <a:pPr rtl="0"/>
            <a:fld id="{5641018C-6CAF-B84E-B92C-ECB119457FBA}" type="slidenum">
              <a:rPr/>
              <a:t>54</a:t>
            </a:fld>
            <a:endParaRPr/>
          </a:p>
        </p:txBody>
      </p:sp>
    </p:spTree>
    <p:extLst>
      <p:ext uri="{BB962C8B-B14F-4D97-AF65-F5344CB8AC3E}">
        <p14:creationId xmlns:p14="http://schemas.microsoft.com/office/powerpoint/2010/main" val="20848546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11.8 - VLSM</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55</a:t>
            </a:fld>
            <a:endParaRPr/>
          </a:p>
        </p:txBody>
      </p:sp>
    </p:spTree>
    <p:extLst>
      <p:ext uri="{BB962C8B-B14F-4D97-AF65-F5344CB8AC3E}">
        <p14:creationId xmlns:p14="http://schemas.microsoft.com/office/powerpoint/2010/main" val="4464950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11.8 - VLSM</a:t>
            </a:r>
          </a:p>
          <a:p>
            <a:pPr rtl="0"/>
            <a:r>
              <a:rPr lang="fr-FR"/>
              <a:t>11.8.1 - Vidéo - Notions de base VLSM</a:t>
            </a:r>
          </a:p>
        </p:txBody>
      </p:sp>
      <p:sp>
        <p:nvSpPr>
          <p:cNvPr id="4" name="Slide Number Placeholder 3"/>
          <p:cNvSpPr>
            <a:spLocks noGrp="1"/>
          </p:cNvSpPr>
          <p:nvPr>
            <p:ph type="sldNum" sz="quarter" idx="5"/>
          </p:nvPr>
        </p:nvSpPr>
        <p:spPr/>
        <p:txBody>
          <a:bodyPr/>
          <a:lstStyle/>
          <a:p>
            <a:pPr rtl="0"/>
            <a:fld id="{5641018C-6CAF-B84E-B92C-ECB119457FBA}" type="slidenum">
              <a:rPr/>
              <a:t>56</a:t>
            </a:fld>
            <a:endParaRPr/>
          </a:p>
        </p:txBody>
      </p:sp>
    </p:spTree>
    <p:extLst>
      <p:ext uri="{BB962C8B-B14F-4D97-AF65-F5344CB8AC3E}">
        <p14:creationId xmlns:p14="http://schemas.microsoft.com/office/powerpoint/2010/main" val="29711771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11.8 - VLSM</a:t>
            </a:r>
          </a:p>
          <a:p>
            <a:pPr rtl="0"/>
            <a:r>
              <a:rPr lang="fr-FR"/>
              <a:t>11.8.2 - Vidéo - Exemple de VLSM</a:t>
            </a:r>
          </a:p>
        </p:txBody>
      </p:sp>
      <p:sp>
        <p:nvSpPr>
          <p:cNvPr id="4" name="Slide Number Placeholder 3"/>
          <p:cNvSpPr>
            <a:spLocks noGrp="1"/>
          </p:cNvSpPr>
          <p:nvPr>
            <p:ph type="sldNum" sz="quarter" idx="5"/>
          </p:nvPr>
        </p:nvSpPr>
        <p:spPr/>
        <p:txBody>
          <a:bodyPr/>
          <a:lstStyle/>
          <a:p>
            <a:pPr rtl="0"/>
            <a:fld id="{5641018C-6CAF-B84E-B92C-ECB119457FBA}" type="slidenum">
              <a:rPr/>
              <a:t>57</a:t>
            </a:fld>
            <a:endParaRPr/>
          </a:p>
        </p:txBody>
      </p:sp>
    </p:spTree>
    <p:extLst>
      <p:ext uri="{BB962C8B-B14F-4D97-AF65-F5344CB8AC3E}">
        <p14:creationId xmlns:p14="http://schemas.microsoft.com/office/powerpoint/2010/main" val="25503493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11.8 - VLSM</a:t>
            </a:r>
          </a:p>
          <a:p>
            <a:pPr rtl="0"/>
            <a:r>
              <a:rPr lang="fr-FR"/>
              <a:t>11.8.3 - Conservation des adresses IPv4</a:t>
            </a:r>
          </a:p>
        </p:txBody>
      </p:sp>
      <p:sp>
        <p:nvSpPr>
          <p:cNvPr id="4" name="Slide Number Placeholder 3"/>
          <p:cNvSpPr>
            <a:spLocks noGrp="1"/>
          </p:cNvSpPr>
          <p:nvPr>
            <p:ph type="sldNum" sz="quarter" idx="5"/>
          </p:nvPr>
        </p:nvSpPr>
        <p:spPr/>
        <p:txBody>
          <a:bodyPr/>
          <a:lstStyle/>
          <a:p>
            <a:pPr rtl="0"/>
            <a:fld id="{5641018C-6CAF-B84E-B92C-ECB119457FBA}" type="slidenum">
              <a:rPr/>
              <a:t>58</a:t>
            </a:fld>
            <a:endParaRPr/>
          </a:p>
        </p:txBody>
      </p:sp>
    </p:spTree>
    <p:extLst>
      <p:ext uri="{BB962C8B-B14F-4D97-AF65-F5344CB8AC3E}">
        <p14:creationId xmlns:p14="http://schemas.microsoft.com/office/powerpoint/2010/main" val="33346008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11.8 - VLSM</a:t>
            </a:r>
          </a:p>
          <a:p>
            <a:pPr rtl="0"/>
            <a:r>
              <a:rPr lang="fr-FR"/>
              <a:t>11.8.3 - Conservation des adresses IPv4</a:t>
            </a:r>
          </a:p>
        </p:txBody>
      </p:sp>
      <p:sp>
        <p:nvSpPr>
          <p:cNvPr id="4" name="Slide Number Placeholder 3"/>
          <p:cNvSpPr>
            <a:spLocks noGrp="1"/>
          </p:cNvSpPr>
          <p:nvPr>
            <p:ph type="sldNum" sz="quarter" idx="5"/>
          </p:nvPr>
        </p:nvSpPr>
        <p:spPr/>
        <p:txBody>
          <a:bodyPr/>
          <a:lstStyle/>
          <a:p>
            <a:pPr rtl="0"/>
            <a:fld id="{5641018C-6CAF-B84E-B92C-ECB119457FBA}" type="slidenum">
              <a:rPr/>
              <a:t>59</a:t>
            </a:fld>
            <a:endParaRPr/>
          </a:p>
        </p:txBody>
      </p:sp>
    </p:spTree>
    <p:extLst>
      <p:ext uri="{BB962C8B-B14F-4D97-AF65-F5344CB8AC3E}">
        <p14:creationId xmlns:p14="http://schemas.microsoft.com/office/powerpoint/2010/main" val="7134150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11.8 - VLSM</a:t>
            </a:r>
          </a:p>
          <a:p>
            <a:pPr rtl="0"/>
            <a:r>
              <a:rPr lang="fr-FR"/>
              <a:t>11.8.4 - VLSM</a:t>
            </a:r>
          </a:p>
        </p:txBody>
      </p:sp>
      <p:sp>
        <p:nvSpPr>
          <p:cNvPr id="4" name="Slide Number Placeholder 3"/>
          <p:cNvSpPr>
            <a:spLocks noGrp="1"/>
          </p:cNvSpPr>
          <p:nvPr>
            <p:ph type="sldNum" sz="quarter" idx="5"/>
          </p:nvPr>
        </p:nvSpPr>
        <p:spPr/>
        <p:txBody>
          <a:bodyPr/>
          <a:lstStyle/>
          <a:p>
            <a:pPr rtl="0"/>
            <a:fld id="{5641018C-6CAF-B84E-B92C-ECB119457FBA}" type="slidenum">
              <a:rPr/>
              <a:t>60</a:t>
            </a:fld>
            <a:endParaRPr/>
          </a:p>
        </p:txBody>
      </p:sp>
    </p:spTree>
    <p:extLst>
      <p:ext uri="{BB962C8B-B14F-4D97-AF65-F5344CB8AC3E}">
        <p14:creationId xmlns:p14="http://schemas.microsoft.com/office/powerpoint/2010/main" val="13394321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11.8 - VLSM</a:t>
            </a:r>
          </a:p>
          <a:p>
            <a:pPr rtl="0"/>
            <a:r>
              <a:rPr lang="fr-FR"/>
              <a:t>11.8.5 - Attribution d'adresse de topologie VLSM</a:t>
            </a:r>
          </a:p>
          <a:p>
            <a:pPr marL="0" marR="0" lvl="0" indent="0" algn="l" defTabSz="457200" rtl="0" eaLnBrk="1" fontAlgn="auto" latinLnBrk="0" hangingPunct="1">
              <a:lnSpc>
                <a:spcPct val="100000"/>
              </a:lnSpc>
              <a:spcBef>
                <a:spcPts val="0"/>
              </a:spcBef>
              <a:spcAft>
                <a:spcPts val="0"/>
              </a:spcAft>
              <a:buClrTx/>
              <a:buSzTx/>
              <a:buFontTx/>
              <a:buNone/>
              <a:tabLst/>
              <a:defRPr/>
            </a:pPr>
            <a:r>
              <a:rPr lang="fr-FR"/>
              <a:t>11.8.6 - </a:t>
            </a:r>
            <a:r>
              <a:rPr lang="fr-FR" sz="1200" b="0" i="0" kern="1200">
                <a:solidFill>
                  <a:schemeClr val="tx1"/>
                </a:solidFill>
                <a:effectLst/>
                <a:latin typeface="+mn-lt"/>
                <a:ea typeface="+mn-ea"/>
                <a:cs typeface="+mn-cs"/>
              </a:rPr>
              <a:t>Exercice - Pratique VLSM</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61</a:t>
            </a:fld>
            <a:endParaRPr/>
          </a:p>
        </p:txBody>
      </p:sp>
    </p:spTree>
    <p:extLst>
      <p:ext uri="{BB962C8B-B14F-4D97-AF65-F5344CB8AC3E}">
        <p14:creationId xmlns:p14="http://schemas.microsoft.com/office/powerpoint/2010/main" val="36551194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11.9 - La conception structurée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62</a:t>
            </a:fld>
            <a:endParaRPr/>
          </a:p>
        </p:txBody>
      </p:sp>
    </p:spTree>
    <p:extLst>
      <p:ext uri="{BB962C8B-B14F-4D97-AF65-F5344CB8AC3E}">
        <p14:creationId xmlns:p14="http://schemas.microsoft.com/office/powerpoint/2010/main" val="14175597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11.9 - La conception structurée</a:t>
            </a:r>
          </a:p>
          <a:p>
            <a:pPr rtl="0"/>
            <a:r>
              <a:rPr lang="fr-FR"/>
              <a:t>11.9.1 - Planification de l'adressage IPv4 réseau </a:t>
            </a:r>
          </a:p>
        </p:txBody>
      </p:sp>
      <p:sp>
        <p:nvSpPr>
          <p:cNvPr id="4" name="Slide Number Placeholder 3"/>
          <p:cNvSpPr>
            <a:spLocks noGrp="1"/>
          </p:cNvSpPr>
          <p:nvPr>
            <p:ph type="sldNum" sz="quarter" idx="5"/>
          </p:nvPr>
        </p:nvSpPr>
        <p:spPr/>
        <p:txBody>
          <a:bodyPr/>
          <a:lstStyle/>
          <a:p>
            <a:pPr rtl="0"/>
            <a:fld id="{5641018C-6CAF-B84E-B92C-ECB119457FBA}" type="slidenum">
              <a:rPr/>
              <a:t>63</a:t>
            </a:fld>
            <a:endParaRPr/>
          </a:p>
        </p:txBody>
      </p:sp>
    </p:spTree>
    <p:extLst>
      <p:ext uri="{BB962C8B-B14F-4D97-AF65-F5344CB8AC3E}">
        <p14:creationId xmlns:p14="http://schemas.microsoft.com/office/powerpoint/2010/main" val="26065052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11.9 - La conception structurée</a:t>
            </a:r>
          </a:p>
          <a:p>
            <a:pPr rtl="0"/>
            <a:r>
              <a:rPr lang="fr-FR"/>
              <a:t>11.9.2 - Attribution d'adresses à des périphériques</a:t>
            </a:r>
          </a:p>
        </p:txBody>
      </p:sp>
      <p:sp>
        <p:nvSpPr>
          <p:cNvPr id="4" name="Slide Number Placeholder 3"/>
          <p:cNvSpPr>
            <a:spLocks noGrp="1"/>
          </p:cNvSpPr>
          <p:nvPr>
            <p:ph type="sldNum" sz="quarter" idx="5"/>
          </p:nvPr>
        </p:nvSpPr>
        <p:spPr/>
        <p:txBody>
          <a:bodyPr/>
          <a:lstStyle/>
          <a:p>
            <a:pPr rtl="0"/>
            <a:fld id="{5641018C-6CAF-B84E-B92C-ECB119457FBA}" type="slidenum">
              <a:rPr/>
              <a:t>64</a:t>
            </a:fld>
            <a:endParaRPr/>
          </a:p>
        </p:txBody>
      </p:sp>
    </p:spTree>
    <p:extLst>
      <p:ext uri="{BB962C8B-B14F-4D97-AF65-F5344CB8AC3E}">
        <p14:creationId xmlns:p14="http://schemas.microsoft.com/office/powerpoint/2010/main" val="163408749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11.9 - La conception structurée</a:t>
            </a:r>
          </a:p>
          <a:p>
            <a:pPr rtl="0"/>
            <a:r>
              <a:rPr lang="fr-FR"/>
              <a:t>11.9.3 - Packet Tracer - Pratique de conception et de mise en œuvre VLSM</a:t>
            </a:r>
          </a:p>
        </p:txBody>
      </p:sp>
      <p:sp>
        <p:nvSpPr>
          <p:cNvPr id="4" name="Slide Number Placeholder 3"/>
          <p:cNvSpPr>
            <a:spLocks noGrp="1"/>
          </p:cNvSpPr>
          <p:nvPr>
            <p:ph type="sldNum" sz="quarter" idx="5"/>
          </p:nvPr>
        </p:nvSpPr>
        <p:spPr/>
        <p:txBody>
          <a:bodyPr/>
          <a:lstStyle/>
          <a:p>
            <a:pPr rtl="0"/>
            <a:fld id="{5641018C-6CAF-B84E-B92C-ECB119457FBA}" type="slidenum">
              <a:rPr/>
              <a:t>65</a:t>
            </a:fld>
            <a:endParaRPr/>
          </a:p>
        </p:txBody>
      </p:sp>
    </p:spTree>
    <p:extLst>
      <p:ext uri="{BB962C8B-B14F-4D97-AF65-F5344CB8AC3E}">
        <p14:creationId xmlns:p14="http://schemas.microsoft.com/office/powerpoint/2010/main" val="10226435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11.10 Module pratique et questionnaire</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66</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11.10 - La conception structurée</a:t>
            </a:r>
          </a:p>
          <a:p>
            <a:pPr rtl="0"/>
            <a:r>
              <a:rPr lang="fr-FR"/>
              <a:t>11.10.1 - Packet Tracer - Conception et mise en œuvre d'un schéma d'adressage VLSM</a:t>
            </a:r>
          </a:p>
        </p:txBody>
      </p:sp>
      <p:sp>
        <p:nvSpPr>
          <p:cNvPr id="4" name="Slide Number Placeholder 3"/>
          <p:cNvSpPr>
            <a:spLocks noGrp="1"/>
          </p:cNvSpPr>
          <p:nvPr>
            <p:ph type="sldNum" sz="quarter" idx="5"/>
          </p:nvPr>
        </p:nvSpPr>
        <p:spPr/>
        <p:txBody>
          <a:bodyPr/>
          <a:lstStyle/>
          <a:p>
            <a:pPr rtl="0"/>
            <a:fld id="{5641018C-6CAF-B84E-B92C-ECB119457FBA}" type="slidenum">
              <a:rPr/>
              <a:t>67</a:t>
            </a:fld>
            <a:endParaRPr/>
          </a:p>
        </p:txBody>
      </p:sp>
    </p:spTree>
    <p:extLst>
      <p:ext uri="{BB962C8B-B14F-4D97-AF65-F5344CB8AC3E}">
        <p14:creationId xmlns:p14="http://schemas.microsoft.com/office/powerpoint/2010/main" val="2994776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11 - Adressage IPv4</a:t>
            </a:r>
          </a:p>
          <a:p>
            <a:pPr rtl="0"/>
            <a:r>
              <a:rPr lang="fr-FR"/>
              <a:t>11.10 - La conception structurée</a:t>
            </a:r>
          </a:p>
          <a:p>
            <a:pPr rtl="0"/>
            <a:r>
              <a:rPr lang="fr-FR"/>
              <a:t>11.10.2 - </a:t>
            </a:r>
            <a:r>
              <a:rPr lang="fr-FR" sz="1200"/>
              <a:t>Travaux pratiques - Conception et mise en œuvre d'un schéma d'adressage avec des VLSM</a:t>
            </a:r>
          </a:p>
        </p:txBody>
      </p:sp>
      <p:sp>
        <p:nvSpPr>
          <p:cNvPr id="4" name="Slide Number Placeholder 3"/>
          <p:cNvSpPr>
            <a:spLocks noGrp="1"/>
          </p:cNvSpPr>
          <p:nvPr>
            <p:ph type="sldNum" sz="quarter" idx="5"/>
          </p:nvPr>
        </p:nvSpPr>
        <p:spPr/>
        <p:txBody>
          <a:bodyPr/>
          <a:lstStyle/>
          <a:p>
            <a:pPr rtl="0"/>
            <a:fld id="{5641018C-6CAF-B84E-B92C-ECB119457FBA}" type="slidenum">
              <a:rPr/>
              <a:t>68</a:t>
            </a:fld>
            <a:endParaRPr/>
          </a:p>
        </p:txBody>
      </p:sp>
    </p:spTree>
    <p:extLst>
      <p:ext uri="{BB962C8B-B14F-4D97-AF65-F5344CB8AC3E}">
        <p14:creationId xmlns:p14="http://schemas.microsoft.com/office/powerpoint/2010/main" val="70042031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69</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fr-FR"/>
              <a:t>11 - Adressage IPv4</a:t>
            </a:r>
          </a:p>
          <a:p>
            <a:pPr rtl="0"/>
            <a:r>
              <a:rPr lang="fr-FR"/>
              <a:t>11.10 - La conception structurée</a:t>
            </a:r>
          </a:p>
          <a:p>
            <a:pPr rtl="0"/>
            <a:r>
              <a:rPr lang="fr-FR"/>
              <a:t>11.10.3 – Qu'est-ce que j'ai appris dans ce module?</a:t>
            </a:r>
          </a:p>
        </p:txBody>
      </p:sp>
    </p:spTree>
    <p:extLst>
      <p:ext uri="{BB962C8B-B14F-4D97-AF65-F5344CB8AC3E}">
        <p14:creationId xmlns:p14="http://schemas.microsoft.com/office/powerpoint/2010/main" val="14768241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70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fr-FR"/>
              <a:t>11 - Adressage IPv4</a:t>
            </a:r>
          </a:p>
          <a:p>
            <a:pPr rtl="0"/>
            <a:r>
              <a:rPr lang="fr-FR"/>
              <a:t>11.10 - La conception structurée</a:t>
            </a:r>
          </a:p>
          <a:p>
            <a:pPr rtl="0"/>
            <a:r>
              <a:rPr lang="fr-FR"/>
              <a:t>11.10.3 - Qu'est-ce que j'ai appris dans ce module? (Suite)</a:t>
            </a:r>
          </a:p>
          <a:p>
            <a:pPr rtl="0"/>
            <a:r>
              <a:rPr lang="fr-FR"/>
              <a:t>11.10.4 - Questionnaire de module — Adressage IPv4</a:t>
            </a:r>
          </a:p>
        </p:txBody>
      </p:sp>
    </p:spTree>
    <p:extLst>
      <p:ext uri="{BB962C8B-B14F-4D97-AF65-F5344CB8AC3E}">
        <p14:creationId xmlns:p14="http://schemas.microsoft.com/office/powerpoint/2010/main" val="270844664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71</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72</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xmlns:c15="http://schemas.microsoft.com/office/drawing/2012/chart" xmlns:c="http://schemas.openxmlformats.org/drawingml/2006/chart" xmlns="">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xmlns:c15="http://schemas.microsoft.com/office/drawing/2012/chart" xmlns:c="http://schemas.openxmlformats.org/drawingml/2006/chart" xmlns="">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xmlns:c15="http://schemas.microsoft.com/office/drawing/2012/chart" xmlns:c="http://schemas.openxmlformats.org/drawingml/2006/chart" xmlns="">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5">
                    <a:lumMod val="50000"/>
                  </a:schemeClr>
                </a:solidFill>
                <a:latin typeface="+mn-lt"/>
                <a:ea typeface="+mn-ea"/>
                <a:cs typeface="CiscoSans Thin"/>
              </a:rPr>
              <a:t>© 2016 Cisco et/ou ses filiales. Tous droits réservés.   Informations confidentielles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3">
                    <a:lumMod val="85000"/>
                  </a:schemeClr>
                </a:solidFill>
                <a:latin typeface="+mn-lt"/>
                <a:ea typeface="+mn-ea"/>
                <a:cs typeface="CiscoSans Thin"/>
              </a:rPr>
              <a:t>© 2016 Cisco et/ou ses filiales. Tous droits réservés.   Informations confidentielles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xmlns:c15="http://schemas.microsoft.com/office/drawing/2012/chart" xmlns:c="http://schemas.openxmlformats.org/drawingml/2006/chart" xmlns="">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7.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8.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4.xml"/><Relationship Id="rId1" Type="http://schemas.openxmlformats.org/officeDocument/2006/relationships/tags" Target="../tags/tag2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4.xml"/><Relationship Id="rId1" Type="http://schemas.openxmlformats.org/officeDocument/2006/relationships/tags" Target="../tags/tag2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3.xml"/><Relationship Id="rId1" Type="http://schemas.openxmlformats.org/officeDocument/2006/relationships/tags" Target="../tags/tag27.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0.xml"/><Relationship Id="rId1" Type="http://schemas.openxmlformats.org/officeDocument/2006/relationships/tags" Target="../tags/tag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fr-FR">
                <a:solidFill>
                  <a:schemeClr val="accent5">
                    <a:lumMod val="40000"/>
                    <a:lumOff val="60000"/>
                  </a:schemeClr>
                </a:solidFill>
              </a:rPr>
              <a:t>Module 11: Adressage IPv4</a:t>
            </a:r>
          </a:p>
        </p:txBody>
      </p:sp>
      <p:sp>
        <p:nvSpPr>
          <p:cNvPr id="5" name="Text Placeholder 4"/>
          <p:cNvSpPr>
            <a:spLocks noGrp="1"/>
          </p:cNvSpPr>
          <p:nvPr>
            <p:ph type="body" sz="quarter" idx="13"/>
          </p:nvPr>
        </p:nvSpPr>
        <p:spPr>
          <a:xfrm>
            <a:off x="469497" y="3127609"/>
            <a:ext cx="5925246" cy="299001"/>
          </a:xfrm>
        </p:spPr>
        <p:txBody>
          <a:bodyPr/>
          <a:lstStyle/>
          <a:p>
            <a:pPr rtl="0"/>
            <a:r>
              <a:rPr lang="fr-FR">
                <a:solidFill>
                  <a:schemeClr val="bg2">
                    <a:lumMod val="40000"/>
                    <a:lumOff val="60000"/>
                  </a:schemeClr>
                </a:solidFill>
              </a:rPr>
              <a:t>Contenu Pédagogique de l'instructeur</a:t>
            </a:r>
          </a:p>
        </p:txBody>
      </p:sp>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Présentation des réseaux V7.0 (ITN)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fr-FR"/>
              <a:t>Instructor Materials – Module 11 Planning Guide</a:t>
            </a:r>
          </a:p>
        </p:txBody>
      </p:sp>
      <p:sp>
        <p:nvSpPr>
          <p:cNvPr id="4099" name="Rectangle 34"/>
          <p:cNvSpPr>
            <a:spLocks noGrp="1" noChangeArrowheads="1"/>
          </p:cNvSpPr>
          <p:nvPr>
            <p:ph idx="1"/>
          </p:nvPr>
        </p:nvSpPr>
        <p:spPr>
          <a:xfrm>
            <a:off x="145357" y="808179"/>
            <a:ext cx="8433035" cy="3773247"/>
          </a:xfrm>
        </p:spPr>
        <p:txBody>
          <a:bodyPr/>
          <a:lstStyle/>
          <a:p>
            <a:pPr marL="0" indent="0" rtl="0">
              <a:buNone/>
            </a:pPr>
            <a:r>
              <a:rPr lang="fr-FR"/>
              <a:t>This PowerPoint deck is divided in two parts:</a:t>
            </a:r>
          </a:p>
          <a:p>
            <a:pPr rtl="0">
              <a:buFont typeface="Arial" panose="020B0604020202020204" pitchFamily="34" charset="0"/>
              <a:buChar char="•"/>
            </a:pPr>
            <a:r>
              <a:rPr lang="fr-FR"/>
              <a:t>Instructor Planning Guide</a:t>
            </a:r>
          </a:p>
          <a:p>
            <a:pPr lvl="1" rtl="0"/>
            <a:r>
              <a:rPr lang="fr-FR"/>
              <a:t>Information to help you become familiar with the module</a:t>
            </a:r>
          </a:p>
          <a:p>
            <a:pPr lvl="1" rtl="0"/>
            <a:r>
              <a:rPr lang="fr-FR"/>
              <a:t>Teaching aids</a:t>
            </a:r>
          </a:p>
          <a:p>
            <a:pPr rtl="0">
              <a:buFont typeface="Arial" panose="020B0604020202020204" pitchFamily="34" charset="0"/>
              <a:buChar char="•"/>
            </a:pPr>
            <a:r>
              <a:rPr lang="fr-FR"/>
              <a:t>Instructor Class Presentation</a:t>
            </a:r>
          </a:p>
          <a:p>
            <a:pPr lvl="1" rtl="0"/>
            <a:r>
              <a:rPr lang="fr-FR"/>
              <a:t>Optional slides that you can use in the classroom</a:t>
            </a:r>
          </a:p>
          <a:p>
            <a:pPr lvl="1" rtl="0"/>
            <a:r>
              <a:rPr lang="fr-FR"/>
              <a:t>Begins on slide # 14</a:t>
            </a:r>
          </a:p>
          <a:p>
            <a:pPr marL="142875" lvl="1" indent="0" algn="ctr" rtl="0">
              <a:buNone/>
            </a:pPr>
            <a:r>
              <a:rPr lang="fr-FR" sz="1600" b="1"/>
              <a:t>Note</a:t>
            </a:r>
            <a:r>
              <a:rPr lang="fr-FR" sz="1600"/>
              <a:t>: Remove the Planning Guide from this presentation before sharing with anyone.</a:t>
            </a:r>
          </a:p>
          <a:p>
            <a:pPr marL="0" indent="0" rtl="0">
              <a:buNone/>
            </a:pPr>
            <a:r>
              <a:rPr lang="fr-F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D0DBD329-AB20-664C-9697-486FE5CED9B9}"/>
              </a:ext>
            </a:extLst>
          </p:cNvPr>
          <p:cNvSpPr>
            <a:spLocks noGrp="1"/>
          </p:cNvSpPr>
          <p:nvPr>
            <p:ph type="title"/>
          </p:nvPr>
        </p:nvSpPr>
        <p:spPr>
          <a:xfrm>
            <a:off x="0" y="189238"/>
            <a:ext cx="9144000" cy="609708"/>
          </a:xfrm>
        </p:spPr>
        <p:txBody>
          <a:bodyPr/>
          <a:lstStyle/>
          <a:p>
            <a:pPr rtl="0"/>
            <a:r>
              <a:rPr lang="fr-FR"/>
              <a:t>What to Expect in this Module</a:t>
            </a:r>
          </a:p>
        </p:txBody>
      </p:sp>
      <p:sp>
        <p:nvSpPr>
          <p:cNvPr id="2" name="Content Placeholder 1">
            <a:extLst>
              <a:ext uri="{FF2B5EF4-FFF2-40B4-BE49-F238E27FC236}">
                <a16:creationId xmlns:a16="http://schemas.microsoft.com/office/drawing/2014/main" xmlns:c15="http://schemas.microsoft.com/office/drawing/2012/chart" xmlns:c="http://schemas.openxmlformats.org/drawingml/2006/chart" xmlns="" id="{C2EDE137-350D-6D47-BD51-750CD198389A}"/>
              </a:ext>
            </a:extLst>
          </p:cNvPr>
          <p:cNvSpPr>
            <a:spLocks noGrp="1"/>
          </p:cNvSpPr>
          <p:nvPr>
            <p:ph idx="1"/>
          </p:nvPr>
        </p:nvSpPr>
        <p:spPr>
          <a:xfrm>
            <a:off x="144065" y="798945"/>
            <a:ext cx="8853286" cy="346366"/>
          </a:xfrm>
        </p:spPr>
        <p:txBody>
          <a:bodyPr/>
          <a:lstStyle/>
          <a:p>
            <a:pPr rtl="0">
              <a:buFont typeface="Arial" panose="020B0604020202020204" pitchFamily="34" charset="0"/>
              <a:buChar char="•"/>
            </a:pPr>
            <a:r>
              <a:rPr lang="fr-FR"/>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xmlns:c15="http://schemas.microsoft.com/office/drawing/2012/chart" xmlns:c="http://schemas.openxmlformats.org/drawingml/2006/chart" xmlns="" id="{24EE699F-A87C-2246-9235-C1DFDF6B2651}"/>
              </a:ext>
            </a:extLst>
          </p:cNvPr>
          <p:cNvGraphicFramePr>
            <a:graphicFrameLocks noGrp="1"/>
          </p:cNvGraphicFramePr>
          <p:nvPr>
            <p:extLst/>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xmlns:c15="http://schemas.microsoft.com/office/drawing/2012/chart" xmlns:c="http://schemas.openxmlformats.org/drawingml/2006/chart" xmlns="" val="200107645"/>
                    </a:ext>
                  </a:extLst>
                </a:gridCol>
                <a:gridCol w="6416970">
                  <a:extLst>
                    <a:ext uri="{9D8B030D-6E8A-4147-A177-3AD203B41FA5}">
                      <a16:colId xmlns:a16="http://schemas.microsoft.com/office/drawing/2014/main" xmlns:c15="http://schemas.microsoft.com/office/drawing/2012/chart" xmlns:c="http://schemas.openxmlformats.org/drawingml/2006/chart" xmlns="" val="2648404099"/>
                    </a:ext>
                  </a:extLst>
                </a:gridCol>
              </a:tblGrid>
              <a:tr h="265091">
                <a:tc>
                  <a:txBody>
                    <a:bodyPr/>
                    <a:lstStyle/>
                    <a:p>
                      <a:pPr rtl="0"/>
                      <a:r>
                        <a:rPr lang="fr-FR"/>
                        <a:t>Feature</a:t>
                      </a:r>
                    </a:p>
                  </a:txBody>
                  <a:tcPr/>
                </a:tc>
                <a:tc>
                  <a:txBody>
                    <a:bodyPr/>
                    <a:lstStyle/>
                    <a:p>
                      <a:pPr rtl="0"/>
                      <a:r>
                        <a:rPr lang="fr-FR"/>
                        <a:t>Description</a:t>
                      </a:r>
                    </a:p>
                  </a:txBody>
                  <a:tcPr/>
                </a:tc>
                <a:extLst>
                  <a:ext uri="{0D108BD9-81ED-4DB2-BD59-A6C34878D82A}">
                    <a16:rowId xmlns:a16="http://schemas.microsoft.com/office/drawing/2014/main" xmlns:c15="http://schemas.microsoft.com/office/drawing/2012/chart" xmlns:c="http://schemas.openxmlformats.org/drawingml/2006/chart" xmlns="" val="367710602"/>
                  </a:ext>
                </a:extLst>
              </a:tr>
              <a:tr h="331556">
                <a:tc>
                  <a:txBody>
                    <a:bodyPr/>
                    <a:lstStyle/>
                    <a:p>
                      <a:pPr algn="l" rtl="0" fontAlgn="b"/>
                      <a:r>
                        <a:rPr lang="fr-FR" sz="1400" b="0" i="0" u="none" strike="noStrike">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 learners to new skills and concepts.</a:t>
                      </a:r>
                    </a:p>
                  </a:txBody>
                  <a:tcPr/>
                </a:tc>
                <a:extLst>
                  <a:ext uri="{0D108BD9-81ED-4DB2-BD59-A6C34878D82A}">
                    <a16:rowId xmlns:a16="http://schemas.microsoft.com/office/drawing/2014/main" xmlns:c15="http://schemas.microsoft.com/office/drawing/2012/chart" xmlns:c="http://schemas.openxmlformats.org/drawingml/2006/chart" xmlns=""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 learners to new skills and concepts.</a:t>
                      </a:r>
                    </a:p>
                  </a:txBody>
                  <a:tcPr/>
                </a:tc>
                <a:extLst>
                  <a:ext uri="{0D108BD9-81ED-4DB2-BD59-A6C34878D82A}">
                    <a16:rowId xmlns:a16="http://schemas.microsoft.com/office/drawing/2014/main" xmlns:c15="http://schemas.microsoft.com/office/drawing/2012/chart" xmlns:c="http://schemas.openxmlformats.org/drawingml/2006/chart" xmlns=""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Per topic online quiz to help learners gauge content understanding. </a:t>
                      </a:r>
                    </a:p>
                  </a:txBody>
                  <a:tcPr/>
                </a:tc>
                <a:extLst>
                  <a:ext uri="{0D108BD9-81ED-4DB2-BD59-A6C34878D82A}">
                    <a16:rowId xmlns:a16="http://schemas.microsoft.com/office/drawing/2014/main" xmlns:c15="http://schemas.microsoft.com/office/drawing/2012/chart" xmlns:c="http://schemas.openxmlformats.org/drawingml/2006/chart" xmlns=""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Interactive Activities</a:t>
                      </a:r>
                    </a:p>
                  </a:txBody>
                  <a:tcPr marL="9525" marR="9525" marT="9525" marB="0" anchor="b"/>
                </a:tc>
                <a:tc>
                  <a:txBody>
                    <a:bodyPr/>
                    <a:lstStyle/>
                    <a:p>
                      <a:pPr rtl="0"/>
                      <a:r>
                        <a:rPr lang="fr-FR"/>
                        <a:t>A variety of formats to help learners gauge content understanding.</a:t>
                      </a:r>
                    </a:p>
                  </a:txBody>
                  <a:tcPr/>
                </a:tc>
                <a:extLst>
                  <a:ext uri="{0D108BD9-81ED-4DB2-BD59-A6C34878D82A}">
                    <a16:rowId xmlns:a16="http://schemas.microsoft.com/office/drawing/2014/main" xmlns:c15="http://schemas.microsoft.com/office/drawing/2012/chart" xmlns:c="http://schemas.openxmlformats.org/drawingml/2006/chart" xmlns="" val="3454703549"/>
                  </a:ext>
                </a:extLst>
              </a:tr>
              <a:tr h="215293">
                <a:tc>
                  <a:txBody>
                    <a:bodyPr/>
                    <a:lstStyle/>
                    <a:p>
                      <a:pPr algn="l" rtl="0" fontAlgn="b"/>
                      <a:r>
                        <a:rPr lang="fr-FR" sz="1400" b="0" i="0" u="none" strike="noStrike">
                          <a:solidFill>
                            <a:srgbClr val="000000"/>
                          </a:solidFill>
                          <a:effectLst/>
                          <a:latin typeface="+mn-lt"/>
                        </a:rPr>
                        <a:t>Syntax Checker</a:t>
                      </a:r>
                    </a:p>
                  </a:txBody>
                  <a:tcPr marL="9525" marR="9525" marT="9525" marB="0" anchor="b"/>
                </a:tc>
                <a:tc>
                  <a:txBody>
                    <a:bodyPr/>
                    <a:lstStyle/>
                    <a:p>
                      <a:pPr rtl="0"/>
                      <a:r>
                        <a:rPr lang="fr-FR"/>
                        <a:t>Small simulations that expose learners to Cisco command line to practice configuration skills.</a:t>
                      </a:r>
                    </a:p>
                  </a:txBody>
                  <a:tcPr/>
                </a:tc>
                <a:extLst>
                  <a:ext uri="{0D108BD9-81ED-4DB2-BD59-A6C34878D82A}">
                    <a16:rowId xmlns:a16="http://schemas.microsoft.com/office/drawing/2014/main" xmlns:c15="http://schemas.microsoft.com/office/drawing/2012/chart" xmlns:c="http://schemas.openxmlformats.org/drawingml/2006/chart" xmlns="" val="2195331658"/>
                  </a:ext>
                </a:extLst>
              </a:tr>
              <a:tr h="265091">
                <a:tc>
                  <a:txBody>
                    <a:bodyPr/>
                    <a:lstStyle/>
                    <a:p>
                      <a:pPr algn="l" rtl="0" fontAlgn="b"/>
                      <a:r>
                        <a:rPr lang="fr-FR" sz="1400" b="0" i="0" u="none" strike="noStrike">
                          <a:solidFill>
                            <a:srgbClr val="000000"/>
                          </a:solidFill>
                          <a:effectLst/>
                          <a:latin typeface="+mn-lt"/>
                        </a:rPr>
                        <a:t>PT Activity</a:t>
                      </a:r>
                    </a:p>
                  </a:txBody>
                  <a:tcPr marL="9525" marR="9525" marT="9525" marB="0" anchor="b"/>
                </a:tc>
                <a:tc>
                  <a:txBody>
                    <a:bodyPr/>
                    <a:lstStyle/>
                    <a:p>
                      <a:pPr rtl="0"/>
                      <a:r>
                        <a:rPr lang="fr-FR"/>
                        <a:t>Simulation and modeling activities designed to explore, acquire, reinforce, and expand skills.</a:t>
                      </a:r>
                    </a:p>
                  </a:txBody>
                  <a:tcPr/>
                </a:tc>
                <a:extLst>
                  <a:ext uri="{0D108BD9-81ED-4DB2-BD59-A6C34878D82A}">
                    <a16:rowId xmlns:a16="http://schemas.microsoft.com/office/drawing/2014/main" xmlns:c15="http://schemas.microsoft.com/office/drawing/2012/chart" xmlns:c="http://schemas.openxmlformats.org/drawingml/2006/chart" xmlns="" val="3727131555"/>
                  </a:ext>
                </a:extLst>
              </a:tr>
            </a:tbl>
          </a:graphicData>
        </a:graphic>
      </p:graphicFrame>
    </p:spTree>
    <p:custDataLst>
      <p:tags r:id="rId1"/>
    </p:custDataLst>
    <p:extLst>
      <p:ext uri="{BB962C8B-B14F-4D97-AF65-F5344CB8AC3E}">
        <p14:creationId xmlns:p14="http://schemas.microsoft.com/office/powerpoint/2010/main" val="413386683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xmlns:c15="http://schemas.microsoft.com/office/drawing/2012/chart" xmlns:c="http://schemas.openxmlformats.org/drawingml/2006/chart" xmlns="" id="{2D10C50B-ED86-4E5D-BD0F-658911DFEF9B}"/>
              </a:ext>
            </a:extLst>
          </p:cNvPr>
          <p:cNvSpPr>
            <a:spLocks noGrp="1"/>
          </p:cNvSpPr>
          <p:nvPr>
            <p:ph type="title"/>
          </p:nvPr>
        </p:nvSpPr>
        <p:spPr>
          <a:xfrm>
            <a:off x="0" y="-15285"/>
            <a:ext cx="9144000" cy="757238"/>
          </a:xfrm>
        </p:spPr>
        <p:txBody>
          <a:bodyPr/>
          <a:lstStyle/>
          <a:p>
            <a:pPr rtl="0"/>
            <a:r>
              <a:rPr lang="fr-FR"/>
              <a:t>What to Expect in this Module (Cont.)</a:t>
            </a:r>
          </a:p>
        </p:txBody>
      </p:sp>
      <p:sp>
        <p:nvSpPr>
          <p:cNvPr id="6" name="Content Placeholder 1">
            <a:extLst>
              <a:ext uri="{FF2B5EF4-FFF2-40B4-BE49-F238E27FC236}">
                <a16:creationId xmlns:a16="http://schemas.microsoft.com/office/drawing/2014/main" xmlns:c15="http://schemas.microsoft.com/office/drawing/2012/chart" xmlns:c="http://schemas.openxmlformats.org/drawingml/2006/chart" xmlns=""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fr-FR"/>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xmlns:c15="http://schemas.microsoft.com/office/drawing/2012/chart" xmlns:c="http://schemas.openxmlformats.org/drawingml/2006/chart" xmlns="" id="{DDD52CCD-9D1E-4CC4-815A-A5967A0831D9}"/>
              </a:ext>
            </a:extLst>
          </p:cNvPr>
          <p:cNvGraphicFramePr>
            <a:graphicFrameLocks noGrp="1"/>
          </p:cNvGraphicFramePr>
          <p:nvPr>
            <p:ph idx="1"/>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xmlns:c15="http://schemas.microsoft.com/office/drawing/2012/chart" xmlns:c="http://schemas.openxmlformats.org/drawingml/2006/chart" xmlns="" val="3215831619"/>
                    </a:ext>
                  </a:extLst>
                </a:gridCol>
                <a:gridCol w="6416970">
                  <a:extLst>
                    <a:ext uri="{9D8B030D-6E8A-4147-A177-3AD203B41FA5}">
                      <a16:colId xmlns:a16="http://schemas.microsoft.com/office/drawing/2014/main" xmlns:c15="http://schemas.microsoft.com/office/drawing/2012/chart" xmlns:c="http://schemas.openxmlformats.org/drawingml/2006/chart" xmlns="" val="276475465"/>
                    </a:ext>
                  </a:extLst>
                </a:gridCol>
              </a:tblGrid>
              <a:tr h="265091">
                <a:tc>
                  <a:txBody>
                    <a:bodyPr/>
                    <a:lstStyle/>
                    <a:p>
                      <a:pPr algn="l" rtl="0" fontAlgn="b"/>
                      <a:r>
                        <a:rPr lang="fr-FR" sz="1400" b="1" i="0" u="none" strike="noStrike">
                          <a:solidFill>
                            <a:schemeClr val="bg1"/>
                          </a:solidFill>
                          <a:effectLst/>
                          <a:latin typeface="+mn-lt"/>
                        </a:rPr>
                        <a:t>Feature</a:t>
                      </a:r>
                    </a:p>
                  </a:txBody>
                  <a:tcPr marL="9525" marR="9525" marT="9525" marB="0" anchor="b"/>
                </a:tc>
                <a:tc>
                  <a:txBody>
                    <a:bodyPr/>
                    <a:lstStyle/>
                    <a:p>
                      <a:pPr rtl="0"/>
                      <a:r>
                        <a:rPr lang="fr-FR"/>
                        <a:t>Description</a:t>
                      </a:r>
                    </a:p>
                  </a:txBody>
                  <a:tcPr/>
                </a:tc>
                <a:extLst>
                  <a:ext uri="{0D108BD9-81ED-4DB2-BD59-A6C34878D82A}">
                    <a16:rowId xmlns:a16="http://schemas.microsoft.com/office/drawing/2014/main" xmlns:c15="http://schemas.microsoft.com/office/drawing/2012/chart" xmlns:c="http://schemas.openxmlformats.org/drawingml/2006/chart" xmlns="" val="3768427975"/>
                  </a:ext>
                </a:extLst>
              </a:tr>
              <a:tr h="265091">
                <a:tc>
                  <a:txBody>
                    <a:bodyPr/>
                    <a:lstStyle/>
                    <a:p>
                      <a:pPr algn="l" rtl="0" fontAlgn="b"/>
                      <a:r>
                        <a:rPr lang="fr-FR" sz="1400" b="0" i="0" u="none" strike="noStrike">
                          <a:solidFill>
                            <a:srgbClr val="000000"/>
                          </a:solidFill>
                          <a:effectLst/>
                          <a:latin typeface="+mn-lt"/>
                        </a:rPr>
                        <a:t>Hands-On Labs</a:t>
                      </a:r>
                    </a:p>
                  </a:txBody>
                  <a:tcPr marL="9525" marR="9525" marT="9525" marB="0" anchor="b"/>
                </a:tc>
                <a:tc>
                  <a:txBody>
                    <a:bodyPr/>
                    <a:lstStyle/>
                    <a:p>
                      <a:pPr rtl="0"/>
                      <a:r>
                        <a:rPr lang="fr-FR"/>
                        <a:t>Labs designed for working with physical equipment.</a:t>
                      </a:r>
                    </a:p>
                  </a:txBody>
                  <a:tcPr/>
                </a:tc>
                <a:extLst>
                  <a:ext uri="{0D108BD9-81ED-4DB2-BD59-A6C34878D82A}">
                    <a16:rowId xmlns:a16="http://schemas.microsoft.com/office/drawing/2014/main" xmlns:c15="http://schemas.microsoft.com/office/drawing/2012/chart" xmlns:c="http://schemas.openxmlformats.org/drawingml/2006/chart" xmlns=""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These are found on the Instructor Resources page. Class Activities are designed to facilitate learning, class discussion, and collaboration.</a:t>
                      </a:r>
                    </a:p>
                  </a:txBody>
                  <a:tcPr/>
                </a:tc>
                <a:extLst>
                  <a:ext uri="{0D108BD9-81ED-4DB2-BD59-A6C34878D82A}">
                    <a16:rowId xmlns:a16="http://schemas.microsoft.com/office/drawing/2014/main" xmlns:c15="http://schemas.microsoft.com/office/drawing/2012/chart" xmlns:c="http://schemas.openxmlformats.org/drawingml/2006/chart" xmlns="" val="1125566603"/>
                  </a:ext>
                </a:extLst>
              </a:tr>
              <a:tr h="265091">
                <a:tc>
                  <a:txBody>
                    <a:bodyPr/>
                    <a:lstStyle/>
                    <a:p>
                      <a:pPr algn="l" rtl="0" fontAlgn="b"/>
                      <a:r>
                        <a:rPr lang="fr-FR" sz="1400" b="0" i="0" u="none" strike="noStrike">
                          <a:solidFill>
                            <a:srgbClr val="000000"/>
                          </a:solidFill>
                          <a:effectLst/>
                          <a:latin typeface="+mn-lt"/>
                        </a:rPr>
                        <a:t>Module Quizzes</a:t>
                      </a:r>
                    </a:p>
                  </a:txBody>
                  <a:tcPr marL="9525" marR="9525" marT="9525" marB="0" anchor="b"/>
                </a:tc>
                <a:tc>
                  <a:txBody>
                    <a:bodyPr/>
                    <a:lstStyle/>
                    <a:p>
                      <a:pPr rtl="0"/>
                      <a:r>
                        <a:rPr lang="fr-FR"/>
                        <a:t>Self-assessments that integrate concepts and skills learned throughout the series of topics presented in the module.</a:t>
                      </a:r>
                    </a:p>
                  </a:txBody>
                  <a:tcPr/>
                </a:tc>
                <a:extLst>
                  <a:ext uri="{0D108BD9-81ED-4DB2-BD59-A6C34878D82A}">
                    <a16:rowId xmlns:a16="http://schemas.microsoft.com/office/drawing/2014/main" xmlns:c15="http://schemas.microsoft.com/office/drawing/2012/chart" xmlns:c="http://schemas.openxmlformats.org/drawingml/2006/chart" xmlns="" val="831502776"/>
                  </a:ext>
                </a:extLst>
              </a:tr>
              <a:tr h="265091">
                <a:tc>
                  <a:txBody>
                    <a:bodyPr/>
                    <a:lstStyle/>
                    <a:p>
                      <a:pPr algn="l" rtl="0" fontAlgn="b"/>
                      <a:r>
                        <a:rPr lang="fr-FR" sz="1400" b="0" i="0" u="none" strike="noStrike">
                          <a:solidFill>
                            <a:srgbClr val="000000"/>
                          </a:solidFill>
                          <a:effectLst/>
                          <a:latin typeface="+mn-lt"/>
                        </a:rPr>
                        <a:t>Module Summary</a:t>
                      </a:r>
                    </a:p>
                  </a:txBody>
                  <a:tcPr marL="9525" marR="9525" marT="9525" marB="0" anchor="b"/>
                </a:tc>
                <a:tc>
                  <a:txBody>
                    <a:bodyPr/>
                    <a:lstStyle/>
                    <a:p>
                      <a:pPr rtl="0"/>
                      <a:r>
                        <a:rPr lang="fr-FR"/>
                        <a:t>Briefly recaps module content.</a:t>
                      </a:r>
                    </a:p>
                  </a:txBody>
                  <a:tcPr/>
                </a:tc>
                <a:extLst>
                  <a:ext uri="{0D108BD9-81ED-4DB2-BD59-A6C34878D82A}">
                    <a16:rowId xmlns:a16="http://schemas.microsoft.com/office/drawing/2014/main" xmlns:c15="http://schemas.microsoft.com/office/drawing/2012/chart" xmlns:c="http://schemas.openxmlformats.org/drawingml/2006/chart" xmlns="" val="2267046280"/>
                  </a:ext>
                </a:extLst>
              </a:tr>
            </a:tbl>
          </a:graphicData>
        </a:graphic>
      </p:graphicFrame>
    </p:spTree>
    <p:custDataLst>
      <p:tags r:id="rId1"/>
    </p:custDataLst>
    <p:extLst>
      <p:ext uri="{BB962C8B-B14F-4D97-AF65-F5344CB8AC3E}">
        <p14:creationId xmlns:p14="http://schemas.microsoft.com/office/powerpoint/2010/main" val="57626838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fr-FR"/>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fr-FR"/>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fr-FR"/>
              <a:t>Check Your Understanding activities </a:t>
            </a:r>
            <a:r>
              <a:rPr lang="fr-FR" b="1" i="1"/>
              <a:t>do not </a:t>
            </a:r>
            <a:r>
              <a:rPr lang="fr-FR"/>
              <a:t>affect student grades.</a:t>
            </a:r>
          </a:p>
          <a:p>
            <a:pPr rtl="0">
              <a:spcBef>
                <a:spcPct val="30000"/>
              </a:spcBef>
              <a:buFont typeface="Arial" panose="020B0604020202020204" pitchFamily="34" charset="0"/>
              <a:buChar char="•"/>
            </a:pPr>
            <a:r>
              <a:rPr lang="fr-FR"/>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a:r>
              <a:rPr lang="fr-FR"/>
              <a:t>Module 11: Activities</a:t>
            </a:r>
          </a:p>
        </p:txBody>
      </p:sp>
      <p:sp>
        <p:nvSpPr>
          <p:cNvPr id="6147" name="Rectangle 34"/>
          <p:cNvSpPr>
            <a:spLocks noGrp="1" noChangeArrowheads="1"/>
          </p:cNvSpPr>
          <p:nvPr>
            <p:ph idx="1"/>
          </p:nvPr>
        </p:nvSpPr>
        <p:spPr>
          <a:xfrm>
            <a:off x="144065" y="798945"/>
            <a:ext cx="8853286" cy="281056"/>
          </a:xfrm>
        </p:spPr>
        <p:txBody>
          <a:bodyPr/>
          <a:lstStyle/>
          <a:p>
            <a:pPr rtl="0">
              <a:buFont typeface="Arial" panose="020B0604020202020204" pitchFamily="34" charset="0"/>
              <a:buChar char="•"/>
            </a:pPr>
            <a:r>
              <a:rPr lang="fr-FR"/>
              <a:t>What activities are associated with this module?</a:t>
            </a:r>
          </a:p>
          <a:p>
            <a:endParaRPr lang="en-US" dirty="0"/>
          </a:p>
          <a:p>
            <a:endParaRPr lang="en-US" dirty="0"/>
          </a:p>
          <a:p>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334995895"/>
              </p:ext>
            </p:extLst>
          </p:nvPr>
        </p:nvGraphicFramePr>
        <p:xfrm>
          <a:off x="432000" y="1127135"/>
          <a:ext cx="8229418" cy="345849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xmlns:c15="http://schemas.microsoft.com/office/drawing/2012/chart" xmlns:c="http://schemas.openxmlformats.org/drawingml/2006/chart" xmlns="" val="20001"/>
                    </a:ext>
                  </a:extLst>
                </a:gridCol>
                <a:gridCol w="1857736">
                  <a:extLst>
                    <a:ext uri="{9D8B030D-6E8A-4147-A177-3AD203B41FA5}">
                      <a16:colId xmlns:a16="http://schemas.microsoft.com/office/drawing/2014/main" xmlns:c15="http://schemas.microsoft.com/office/drawing/2012/chart" xmlns:c="http://schemas.openxmlformats.org/drawingml/2006/chart" xmlns="" val="3156509146"/>
                    </a:ext>
                  </a:extLst>
                </a:gridCol>
                <a:gridCol w="4080076">
                  <a:extLst>
                    <a:ext uri="{9D8B030D-6E8A-4147-A177-3AD203B41FA5}">
                      <a16:colId xmlns:a16="http://schemas.microsoft.com/office/drawing/2014/main" xmlns:c15="http://schemas.microsoft.com/office/drawing/2012/chart" xmlns:c="http://schemas.openxmlformats.org/drawingml/2006/chart" xmlns="" val="20002"/>
                    </a:ext>
                  </a:extLst>
                </a:gridCol>
                <a:gridCol w="1161873">
                  <a:extLst>
                    <a:ext uri="{9D8B030D-6E8A-4147-A177-3AD203B41FA5}">
                      <a16:colId xmlns:a16="http://schemas.microsoft.com/office/drawing/2014/main" xmlns:c15="http://schemas.microsoft.com/office/drawing/2012/chart" xmlns:c="http://schemas.openxmlformats.org/drawingml/2006/chart" xmlns=""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10000"/>
                  </a:ext>
                </a:extLst>
              </a:tr>
              <a:tr h="350784">
                <a:tc>
                  <a:txBody>
                    <a:bodyPr/>
                    <a:lstStyle/>
                    <a:p>
                      <a:pPr algn="ctr" rtl="0"/>
                      <a:r>
                        <a:rPr lang="fr-FR" sz="1100"/>
                        <a:t>11.1.5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Network, Host and Broadcast Addresses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1049020341"/>
                  </a:ext>
                </a:extLst>
              </a:tr>
              <a:tr h="350784">
                <a:tc>
                  <a:txBody>
                    <a:bodyPr/>
                    <a:lstStyle/>
                    <a:p>
                      <a:pPr algn="ctr" rtl="0"/>
                      <a:r>
                        <a:rPr lang="fr-FR" sz="1100"/>
                        <a:t>11.1.7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ANDing to Determine the Network Address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38039395"/>
                  </a:ext>
                </a:extLst>
              </a:tr>
              <a:tr h="350784">
                <a:tc>
                  <a:txBody>
                    <a:bodyPr/>
                    <a:lstStyle/>
                    <a:p>
                      <a:pPr algn="ctr" rtl="0"/>
                      <a:r>
                        <a:rPr lang="fr-FR" sz="1100"/>
                        <a:t>11.1.8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rtl="0"/>
                      <a:r>
                        <a:rPr lang="fr-FR" sz="1100"/>
                        <a:t>IPv4 Address Structure</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10001"/>
                  </a:ext>
                </a:extLst>
              </a:tr>
              <a:tr h="350784">
                <a:tc>
                  <a:txBody>
                    <a:bodyPr/>
                    <a:lstStyle/>
                    <a:p>
                      <a:pPr algn="ctr" rtl="0"/>
                      <a:r>
                        <a:rPr lang="fr-FR" sz="1100"/>
                        <a:t>11.2.4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Unicast, Broadcast, or Multicast</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2582900979"/>
                  </a:ext>
                </a:extLst>
              </a:tr>
              <a:tr h="350784">
                <a:tc>
                  <a:txBody>
                    <a:bodyPr/>
                    <a:lstStyle/>
                    <a:p>
                      <a:pPr algn="ctr" rtl="0"/>
                      <a:r>
                        <a:rPr lang="fr-FR" sz="1100"/>
                        <a:t>11.3.3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a:ln>
                            <a:noFill/>
                          </a:ln>
                          <a:solidFill>
                            <a:srgbClr val="58585B"/>
                          </a:solidFill>
                          <a:effectLst/>
                          <a:uLnTx/>
                          <a:uFillTx/>
                          <a:latin typeface="Arial"/>
                          <a:ea typeface="+mn-ea"/>
                          <a:cs typeface="+mn-cs"/>
                        </a:rPr>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Pass or Block IPv4 Addresses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3522544737"/>
                  </a:ext>
                </a:extLst>
              </a:tr>
              <a:tr h="350784">
                <a:tc>
                  <a:txBody>
                    <a:bodyPr/>
                    <a:lstStyle/>
                    <a:p>
                      <a:pPr algn="ctr" rtl="0"/>
                      <a:r>
                        <a:rPr lang="fr-FR" sz="1100"/>
                        <a:t>11.3.7</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a:ln>
                            <a:noFill/>
                          </a:ln>
                          <a:solidFill>
                            <a:srgbClr val="58585B"/>
                          </a:solidFill>
                          <a:effectLst/>
                          <a:uLnTx/>
                          <a:uFillTx/>
                          <a:latin typeface="Arial"/>
                          <a:ea typeface="+mn-ea"/>
                          <a:cs typeface="+mn-cs"/>
                        </a:rPr>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Public or Private IPv4 Address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3001172460"/>
                  </a:ext>
                </a:extLst>
              </a:tr>
              <a:tr h="350784">
                <a:tc>
                  <a:txBody>
                    <a:bodyPr/>
                    <a:lstStyle/>
                    <a:p>
                      <a:pPr algn="ctr" rtl="0"/>
                      <a:r>
                        <a:rPr lang="fr-FR" sz="1100"/>
                        <a:t>11.3.8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Types of IPv4 Addresses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322206681"/>
                  </a:ext>
                </a:extLst>
              </a:tr>
              <a:tr h="350784">
                <a:tc>
                  <a:txBody>
                    <a:bodyPr/>
                    <a:lstStyle/>
                    <a:p>
                      <a:pPr algn="ctr" rtl="0"/>
                      <a:r>
                        <a:rPr lang="fr-FR" sz="1100"/>
                        <a:t>11.4.4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Network Segmentation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529209024"/>
                  </a:ext>
                </a:extLst>
              </a:tr>
              <a:tr h="350784">
                <a:tc>
                  <a:txBody>
                    <a:bodyPr/>
                    <a:lstStyle/>
                    <a:p>
                      <a:pPr algn="ctr" rtl="0"/>
                      <a:r>
                        <a:rPr lang="fr-FR" sz="1100" kern="1200">
                          <a:solidFill>
                            <a:schemeClr val="dk1"/>
                          </a:solidFill>
                          <a:latin typeface="+mn-lt"/>
                          <a:ea typeface="+mn-ea"/>
                          <a:cs typeface="+mn-cs"/>
                        </a:rPr>
                        <a:t>11.5.3</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The Subnet Mask</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587265571"/>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a:r>
              <a:rPr lang="fr-FR"/>
              <a:t>Module 11: Activities (Cont.)</a:t>
            </a:r>
          </a:p>
        </p:txBody>
      </p:sp>
      <p:sp>
        <p:nvSpPr>
          <p:cNvPr id="6147" name="Rectangle 34"/>
          <p:cNvSpPr>
            <a:spLocks noGrp="1" noChangeArrowheads="1"/>
          </p:cNvSpPr>
          <p:nvPr>
            <p:ph idx="1"/>
          </p:nvPr>
        </p:nvSpPr>
        <p:spPr>
          <a:xfrm>
            <a:off x="144065" y="798945"/>
            <a:ext cx="8853286" cy="281056"/>
          </a:xfrm>
        </p:spPr>
        <p:txBody>
          <a:bodyPr/>
          <a:lstStyle/>
          <a:p>
            <a:pPr rtl="0">
              <a:buFont typeface="Arial" panose="020B0604020202020204" pitchFamily="34" charset="0"/>
              <a:buChar char="•"/>
            </a:pPr>
            <a:r>
              <a:rPr lang="fr-FR"/>
              <a:t>What activities are associated with this module?</a:t>
            </a:r>
          </a:p>
          <a:p>
            <a:endParaRPr lang="en-US" dirty="0"/>
          </a:p>
          <a:p>
            <a:endParaRPr lang="en-US" dirty="0"/>
          </a:p>
          <a:p>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344504215"/>
              </p:ext>
            </p:extLst>
          </p:nvPr>
        </p:nvGraphicFramePr>
        <p:xfrm>
          <a:off x="432000" y="1117708"/>
          <a:ext cx="8229418" cy="345849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xmlns:c15="http://schemas.microsoft.com/office/drawing/2012/chart" xmlns:c="http://schemas.openxmlformats.org/drawingml/2006/chart" xmlns="" val="20001"/>
                    </a:ext>
                  </a:extLst>
                </a:gridCol>
                <a:gridCol w="1857736">
                  <a:extLst>
                    <a:ext uri="{9D8B030D-6E8A-4147-A177-3AD203B41FA5}">
                      <a16:colId xmlns:a16="http://schemas.microsoft.com/office/drawing/2014/main" xmlns:c15="http://schemas.microsoft.com/office/drawing/2012/chart" xmlns:c="http://schemas.openxmlformats.org/drawingml/2006/chart" xmlns="" val="3156509146"/>
                    </a:ext>
                  </a:extLst>
                </a:gridCol>
                <a:gridCol w="4080076">
                  <a:extLst>
                    <a:ext uri="{9D8B030D-6E8A-4147-A177-3AD203B41FA5}">
                      <a16:colId xmlns:a16="http://schemas.microsoft.com/office/drawing/2014/main" xmlns:c15="http://schemas.microsoft.com/office/drawing/2012/chart" xmlns:c="http://schemas.openxmlformats.org/drawingml/2006/chart" xmlns="" val="20002"/>
                    </a:ext>
                  </a:extLst>
                </a:gridCol>
                <a:gridCol w="1161873">
                  <a:extLst>
                    <a:ext uri="{9D8B030D-6E8A-4147-A177-3AD203B41FA5}">
                      <a16:colId xmlns:a16="http://schemas.microsoft.com/office/drawing/2014/main" xmlns:c15="http://schemas.microsoft.com/office/drawing/2012/chart" xmlns:c="http://schemas.openxmlformats.org/drawingml/2006/chart" xmlns=""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10000"/>
                  </a:ext>
                </a:extLst>
              </a:tr>
              <a:tr h="350784">
                <a:tc>
                  <a:txBody>
                    <a:bodyPr/>
                    <a:lstStyle/>
                    <a:p>
                      <a:pPr algn="ctr" rtl="0"/>
                      <a:r>
                        <a:rPr lang="fr-FR" sz="1100" kern="1200">
                          <a:solidFill>
                            <a:schemeClr val="dk1"/>
                          </a:solidFill>
                          <a:latin typeface="+mn-lt"/>
                          <a:ea typeface="+mn-ea"/>
                          <a:cs typeface="+mn-cs"/>
                        </a:rPr>
                        <a:t>11.5.4</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Subnet with the Magic Number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3954574810"/>
                  </a:ext>
                </a:extLst>
              </a:tr>
              <a:tr h="350784">
                <a:tc>
                  <a:txBody>
                    <a:bodyPr/>
                    <a:lstStyle/>
                    <a:p>
                      <a:pPr algn="ctr" rtl="0"/>
                      <a:r>
                        <a:rPr lang="fr-FR" sz="1100" kern="1200">
                          <a:solidFill>
                            <a:schemeClr val="dk1"/>
                          </a:solidFill>
                          <a:latin typeface="+mn-lt"/>
                          <a:ea typeface="+mn-ea"/>
                          <a:cs typeface="+mn-cs"/>
                        </a:rPr>
                        <a:t>11.5.5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Subnet an IPv4 Network</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3057775100"/>
                  </a:ext>
                </a:extLst>
              </a:tr>
              <a:tr h="350784">
                <a:tc>
                  <a:txBody>
                    <a:bodyPr/>
                    <a:lstStyle/>
                    <a:p>
                      <a:pPr algn="ctr" rtl="0"/>
                      <a:r>
                        <a:rPr lang="fr-FR" sz="1100" kern="1200">
                          <a:solidFill>
                            <a:schemeClr val="dk1"/>
                          </a:solidFill>
                          <a:latin typeface="+mn-lt"/>
                          <a:ea typeface="+mn-ea"/>
                          <a:cs typeface="+mn-cs"/>
                        </a:rPr>
                        <a:t>11.6.4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Video</a:t>
                      </a:r>
                    </a:p>
                  </a:txBody>
                  <a:tcPr marL="68580" marR="68580" marT="34290" marB="34290" anchor="ctr"/>
                </a:tc>
                <a:tc>
                  <a:txBody>
                    <a:bodyPr/>
                    <a:lstStyle/>
                    <a:p>
                      <a:pPr rtl="0"/>
                      <a:r>
                        <a:rPr lang="fr-FR" sz="1100" kern="1200">
                          <a:solidFill>
                            <a:schemeClr val="dk1"/>
                          </a:solidFill>
                          <a:latin typeface="+mn-lt"/>
                          <a:ea typeface="+mn-ea"/>
                          <a:cs typeface="+mn-cs"/>
                        </a:rPr>
                        <a:t>Subnet Across Multiple Octets</a:t>
                      </a:r>
                    </a:p>
                  </a:txBody>
                  <a:tcPr marL="68580" marR="68580" marT="34290" marB="34290" anchor="ctr"/>
                </a:tc>
                <a:tc>
                  <a:txBody>
                    <a:bodyPr/>
                    <a:lstStyle/>
                    <a:p>
                      <a:pPr rtl="0"/>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61874528"/>
                  </a:ext>
                </a:extLst>
              </a:tr>
              <a:tr h="350784">
                <a:tc>
                  <a:txBody>
                    <a:bodyPr/>
                    <a:lstStyle/>
                    <a:p>
                      <a:pPr algn="ctr" rtl="0"/>
                      <a:r>
                        <a:rPr lang="fr-FR" sz="1100" kern="1200">
                          <a:solidFill>
                            <a:schemeClr val="dk1"/>
                          </a:solidFill>
                          <a:latin typeface="+mn-lt"/>
                          <a:ea typeface="+mn-ea"/>
                          <a:cs typeface="+mn-cs"/>
                        </a:rPr>
                        <a:t>11.6.5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Activity</a:t>
                      </a:r>
                    </a:p>
                  </a:txBody>
                  <a:tcPr marL="68580" marR="68580" marT="34290" marB="34290" anchor="ctr"/>
                </a:tc>
                <a:tc>
                  <a:txBody>
                    <a:bodyPr/>
                    <a:lstStyle/>
                    <a:p>
                      <a:pPr rtl="0"/>
                      <a:r>
                        <a:rPr lang="fr-FR" sz="1100" kern="1200">
                          <a:solidFill>
                            <a:schemeClr val="dk1"/>
                          </a:solidFill>
                          <a:latin typeface="+mn-lt"/>
                          <a:ea typeface="+mn-ea"/>
                          <a:cs typeface="+mn-cs"/>
                        </a:rPr>
                        <a:t>Calculate the Subnet Mask</a:t>
                      </a:r>
                    </a:p>
                  </a:txBody>
                  <a:tcPr marL="68580" marR="68580" marT="34290" marB="34290" anchor="ctr"/>
                </a:tc>
                <a:tc>
                  <a:txBody>
                    <a:bodyPr/>
                    <a:lstStyle/>
                    <a:p>
                      <a:pPr rtl="0"/>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336677826"/>
                  </a:ext>
                </a:extLst>
              </a:tr>
              <a:tr h="350784">
                <a:tc>
                  <a:txBody>
                    <a:bodyPr/>
                    <a:lstStyle/>
                    <a:p>
                      <a:pPr algn="ctr" rtl="0"/>
                      <a:r>
                        <a:rPr lang="fr-FR" sz="1100" kern="1200">
                          <a:solidFill>
                            <a:schemeClr val="dk1"/>
                          </a:solidFill>
                          <a:latin typeface="+mn-lt"/>
                          <a:ea typeface="+mn-ea"/>
                          <a:cs typeface="+mn-cs"/>
                        </a:rPr>
                        <a:t>11.6.6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Calculate IPv4 Subnets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2582900979"/>
                  </a:ext>
                </a:extLst>
              </a:tr>
              <a:tr h="350784">
                <a:tc>
                  <a:txBody>
                    <a:bodyPr/>
                    <a:lstStyle/>
                    <a:p>
                      <a:pPr algn="ctr" rtl="0"/>
                      <a:r>
                        <a:rPr lang="fr-FR" sz="1100" kern="1200">
                          <a:solidFill>
                            <a:schemeClr val="dk1"/>
                          </a:solidFill>
                          <a:latin typeface="+mn-lt"/>
                          <a:ea typeface="+mn-ea"/>
                          <a:cs typeface="+mn-cs"/>
                        </a:rPr>
                        <a:t>11.7.4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Determine the Number of Bits to Borrow</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3522544737"/>
                  </a:ext>
                </a:extLst>
              </a:tr>
              <a:tr h="350784">
                <a:tc>
                  <a:txBody>
                    <a:bodyPr/>
                    <a:lstStyle/>
                    <a:p>
                      <a:pPr algn="ctr" rtl="0"/>
                      <a:r>
                        <a:rPr lang="fr-FR" sz="1100" kern="1200">
                          <a:solidFill>
                            <a:schemeClr val="dk1"/>
                          </a:solidFill>
                          <a:latin typeface="+mn-lt"/>
                          <a:ea typeface="+mn-ea"/>
                          <a:cs typeface="+mn-cs"/>
                        </a:rPr>
                        <a:t>11.7.5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Subnetting Scenario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3001172460"/>
                  </a:ext>
                </a:extLst>
              </a:tr>
              <a:tr h="350784">
                <a:tc>
                  <a:txBody>
                    <a:bodyPr/>
                    <a:lstStyle/>
                    <a:p>
                      <a:pPr algn="ctr" rtl="0"/>
                      <a:r>
                        <a:rPr lang="fr-FR" sz="1100" kern="1200">
                          <a:solidFill>
                            <a:schemeClr val="dk1"/>
                          </a:solidFill>
                          <a:latin typeface="+mn-lt"/>
                          <a:ea typeface="+mn-ea"/>
                          <a:cs typeface="+mn-cs"/>
                        </a:rPr>
                        <a:t>11.8.1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VLSM Basics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4005649858"/>
                  </a:ext>
                </a:extLst>
              </a:tr>
              <a:tr h="350784">
                <a:tc>
                  <a:txBody>
                    <a:bodyPr/>
                    <a:lstStyle/>
                    <a:p>
                      <a:pPr algn="ctr" rtl="0"/>
                      <a:r>
                        <a:rPr lang="fr-FR" sz="1100" kern="1200">
                          <a:solidFill>
                            <a:schemeClr val="dk1"/>
                          </a:solidFill>
                          <a:latin typeface="+mn-lt"/>
                          <a:ea typeface="+mn-ea"/>
                          <a:cs typeface="+mn-cs"/>
                        </a:rPr>
                        <a:t>11.8.2</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VLSM Example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2958805830"/>
                  </a:ext>
                </a:extLst>
              </a:tr>
            </a:tbl>
          </a:graphicData>
        </a:graphic>
      </p:graphicFrame>
    </p:spTree>
    <p:custDataLst>
      <p:tags r:id="rId1"/>
    </p:custDataLst>
    <p:extLst>
      <p:ext uri="{BB962C8B-B14F-4D97-AF65-F5344CB8AC3E}">
        <p14:creationId xmlns:p14="http://schemas.microsoft.com/office/powerpoint/2010/main" val="423543700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a:r>
              <a:rPr lang="fr-FR"/>
              <a:t>Module 11: Activities (Cont.)</a:t>
            </a:r>
          </a:p>
        </p:txBody>
      </p:sp>
      <p:sp>
        <p:nvSpPr>
          <p:cNvPr id="6147" name="Rectangle 34"/>
          <p:cNvSpPr>
            <a:spLocks noGrp="1" noChangeArrowheads="1"/>
          </p:cNvSpPr>
          <p:nvPr>
            <p:ph idx="1"/>
          </p:nvPr>
        </p:nvSpPr>
        <p:spPr>
          <a:xfrm>
            <a:off x="144065" y="798945"/>
            <a:ext cx="8853286" cy="281056"/>
          </a:xfrm>
        </p:spPr>
        <p:txBody>
          <a:bodyPr/>
          <a:lstStyle/>
          <a:p>
            <a:pPr rtl="0">
              <a:buFont typeface="Arial" panose="020B0604020202020204" pitchFamily="34" charset="0"/>
              <a:buChar char="•"/>
            </a:pPr>
            <a:r>
              <a:rPr lang="fr-FR"/>
              <a:t>What activities are associated with this module?</a:t>
            </a:r>
          </a:p>
          <a:p>
            <a:endParaRPr lang="en-US" dirty="0"/>
          </a:p>
          <a:p>
            <a:endParaRPr lang="en-US" dirty="0"/>
          </a:p>
          <a:p>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852411438"/>
              </p:ext>
            </p:extLst>
          </p:nvPr>
        </p:nvGraphicFramePr>
        <p:xfrm>
          <a:off x="432000" y="1127135"/>
          <a:ext cx="8229418" cy="170457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xmlns:c15="http://schemas.microsoft.com/office/drawing/2012/chart" xmlns:c="http://schemas.openxmlformats.org/drawingml/2006/chart" xmlns="" val="20001"/>
                    </a:ext>
                  </a:extLst>
                </a:gridCol>
                <a:gridCol w="1857736">
                  <a:extLst>
                    <a:ext uri="{9D8B030D-6E8A-4147-A177-3AD203B41FA5}">
                      <a16:colId xmlns:a16="http://schemas.microsoft.com/office/drawing/2014/main" xmlns:c15="http://schemas.microsoft.com/office/drawing/2012/chart" xmlns:c="http://schemas.openxmlformats.org/drawingml/2006/chart" xmlns="" val="3156509146"/>
                    </a:ext>
                  </a:extLst>
                </a:gridCol>
                <a:gridCol w="4080076">
                  <a:extLst>
                    <a:ext uri="{9D8B030D-6E8A-4147-A177-3AD203B41FA5}">
                      <a16:colId xmlns:a16="http://schemas.microsoft.com/office/drawing/2014/main" xmlns:c15="http://schemas.microsoft.com/office/drawing/2012/chart" xmlns:c="http://schemas.openxmlformats.org/drawingml/2006/chart" xmlns="" val="20002"/>
                    </a:ext>
                  </a:extLst>
                </a:gridCol>
                <a:gridCol w="1161873">
                  <a:extLst>
                    <a:ext uri="{9D8B030D-6E8A-4147-A177-3AD203B41FA5}">
                      <a16:colId xmlns:a16="http://schemas.microsoft.com/office/drawing/2014/main" xmlns:c15="http://schemas.microsoft.com/office/drawing/2012/chart" xmlns:c="http://schemas.openxmlformats.org/drawingml/2006/chart" xmlns=""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10000"/>
                  </a:ext>
                </a:extLst>
              </a:tr>
              <a:tr h="350784">
                <a:tc>
                  <a:txBody>
                    <a:bodyPr/>
                    <a:lstStyle/>
                    <a:p>
                      <a:pPr algn="ctr" rtl="0"/>
                      <a:r>
                        <a:rPr lang="fr-FR" sz="1100" kern="1200">
                          <a:solidFill>
                            <a:schemeClr val="dk1"/>
                          </a:solidFill>
                          <a:latin typeface="+mn-lt"/>
                          <a:ea typeface="+mn-ea"/>
                          <a:cs typeface="+mn-cs"/>
                        </a:rPr>
                        <a:t>11.8.6</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VLSM Practice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322206681"/>
                  </a:ext>
                </a:extLst>
              </a:tr>
              <a:tr h="350784">
                <a:tc>
                  <a:txBody>
                    <a:bodyPr/>
                    <a:lstStyle/>
                    <a:p>
                      <a:pPr algn="ctr" rtl="0"/>
                      <a:r>
                        <a:rPr lang="fr-FR" sz="1100" kern="1200">
                          <a:solidFill>
                            <a:schemeClr val="dk1"/>
                          </a:solidFill>
                          <a:latin typeface="+mn-lt"/>
                          <a:ea typeface="+mn-ea"/>
                          <a:cs typeface="+mn-cs"/>
                        </a:rPr>
                        <a:t>11.9.3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VLSM Design and Implementation Practice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3406068602"/>
                  </a:ext>
                </a:extLst>
              </a:tr>
              <a:tr h="350784">
                <a:tc>
                  <a:txBody>
                    <a:bodyPr/>
                    <a:lstStyle/>
                    <a:p>
                      <a:pPr marL="0" algn="ctr" defTabSz="685777" rtl="0" eaLnBrk="1" latinLnBrk="0" hangingPunct="1"/>
                      <a:r>
                        <a:rPr lang="fr-FR" sz="1100" kern="1200">
                          <a:solidFill>
                            <a:schemeClr val="dk1"/>
                          </a:solidFill>
                          <a:latin typeface="+mn-lt"/>
                          <a:ea typeface="+mn-ea"/>
                          <a:cs typeface="+mn-cs"/>
                        </a:rPr>
                        <a:t>11.10.1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Design and Implement a VLSM Addressing Scheme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3514539205"/>
                  </a:ext>
                </a:extLst>
              </a:tr>
              <a:tr h="350784">
                <a:tc>
                  <a:txBody>
                    <a:bodyPr/>
                    <a:lstStyle/>
                    <a:p>
                      <a:pPr marL="0" algn="ctr" defTabSz="685777" rtl="0" eaLnBrk="1" latinLnBrk="0" hangingPunct="1"/>
                      <a:r>
                        <a:rPr lang="fr-FR" sz="1100" kern="1200">
                          <a:solidFill>
                            <a:schemeClr val="dk1"/>
                          </a:solidFill>
                          <a:latin typeface="+mn-lt"/>
                          <a:ea typeface="+mn-ea"/>
                          <a:cs typeface="+mn-cs"/>
                        </a:rPr>
                        <a:t>11.10.2</a:t>
                      </a:r>
                    </a:p>
                  </a:txBody>
                  <a:tcPr marL="68580" marR="68580" marT="34290" marB="34290" anchor="ctr"/>
                </a:tc>
                <a:tc>
                  <a:txBody>
                    <a:bodyPr/>
                    <a:lstStyle/>
                    <a:p>
                      <a:pPr marL="0" marR="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kern="1200">
                          <a:solidFill>
                            <a:schemeClr val="dk1"/>
                          </a:solidFill>
                          <a:latin typeface="+mn-lt"/>
                          <a:ea typeface="+mn-ea"/>
                          <a:cs typeface="+mn-cs"/>
                        </a:rPr>
                        <a:t>Design and Implement a VLSM Addressing Scheme</a:t>
                      </a:r>
                    </a:p>
                  </a:txBody>
                  <a:tcPr marL="68580" marR="68580" marT="34290" marB="34290" anchor="ctr"/>
                </a:tc>
                <a:tc>
                  <a:txBody>
                    <a:bodyPr/>
                    <a:lstStyle/>
                    <a:p>
                      <a:pPr marL="0" algn="l" defTabSz="685777" rtl="0" eaLnBrk="1" latinLnBrk="0" hangingPunct="1"/>
                      <a:r>
                        <a:rPr lang="fr-FR" sz="1100" kern="1200">
                          <a:solidFill>
                            <a:schemeClr val="dk1"/>
                          </a:solidFill>
                          <a:latin typeface="+mn-lt"/>
                          <a:ea typeface="+mn-ea"/>
                          <a:cs typeface="+mn-cs"/>
                        </a:rPr>
                        <a:t>Recommended</a:t>
                      </a:r>
                    </a:p>
                  </a:txBody>
                  <a:tcPr marL="68580" marR="68580" marT="34290" marB="34290" anchor="ctr"/>
                </a:tc>
                <a:extLst>
                  <a:ext uri="{0D108BD9-81ED-4DB2-BD59-A6C34878D82A}">
                    <a16:rowId xmlns:a16="http://schemas.microsoft.com/office/drawing/2014/main" xmlns:c15="http://schemas.microsoft.com/office/drawing/2012/chart" xmlns:c="http://schemas.openxmlformats.org/drawingml/2006/chart" xmlns="" val="631969203"/>
                  </a:ext>
                </a:extLst>
              </a:tr>
            </a:tbl>
          </a:graphicData>
        </a:graphic>
      </p:graphicFrame>
    </p:spTree>
    <p:custDataLst>
      <p:tags r:id="rId1"/>
    </p:custDataLst>
    <p:extLst>
      <p:ext uri="{BB962C8B-B14F-4D97-AF65-F5344CB8AC3E}">
        <p14:creationId xmlns:p14="http://schemas.microsoft.com/office/powerpoint/2010/main" val="356799509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11: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fr-FR" sz="1600"/>
              <a:t>Prior to teaching Module 11, the instructor should:</a:t>
            </a:r>
          </a:p>
          <a:p>
            <a:pPr rtl="0" eaLnBrk="1" hangingPunct="1">
              <a:lnSpc>
                <a:spcPct val="85000"/>
              </a:lnSpc>
              <a:spcBef>
                <a:spcPct val="30000"/>
              </a:spcBef>
              <a:buFont typeface="Arial" panose="020B0604020202020204" pitchFamily="34" charset="0"/>
              <a:buChar char="•"/>
            </a:pPr>
            <a:r>
              <a:rPr lang="fr-FR" sz="1600"/>
              <a:t>Review the activities and assessments for this module.</a:t>
            </a:r>
          </a:p>
          <a:p>
            <a:pPr rtl="0" eaLnBrk="1" hangingPunct="1">
              <a:lnSpc>
                <a:spcPct val="85000"/>
              </a:lnSpc>
              <a:spcBef>
                <a:spcPct val="30000"/>
              </a:spcBef>
              <a:buFont typeface="Arial" panose="020B0604020202020204" pitchFamily="34" charset="0"/>
              <a:buChar char="•"/>
            </a:pPr>
            <a:r>
              <a:rPr lang="fr-FR" sz="1600"/>
              <a:t>Try to include as many questions as possible to keep students engaged during classroom presentation.</a:t>
            </a:r>
          </a:p>
          <a:p>
            <a:pPr marL="0" indent="0" rtl="0" eaLnBrk="1" hangingPunct="1">
              <a:lnSpc>
                <a:spcPct val="85000"/>
              </a:lnSpc>
              <a:spcBef>
                <a:spcPct val="30000"/>
              </a:spcBef>
              <a:buNone/>
            </a:pPr>
            <a:r>
              <a:rPr lang="fr-FR" sz="1600"/>
              <a:t>Topic 11.1</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How does a router identify the network and host portions of an IP address?</a:t>
            </a:r>
          </a:p>
          <a:p>
            <a:pPr lvl="2" rtl="0">
              <a:lnSpc>
                <a:spcPct val="85000"/>
              </a:lnSpc>
              <a:spcBef>
                <a:spcPct val="30000"/>
              </a:spcBef>
            </a:pPr>
            <a:r>
              <a:rPr lang="fr-FR" sz="1600"/>
              <a:t>Can you explain how the IPv4 subnet mask and the IPv6 prefix length are used to identify the network and host portions using the ANDing process.</a:t>
            </a:r>
          </a:p>
          <a:p>
            <a:pPr marL="0" indent="0" rtl="0">
              <a:lnSpc>
                <a:spcPct val="85000"/>
              </a:lnSpc>
              <a:spcBef>
                <a:spcPct val="30000"/>
              </a:spcBef>
              <a:buNone/>
            </a:pPr>
            <a:r>
              <a:rPr lang="fr-FR" sz="1600"/>
              <a:t>Topic 11.2</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Can you provide an example of unicast, broadcast, and multicast communication?</a:t>
            </a:r>
          </a:p>
          <a:p>
            <a:pPr eaLnBrk="1" hangingPunct="1">
              <a:lnSpc>
                <a:spcPct val="85000"/>
              </a:lnSpc>
              <a:spcBef>
                <a:spcPct val="30000"/>
              </a:spcBef>
            </a:pPr>
            <a:endParaRPr lang="en-US" sz="1400"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11: Best Practices (Cont.)</a:t>
            </a:r>
          </a:p>
        </p:txBody>
      </p:sp>
      <p:sp>
        <p:nvSpPr>
          <p:cNvPr id="11266" name="Rectangle 34"/>
          <p:cNvSpPr>
            <a:spLocks noGrp="1" noChangeArrowheads="1"/>
          </p:cNvSpPr>
          <p:nvPr>
            <p:ph idx="1"/>
          </p:nvPr>
        </p:nvSpPr>
        <p:spPr>
          <a:xfrm>
            <a:off x="145357" y="628083"/>
            <a:ext cx="8853286" cy="4155319"/>
          </a:xfrm>
        </p:spPr>
        <p:txBody>
          <a:bodyPr/>
          <a:lstStyle/>
          <a:p>
            <a:pPr marL="0" indent="0" rtl="0" eaLnBrk="1" hangingPunct="1">
              <a:lnSpc>
                <a:spcPct val="85000"/>
              </a:lnSpc>
              <a:spcBef>
                <a:spcPct val="30000"/>
              </a:spcBef>
              <a:buNone/>
            </a:pPr>
            <a:r>
              <a:rPr lang="fr-FR" sz="1600"/>
              <a:t>Topic 11.3</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What kind of address are they using when they are accessing the internet?</a:t>
            </a:r>
          </a:p>
          <a:p>
            <a:pPr lvl="2" rtl="0">
              <a:lnSpc>
                <a:spcPct val="85000"/>
              </a:lnSpc>
              <a:spcBef>
                <a:spcPct val="30000"/>
              </a:spcBef>
            </a:pPr>
            <a:r>
              <a:rPr lang="fr-FR" sz="1600"/>
              <a:t>Why is it that the subnet mask field automatically populates itself with a 255.0.0.0, 255.255.0.0, or 255.255.255.0 subnet mask when you manually assign a Windows host an IP address?</a:t>
            </a:r>
          </a:p>
          <a:p>
            <a:pPr marL="0" indent="0" rtl="0">
              <a:lnSpc>
                <a:spcPct val="85000"/>
              </a:lnSpc>
              <a:spcBef>
                <a:spcPct val="30000"/>
              </a:spcBef>
              <a:buNone/>
            </a:pPr>
            <a:r>
              <a:rPr lang="fr-FR" sz="1600"/>
              <a:t>Topic 11.4</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Can you provide and example of a broadcast domain using people and rooms?</a:t>
            </a:r>
          </a:p>
          <a:p>
            <a:pPr lvl="2" rtl="0">
              <a:lnSpc>
                <a:spcPct val="85000"/>
              </a:lnSpc>
              <a:spcBef>
                <a:spcPct val="30000"/>
              </a:spcBef>
            </a:pPr>
            <a:r>
              <a:rPr lang="fr-FR" sz="1600"/>
              <a:t>Can you provide examples of how we can group devices and services into subnets?</a:t>
            </a:r>
          </a:p>
          <a:p>
            <a:pPr marL="0" indent="0">
              <a:lnSpc>
                <a:spcPct val="85000"/>
              </a:lnSpc>
              <a:spcBef>
                <a:spcPct val="30000"/>
              </a:spcBef>
              <a:buNone/>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11: Best Practices (Cont.)</a:t>
            </a:r>
          </a:p>
        </p:txBody>
      </p:sp>
      <p:sp>
        <p:nvSpPr>
          <p:cNvPr id="11266" name="Rectangle 34"/>
          <p:cNvSpPr>
            <a:spLocks noGrp="1" noChangeArrowheads="1"/>
          </p:cNvSpPr>
          <p:nvPr>
            <p:ph idx="1"/>
          </p:nvPr>
        </p:nvSpPr>
        <p:spPr>
          <a:xfrm>
            <a:off x="145357" y="637511"/>
            <a:ext cx="8853286" cy="4000478"/>
          </a:xfrm>
        </p:spPr>
        <p:txBody>
          <a:bodyPr/>
          <a:lstStyle/>
          <a:p>
            <a:pPr marL="0" indent="0" rtl="0">
              <a:lnSpc>
                <a:spcPct val="85000"/>
              </a:lnSpc>
              <a:spcBef>
                <a:spcPct val="30000"/>
              </a:spcBef>
              <a:buNone/>
            </a:pPr>
            <a:r>
              <a:rPr lang="fr-FR" sz="1600"/>
              <a:t>Topic 11.5</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Can you provide an example of subnetting using a pizza? Subnet (i.e., divide) it into appropriate sized slices.</a:t>
            </a:r>
          </a:p>
          <a:p>
            <a:pPr lvl="2" rtl="0">
              <a:lnSpc>
                <a:spcPct val="85000"/>
              </a:lnSpc>
              <a:spcBef>
                <a:spcPct val="30000"/>
              </a:spcBef>
            </a:pPr>
            <a:r>
              <a:rPr lang="fr-FR" sz="1600"/>
              <a:t>Can you explain how to subnet a /24 network address?</a:t>
            </a:r>
          </a:p>
          <a:p>
            <a:pPr marL="0" indent="0" rtl="0">
              <a:lnSpc>
                <a:spcPct val="85000"/>
              </a:lnSpc>
              <a:spcBef>
                <a:spcPct val="30000"/>
              </a:spcBef>
              <a:buNone/>
            </a:pPr>
            <a:r>
              <a:rPr lang="fr-FR" sz="1600"/>
              <a:t>Topic 11.6</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What kind of address are they using when they are accessing the internet?</a:t>
            </a:r>
          </a:p>
          <a:p>
            <a:pPr lvl="2" rtl="0">
              <a:lnSpc>
                <a:spcPct val="85000"/>
              </a:lnSpc>
              <a:spcBef>
                <a:spcPct val="30000"/>
              </a:spcBef>
            </a:pPr>
            <a:r>
              <a:rPr lang="fr-FR" sz="1600"/>
              <a:t>Why is it that the subnet mask field automatically populates itself with a 255.0.0.0, 255.255.0.0, or 255.255.255.0 subnet mask when you manually assign a Windows host an IP address?</a:t>
            </a:r>
          </a:p>
        </p:txBody>
      </p:sp>
    </p:spTree>
    <p:custDataLst>
      <p:tags r:id="rId1"/>
    </p:custDataLst>
    <p:extLst>
      <p:ext uri="{BB962C8B-B14F-4D97-AF65-F5344CB8AC3E}">
        <p14:creationId xmlns:p14="http://schemas.microsoft.com/office/powerpoint/2010/main" val="216071063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11: Best Practices (Cont.)</a:t>
            </a:r>
          </a:p>
        </p:txBody>
      </p:sp>
      <p:sp>
        <p:nvSpPr>
          <p:cNvPr id="11266" name="Rectangle 34"/>
          <p:cNvSpPr>
            <a:spLocks noGrp="1" noChangeArrowheads="1"/>
          </p:cNvSpPr>
          <p:nvPr>
            <p:ph idx="1"/>
          </p:nvPr>
        </p:nvSpPr>
        <p:spPr>
          <a:xfrm>
            <a:off x="145357" y="628083"/>
            <a:ext cx="8853286" cy="4155319"/>
          </a:xfrm>
        </p:spPr>
        <p:txBody>
          <a:bodyPr/>
          <a:lstStyle/>
          <a:p>
            <a:pPr marL="0" indent="0" rtl="0">
              <a:lnSpc>
                <a:spcPct val="85000"/>
              </a:lnSpc>
              <a:spcBef>
                <a:spcPct val="30000"/>
              </a:spcBef>
              <a:buNone/>
            </a:pPr>
            <a:r>
              <a:rPr lang="fr-FR" sz="1600"/>
              <a:t>Topic 11.7</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Can you explain why subnetting can waste host IP addresses? Using the pizza analogy, highlight how not everyone has the same hunger.  Maybe one person wants two or three slices while another wans half a slice. </a:t>
            </a:r>
          </a:p>
          <a:p>
            <a:pPr lvl="2" rtl="0">
              <a:lnSpc>
                <a:spcPct val="85000"/>
              </a:lnSpc>
              <a:spcBef>
                <a:spcPct val="30000"/>
              </a:spcBef>
            </a:pPr>
            <a:r>
              <a:rPr lang="fr-FR" sz="1600"/>
              <a:t>Ask how this problem could be solved.</a:t>
            </a:r>
          </a:p>
          <a:p>
            <a:pPr lvl="2" rtl="0">
              <a:lnSpc>
                <a:spcPct val="85000"/>
              </a:lnSpc>
              <a:spcBef>
                <a:spcPct val="30000"/>
              </a:spcBef>
            </a:pPr>
            <a:r>
              <a:rPr lang="fr-FR" sz="1600"/>
              <a:t>Ask how you this could be applied to subnetting.</a:t>
            </a:r>
          </a:p>
          <a:p>
            <a:pPr marL="0" indent="0" rtl="0">
              <a:lnSpc>
                <a:spcPct val="85000"/>
              </a:lnSpc>
              <a:spcBef>
                <a:spcPct val="30000"/>
              </a:spcBef>
              <a:buNone/>
            </a:pPr>
            <a:r>
              <a:rPr lang="fr-FR" sz="1600"/>
              <a:t>Topic 11.8</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Can you provide an example of VLSM using slices of pizza? Appropriate sized slices are cut based on need.</a:t>
            </a:r>
          </a:p>
          <a:p>
            <a:pPr lvl="2" rtl="0">
              <a:lnSpc>
                <a:spcPct val="85000"/>
              </a:lnSpc>
              <a:spcBef>
                <a:spcPct val="30000"/>
              </a:spcBef>
            </a:pPr>
            <a:r>
              <a:rPr lang="fr-FR" sz="1600"/>
              <a:t>Can you explain how VLSM could be applied to subnetting?</a:t>
            </a:r>
          </a:p>
        </p:txBody>
      </p:sp>
    </p:spTree>
    <p:custDataLst>
      <p:tags r:id="rId1"/>
    </p:custDataLst>
    <p:extLst>
      <p:ext uri="{BB962C8B-B14F-4D97-AF65-F5344CB8AC3E}">
        <p14:creationId xmlns:p14="http://schemas.microsoft.com/office/powerpoint/2010/main" val="155309727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11: Best Practices (Cont.)</a:t>
            </a:r>
          </a:p>
        </p:txBody>
      </p:sp>
      <p:sp>
        <p:nvSpPr>
          <p:cNvPr id="11266" name="Rectangle 34"/>
          <p:cNvSpPr>
            <a:spLocks noGrp="1" noChangeArrowheads="1"/>
          </p:cNvSpPr>
          <p:nvPr>
            <p:ph idx="1"/>
          </p:nvPr>
        </p:nvSpPr>
        <p:spPr>
          <a:xfrm>
            <a:off x="145357" y="628083"/>
            <a:ext cx="8853286" cy="4155319"/>
          </a:xfrm>
        </p:spPr>
        <p:txBody>
          <a:bodyPr/>
          <a:lstStyle/>
          <a:p>
            <a:pPr lvl="2">
              <a:lnSpc>
                <a:spcPct val="85000"/>
              </a:lnSpc>
              <a:spcBef>
                <a:spcPct val="30000"/>
              </a:spcBef>
            </a:pPr>
            <a:endParaRPr lang="en-US" sz="1600" dirty="0"/>
          </a:p>
          <a:p>
            <a:pPr marL="0" indent="0" rtl="0" eaLnBrk="1" hangingPunct="1">
              <a:lnSpc>
                <a:spcPct val="85000"/>
              </a:lnSpc>
              <a:spcBef>
                <a:spcPct val="30000"/>
              </a:spcBef>
              <a:buNone/>
            </a:pPr>
            <a:r>
              <a:rPr lang="fr-FR" sz="1600"/>
              <a:t>Topic 11.9</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Given a multi-site topology, can you design a scalable addressing scheme?</a:t>
            </a:r>
          </a:p>
          <a:p>
            <a:pPr lvl="2" rtl="0">
              <a:lnSpc>
                <a:spcPct val="85000"/>
              </a:lnSpc>
              <a:spcBef>
                <a:spcPct val="30000"/>
              </a:spcBef>
            </a:pPr>
            <a:r>
              <a:rPr lang="fr-FR" sz="1600"/>
              <a:t>Can you create a logical topology diagram and identify a scalable addressing scheme?</a:t>
            </a:r>
          </a:p>
        </p:txBody>
      </p:sp>
    </p:spTree>
    <p:custDataLst>
      <p:tags r:id="rId1"/>
    </p:custDataLst>
    <p:extLst>
      <p:ext uri="{BB962C8B-B14F-4D97-AF65-F5344CB8AC3E}">
        <p14:creationId xmlns:p14="http://schemas.microsoft.com/office/powerpoint/2010/main" val="325775429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32431" y="1520614"/>
            <a:ext cx="7133570" cy="1080143"/>
          </a:xfrm>
        </p:spPr>
        <p:txBody>
          <a:bodyPr/>
          <a:lstStyle/>
          <a:p>
            <a:pPr rtl="0"/>
            <a:r>
              <a:rPr lang="fr-FR" sz="4400" dirty="0">
                <a:solidFill>
                  <a:schemeClr val="accent5">
                    <a:lumMod val="40000"/>
                    <a:lumOff val="60000"/>
                  </a:schemeClr>
                </a:solidFill>
              </a:rPr>
              <a:t>Module 11: Adressage IPv4</a:t>
            </a:r>
          </a:p>
        </p:txBody>
      </p:sp>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Présentation des réseaux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fr-FR"/>
              <a:t>Objectifs du Module</a:t>
            </a:r>
          </a:p>
        </p:txBody>
      </p:sp>
      <p:sp>
        <p:nvSpPr>
          <p:cNvPr id="3" name="Rectangle 1">
            <a:extLst>
              <a:ext uri="{FF2B5EF4-FFF2-40B4-BE49-F238E27FC236}">
                <a16:creationId xmlns:a16="http://schemas.microsoft.com/office/drawing/2014/main" xmlns:c15="http://schemas.microsoft.com/office/drawing/2012/chart" xmlns:c="http://schemas.openxmlformats.org/drawingml/2006/chart" xmlns=""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Titre du module: </a:t>
            </a:r>
            <a:r>
              <a:rPr kumimoji="0" lang="fr-FR"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Adressage IPv4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rtl="0" eaLnBrk="0" hangingPunct="0"/>
            <a:r>
              <a:rPr kumimoji="0" lang="fr-FR"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Objectifs du Module</a:t>
            </a:r>
            <a:r>
              <a:rPr kumimoji="0" lang="fr-FR"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fr-FR" sz="1600" dirty="0">
                <a:latin typeface="+mn-lt"/>
                <a:ea typeface="Calibri" panose="020F0502020204030204" pitchFamily="34" charset="0"/>
                <a:cs typeface="Calibri" panose="020F0502020204030204" pitchFamily="34" charset="0"/>
              </a:rPr>
              <a:t>Calculer un schéma de sous-réseau IPv4 pour segmenter efficacement votre réseau.</a:t>
            </a:r>
          </a:p>
        </p:txBody>
      </p:sp>
      <p:graphicFrame>
        <p:nvGraphicFramePr>
          <p:cNvPr id="2" name="Table 1">
            <a:extLst>
              <a:ext uri="{FF2B5EF4-FFF2-40B4-BE49-F238E27FC236}">
                <a16:creationId xmlns:a16="http://schemas.microsoft.com/office/drawing/2014/main" xmlns:c15="http://schemas.microsoft.com/office/drawing/2012/chart" xmlns:c="http://schemas.openxmlformats.org/drawingml/2006/chart" xmlns="" id="{E974E1EB-2DBE-496F-B0B0-6C44227DA401}"/>
              </a:ext>
            </a:extLst>
          </p:cNvPr>
          <p:cNvGraphicFramePr>
            <a:graphicFrameLocks noGrp="1"/>
          </p:cNvGraphicFramePr>
          <p:nvPr>
            <p:extLst>
              <p:ext uri="{D42A27DB-BD31-4B8C-83A1-F6EECF244321}">
                <p14:modId xmlns:p14="http://schemas.microsoft.com/office/powerpoint/2010/main" val="1407469886"/>
              </p:ext>
            </p:extLst>
          </p:nvPr>
        </p:nvGraphicFramePr>
        <p:xfrm>
          <a:off x="407549" y="1814734"/>
          <a:ext cx="8328900" cy="2955260"/>
        </p:xfrm>
        <a:graphic>
          <a:graphicData uri="http://schemas.openxmlformats.org/drawingml/2006/table">
            <a:tbl>
              <a:tblPr firstRow="1" firstCol="1" bandRow="1">
                <a:tableStyleId>{5C22544A-7EE6-4342-B048-85BDC9FD1C3A}</a:tableStyleId>
              </a:tblPr>
              <a:tblGrid>
                <a:gridCol w="4120000">
                  <a:extLst>
                    <a:ext uri="{9D8B030D-6E8A-4147-A177-3AD203B41FA5}">
                      <a16:colId xmlns:a16="http://schemas.microsoft.com/office/drawing/2014/main" xmlns:c15="http://schemas.microsoft.com/office/drawing/2012/chart" xmlns:c="http://schemas.openxmlformats.org/drawingml/2006/chart" xmlns="" val="1523797708"/>
                    </a:ext>
                  </a:extLst>
                </a:gridCol>
                <a:gridCol w="4208900">
                  <a:extLst>
                    <a:ext uri="{9D8B030D-6E8A-4147-A177-3AD203B41FA5}">
                      <a16:colId xmlns:a16="http://schemas.microsoft.com/office/drawing/2014/main" xmlns:c15="http://schemas.microsoft.com/office/drawing/2012/chart" xmlns:c="http://schemas.openxmlformats.org/drawingml/2006/chart" xmlns="" val="2750207184"/>
                    </a:ext>
                  </a:extLst>
                </a:gridCol>
              </a:tblGrid>
              <a:tr h="216347">
                <a:tc>
                  <a:txBody>
                    <a:bodyPr/>
                    <a:lstStyle/>
                    <a:p>
                      <a:pPr marL="0" marR="0" rtl="0">
                        <a:lnSpc>
                          <a:spcPct val="107000"/>
                        </a:lnSpc>
                        <a:spcBef>
                          <a:spcPts val="0"/>
                        </a:spcBef>
                        <a:spcAft>
                          <a:spcPts val="0"/>
                        </a:spcAft>
                      </a:pPr>
                      <a:r>
                        <a:rPr lang="fr-FR" sz="1400" dirty="0">
                          <a:effectLst/>
                        </a:rPr>
                        <a:t>Titre du rubrique</a:t>
                      </a:r>
                    </a:p>
                  </a:txBody>
                  <a:tcPr marL="68580" marR="68580" marT="0" marB="0"/>
                </a:tc>
                <a:tc>
                  <a:txBody>
                    <a:bodyPr/>
                    <a:lstStyle/>
                    <a:p>
                      <a:pPr marL="0" marR="0" rtl="0">
                        <a:lnSpc>
                          <a:spcPct val="107000"/>
                        </a:lnSpc>
                        <a:spcBef>
                          <a:spcPts val="0"/>
                        </a:spcBef>
                        <a:spcAft>
                          <a:spcPts val="0"/>
                        </a:spcAft>
                      </a:pPr>
                      <a:r>
                        <a:rPr lang="fr-FR" sz="1400">
                          <a:effectLst/>
                        </a:rPr>
                        <a:t>Objectif du rubrique</a:t>
                      </a:r>
                    </a:p>
                  </a:txBody>
                  <a:tcPr marL="68580" marR="68580" marT="0" marB="0"/>
                </a:tc>
                <a:extLst>
                  <a:ext uri="{0D108BD9-81ED-4DB2-BD59-A6C34878D82A}">
                    <a16:rowId xmlns:a16="http://schemas.microsoft.com/office/drawing/2014/main" xmlns:c15="http://schemas.microsoft.com/office/drawing/2012/chart" xmlns:c="http://schemas.openxmlformats.org/drawingml/2006/chart" xmlns="" val="1874061904"/>
                  </a:ext>
                </a:extLst>
              </a:tr>
              <a:tr h="444151">
                <a:tc>
                  <a:txBody>
                    <a:bodyPr/>
                    <a:lstStyle/>
                    <a:p>
                      <a:pPr marL="0" marR="0" rtl="0">
                        <a:lnSpc>
                          <a:spcPct val="107000"/>
                        </a:lnSpc>
                        <a:spcBef>
                          <a:spcPts val="0"/>
                        </a:spcBef>
                        <a:spcAft>
                          <a:spcPts val="0"/>
                        </a:spcAft>
                      </a:pPr>
                      <a:r>
                        <a:rPr lang="fr-FR" sz="1400">
                          <a:effectLst/>
                          <a:latin typeface="+mn-lt"/>
                          <a:ea typeface="Calibri" panose="020F0502020204030204" pitchFamily="34" charset="0"/>
                          <a:cs typeface="Times New Roman" panose="02020603050405020304" pitchFamily="18" charset="0"/>
                        </a:rPr>
                        <a:t>Structure de l'adresse IPv4</a:t>
                      </a:r>
                    </a:p>
                  </a:txBody>
                  <a:tcPr marL="68580" marR="68580" marT="0" marB="0"/>
                </a:tc>
                <a:tc>
                  <a:txBody>
                    <a:bodyPr/>
                    <a:lstStyle/>
                    <a:p>
                      <a:pPr marL="0" marR="0" rtl="0">
                        <a:lnSpc>
                          <a:spcPct val="107000"/>
                        </a:lnSpc>
                        <a:spcBef>
                          <a:spcPts val="0"/>
                        </a:spcBef>
                        <a:spcAft>
                          <a:spcPts val="0"/>
                        </a:spcAft>
                      </a:pPr>
                      <a:r>
                        <a:rPr lang="fr-FR" sz="1400" kern="1200">
                          <a:solidFill>
                            <a:srgbClr val="000000"/>
                          </a:solidFill>
                          <a:effectLst/>
                          <a:latin typeface="+mn-lt"/>
                          <a:ea typeface="+mn-ea"/>
                          <a:cs typeface="+mn-cs"/>
                        </a:rPr>
                        <a:t>Décrire la structure d'une adresse IPv4, y compris la partie hôte, la partie réseau et le masque de sous-réseau.</a:t>
                      </a:r>
                    </a:p>
                  </a:txBody>
                  <a:tcPr marL="68580" marR="68580" marT="0" marB="0"/>
                </a:tc>
                <a:extLst>
                  <a:ext uri="{0D108BD9-81ED-4DB2-BD59-A6C34878D82A}">
                    <a16:rowId xmlns:a16="http://schemas.microsoft.com/office/drawing/2014/main" xmlns:c15="http://schemas.microsoft.com/office/drawing/2012/chart" xmlns:c="http://schemas.openxmlformats.org/drawingml/2006/chart" xmlns="" val="1646858405"/>
                  </a:ext>
                </a:extLst>
              </a:tr>
              <a:tr h="315930">
                <a:tc>
                  <a:txBody>
                    <a:bodyPr/>
                    <a:lstStyle/>
                    <a:p>
                      <a:pPr marL="0" marR="0" rtl="0">
                        <a:lnSpc>
                          <a:spcPct val="107000"/>
                        </a:lnSpc>
                        <a:spcBef>
                          <a:spcPts val="0"/>
                        </a:spcBef>
                        <a:spcAft>
                          <a:spcPts val="0"/>
                        </a:spcAft>
                      </a:pPr>
                      <a:r>
                        <a:rPr lang="fr-FR" sz="1400">
                          <a:effectLst/>
                          <a:latin typeface="+mn-lt"/>
                          <a:ea typeface="Calibri" panose="020F0502020204030204" pitchFamily="34" charset="0"/>
                          <a:cs typeface="Times New Roman" panose="02020603050405020304" pitchFamily="18" charset="0"/>
                        </a:rPr>
                        <a:t>Adresses IPv4 de monodiffusion, de diffusion et de multidiffusion</a:t>
                      </a:r>
                    </a:p>
                  </a:txBody>
                  <a:tcPr marL="68580" marR="68580" marT="0" marB="0"/>
                </a:tc>
                <a:tc>
                  <a:txBody>
                    <a:bodyPr/>
                    <a:lstStyle/>
                    <a:p>
                      <a:pPr marL="0" marR="0" rtl="0">
                        <a:lnSpc>
                          <a:spcPct val="107000"/>
                        </a:lnSpc>
                        <a:spcBef>
                          <a:spcPts val="0"/>
                        </a:spcBef>
                        <a:spcAft>
                          <a:spcPts val="0"/>
                        </a:spcAft>
                      </a:pPr>
                      <a:r>
                        <a:rPr lang="fr-FR" sz="1400" kern="1200">
                          <a:solidFill>
                            <a:srgbClr val="000000"/>
                          </a:solidFill>
                          <a:effectLst/>
                          <a:latin typeface="+mn-lt"/>
                          <a:ea typeface="+mn-ea"/>
                          <a:cs typeface="+mn-cs"/>
                        </a:rPr>
                        <a:t>Comparer les caractéristiques et les utilisations des adresses IPv4 de monodiffusion, de diffusion et de multidiffusion.</a:t>
                      </a:r>
                    </a:p>
                  </a:txBody>
                  <a:tcPr marL="68580" marR="68580" marT="0" marB="0"/>
                </a:tc>
                <a:extLst>
                  <a:ext uri="{0D108BD9-81ED-4DB2-BD59-A6C34878D82A}">
                    <a16:rowId xmlns:a16="http://schemas.microsoft.com/office/drawing/2014/main" xmlns:c15="http://schemas.microsoft.com/office/drawing/2012/chart" xmlns:c="http://schemas.openxmlformats.org/drawingml/2006/chart" xmlns="" val="1435904258"/>
                  </a:ext>
                </a:extLst>
              </a:tr>
              <a:tr h="444151">
                <a:tc>
                  <a:txBody>
                    <a:bodyPr/>
                    <a:lstStyle/>
                    <a:p>
                      <a:pPr marL="0" marR="0" rtl="0">
                        <a:lnSpc>
                          <a:spcPct val="107000"/>
                        </a:lnSpc>
                        <a:spcBef>
                          <a:spcPts val="0"/>
                        </a:spcBef>
                        <a:spcAft>
                          <a:spcPts val="0"/>
                        </a:spcAft>
                      </a:pPr>
                      <a:r>
                        <a:rPr lang="fr-FR" sz="1400">
                          <a:effectLst/>
                          <a:latin typeface="+mn-lt"/>
                          <a:ea typeface="Calibri" panose="020F0502020204030204" pitchFamily="34" charset="0"/>
                          <a:cs typeface="Times New Roman" panose="02020603050405020304" pitchFamily="18" charset="0"/>
                        </a:rPr>
                        <a:t>Les types d'adresses IPv4</a:t>
                      </a:r>
                    </a:p>
                  </a:txBody>
                  <a:tcPr marL="68580" marR="68580" marT="0" marB="0"/>
                </a:tc>
                <a:tc>
                  <a:txBody>
                    <a:bodyPr/>
                    <a:lstStyle/>
                    <a:p>
                      <a:pPr marL="0" marR="0" rtl="0">
                        <a:lnSpc>
                          <a:spcPct val="107000"/>
                        </a:lnSpc>
                        <a:spcBef>
                          <a:spcPts val="0"/>
                        </a:spcBef>
                        <a:spcAft>
                          <a:spcPts val="0"/>
                        </a:spcAft>
                      </a:pPr>
                      <a:r>
                        <a:rPr lang="fr-FR" sz="1400" kern="1200">
                          <a:solidFill>
                            <a:srgbClr val="000000"/>
                          </a:solidFill>
                          <a:effectLst/>
                          <a:latin typeface="+mn-lt"/>
                          <a:ea typeface="+mn-ea"/>
                          <a:cs typeface="+mn-cs"/>
                        </a:rPr>
                        <a:t>Expliquer les adresses IPv4 publiques, privées et réservées.</a:t>
                      </a:r>
                    </a:p>
                  </a:txBody>
                  <a:tcPr marL="68580" marR="68580" marT="0" marB="0"/>
                </a:tc>
                <a:extLst>
                  <a:ext uri="{0D108BD9-81ED-4DB2-BD59-A6C34878D82A}">
                    <a16:rowId xmlns:a16="http://schemas.microsoft.com/office/drawing/2014/main" xmlns:c15="http://schemas.microsoft.com/office/drawing/2012/chart" xmlns:c="http://schemas.openxmlformats.org/drawingml/2006/chart" xmlns="" val="131737215"/>
                  </a:ext>
                </a:extLst>
              </a:tr>
              <a:tr h="444151">
                <a:tc>
                  <a:txBody>
                    <a:bodyPr/>
                    <a:lstStyle/>
                    <a:p>
                      <a:pPr marL="0" marR="0" rtl="0">
                        <a:lnSpc>
                          <a:spcPct val="107000"/>
                        </a:lnSpc>
                        <a:spcBef>
                          <a:spcPts val="0"/>
                        </a:spcBef>
                        <a:spcAft>
                          <a:spcPts val="0"/>
                        </a:spcAft>
                      </a:pPr>
                      <a:r>
                        <a:rPr lang="fr-FR" sz="1400">
                          <a:effectLst/>
                          <a:latin typeface="+mn-lt"/>
                          <a:ea typeface="Calibri" panose="020F0502020204030204" pitchFamily="34" charset="0"/>
                          <a:cs typeface="Times New Roman" panose="02020603050405020304" pitchFamily="18" charset="0"/>
                        </a:rPr>
                        <a:t>Segmentation du réseau</a:t>
                      </a:r>
                    </a:p>
                  </a:txBody>
                  <a:tcPr marL="68580" marR="68580" marT="0" marB="0"/>
                </a:tc>
                <a:tc>
                  <a:txBody>
                    <a:bodyPr/>
                    <a:lstStyle/>
                    <a:p>
                      <a:pPr marL="0" marR="0" rtl="0">
                        <a:lnSpc>
                          <a:spcPct val="107000"/>
                        </a:lnSpc>
                        <a:spcBef>
                          <a:spcPts val="0"/>
                        </a:spcBef>
                        <a:spcAft>
                          <a:spcPts val="0"/>
                        </a:spcAft>
                      </a:pPr>
                      <a:r>
                        <a:rPr lang="fr-FR" sz="1400" kern="1200">
                          <a:solidFill>
                            <a:srgbClr val="000000"/>
                          </a:solidFill>
                          <a:effectLst/>
                          <a:latin typeface="+mn-lt"/>
                          <a:ea typeface="+mn-ea"/>
                          <a:cs typeface="+mn-cs"/>
                        </a:rPr>
                        <a:t>Expliquer comment la segmentation d'un réseau permet d'améliorer la communication.</a:t>
                      </a:r>
                    </a:p>
                  </a:txBody>
                  <a:tcPr marL="68580" marR="68580" marT="0" marB="0"/>
                </a:tc>
                <a:extLst>
                  <a:ext uri="{0D108BD9-81ED-4DB2-BD59-A6C34878D82A}">
                    <a16:rowId xmlns:a16="http://schemas.microsoft.com/office/drawing/2014/main" xmlns:c15="http://schemas.microsoft.com/office/drawing/2012/chart" xmlns:c="http://schemas.openxmlformats.org/drawingml/2006/chart" xmlns="" val="3818444524"/>
                  </a:ext>
                </a:extLst>
              </a:tr>
              <a:tr h="444151">
                <a:tc>
                  <a:txBody>
                    <a:bodyPr/>
                    <a:lstStyle/>
                    <a:p>
                      <a:pPr marL="0" marR="0" rtl="0">
                        <a:lnSpc>
                          <a:spcPct val="107000"/>
                        </a:lnSpc>
                        <a:spcBef>
                          <a:spcPts val="0"/>
                        </a:spcBef>
                        <a:spcAft>
                          <a:spcPts val="0"/>
                        </a:spcAft>
                      </a:pPr>
                      <a:r>
                        <a:rPr lang="fr-FR" sz="1400" dirty="0">
                          <a:effectLst/>
                          <a:latin typeface="+mn-lt"/>
                          <a:ea typeface="Calibri" panose="020F0502020204030204" pitchFamily="34" charset="0"/>
                          <a:cs typeface="Times New Roman" panose="02020603050405020304" pitchFamily="18" charset="0"/>
                        </a:rPr>
                        <a:t>Sous-réseau d'un réseau IPv4</a:t>
                      </a:r>
                    </a:p>
                  </a:txBody>
                  <a:tcPr marL="68580" marR="68580" marT="0" marB="0"/>
                </a:tc>
                <a:tc>
                  <a:txBody>
                    <a:bodyPr/>
                    <a:lstStyle/>
                    <a:p>
                      <a:pPr marL="0" marR="0" rtl="0">
                        <a:lnSpc>
                          <a:spcPct val="107000"/>
                        </a:lnSpc>
                        <a:spcBef>
                          <a:spcPts val="0"/>
                        </a:spcBef>
                        <a:spcAft>
                          <a:spcPts val="0"/>
                        </a:spcAft>
                      </a:pPr>
                      <a:r>
                        <a:rPr lang="fr-FR" sz="1400" kern="1200" dirty="0">
                          <a:solidFill>
                            <a:srgbClr val="000000"/>
                          </a:solidFill>
                          <a:effectLst/>
                          <a:latin typeface="+mn-lt"/>
                          <a:ea typeface="+mn-ea"/>
                          <a:cs typeface="+mn-cs"/>
                        </a:rPr>
                        <a:t>Calculer les sous-réseaux IPv4 pour un préfixe /24.</a:t>
                      </a:r>
                    </a:p>
                  </a:txBody>
                  <a:tcPr marL="68580" marR="68580" marT="0" marB="0"/>
                </a:tc>
                <a:extLst>
                  <a:ext uri="{0D108BD9-81ED-4DB2-BD59-A6C34878D82A}">
                    <a16:rowId xmlns:a16="http://schemas.microsoft.com/office/drawing/2014/main" xmlns:c15="http://schemas.microsoft.com/office/drawing/2012/chart" xmlns:c="http://schemas.openxmlformats.org/drawingml/2006/chart" xmlns="" val="1846877670"/>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0957" y="2414694"/>
            <a:ext cx="8498975" cy="929640"/>
          </a:xfrm>
        </p:spPr>
        <p:txBody>
          <a:bodyPr/>
          <a:lstStyle/>
          <a:p>
            <a:pPr rtl="0"/>
            <a:r>
              <a:rPr lang="fr-FR" dirty="0">
                <a:solidFill>
                  <a:schemeClr val="accent5">
                    <a:lumMod val="40000"/>
                    <a:lumOff val="60000"/>
                  </a:schemeClr>
                </a:solidFill>
              </a:rPr>
              <a:t>11.1 Structure de l'adresse IPv4</a:t>
            </a:r>
            <a:r>
              <a:rPr lang="en-US" dirty="0">
                <a:solidFill>
                  <a:schemeClr val="accent5">
                    <a:lumMod val="40000"/>
                    <a:lumOff val="60000"/>
                  </a:schemeClr>
                </a:solidFill>
              </a:rPr>
              <a:t/>
            </a:r>
            <a:br>
              <a:rPr lang="en-US"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07024" y="160866"/>
            <a:ext cx="8345488" cy="731837"/>
          </a:xfrm>
        </p:spPr>
        <p:txBody>
          <a:bodyPr/>
          <a:lstStyle/>
          <a:p>
            <a:pPr rtl="0"/>
            <a:r>
              <a:rPr lang="fr-FR" sz="1600" dirty="0"/>
              <a:t>La structure d'une adresse IPv4</a:t>
            </a:r>
            <a:r>
              <a:rPr lang="en-US" dirty="0"/>
              <a:t/>
            </a:r>
            <a:br>
              <a:rPr lang="en-US" dirty="0"/>
            </a:br>
            <a:r>
              <a:rPr lang="fr-FR" sz="2400" dirty="0"/>
              <a:t>Les parties réseau et hôte</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74304" y="1160219"/>
            <a:ext cx="8280057" cy="2085744"/>
          </a:xfrm>
        </p:spPr>
        <p:txBody>
          <a:bodyPr/>
          <a:lstStyle/>
          <a:p>
            <a:pPr marL="342900" indent="-342900" algn="l" rtl="0">
              <a:buFont typeface="Arial" panose="020B0604020202020204" pitchFamily="34" charset="0"/>
              <a:buChar char="•"/>
            </a:pPr>
            <a:r>
              <a:rPr lang="fr-FR" sz="1600" dirty="0">
                <a:solidFill>
                  <a:srgbClr val="000000"/>
                </a:solidFill>
              </a:rPr>
              <a:t>Une adresse IPv4 est une adresse hiérarchique de 32 bits qui se compose d'une partie réseau et d'une partie hôte.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dirty="0">
                <a:solidFill>
                  <a:srgbClr val="000000"/>
                </a:solidFill>
              </a:rPr>
              <a:t>Lorsque vous déterminez la partie réseau et la partie hôte, il est nécessaire d'examiner le flux de 32 bits.</a:t>
            </a:r>
          </a:p>
          <a:p>
            <a:pPr marL="342900" indent="-342900" algn="l" rtl="0">
              <a:buFont typeface="Arial" panose="020B0604020202020204" pitchFamily="34" charset="0"/>
              <a:buChar char="•"/>
            </a:pPr>
            <a:r>
              <a:rPr lang="fr-FR" sz="1600" dirty="0">
                <a:solidFill>
                  <a:srgbClr val="000000"/>
                </a:solidFill>
              </a:rPr>
              <a:t>Le masque de sous-réseau sert à déterminer la partie réseau d'une adresse IP. </a:t>
            </a: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45D4F014-EE3C-4707-828B-FA78C75DBDCD}"/>
              </a:ext>
            </a:extLst>
          </p:cNvPr>
          <p:cNvPicPr>
            <a:picLocks noChangeAspect="1"/>
          </p:cNvPicPr>
          <p:nvPr/>
        </p:nvPicPr>
        <p:blipFill>
          <a:blip r:embed="rId3"/>
          <a:stretch>
            <a:fillRect/>
          </a:stretch>
        </p:blipFill>
        <p:spPr>
          <a:xfrm>
            <a:off x="2050804" y="3303873"/>
            <a:ext cx="4457929" cy="1524078"/>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94733" y="203201"/>
            <a:ext cx="8345488" cy="731837"/>
          </a:xfrm>
        </p:spPr>
        <p:txBody>
          <a:bodyPr/>
          <a:lstStyle/>
          <a:p>
            <a:pPr rtl="0"/>
            <a:r>
              <a:rPr lang="fr-FR" sz="1600" dirty="0"/>
              <a:t>La structure d'une adresse IPv4</a:t>
            </a:r>
            <a:r>
              <a:rPr lang="en-US" dirty="0"/>
              <a:t/>
            </a:r>
            <a:br>
              <a:rPr lang="en-US" dirty="0"/>
            </a:br>
            <a:r>
              <a:rPr lang="fr-FR" sz="2400" dirty="0"/>
              <a:t>Le masque de sous-réseau</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979001"/>
            <a:ext cx="8280057" cy="731837"/>
          </a:xfrm>
        </p:spPr>
        <p:txBody>
          <a:bodyPr/>
          <a:lstStyle/>
          <a:p>
            <a:pPr marL="342900" indent="-342900" algn="l" rtl="0">
              <a:buFont typeface="Arial" panose="020B0604020202020204" pitchFamily="34" charset="0"/>
              <a:buChar char="•"/>
            </a:pPr>
            <a:r>
              <a:rPr lang="fr-FR" sz="1600" dirty="0">
                <a:solidFill>
                  <a:srgbClr val="000000"/>
                </a:solidFill>
              </a:rPr>
              <a:t>Pour identifier les parties réseau et hôte d'une adresse IPv4, chaque bit du masque de sous-réseau est comparé à l'adresse IPv4, de gauche à droite.</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xmlns:c15="http://schemas.microsoft.com/office/drawing/2012/chart" xmlns:c="http://schemas.openxmlformats.org/drawingml/2006/chart" xmlns="" id="{F127D040-EF9A-41B6-A2B0-0C5D87D85AC1}"/>
              </a:ext>
            </a:extLst>
          </p:cNvPr>
          <p:cNvSpPr txBox="1">
            <a:spLocks/>
          </p:cNvSpPr>
          <p:nvPr/>
        </p:nvSpPr>
        <p:spPr>
          <a:xfrm>
            <a:off x="431970" y="2323096"/>
            <a:ext cx="3031991" cy="15468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fr-FR" sz="1600" dirty="0">
                <a:solidFill>
                  <a:srgbClr val="000000"/>
                </a:solidFill>
              </a:rPr>
              <a:t>En réalité, le processus utilisé pour identifier la partie réseau et la partie hôte est appelé l'opération AND.</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82DA54EB-7DE0-40F0-802E-91DE00F2C9A7}"/>
              </a:ext>
            </a:extLst>
          </p:cNvPr>
          <p:cNvPicPr>
            <a:picLocks noChangeAspect="1"/>
          </p:cNvPicPr>
          <p:nvPr/>
        </p:nvPicPr>
        <p:blipFill>
          <a:blip r:embed="rId3"/>
          <a:stretch>
            <a:fillRect/>
          </a:stretch>
        </p:blipFill>
        <p:spPr>
          <a:xfrm>
            <a:off x="3942591" y="2016967"/>
            <a:ext cx="4470630" cy="2159111"/>
          </a:xfrm>
          <a:prstGeom prst="rect">
            <a:avLst/>
          </a:prstGeom>
          <a:ln>
            <a:solidFill>
              <a:srgbClr val="0070C0"/>
            </a:solidFill>
          </a:ln>
        </p:spPr>
      </p:pic>
    </p:spTree>
    <p:extLst>
      <p:ext uri="{BB962C8B-B14F-4D97-AF65-F5344CB8AC3E}">
        <p14:creationId xmlns:p14="http://schemas.microsoft.com/office/powerpoint/2010/main" val="325785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18533" y="110067"/>
            <a:ext cx="8345488" cy="731837"/>
          </a:xfrm>
        </p:spPr>
        <p:txBody>
          <a:bodyPr/>
          <a:lstStyle/>
          <a:p>
            <a:pPr rtl="0"/>
            <a:r>
              <a:rPr lang="fr-FR" sz="1600" dirty="0"/>
              <a:t>La structure d'une adresse</a:t>
            </a:r>
            <a:r>
              <a:rPr lang="en-US" dirty="0"/>
              <a:t/>
            </a:r>
            <a:br>
              <a:rPr lang="en-US" dirty="0"/>
            </a:br>
            <a:r>
              <a:rPr lang="fr-FR" sz="2400" dirty="0"/>
              <a:t>La longueur de préfixe</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8280057" cy="510802"/>
          </a:xfrm>
        </p:spPr>
        <p:txBody>
          <a:bodyPr/>
          <a:lstStyle/>
          <a:p>
            <a:pPr marL="342900" indent="-342900" algn="l" rtl="0">
              <a:buFont typeface="Arial" panose="020B0604020202020204" pitchFamily="34" charset="0"/>
              <a:buChar char="•"/>
            </a:pPr>
            <a:r>
              <a:rPr lang="fr-FR" sz="1600">
                <a:solidFill>
                  <a:srgbClr val="000000"/>
                </a:solidFill>
              </a:rPr>
              <a:t>Une longueur de préfixe est une méthode fastidieux d'exprimer une adresse de masque de sous-réseau.</a:t>
            </a:r>
          </a:p>
        </p:txBody>
      </p:sp>
      <p:sp>
        <p:nvSpPr>
          <p:cNvPr id="5" name="Content Placeholder 3">
            <a:extLst>
              <a:ext uri="{FF2B5EF4-FFF2-40B4-BE49-F238E27FC236}">
                <a16:creationId xmlns:a16="http://schemas.microsoft.com/office/drawing/2014/main" xmlns:c15="http://schemas.microsoft.com/office/drawing/2012/chart" xmlns:c="http://schemas.openxmlformats.org/drawingml/2006/chart" xmlns="" id="{121F958E-C237-4731-8453-C4FA21B38C3F}"/>
              </a:ext>
            </a:extLst>
          </p:cNvPr>
          <p:cNvSpPr txBox="1">
            <a:spLocks/>
          </p:cNvSpPr>
          <p:nvPr/>
        </p:nvSpPr>
        <p:spPr>
          <a:xfrm>
            <a:off x="347304" y="1447090"/>
            <a:ext cx="337623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fr-FR" sz="1600" dirty="0">
                <a:solidFill>
                  <a:srgbClr val="000000"/>
                </a:solidFill>
              </a:rPr>
              <a:t>En fait, la longueur de préfixe correspond au nombre de bits définis sur 1 dans le masque de sous-réseau.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dirty="0">
                <a:solidFill>
                  <a:srgbClr val="000000"/>
                </a:solidFill>
              </a:rPr>
              <a:t>Elle est notée au moyen de la « notation de barre oblique », il suffit donc de compter le nombre de bits du masque de sous-réseau et d'y ajouter une barre oblique.</a:t>
            </a:r>
          </a:p>
        </p:txBody>
      </p:sp>
      <p:graphicFrame>
        <p:nvGraphicFramePr>
          <p:cNvPr id="2" name="Table 1">
            <a:extLst>
              <a:ext uri="{FF2B5EF4-FFF2-40B4-BE49-F238E27FC236}">
                <a16:creationId xmlns:a16="http://schemas.microsoft.com/office/drawing/2014/main" xmlns:c15="http://schemas.microsoft.com/office/drawing/2012/chart" xmlns:c="http://schemas.openxmlformats.org/drawingml/2006/chart" xmlns="" id="{F233CEE0-728D-4198-87F2-5E9774E181A6}"/>
              </a:ext>
            </a:extLst>
          </p:cNvPr>
          <p:cNvGraphicFramePr>
            <a:graphicFrameLocks noGrp="1"/>
          </p:cNvGraphicFramePr>
          <p:nvPr>
            <p:extLst>
              <p:ext uri="{D42A27DB-BD31-4B8C-83A1-F6EECF244321}">
                <p14:modId xmlns:p14="http://schemas.microsoft.com/office/powerpoint/2010/main" val="897452027"/>
              </p:ext>
            </p:extLst>
          </p:nvPr>
        </p:nvGraphicFramePr>
        <p:xfrm>
          <a:off x="3783754" y="1383154"/>
          <a:ext cx="5197688" cy="3452000"/>
        </p:xfrm>
        <a:graphic>
          <a:graphicData uri="http://schemas.openxmlformats.org/drawingml/2006/table">
            <a:tbl>
              <a:tblPr firstRow="1" bandRow="1">
                <a:tableStyleId>{5C22544A-7EE6-4342-B048-85BDC9FD1C3A}</a:tableStyleId>
              </a:tblPr>
              <a:tblGrid>
                <a:gridCol w="1612900">
                  <a:extLst>
                    <a:ext uri="{9D8B030D-6E8A-4147-A177-3AD203B41FA5}">
                      <a16:colId xmlns:a16="http://schemas.microsoft.com/office/drawing/2014/main" xmlns:c15="http://schemas.microsoft.com/office/drawing/2012/chart" xmlns:c="http://schemas.openxmlformats.org/drawingml/2006/chart" xmlns="" val="2853717215"/>
                    </a:ext>
                  </a:extLst>
                </a:gridCol>
                <a:gridCol w="2601228">
                  <a:extLst>
                    <a:ext uri="{9D8B030D-6E8A-4147-A177-3AD203B41FA5}">
                      <a16:colId xmlns:a16="http://schemas.microsoft.com/office/drawing/2014/main" xmlns:c15="http://schemas.microsoft.com/office/drawing/2012/chart" xmlns:c="http://schemas.openxmlformats.org/drawingml/2006/chart" xmlns="" val="3859420295"/>
                    </a:ext>
                  </a:extLst>
                </a:gridCol>
                <a:gridCol w="983560">
                  <a:extLst>
                    <a:ext uri="{9D8B030D-6E8A-4147-A177-3AD203B41FA5}">
                      <a16:colId xmlns:a16="http://schemas.microsoft.com/office/drawing/2014/main" xmlns:c15="http://schemas.microsoft.com/office/drawing/2012/chart" xmlns:c="http://schemas.openxmlformats.org/drawingml/2006/chart" xmlns="" val="2152541703"/>
                    </a:ext>
                  </a:extLst>
                </a:gridCol>
              </a:tblGrid>
              <a:tr h="340940">
                <a:tc>
                  <a:txBody>
                    <a:bodyPr/>
                    <a:lstStyle/>
                    <a:p>
                      <a:pPr algn="l" rtl="0" fontAlgn="ctr"/>
                      <a:r>
                        <a:rPr lang="fr-FR" sz="1050" b="1" dirty="0">
                          <a:effectLst/>
                        </a:rPr>
                        <a:t>Masque de sous-réseau</a:t>
                      </a:r>
                    </a:p>
                  </a:txBody>
                  <a:tcPr marL="31750" marR="31750" marT="31750" marB="31750" anchor="ctr"/>
                </a:tc>
                <a:tc>
                  <a:txBody>
                    <a:bodyPr/>
                    <a:lstStyle/>
                    <a:p>
                      <a:pPr algn="l" rtl="0" fontAlgn="ctr"/>
                      <a:r>
                        <a:rPr lang="fr-FR" sz="1050" b="1">
                          <a:effectLst/>
                        </a:rPr>
                        <a:t>Adresse 32 bits</a:t>
                      </a:r>
                    </a:p>
                  </a:txBody>
                  <a:tcPr marL="31750" marR="31750" marT="31750" marB="31750" anchor="ctr"/>
                </a:tc>
                <a:tc>
                  <a:txBody>
                    <a:bodyPr/>
                    <a:lstStyle/>
                    <a:p>
                      <a:pPr algn="l" rtl="0" fontAlgn="ctr"/>
                      <a:r>
                        <a:rPr lang="fr-FR" sz="1050" b="1">
                          <a:effectLst/>
                        </a:rPr>
                        <a:t>Préfixe </a:t>
                      </a:r>
                    </a:p>
                    <a:p>
                      <a:pPr algn="l" rtl="0" fontAlgn="ctr"/>
                      <a:r>
                        <a:rPr lang="fr-FR" sz="1050" b="1">
                          <a:effectLst/>
                        </a:rPr>
                        <a:t>Longueur</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617726287"/>
                  </a:ext>
                </a:extLst>
              </a:tr>
              <a:tr h="340940">
                <a:tc>
                  <a:txBody>
                    <a:bodyPr/>
                    <a:lstStyle/>
                    <a:p>
                      <a:pPr rtl="0" fontAlgn="ctr"/>
                      <a:r>
                        <a:rPr lang="fr-FR" sz="1000" b="0">
                          <a:effectLst/>
                        </a:rPr>
                        <a:t>255.0.0.0</a:t>
                      </a:r>
                    </a:p>
                  </a:txBody>
                  <a:tcPr marL="31750" marR="31750" marT="31750" marB="31750" anchor="ctr"/>
                </a:tc>
                <a:tc>
                  <a:txBody>
                    <a:bodyPr/>
                    <a:lstStyle/>
                    <a:p>
                      <a:pPr rtl="0" fontAlgn="ctr"/>
                      <a:r>
                        <a:rPr lang="fr-FR" sz="1000" b="0">
                          <a:effectLst/>
                        </a:rPr>
                        <a:t>11111111.00000000.00000000.00000000</a:t>
                      </a:r>
                    </a:p>
                  </a:txBody>
                  <a:tcPr marL="31750" marR="31750" marT="31750" marB="31750" anchor="ctr"/>
                </a:tc>
                <a:tc>
                  <a:txBody>
                    <a:bodyPr/>
                    <a:lstStyle/>
                    <a:p>
                      <a:pPr rtl="0" fontAlgn="ctr"/>
                      <a:r>
                        <a:rPr lang="fr-FR" sz="1000" b="0">
                          <a:effectLst/>
                        </a:rPr>
                        <a:t>/8</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476665342"/>
                  </a:ext>
                </a:extLst>
              </a:tr>
              <a:tr h="340940">
                <a:tc>
                  <a:txBody>
                    <a:bodyPr/>
                    <a:lstStyle/>
                    <a:p>
                      <a:pPr rtl="0" fontAlgn="ctr"/>
                      <a:r>
                        <a:rPr lang="fr-FR" sz="1000" b="0">
                          <a:effectLst/>
                        </a:rPr>
                        <a:t>255.255.0.0</a:t>
                      </a:r>
                    </a:p>
                  </a:txBody>
                  <a:tcPr marL="31750" marR="31750" marT="31750" marB="31750" anchor="ctr"/>
                </a:tc>
                <a:tc>
                  <a:txBody>
                    <a:bodyPr/>
                    <a:lstStyle/>
                    <a:p>
                      <a:pPr rtl="0" fontAlgn="ctr"/>
                      <a:r>
                        <a:rPr lang="fr-FR" sz="1000" b="0">
                          <a:effectLst/>
                        </a:rPr>
                        <a:t>11111111.11111111.00000000.00000000</a:t>
                      </a:r>
                    </a:p>
                  </a:txBody>
                  <a:tcPr marL="31750" marR="31750" marT="31750" marB="31750" anchor="ctr"/>
                </a:tc>
                <a:tc>
                  <a:txBody>
                    <a:bodyPr/>
                    <a:lstStyle/>
                    <a:p>
                      <a:pPr rtl="0" fontAlgn="ctr"/>
                      <a:r>
                        <a:rPr lang="fr-FR" sz="1000" b="0">
                          <a:effectLst/>
                        </a:rPr>
                        <a:t>/16</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863355901"/>
                  </a:ext>
                </a:extLst>
              </a:tr>
              <a:tr h="340940">
                <a:tc>
                  <a:txBody>
                    <a:bodyPr/>
                    <a:lstStyle/>
                    <a:p>
                      <a:pPr rtl="0" fontAlgn="ctr"/>
                      <a:r>
                        <a:rPr lang="fr-FR" sz="1000" b="0">
                          <a:effectLst/>
                        </a:rPr>
                        <a:t>255.255.255.0</a:t>
                      </a:r>
                    </a:p>
                  </a:txBody>
                  <a:tcPr marL="31750" marR="31750" marT="31750" marB="31750" anchor="ctr"/>
                </a:tc>
                <a:tc>
                  <a:txBody>
                    <a:bodyPr/>
                    <a:lstStyle/>
                    <a:p>
                      <a:pPr rtl="0" fontAlgn="ctr"/>
                      <a:r>
                        <a:rPr lang="fr-FR" sz="1000" b="0" dirty="0">
                          <a:effectLst/>
                        </a:rPr>
                        <a:t>11111111.11111111.11111111.00000000</a:t>
                      </a:r>
                    </a:p>
                  </a:txBody>
                  <a:tcPr marL="31750" marR="31750" marT="31750" marB="31750" anchor="ctr"/>
                </a:tc>
                <a:tc>
                  <a:txBody>
                    <a:bodyPr/>
                    <a:lstStyle/>
                    <a:p>
                      <a:pPr rtl="0" fontAlgn="ctr"/>
                      <a:r>
                        <a:rPr lang="fr-FR" sz="1000" b="0">
                          <a:effectLst/>
                        </a:rPr>
                        <a:t>/24</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609772987"/>
                  </a:ext>
                </a:extLst>
              </a:tr>
              <a:tr h="340940">
                <a:tc>
                  <a:txBody>
                    <a:bodyPr/>
                    <a:lstStyle/>
                    <a:p>
                      <a:pPr rtl="0" fontAlgn="ctr"/>
                      <a:r>
                        <a:rPr lang="fr-FR" sz="1000" b="0">
                          <a:effectLst/>
                        </a:rPr>
                        <a:t>255.255.255.128</a:t>
                      </a:r>
                    </a:p>
                  </a:txBody>
                  <a:tcPr marL="31750" marR="31750" marT="31750" marB="31750" anchor="ctr"/>
                </a:tc>
                <a:tc>
                  <a:txBody>
                    <a:bodyPr/>
                    <a:lstStyle/>
                    <a:p>
                      <a:pPr rtl="0" fontAlgn="ctr"/>
                      <a:r>
                        <a:rPr lang="fr-FR" sz="1000" b="0">
                          <a:effectLst/>
                        </a:rPr>
                        <a:t>11111111.111111.11111111.10000000</a:t>
                      </a:r>
                    </a:p>
                  </a:txBody>
                  <a:tcPr marL="31750" marR="31750" marT="31750" marB="31750" anchor="ctr"/>
                </a:tc>
                <a:tc>
                  <a:txBody>
                    <a:bodyPr/>
                    <a:lstStyle/>
                    <a:p>
                      <a:pPr rtl="0" fontAlgn="ctr"/>
                      <a:r>
                        <a:rPr lang="fr-FR" sz="1000" b="0">
                          <a:effectLst/>
                        </a:rPr>
                        <a:t>/25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362219286"/>
                  </a:ext>
                </a:extLst>
              </a:tr>
              <a:tr h="340940">
                <a:tc>
                  <a:txBody>
                    <a:bodyPr/>
                    <a:lstStyle/>
                    <a:p>
                      <a:pPr rtl="0" fontAlgn="ctr"/>
                      <a:r>
                        <a:rPr lang="fr-FR" sz="1000" b="0">
                          <a:effectLst/>
                        </a:rPr>
                        <a:t>255.255.255.192</a:t>
                      </a:r>
                    </a:p>
                  </a:txBody>
                  <a:tcPr marL="31750" marR="31750" marT="31750" marB="31750" anchor="ctr"/>
                </a:tc>
                <a:tc>
                  <a:txBody>
                    <a:bodyPr/>
                    <a:lstStyle/>
                    <a:p>
                      <a:pPr rtl="0" fontAlgn="ctr"/>
                      <a:r>
                        <a:rPr lang="fr-FR" sz="1000" b="0">
                          <a:effectLst/>
                        </a:rPr>
                        <a:t>11111111.11111111.11111111.11000000</a:t>
                      </a:r>
                    </a:p>
                  </a:txBody>
                  <a:tcPr marL="31750" marR="31750" marT="31750" marB="31750" anchor="ctr"/>
                </a:tc>
                <a:tc>
                  <a:txBody>
                    <a:bodyPr/>
                    <a:lstStyle/>
                    <a:p>
                      <a:pPr rtl="0" fontAlgn="ctr"/>
                      <a:r>
                        <a:rPr lang="fr-FR" sz="1000" b="0">
                          <a:effectLst/>
                        </a:rPr>
                        <a:t>/26</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881816204"/>
                  </a:ext>
                </a:extLst>
              </a:tr>
              <a:tr h="340940">
                <a:tc>
                  <a:txBody>
                    <a:bodyPr/>
                    <a:lstStyle/>
                    <a:p>
                      <a:pPr rtl="0" fontAlgn="ctr"/>
                      <a:r>
                        <a:rPr lang="fr-FR" sz="1000" b="0">
                          <a:effectLst/>
                        </a:rPr>
                        <a:t>255.255.255.224</a:t>
                      </a:r>
                    </a:p>
                  </a:txBody>
                  <a:tcPr marL="31750" marR="31750" marT="31750" marB="31750" anchor="ctr"/>
                </a:tc>
                <a:tc>
                  <a:txBody>
                    <a:bodyPr/>
                    <a:lstStyle/>
                    <a:p>
                      <a:pPr rtl="0" fontAlgn="ctr"/>
                      <a:r>
                        <a:rPr lang="fr-FR" sz="1000" b="0">
                          <a:effectLst/>
                        </a:rPr>
                        <a:t>11111111.11111111.11111111.11100000</a:t>
                      </a:r>
                    </a:p>
                  </a:txBody>
                  <a:tcPr marL="31750" marR="31750" marT="31750" marB="31750" anchor="ctr"/>
                </a:tc>
                <a:tc>
                  <a:txBody>
                    <a:bodyPr/>
                    <a:lstStyle/>
                    <a:p>
                      <a:pPr rtl="0" fontAlgn="ctr"/>
                      <a:r>
                        <a:rPr lang="fr-FR" sz="1000" b="0">
                          <a:effectLst/>
                        </a:rPr>
                        <a:t>/27</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859046036"/>
                  </a:ext>
                </a:extLst>
              </a:tr>
              <a:tr h="340940">
                <a:tc>
                  <a:txBody>
                    <a:bodyPr/>
                    <a:lstStyle/>
                    <a:p>
                      <a:pPr rtl="0" fontAlgn="ctr"/>
                      <a:r>
                        <a:rPr lang="fr-FR" sz="1000" b="0">
                          <a:effectLst/>
                        </a:rPr>
                        <a:t>255.255.255.240</a:t>
                      </a:r>
                    </a:p>
                  </a:txBody>
                  <a:tcPr marL="31750" marR="31750" marT="31750" marB="31750" anchor="ctr"/>
                </a:tc>
                <a:tc>
                  <a:txBody>
                    <a:bodyPr/>
                    <a:lstStyle/>
                    <a:p>
                      <a:pPr rtl="0" fontAlgn="ctr"/>
                      <a:r>
                        <a:rPr lang="fr-FR" sz="1000" b="0">
                          <a:effectLst/>
                        </a:rPr>
                        <a:t>11111111.11111111.11111111.11110000</a:t>
                      </a:r>
                    </a:p>
                  </a:txBody>
                  <a:tcPr marL="31750" marR="31750" marT="31750" marB="31750" anchor="ctr"/>
                </a:tc>
                <a:tc>
                  <a:txBody>
                    <a:bodyPr/>
                    <a:lstStyle/>
                    <a:p>
                      <a:pPr rtl="0" fontAlgn="ctr"/>
                      <a:r>
                        <a:rPr lang="fr-FR" sz="1000" b="0">
                          <a:effectLst/>
                        </a:rPr>
                        <a:t>/28</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913653739"/>
                  </a:ext>
                </a:extLst>
              </a:tr>
              <a:tr h="340940">
                <a:tc>
                  <a:txBody>
                    <a:bodyPr/>
                    <a:lstStyle/>
                    <a:p>
                      <a:pPr rtl="0" fontAlgn="ctr"/>
                      <a:r>
                        <a:rPr lang="fr-FR" sz="1000" b="0">
                          <a:effectLst/>
                        </a:rPr>
                        <a:t>255.255.255.248</a:t>
                      </a:r>
                    </a:p>
                  </a:txBody>
                  <a:tcPr marL="31750" marR="31750" marT="31750" marB="31750" anchor="ctr"/>
                </a:tc>
                <a:tc>
                  <a:txBody>
                    <a:bodyPr/>
                    <a:lstStyle/>
                    <a:p>
                      <a:pPr rtl="0" fontAlgn="ctr"/>
                      <a:r>
                        <a:rPr lang="fr-FR" sz="1000" b="0">
                          <a:effectLst/>
                        </a:rPr>
                        <a:t>11111111.11111111.11111111.11111000</a:t>
                      </a:r>
                    </a:p>
                  </a:txBody>
                  <a:tcPr marL="31750" marR="31750" marT="31750" marB="31750" anchor="ctr"/>
                </a:tc>
                <a:tc>
                  <a:txBody>
                    <a:bodyPr/>
                    <a:lstStyle/>
                    <a:p>
                      <a:pPr rtl="0" fontAlgn="ctr"/>
                      <a:r>
                        <a:rPr lang="fr-FR" sz="1000" b="0">
                          <a:effectLst/>
                        </a:rPr>
                        <a:t>/29</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00304742"/>
                  </a:ext>
                </a:extLst>
              </a:tr>
              <a:tr h="340940">
                <a:tc>
                  <a:txBody>
                    <a:bodyPr/>
                    <a:lstStyle/>
                    <a:p>
                      <a:pPr rtl="0" fontAlgn="ctr"/>
                      <a:r>
                        <a:rPr lang="fr-FR" sz="1000" b="0">
                          <a:effectLst/>
                        </a:rPr>
                        <a:t>255.255.255.252</a:t>
                      </a:r>
                    </a:p>
                  </a:txBody>
                  <a:tcPr marL="31750" marR="31750" marT="31750" marB="31750" anchor="ctr"/>
                </a:tc>
                <a:tc>
                  <a:txBody>
                    <a:bodyPr/>
                    <a:lstStyle/>
                    <a:p>
                      <a:pPr rtl="0" fontAlgn="ctr"/>
                      <a:r>
                        <a:rPr lang="fr-FR" sz="1000" b="0">
                          <a:effectLst/>
                        </a:rPr>
                        <a:t>11111111.11111111.11111111.11111100</a:t>
                      </a:r>
                    </a:p>
                  </a:txBody>
                  <a:tcPr marL="31750" marR="31750" marT="31750" marB="31750" anchor="ctr"/>
                </a:tc>
                <a:tc>
                  <a:txBody>
                    <a:bodyPr/>
                    <a:lstStyle/>
                    <a:p>
                      <a:pPr rtl="0" fontAlgn="ctr"/>
                      <a:r>
                        <a:rPr lang="fr-FR" sz="1000" b="0" dirty="0">
                          <a:effectLst/>
                        </a:rPr>
                        <a:t>/30</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35243754"/>
                  </a:ext>
                </a:extLst>
              </a:tr>
            </a:tbl>
          </a:graphicData>
        </a:graphic>
      </p:graphicFrame>
    </p:spTree>
    <p:extLst>
      <p:ext uri="{BB962C8B-B14F-4D97-AF65-F5344CB8AC3E}">
        <p14:creationId xmlns:p14="http://schemas.microsoft.com/office/powerpoint/2010/main" val="3152352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08800" y="110067"/>
            <a:ext cx="8345488" cy="731837"/>
          </a:xfrm>
        </p:spPr>
        <p:txBody>
          <a:bodyPr/>
          <a:lstStyle/>
          <a:p>
            <a:pPr rtl="0"/>
            <a:r>
              <a:rPr lang="fr-FR" sz="1600" dirty="0"/>
              <a:t>Structure d'adresse IPv4</a:t>
            </a:r>
            <a:r>
              <a:rPr lang="en-US" dirty="0"/>
              <a:t/>
            </a:r>
            <a:br>
              <a:rPr lang="en-US" dirty="0"/>
            </a:br>
            <a:r>
              <a:rPr lang="fr-FR" sz="2400" dirty="0"/>
              <a:t>Détermination du réseau: AND (ET) logique</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8280057" cy="1522021"/>
          </a:xfrm>
        </p:spPr>
        <p:txBody>
          <a:bodyPr/>
          <a:lstStyle/>
          <a:p>
            <a:pPr marL="342900" indent="-342900" algn="l" rtl="0">
              <a:buFont typeface="Arial" panose="020B0604020202020204" pitchFamily="34" charset="0"/>
              <a:buChar char="•"/>
            </a:pPr>
            <a:r>
              <a:rPr lang="fr-FR" sz="1600">
                <a:solidFill>
                  <a:srgbClr val="000000"/>
                </a:solidFill>
              </a:rPr>
              <a:t>Une opération logique AND est utilisée pour déterminer l'adresse réseau.</a:t>
            </a:r>
          </a:p>
          <a:p>
            <a:pPr marL="415985" lvl="1" indent="-342900" rtl="0">
              <a:buFont typeface="Arial" panose="020B0604020202020204" pitchFamily="34" charset="0"/>
              <a:buChar char="•"/>
            </a:pPr>
            <a:r>
              <a:rPr lang="fr-FR">
                <a:solidFill>
                  <a:srgbClr val="000000"/>
                </a:solidFill>
              </a:rPr>
              <a:t>Le AND (ET) logique est la comparaison de deux bits où un 1 AND (ET) 1 produit un 1 et toutes les autres combinaisons produisent un 0.</a:t>
            </a:r>
          </a:p>
          <a:p>
            <a:pPr marL="415985" lvl="1" indent="-342900" rtl="0">
              <a:buFont typeface="Arial" panose="020B0604020202020204" pitchFamily="34" charset="0"/>
              <a:buChar char="•"/>
            </a:pPr>
            <a:r>
              <a:rPr lang="fr-FR">
                <a:solidFill>
                  <a:srgbClr val="000000"/>
                </a:solidFill>
              </a:rPr>
              <a:t>1 AND 1 = 1, 0 AND 1 = 0, 1 AND 0 = 0, 0 AND 0 = 0</a:t>
            </a:r>
          </a:p>
          <a:p>
            <a:pPr marL="415985" lvl="1" indent="-342900" rtl="0">
              <a:buFont typeface="Arial" panose="020B0604020202020204" pitchFamily="34" charset="0"/>
              <a:buChar char="•"/>
            </a:pPr>
            <a:r>
              <a:rPr lang="fr-FR">
                <a:solidFill>
                  <a:srgbClr val="000000"/>
                </a:solidFill>
              </a:rPr>
              <a:t>1 = Vrai et 0 = Faux</a:t>
            </a:r>
          </a:p>
        </p:txBody>
      </p:sp>
      <p:sp>
        <p:nvSpPr>
          <p:cNvPr id="5" name="Content Placeholder 3">
            <a:extLst>
              <a:ext uri="{FF2B5EF4-FFF2-40B4-BE49-F238E27FC236}">
                <a16:creationId xmlns:a16="http://schemas.microsoft.com/office/drawing/2014/main" xmlns:c15="http://schemas.microsoft.com/office/drawing/2012/chart" xmlns:c="http://schemas.openxmlformats.org/drawingml/2006/chart" xmlns="" id="{3528EAA4-4ECB-4719-8E9E-7DE8051ABB69}"/>
              </a:ext>
            </a:extLst>
          </p:cNvPr>
          <p:cNvSpPr txBox="1">
            <a:spLocks/>
          </p:cNvSpPr>
          <p:nvPr/>
        </p:nvSpPr>
        <p:spPr>
          <a:xfrm>
            <a:off x="431971" y="2483539"/>
            <a:ext cx="3849573" cy="19876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fr-FR" sz="1600">
                <a:solidFill>
                  <a:srgbClr val="000000"/>
                </a:solidFill>
              </a:rPr>
              <a:t>Pour identifier l'adresse réseau , l'adresse IPv4 d'un hôte est soumise bit par bit à l'opération AND de manière logique avec le masque de sous-réseau</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9F2917F7-70A6-4627-8200-4118CE19CA50}"/>
              </a:ext>
            </a:extLst>
          </p:cNvPr>
          <p:cNvPicPr>
            <a:picLocks noChangeAspect="1"/>
          </p:cNvPicPr>
          <p:nvPr/>
        </p:nvPicPr>
        <p:blipFill>
          <a:blip r:embed="rId3"/>
          <a:stretch>
            <a:fillRect/>
          </a:stretch>
        </p:blipFill>
        <p:spPr>
          <a:xfrm>
            <a:off x="4381158" y="2377440"/>
            <a:ext cx="4534133" cy="1987652"/>
          </a:xfrm>
          <a:prstGeom prst="rect">
            <a:avLst/>
          </a:prstGeom>
        </p:spPr>
      </p:pic>
    </p:spTree>
    <p:extLst>
      <p:ext uri="{BB962C8B-B14F-4D97-AF65-F5344CB8AC3E}">
        <p14:creationId xmlns:p14="http://schemas.microsoft.com/office/powerpoint/2010/main" val="2687004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10066" y="237067"/>
            <a:ext cx="8345488" cy="731837"/>
          </a:xfrm>
        </p:spPr>
        <p:txBody>
          <a:bodyPr/>
          <a:lstStyle/>
          <a:p>
            <a:pPr rtl="0"/>
            <a:r>
              <a:rPr lang="fr-FR" sz="1600" dirty="0"/>
              <a:t>La structure d'une adresse IPv4</a:t>
            </a:r>
            <a:r>
              <a:rPr lang="en-US" dirty="0"/>
              <a:t/>
            </a:r>
            <a:br>
              <a:rPr lang="en-US" dirty="0"/>
            </a:br>
            <a:r>
              <a:rPr lang="fr-FR" sz="2400" dirty="0"/>
              <a:t>Démonstration vidéo - réseau, hôte et adresses de diffusion</a:t>
            </a:r>
          </a:p>
        </p:txBody>
      </p:sp>
      <p:sp>
        <p:nvSpPr>
          <p:cNvPr id="6" name="Content Placeholder 3">
            <a:extLst>
              <a:ext uri="{FF2B5EF4-FFF2-40B4-BE49-F238E27FC236}">
                <a16:creationId xmlns:a16="http://schemas.microsoft.com/office/drawing/2014/main" xmlns:c15="http://schemas.microsoft.com/office/drawing/2012/chart" xmlns:c="http://schemas.openxmlformats.org/drawingml/2006/chart" xmlns="" id="{201ED4EE-A438-4923-8A5A-4E8EDE0D676B}"/>
              </a:ext>
            </a:extLst>
          </p:cNvPr>
          <p:cNvSpPr txBox="1">
            <a:spLocks/>
          </p:cNvSpPr>
          <p:nvPr/>
        </p:nvSpPr>
        <p:spPr>
          <a:xfrm>
            <a:off x="508171" y="1279712"/>
            <a:ext cx="8280057" cy="152202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fr-FR" sz="1600" dirty="0">
                <a:solidFill>
                  <a:srgbClr val="000000"/>
                </a:solidFill>
              </a:rPr>
              <a:t>Cette vidéo présentera les points suivants :</a:t>
            </a:r>
          </a:p>
          <a:p>
            <a:pPr marL="342900" indent="-342900" algn="l" rtl="0">
              <a:buFont typeface="Arial" panose="020B0604020202020204" pitchFamily="34" charset="0"/>
              <a:buChar char="•"/>
            </a:pPr>
            <a:r>
              <a:rPr lang="fr-FR" sz="1600" dirty="0">
                <a:solidFill>
                  <a:srgbClr val="000000"/>
                </a:solidFill>
              </a:rPr>
              <a:t>Adresse réseau</a:t>
            </a:r>
          </a:p>
          <a:p>
            <a:pPr marL="342900" indent="-342900" algn="l" rtl="0">
              <a:buFont typeface="Arial" panose="020B0604020202020204" pitchFamily="34" charset="0"/>
              <a:buChar char="•"/>
            </a:pPr>
            <a:r>
              <a:rPr lang="fr-FR" sz="1600" dirty="0">
                <a:solidFill>
                  <a:srgbClr val="000000"/>
                </a:solidFill>
              </a:rPr>
              <a:t>Adresse de diffusion</a:t>
            </a:r>
          </a:p>
          <a:p>
            <a:pPr marL="342900" indent="-342900" algn="l" rtl="0">
              <a:buFont typeface="Arial" panose="020B0604020202020204" pitchFamily="34" charset="0"/>
              <a:buChar char="•"/>
            </a:pPr>
            <a:r>
              <a:rPr lang="fr-FR" sz="1600" dirty="0">
                <a:solidFill>
                  <a:srgbClr val="000000"/>
                </a:solidFill>
              </a:rPr>
              <a:t>Première hôte utilisable</a:t>
            </a:r>
          </a:p>
          <a:p>
            <a:pPr marL="342900" indent="-342900" algn="l" rtl="0">
              <a:buFont typeface="Arial" panose="020B0604020202020204" pitchFamily="34" charset="0"/>
              <a:buChar char="•"/>
            </a:pPr>
            <a:r>
              <a:rPr lang="fr-FR" sz="1600" dirty="0">
                <a:solidFill>
                  <a:srgbClr val="000000"/>
                </a:solidFill>
              </a:rPr>
              <a:t>Dernière hôte utilisable</a:t>
            </a:r>
          </a:p>
        </p:txBody>
      </p:sp>
    </p:spTree>
    <p:extLst>
      <p:ext uri="{BB962C8B-B14F-4D97-AF65-F5344CB8AC3E}">
        <p14:creationId xmlns:p14="http://schemas.microsoft.com/office/powerpoint/2010/main" val="2922228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77800" y="169334"/>
            <a:ext cx="8345488" cy="731837"/>
          </a:xfrm>
        </p:spPr>
        <p:txBody>
          <a:bodyPr/>
          <a:lstStyle/>
          <a:p>
            <a:pPr rtl="0"/>
            <a:r>
              <a:rPr lang="fr-FR" sz="1600" dirty="0"/>
              <a:t>La structure d'une adresse IPv4</a:t>
            </a:r>
            <a:r>
              <a:rPr lang="en-US" dirty="0"/>
              <a:t/>
            </a:r>
            <a:br>
              <a:rPr lang="en-US" dirty="0"/>
            </a:br>
            <a:r>
              <a:rPr lang="fr-FR" sz="2400" dirty="0"/>
              <a:t>Adresses réseau, d'hôte et de diffusion</a:t>
            </a: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AAC2E9A2-7F9F-404A-B632-433B3DD70A30}"/>
              </a:ext>
            </a:extLst>
          </p:cNvPr>
          <p:cNvPicPr>
            <a:picLocks noChangeAspect="1"/>
          </p:cNvPicPr>
          <p:nvPr/>
        </p:nvPicPr>
        <p:blipFill>
          <a:blip r:embed="rId3"/>
          <a:stretch>
            <a:fillRect/>
          </a:stretch>
        </p:blipFill>
        <p:spPr>
          <a:xfrm>
            <a:off x="338838" y="2687965"/>
            <a:ext cx="2898633" cy="1607424"/>
          </a:xfrm>
          <a:prstGeom prst="rect">
            <a:avLst/>
          </a:prstGeom>
        </p:spPr>
      </p:pic>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5667615" cy="1328383"/>
          </a:xfrm>
        </p:spPr>
        <p:txBody>
          <a:bodyPr/>
          <a:lstStyle/>
          <a:p>
            <a:pPr marL="342900" indent="-342900" algn="l" rtl="0">
              <a:buFont typeface="Arial" panose="020B0604020202020204" pitchFamily="34" charset="0"/>
              <a:buChar char="•"/>
            </a:pPr>
            <a:r>
              <a:rPr lang="fr-FR" sz="1600">
                <a:solidFill>
                  <a:srgbClr val="000000"/>
                </a:solidFill>
              </a:rPr>
              <a:t>Au sein de chaque réseau se trouvent trois types d'adresses IP:</a:t>
            </a:r>
          </a:p>
          <a:p>
            <a:pPr marL="415985" lvl="1" indent="-342900" rtl="0">
              <a:buFont typeface="Arial" panose="020B0604020202020204" pitchFamily="34" charset="0"/>
              <a:buChar char="•"/>
            </a:pPr>
            <a:r>
              <a:rPr lang="fr-FR">
                <a:solidFill>
                  <a:srgbClr val="000000"/>
                </a:solidFill>
              </a:rPr>
              <a:t>Adresse réseau</a:t>
            </a:r>
          </a:p>
          <a:p>
            <a:pPr marL="415985" lvl="1" indent="-342900" rtl="0">
              <a:buFont typeface="Arial" panose="020B0604020202020204" pitchFamily="34" charset="0"/>
              <a:buChar char="•"/>
            </a:pPr>
            <a:r>
              <a:rPr lang="fr-FR">
                <a:solidFill>
                  <a:srgbClr val="000000"/>
                </a:solidFill>
              </a:rPr>
              <a:t>Adresses d'hôtes</a:t>
            </a:r>
          </a:p>
          <a:p>
            <a:pPr marL="415985" lvl="1" indent="-342900" rtl="0">
              <a:buFont typeface="Arial" panose="020B0604020202020204" pitchFamily="34" charset="0"/>
              <a:buChar char="•"/>
            </a:pPr>
            <a:r>
              <a:rPr lang="fr-FR">
                <a:solidFill>
                  <a:srgbClr val="000000"/>
                </a:solidFill>
              </a:rPr>
              <a:t>Adresse de diffusion</a:t>
            </a:r>
          </a:p>
        </p:txBody>
      </p:sp>
      <p:graphicFrame>
        <p:nvGraphicFramePr>
          <p:cNvPr id="6" name="Table 5">
            <a:extLst>
              <a:ext uri="{FF2B5EF4-FFF2-40B4-BE49-F238E27FC236}">
                <a16:creationId xmlns:a16="http://schemas.microsoft.com/office/drawing/2014/main" xmlns:c15="http://schemas.microsoft.com/office/drawing/2012/chart" xmlns:c="http://schemas.openxmlformats.org/drawingml/2006/chart" xmlns="" id="{663C58AD-E4FB-4E6F-A2AA-5493C4001BAD}"/>
              </a:ext>
            </a:extLst>
          </p:cNvPr>
          <p:cNvGraphicFramePr>
            <a:graphicFrameLocks noGrp="1"/>
          </p:cNvGraphicFramePr>
          <p:nvPr>
            <p:extLst>
              <p:ext uri="{D42A27DB-BD31-4B8C-83A1-F6EECF244321}">
                <p14:modId xmlns:p14="http://schemas.microsoft.com/office/powerpoint/2010/main" val="1207636514"/>
              </p:ext>
            </p:extLst>
          </p:nvPr>
        </p:nvGraphicFramePr>
        <p:xfrm>
          <a:off x="3512820" y="2247024"/>
          <a:ext cx="5494020" cy="2374900"/>
        </p:xfrm>
        <a:graphic>
          <a:graphicData uri="http://schemas.openxmlformats.org/drawingml/2006/table">
            <a:tbl>
              <a:tblPr firstRow="1" bandRow="1">
                <a:tableStyleId>{5C22544A-7EE6-4342-B048-85BDC9FD1C3A}</a:tableStyleId>
              </a:tblPr>
              <a:tblGrid>
                <a:gridCol w="1363980">
                  <a:extLst>
                    <a:ext uri="{9D8B030D-6E8A-4147-A177-3AD203B41FA5}">
                      <a16:colId xmlns:a16="http://schemas.microsoft.com/office/drawing/2014/main" xmlns:c15="http://schemas.microsoft.com/office/drawing/2012/chart" xmlns:c="http://schemas.openxmlformats.org/drawingml/2006/chart" xmlns="" val="6951079"/>
                    </a:ext>
                  </a:extLst>
                </a:gridCol>
                <a:gridCol w="2461260">
                  <a:extLst>
                    <a:ext uri="{9D8B030D-6E8A-4147-A177-3AD203B41FA5}">
                      <a16:colId xmlns:a16="http://schemas.microsoft.com/office/drawing/2014/main" xmlns:c15="http://schemas.microsoft.com/office/drawing/2012/chart" xmlns:c="http://schemas.openxmlformats.org/drawingml/2006/chart" xmlns="" val="3669600987"/>
                    </a:ext>
                  </a:extLst>
                </a:gridCol>
                <a:gridCol w="822960">
                  <a:extLst>
                    <a:ext uri="{9D8B030D-6E8A-4147-A177-3AD203B41FA5}">
                      <a16:colId xmlns:a16="http://schemas.microsoft.com/office/drawing/2014/main" xmlns:c15="http://schemas.microsoft.com/office/drawing/2012/chart" xmlns:c="http://schemas.openxmlformats.org/drawingml/2006/chart" xmlns="" val="1195186617"/>
                    </a:ext>
                  </a:extLst>
                </a:gridCol>
                <a:gridCol w="845820">
                  <a:extLst>
                    <a:ext uri="{9D8B030D-6E8A-4147-A177-3AD203B41FA5}">
                      <a16:colId xmlns:a16="http://schemas.microsoft.com/office/drawing/2014/main" xmlns:c15="http://schemas.microsoft.com/office/drawing/2012/chart" xmlns:c="http://schemas.openxmlformats.org/drawingml/2006/chart" xmlns="" val="3408647017"/>
                    </a:ext>
                  </a:extLst>
                </a:gridCol>
              </a:tblGrid>
              <a:tr h="370840">
                <a:tc>
                  <a:txBody>
                    <a:bodyPr/>
                    <a:lstStyle/>
                    <a:p>
                      <a:endParaRPr lang="en-CA" sz="1200" dirty="0"/>
                    </a:p>
                  </a:txBody>
                  <a:tcPr marL="31750" marR="31750" marT="31750" marB="31750" anchor="ctr">
                    <a:noFill/>
                  </a:tcPr>
                </a:tc>
                <a:tc>
                  <a:txBody>
                    <a:bodyPr/>
                    <a:lstStyle/>
                    <a:p>
                      <a:pPr algn="ctr" rtl="0" fontAlgn="ctr"/>
                      <a:r>
                        <a:rPr lang="fr-FR" sz="1050" b="1">
                          <a:effectLst/>
                        </a:rPr>
                        <a:t>Partie réseau</a:t>
                      </a:r>
                    </a:p>
                  </a:txBody>
                  <a:tcPr marL="31750" marR="31750" marT="31750" marB="31750" anchor="ctr"/>
                </a:tc>
                <a:tc>
                  <a:txBody>
                    <a:bodyPr/>
                    <a:lstStyle/>
                    <a:p>
                      <a:pPr algn="ctr" rtl="0" fontAlgn="ctr"/>
                      <a:r>
                        <a:rPr lang="fr-FR" sz="1050" b="1">
                          <a:effectLst/>
                        </a:rPr>
                        <a:t>Partie hôte</a:t>
                      </a:r>
                    </a:p>
                  </a:txBody>
                  <a:tcPr marL="31750" marR="31750" marT="31750" marB="31750" anchor="ctr"/>
                </a:tc>
                <a:tc>
                  <a:txBody>
                    <a:bodyPr/>
                    <a:lstStyle/>
                    <a:p>
                      <a:pPr algn="ctr" rtl="0" fontAlgn="ctr"/>
                      <a:r>
                        <a:rPr lang="fr-FR" sz="1050" b="1">
                          <a:effectLst/>
                        </a:rPr>
                        <a:t>Bits d'hôte</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417013316"/>
                  </a:ext>
                </a:extLst>
              </a:tr>
              <a:tr h="370840">
                <a:tc>
                  <a:txBody>
                    <a:bodyPr/>
                    <a:lstStyle/>
                    <a:p>
                      <a:pPr rtl="0" fontAlgn="ctr"/>
                      <a:r>
                        <a:rPr lang="fr-FR" sz="1000" b="0">
                          <a:effectLst/>
                        </a:rPr>
                        <a:t>Masque de sous-réseau .</a:t>
                      </a:r>
                    </a:p>
                    <a:p>
                      <a:pPr rtl="0" fontAlgn="ctr"/>
                      <a:r>
                        <a:rPr lang="fr-FR" sz="1000" b="1">
                          <a:effectLst/>
                        </a:rPr>
                        <a:t>255.255.255.</a:t>
                      </a:r>
                      <a:r>
                        <a:rPr lang="fr-FR" sz="1000" b="0">
                          <a:effectLst/>
                        </a:rPr>
                        <a:t>0 or </a:t>
                      </a:r>
                      <a:r>
                        <a:rPr lang="fr-FR" sz="1000" b="1">
                          <a:effectLst/>
                        </a:rPr>
                        <a:t>/24</a:t>
                      </a:r>
                    </a:p>
                  </a:txBody>
                  <a:tcPr marL="31750" marR="31750" marT="31750" marB="31750" anchor="ctr"/>
                </a:tc>
                <a:tc>
                  <a:txBody>
                    <a:bodyPr/>
                    <a:lstStyle/>
                    <a:p>
                      <a:pPr algn="ctr" rtl="0" fontAlgn="ctr"/>
                      <a:r>
                        <a:rPr lang="fr-FR" sz="1000" b="0">
                          <a:effectLst/>
                          <a:latin typeface="Courier New" panose="02070309020205020404" pitchFamily="49" charset="0"/>
                          <a:cs typeface="Courier New" panose="02070309020205020404" pitchFamily="49" charset="0"/>
                        </a:rPr>
                        <a:t>255 255 255</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11111111 111111 111111</a:t>
                      </a:r>
                    </a:p>
                  </a:txBody>
                  <a:tcPr marL="31750" marR="31750" marT="31750" marB="31750" anchor="ctr"/>
                </a:tc>
                <a:tc>
                  <a:txBody>
                    <a:bodyPr/>
                    <a:lstStyle/>
                    <a:p>
                      <a:pPr algn="ctr" rtl="0" fontAlgn="ctr"/>
                      <a:r>
                        <a:rPr lang="fr-FR" sz="1000" b="0">
                          <a:effectLst/>
                          <a:latin typeface="Courier New" panose="02070309020205020404" pitchFamily="49" charset="0"/>
                          <a:cs typeface="Courier New" panose="02070309020205020404" pitchFamily="49" charset="0"/>
                        </a:rPr>
                        <a:t>0</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endParaRPr lang="en-CA" sz="1000" b="0" dirty="0">
                        <a:effectLst/>
                      </a:endParaRP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4212010678"/>
                  </a:ext>
                </a:extLst>
              </a:tr>
              <a:tr h="370840">
                <a:tc>
                  <a:txBody>
                    <a:bodyPr/>
                    <a:lstStyle/>
                    <a:p>
                      <a:pPr rtl="0" fontAlgn="ctr"/>
                      <a:r>
                        <a:rPr lang="fr-FR" sz="1000" b="0">
                          <a:effectLst/>
                        </a:rPr>
                        <a:t>Adresse réseau </a:t>
                      </a:r>
                    </a:p>
                    <a:p>
                      <a:pPr rtl="0" fontAlgn="ctr"/>
                      <a:r>
                        <a:rPr lang="fr-FR" sz="1000" b="1">
                          <a:effectLst/>
                        </a:rPr>
                        <a:t>192.168.10.</a:t>
                      </a:r>
                      <a:r>
                        <a:rPr lang="fr-FR" sz="1000" b="0">
                          <a:effectLst/>
                        </a:rPr>
                        <a:t>0 or </a:t>
                      </a:r>
                      <a:r>
                        <a:rPr lang="fr-FR" sz="1000" b="1">
                          <a:effectLst/>
                        </a:rPr>
                        <a:t>/24</a:t>
                      </a:r>
                    </a:p>
                  </a:txBody>
                  <a:tcPr marL="31750" marR="31750" marT="31750" marB="31750" anchor="ctr"/>
                </a:tc>
                <a:tc>
                  <a:txBody>
                    <a:bodyPr/>
                    <a:lstStyle/>
                    <a:p>
                      <a:pPr algn="ctr" rtl="0" fontAlgn="ctr"/>
                      <a:r>
                        <a:rPr lang="fr-FR" sz="1000" b="0">
                          <a:effectLst/>
                          <a:latin typeface="Courier New" panose="02070309020205020404" pitchFamily="49" charset="0"/>
                          <a:cs typeface="Courier New" panose="02070309020205020404" pitchFamily="49" charset="0"/>
                        </a:rPr>
                        <a:t>192 168 10</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fr-FR" sz="1000" b="0">
                          <a:effectLst/>
                          <a:latin typeface="Courier New" panose="02070309020205020404" pitchFamily="49" charset="0"/>
                          <a:cs typeface="Courier New" panose="02070309020205020404" pitchFamily="49" charset="0"/>
                        </a:rPr>
                        <a:t>0</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algn="ctr" rtl="0" fontAlgn="ctr"/>
                      <a:r>
                        <a:rPr lang="fr-FR" sz="1000" b="0">
                          <a:effectLst/>
                        </a:rPr>
                        <a:t>All 0s</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582796851"/>
                  </a:ext>
                </a:extLst>
              </a:tr>
              <a:tr h="370840">
                <a:tc>
                  <a:txBody>
                    <a:bodyPr/>
                    <a:lstStyle/>
                    <a:p>
                      <a:pPr rtl="0" fontAlgn="ctr"/>
                      <a:r>
                        <a:rPr lang="fr-FR" sz="1000" b="0">
                          <a:effectLst/>
                        </a:rPr>
                        <a:t>First address</a:t>
                      </a:r>
                    </a:p>
                    <a:p>
                      <a:pPr rtl="0" fontAlgn="ctr"/>
                      <a:r>
                        <a:rPr lang="fr-FR" sz="1000" b="1">
                          <a:effectLst/>
                        </a:rPr>
                        <a:t>192.168.10</a:t>
                      </a:r>
                      <a:r>
                        <a:rPr lang="fr-FR" sz="1000" b="0">
                          <a:effectLst/>
                        </a:rPr>
                        <a:t>.1 or </a:t>
                      </a:r>
                      <a:r>
                        <a:rPr lang="fr-FR" sz="1000" b="1">
                          <a:effectLst/>
                        </a:rPr>
                        <a:t>/24</a:t>
                      </a:r>
                    </a:p>
                  </a:txBody>
                  <a:tcPr marL="31750" marR="31750" marT="31750" marB="31750" anchor="ctr"/>
                </a:tc>
                <a:tc>
                  <a:txBody>
                    <a:bodyPr/>
                    <a:lstStyle/>
                    <a:p>
                      <a:pPr algn="ctr" rtl="0" fontAlgn="ctr"/>
                      <a:r>
                        <a:rPr lang="fr-FR" sz="1000" b="0">
                          <a:effectLst/>
                          <a:latin typeface="Courier New" panose="02070309020205020404" pitchFamily="49" charset="0"/>
                          <a:cs typeface="Courier New" panose="02070309020205020404" pitchFamily="49" charset="0"/>
                        </a:rPr>
                        <a:t>192 168 10</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fr-FR" sz="1000" b="0">
                          <a:effectLst/>
                          <a:latin typeface="Courier New" panose="02070309020205020404" pitchFamily="49" charset="0"/>
                          <a:cs typeface="Courier New" panose="02070309020205020404" pitchFamily="49" charset="0"/>
                        </a:rPr>
                        <a:t>1</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00000001</a:t>
                      </a:r>
                    </a:p>
                  </a:txBody>
                  <a:tcPr marL="31750" marR="31750" marT="31750" marB="31750" anchor="ctr"/>
                </a:tc>
                <a:tc>
                  <a:txBody>
                    <a:bodyPr/>
                    <a:lstStyle/>
                    <a:p>
                      <a:pPr algn="ctr" rtl="0" fontAlgn="ctr"/>
                      <a:r>
                        <a:rPr lang="fr-FR" sz="1000" b="0">
                          <a:effectLst/>
                        </a:rPr>
                        <a:t>All 0s and a 1</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315409547"/>
                  </a:ext>
                </a:extLst>
              </a:tr>
              <a:tr h="370840">
                <a:tc>
                  <a:txBody>
                    <a:bodyPr/>
                    <a:lstStyle/>
                    <a:p>
                      <a:pPr rtl="0" fontAlgn="ctr"/>
                      <a:r>
                        <a:rPr lang="fr-FR" sz="1000" b="0">
                          <a:effectLst/>
                        </a:rPr>
                        <a:t>Last address</a:t>
                      </a:r>
                    </a:p>
                    <a:p>
                      <a:pPr rtl="0" fontAlgn="ctr"/>
                      <a:r>
                        <a:rPr lang="fr-FR" sz="1000" b="1">
                          <a:effectLst/>
                        </a:rPr>
                        <a:t>192.168.10</a:t>
                      </a:r>
                      <a:r>
                        <a:rPr lang="fr-FR" sz="1000" b="0">
                          <a:effectLst/>
                        </a:rPr>
                        <a:t>.254 or </a:t>
                      </a:r>
                      <a:r>
                        <a:rPr lang="fr-FR" sz="1000" b="1">
                          <a:effectLst/>
                        </a:rPr>
                        <a:t>/24</a:t>
                      </a:r>
                    </a:p>
                  </a:txBody>
                  <a:tcPr marL="31750" marR="31750" marT="31750" marB="31750" anchor="ctr"/>
                </a:tc>
                <a:tc>
                  <a:txBody>
                    <a:bodyPr/>
                    <a:lstStyle/>
                    <a:p>
                      <a:pPr algn="ctr" rtl="0" fontAlgn="ctr"/>
                      <a:r>
                        <a:rPr lang="fr-FR" sz="1000" b="0">
                          <a:effectLst/>
                          <a:latin typeface="Courier New" panose="02070309020205020404" pitchFamily="49" charset="0"/>
                          <a:cs typeface="Courier New" panose="02070309020205020404" pitchFamily="49" charset="0"/>
                        </a:rPr>
                        <a:t>192 168 10</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fr-FR" sz="1000" b="0">
                          <a:effectLst/>
                          <a:latin typeface="Courier New" panose="02070309020205020404" pitchFamily="49" charset="0"/>
                          <a:cs typeface="Courier New" panose="02070309020205020404" pitchFamily="49" charset="0"/>
                        </a:rPr>
                        <a:t>254</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11111110</a:t>
                      </a:r>
                    </a:p>
                  </a:txBody>
                  <a:tcPr marL="31750" marR="31750" marT="31750" marB="31750" anchor="ctr"/>
                </a:tc>
                <a:tc>
                  <a:txBody>
                    <a:bodyPr/>
                    <a:lstStyle/>
                    <a:p>
                      <a:pPr algn="ctr" rtl="0" fontAlgn="ctr"/>
                      <a:r>
                        <a:rPr lang="fr-FR" sz="1000" b="0">
                          <a:effectLst/>
                        </a:rPr>
                        <a:t>All 1s and a 0</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018522862"/>
                  </a:ext>
                </a:extLst>
              </a:tr>
              <a:tr h="370840">
                <a:tc>
                  <a:txBody>
                    <a:bodyPr/>
                    <a:lstStyle/>
                    <a:p>
                      <a:pPr rtl="0" fontAlgn="ctr"/>
                      <a:r>
                        <a:rPr lang="fr-FR" sz="1000" b="0">
                          <a:effectLst/>
                        </a:rPr>
                        <a:t>Adresse de diffusion</a:t>
                      </a:r>
                    </a:p>
                    <a:p>
                      <a:pPr rtl="0" fontAlgn="ctr"/>
                      <a:r>
                        <a:rPr lang="fr-FR" sz="1000" b="1">
                          <a:effectLst/>
                        </a:rPr>
                        <a:t>192.168.10</a:t>
                      </a:r>
                      <a:r>
                        <a:rPr lang="fr-FR" sz="1000" b="0">
                          <a:effectLst/>
                        </a:rPr>
                        <a:t>.255 or </a:t>
                      </a:r>
                      <a:r>
                        <a:rPr lang="fr-FR" sz="1000" b="1">
                          <a:effectLst/>
                        </a:rPr>
                        <a:t>/24</a:t>
                      </a:r>
                    </a:p>
                  </a:txBody>
                  <a:tcPr marL="31750" marR="31750" marT="31750" marB="31750" anchor="ctr"/>
                </a:tc>
                <a:tc>
                  <a:txBody>
                    <a:bodyPr/>
                    <a:lstStyle/>
                    <a:p>
                      <a:pPr algn="ctr" rtl="0" fontAlgn="ctr"/>
                      <a:r>
                        <a:rPr lang="fr-FR" sz="1000" b="0">
                          <a:effectLst/>
                          <a:latin typeface="Courier New" panose="02070309020205020404" pitchFamily="49" charset="0"/>
                          <a:cs typeface="Courier New" panose="02070309020205020404" pitchFamily="49" charset="0"/>
                        </a:rPr>
                        <a:t>192 168 10</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fr-FR" sz="1000" b="0">
                          <a:effectLst/>
                          <a:latin typeface="Courier New" panose="02070309020205020404" pitchFamily="49" charset="0"/>
                          <a:cs typeface="Courier New" panose="02070309020205020404" pitchFamily="49" charset="0"/>
                        </a:rPr>
                        <a:t>255</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a:t>
                      </a:r>
                    </a:p>
                  </a:txBody>
                  <a:tcPr marL="31750" marR="31750" marT="31750" marB="31750" anchor="ctr"/>
                </a:tc>
                <a:tc>
                  <a:txBody>
                    <a:bodyPr/>
                    <a:lstStyle/>
                    <a:p>
                      <a:pPr algn="ctr" rtl="0" fontAlgn="ctr"/>
                      <a:r>
                        <a:rPr lang="fr-FR" sz="1000" b="0">
                          <a:effectLst/>
                        </a:rPr>
                        <a:t>All 1s and a 0</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127298640"/>
                  </a:ext>
                </a:extLst>
              </a:tr>
            </a:tbl>
          </a:graphicData>
        </a:graphic>
      </p:graphicFrame>
    </p:spTree>
    <p:extLst>
      <p:ext uri="{BB962C8B-B14F-4D97-AF65-F5344CB8AC3E}">
        <p14:creationId xmlns:p14="http://schemas.microsoft.com/office/powerpoint/2010/main" val="324140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8758" y="2372360"/>
            <a:ext cx="7848344" cy="929640"/>
          </a:xfrm>
        </p:spPr>
        <p:txBody>
          <a:bodyPr/>
          <a:lstStyle/>
          <a:p>
            <a:pPr rtl="0"/>
            <a:r>
              <a:rPr lang="fr-FR" dirty="0">
                <a:solidFill>
                  <a:schemeClr val="accent5">
                    <a:lumMod val="40000"/>
                    <a:lumOff val="60000"/>
                  </a:schemeClr>
                </a:solidFill>
              </a:rPr>
              <a:t>11.2 Adresses IPv4 de monodiffusion, de diffusion et de multidiffusion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76200" y="110067"/>
            <a:ext cx="8345488" cy="731837"/>
          </a:xfrm>
        </p:spPr>
        <p:txBody>
          <a:bodyPr/>
          <a:lstStyle/>
          <a:p>
            <a:pPr rtl="0"/>
            <a:r>
              <a:rPr lang="fr-FR" sz="1600" dirty="0"/>
              <a:t>Adresses IPv4 de monodiffusion, de diffusion et de multidiffusion</a:t>
            </a:r>
            <a:r>
              <a:rPr lang="en-US" dirty="0"/>
              <a:t/>
            </a:r>
            <a:br>
              <a:rPr lang="en-US" dirty="0"/>
            </a:br>
            <a:r>
              <a:rPr lang="fr-FR" sz="2400" dirty="0"/>
              <a:t>Monodiffusion</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8280057" cy="1180771"/>
          </a:xfrm>
        </p:spPr>
        <p:txBody>
          <a:bodyPr/>
          <a:lstStyle/>
          <a:p>
            <a:pPr marL="342900" indent="-342900" algn="l" rtl="0">
              <a:buFont typeface="Arial" panose="020B0604020202020204" pitchFamily="34" charset="0"/>
              <a:buChar char="•"/>
            </a:pPr>
            <a:r>
              <a:rPr lang="fr-FR" sz="1600">
                <a:solidFill>
                  <a:srgbClr val="000000"/>
                </a:solidFill>
              </a:rPr>
              <a:t>La transmission monodiffusion envoie un paquet à une adresse IP de destination.</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a:solidFill>
                  <a:srgbClr val="000000"/>
                </a:solidFill>
              </a:rPr>
              <a:t>Par exemple, le PC à 172.16.4.1 envoie un paquet monodiffusion à l'imprimante à 172.16.4.253.</a:t>
            </a: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5B7E06A5-43CA-4616-9CC2-40C3C98FD60E}"/>
              </a:ext>
            </a:extLst>
          </p:cNvPr>
          <p:cNvPicPr>
            <a:picLocks noChangeAspect="1"/>
          </p:cNvPicPr>
          <p:nvPr/>
        </p:nvPicPr>
        <p:blipFill>
          <a:blip r:embed="rId3"/>
          <a:stretch>
            <a:fillRect/>
          </a:stretch>
        </p:blipFill>
        <p:spPr>
          <a:xfrm>
            <a:off x="800192" y="2180068"/>
            <a:ext cx="2829973" cy="2316347"/>
          </a:xfrm>
          <a:prstGeom prst="rect">
            <a:avLst/>
          </a:prstGeom>
        </p:spPr>
      </p:pic>
      <p:sp>
        <p:nvSpPr>
          <p:cNvPr id="6" name="Arrow: Right 5">
            <a:extLst>
              <a:ext uri="{FF2B5EF4-FFF2-40B4-BE49-F238E27FC236}">
                <a16:creationId xmlns:a16="http://schemas.microsoft.com/office/drawing/2014/main" xmlns:c15="http://schemas.microsoft.com/office/drawing/2012/chart" xmlns:c="http://schemas.openxmlformats.org/drawingml/2006/chart" xmlns="" id="{60C084AC-73BA-4205-822C-80E03F10B01A}"/>
              </a:ext>
            </a:extLst>
          </p:cNvPr>
          <p:cNvSpPr/>
          <p:nvPr/>
        </p:nvSpPr>
        <p:spPr>
          <a:xfrm>
            <a:off x="4001845" y="3043061"/>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5" name="Picture 4">
            <a:extLst>
              <a:ext uri="{FF2B5EF4-FFF2-40B4-BE49-F238E27FC236}">
                <a16:creationId xmlns:a16="http://schemas.microsoft.com/office/drawing/2014/main" xmlns:c15="http://schemas.microsoft.com/office/drawing/2012/chart" xmlns:c="http://schemas.openxmlformats.org/drawingml/2006/chart" xmlns="" id="{0D0A7C70-F6C2-47F7-8084-E8C34124C64B}"/>
              </a:ext>
            </a:extLst>
          </p:cNvPr>
          <p:cNvPicPr>
            <a:picLocks noChangeAspect="1"/>
          </p:cNvPicPr>
          <p:nvPr/>
        </p:nvPicPr>
        <p:blipFill>
          <a:blip r:embed="rId4"/>
          <a:stretch>
            <a:fillRect/>
          </a:stretch>
        </p:blipFill>
        <p:spPr>
          <a:xfrm>
            <a:off x="5052151" y="2259314"/>
            <a:ext cx="2829973" cy="2316347"/>
          </a:xfrm>
          <a:prstGeom prst="rect">
            <a:avLst/>
          </a:prstGeom>
        </p:spPr>
      </p:pic>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01600" y="93133"/>
            <a:ext cx="8345488" cy="731837"/>
          </a:xfrm>
        </p:spPr>
        <p:txBody>
          <a:bodyPr/>
          <a:lstStyle/>
          <a:p>
            <a:pPr rtl="0"/>
            <a:r>
              <a:rPr lang="fr-FR" sz="1600" dirty="0"/>
              <a:t>Adresses IPv4 de monodiffusion, de diffusion et de multidiffusion</a:t>
            </a:r>
            <a:r>
              <a:rPr lang="en-US" dirty="0"/>
              <a:t/>
            </a:r>
            <a:br>
              <a:rPr lang="en-US" dirty="0"/>
            </a:br>
            <a:r>
              <a:rPr lang="fr-FR" sz="2400" dirty="0"/>
              <a:t>Diffusion</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8280057" cy="1001661"/>
          </a:xfrm>
        </p:spPr>
        <p:txBody>
          <a:bodyPr/>
          <a:lstStyle/>
          <a:p>
            <a:pPr marL="342900" indent="-342900" algn="l" rtl="0">
              <a:buFont typeface="Arial" panose="020B0604020202020204" pitchFamily="34" charset="0"/>
              <a:buChar char="•"/>
            </a:pPr>
            <a:r>
              <a:rPr lang="fr-FR" sz="1600">
                <a:solidFill>
                  <a:srgbClr val="000000"/>
                </a:solidFill>
              </a:rPr>
              <a:t>La transmission de diffusion envoie un paquet à toutes les autres adresses IP de destination.</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a:solidFill>
                  <a:srgbClr val="000000"/>
                </a:solidFill>
              </a:rPr>
              <a:t>Par exemple, le PC à 172.16.4.1 envoie un paquet de diffusion à tous les hôtes IPv4.</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xmlns:c15="http://schemas.microsoft.com/office/drawing/2012/chart" xmlns:c="http://schemas.openxmlformats.org/drawingml/2006/chart" xmlns="" id="{34F68B31-29E2-43C7-A438-1CE3A9BE1B74}"/>
              </a:ext>
            </a:extLst>
          </p:cNvPr>
          <p:cNvPicPr>
            <a:picLocks noChangeAspect="1"/>
          </p:cNvPicPr>
          <p:nvPr/>
        </p:nvPicPr>
        <p:blipFill>
          <a:blip r:embed="rId3"/>
          <a:stretch>
            <a:fillRect/>
          </a:stretch>
        </p:blipFill>
        <p:spPr>
          <a:xfrm>
            <a:off x="896757" y="2145194"/>
            <a:ext cx="2814401" cy="2423094"/>
          </a:xfrm>
          <a:prstGeom prst="rect">
            <a:avLst/>
          </a:prstGeom>
        </p:spPr>
      </p:pic>
      <p:sp>
        <p:nvSpPr>
          <p:cNvPr id="6" name="Arrow: Right 5">
            <a:extLst>
              <a:ext uri="{FF2B5EF4-FFF2-40B4-BE49-F238E27FC236}">
                <a16:creationId xmlns:a16="http://schemas.microsoft.com/office/drawing/2014/main" xmlns:c15="http://schemas.microsoft.com/office/drawing/2012/chart" xmlns:c="http://schemas.openxmlformats.org/drawingml/2006/chart" xmlns="" id="{AD1DB5E3-6538-4D97-B86F-3537291085CA}"/>
              </a:ext>
            </a:extLst>
          </p:cNvPr>
          <p:cNvSpPr/>
          <p:nvPr/>
        </p:nvSpPr>
        <p:spPr>
          <a:xfrm>
            <a:off x="4046847" y="2963732"/>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11" name="Picture 10">
            <a:extLst>
              <a:ext uri="{FF2B5EF4-FFF2-40B4-BE49-F238E27FC236}">
                <a16:creationId xmlns:a16="http://schemas.microsoft.com/office/drawing/2014/main" xmlns:c15="http://schemas.microsoft.com/office/drawing/2012/chart" xmlns:c="http://schemas.openxmlformats.org/drawingml/2006/chart" xmlns="" id="{226D91D6-8B82-4552-BA7F-ACD3DC677865}"/>
              </a:ext>
            </a:extLst>
          </p:cNvPr>
          <p:cNvPicPr>
            <a:picLocks noChangeAspect="1"/>
          </p:cNvPicPr>
          <p:nvPr/>
        </p:nvPicPr>
        <p:blipFill>
          <a:blip r:embed="rId4"/>
          <a:stretch>
            <a:fillRect/>
          </a:stretch>
        </p:blipFill>
        <p:spPr>
          <a:xfrm>
            <a:off x="5295098" y="2254926"/>
            <a:ext cx="2814401" cy="2423094"/>
          </a:xfrm>
          <a:prstGeom prst="rect">
            <a:avLst/>
          </a:prstGeom>
        </p:spPr>
      </p:pic>
    </p:spTree>
    <p:extLst>
      <p:ext uri="{BB962C8B-B14F-4D97-AF65-F5344CB8AC3E}">
        <p14:creationId xmlns:p14="http://schemas.microsoft.com/office/powerpoint/2010/main" val="116613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27000" y="135466"/>
            <a:ext cx="8345488" cy="731837"/>
          </a:xfrm>
        </p:spPr>
        <p:txBody>
          <a:bodyPr/>
          <a:lstStyle/>
          <a:p>
            <a:pPr rtl="0"/>
            <a:r>
              <a:rPr lang="fr-FR" sz="1600" dirty="0"/>
              <a:t>Adresses IPv4 de monodiffusion, de diffusion et de multidiffusion</a:t>
            </a:r>
            <a:r>
              <a:rPr lang="en-US" dirty="0"/>
              <a:t/>
            </a:r>
            <a:br>
              <a:rPr lang="en-US" dirty="0"/>
            </a:br>
            <a:r>
              <a:rPr lang="fr-FR" sz="2400" dirty="0" smtClean="0"/>
              <a:t>Multidiffusion</a:t>
            </a:r>
            <a:endParaRPr lang="fr-FR" sz="2400" dirty="0"/>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384836" y="957019"/>
            <a:ext cx="8280057" cy="1180771"/>
          </a:xfrm>
        </p:spPr>
        <p:txBody>
          <a:bodyPr/>
          <a:lstStyle/>
          <a:p>
            <a:pPr marL="342900" indent="-342900" algn="l" rtl="0">
              <a:buFont typeface="Arial" panose="020B0604020202020204" pitchFamily="34" charset="0"/>
              <a:buChar char="•"/>
            </a:pPr>
            <a:r>
              <a:rPr lang="fr-FR" sz="1600" dirty="0">
                <a:solidFill>
                  <a:srgbClr val="000000"/>
                </a:solidFill>
              </a:rPr>
              <a:t>La transmission de multidiffusion envoie un paquet à un groupe d'adresses de multidiffusion.</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dirty="0">
                <a:solidFill>
                  <a:srgbClr val="000000"/>
                </a:solidFill>
              </a:rPr>
              <a:t>Par exemple, le PC à 172.16.4.1 envoie un paquet de multidiffusion à l'adresse du groupe de multidiffusion 224.10.10.5.</a:t>
            </a:r>
          </a:p>
        </p:txBody>
      </p:sp>
      <p:pic>
        <p:nvPicPr>
          <p:cNvPr id="6" name="Picture 5">
            <a:extLst>
              <a:ext uri="{FF2B5EF4-FFF2-40B4-BE49-F238E27FC236}">
                <a16:creationId xmlns:a16="http://schemas.microsoft.com/office/drawing/2014/main" xmlns:c15="http://schemas.microsoft.com/office/drawing/2012/chart" xmlns:c="http://schemas.openxmlformats.org/drawingml/2006/chart" xmlns="" id="{0508B46F-E225-4F03-B437-98A0BB4F765A}"/>
              </a:ext>
            </a:extLst>
          </p:cNvPr>
          <p:cNvPicPr>
            <a:picLocks noChangeAspect="1"/>
          </p:cNvPicPr>
          <p:nvPr/>
        </p:nvPicPr>
        <p:blipFill>
          <a:blip r:embed="rId3"/>
          <a:stretch>
            <a:fillRect/>
          </a:stretch>
        </p:blipFill>
        <p:spPr>
          <a:xfrm>
            <a:off x="918273" y="2405304"/>
            <a:ext cx="2862981" cy="2169526"/>
          </a:xfrm>
          <a:prstGeom prst="rect">
            <a:avLst/>
          </a:prstGeom>
        </p:spPr>
      </p:pic>
      <p:sp>
        <p:nvSpPr>
          <p:cNvPr id="8" name="Arrow: Right 7">
            <a:extLst>
              <a:ext uri="{FF2B5EF4-FFF2-40B4-BE49-F238E27FC236}">
                <a16:creationId xmlns:a16="http://schemas.microsoft.com/office/drawing/2014/main" xmlns:c15="http://schemas.microsoft.com/office/drawing/2012/chart" xmlns:c="http://schemas.openxmlformats.org/drawingml/2006/chart" xmlns="" id="{7B0C162D-3A37-40E3-9806-62C97CB24D0F}"/>
              </a:ext>
            </a:extLst>
          </p:cNvPr>
          <p:cNvSpPr/>
          <p:nvPr/>
        </p:nvSpPr>
        <p:spPr>
          <a:xfrm>
            <a:off x="3999712" y="2899286"/>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7" name="Picture 6">
            <a:extLst>
              <a:ext uri="{FF2B5EF4-FFF2-40B4-BE49-F238E27FC236}">
                <a16:creationId xmlns:a16="http://schemas.microsoft.com/office/drawing/2014/main" xmlns:c15="http://schemas.microsoft.com/office/drawing/2012/chart" xmlns:c="http://schemas.openxmlformats.org/drawingml/2006/chart" xmlns="" id="{ACC59E69-3898-4F73-83D5-D2A1CF5F0CE6}"/>
              </a:ext>
            </a:extLst>
          </p:cNvPr>
          <p:cNvPicPr>
            <a:picLocks noChangeAspect="1"/>
          </p:cNvPicPr>
          <p:nvPr/>
        </p:nvPicPr>
        <p:blipFill>
          <a:blip r:embed="rId4"/>
          <a:stretch>
            <a:fillRect/>
          </a:stretch>
        </p:blipFill>
        <p:spPr>
          <a:xfrm>
            <a:off x="5141444" y="2417881"/>
            <a:ext cx="2862981" cy="2169526"/>
          </a:xfrm>
          <a:prstGeom prst="rect">
            <a:avLst/>
          </a:prstGeom>
        </p:spPr>
      </p:pic>
    </p:spTree>
    <p:extLst>
      <p:ext uri="{BB962C8B-B14F-4D97-AF65-F5344CB8AC3E}">
        <p14:creationId xmlns:p14="http://schemas.microsoft.com/office/powerpoint/2010/main" val="20855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11.3 Types d'adresses IPv4</a:t>
            </a:r>
          </a:p>
        </p:txBody>
      </p:sp>
    </p:spTree>
    <p:custDataLst>
      <p:tags r:id="rId1"/>
    </p:custDataLst>
    <p:extLst>
      <p:ext uri="{BB962C8B-B14F-4D97-AF65-F5344CB8AC3E}">
        <p14:creationId xmlns:p14="http://schemas.microsoft.com/office/powerpoint/2010/main" val="178210768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0"/>
            <a:ext cx="8345488" cy="731837"/>
          </a:xfrm>
        </p:spPr>
        <p:txBody>
          <a:bodyPr/>
          <a:lstStyle/>
          <a:p>
            <a:pPr rtl="0"/>
            <a:r>
              <a:rPr lang="fr-FR" sz="1600"/>
              <a:t>Types d'adresses IPv4</a:t>
            </a:r>
            <a:r>
              <a:rPr lang="en-US" dirty="0"/>
              <a:t/>
            </a:r>
            <a:br>
              <a:rPr lang="en-US" dirty="0"/>
            </a:br>
            <a:r>
              <a:rPr lang="fr-FR" sz="2400"/>
              <a:t>Les adresses IPv4 publiques et privées</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8280057" cy="825923"/>
          </a:xfrm>
        </p:spPr>
        <p:txBody>
          <a:bodyPr/>
          <a:lstStyle/>
          <a:p>
            <a:pPr marL="342900" indent="-342900" algn="l" rtl="0">
              <a:buFont typeface="Arial" panose="020B0604020202020204" pitchFamily="34" charset="0"/>
              <a:buChar char="•"/>
            </a:pPr>
            <a:r>
              <a:rPr lang="fr-FR" sz="1600">
                <a:solidFill>
                  <a:srgbClr val="000000"/>
                </a:solidFill>
              </a:rPr>
              <a:t>Selon la définition de la RFC 1918, les adresses IPv4 publiques sont acheminées globalement entre les routeurs des FAI (fournisseurs d'accès à Internet).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a:solidFill>
                  <a:srgbClr val="000000"/>
                </a:solidFill>
              </a:rPr>
              <a:t>Cependant, les adresses ne sont pas routables globalement.</a:t>
            </a: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xmlns:c15="http://schemas.microsoft.com/office/drawing/2012/chart" xmlns:c="http://schemas.openxmlformats.org/drawingml/2006/chart" xmlns="" id="{58479601-5CDB-4C0D-B13C-379A83A14207}"/>
              </a:ext>
            </a:extLst>
          </p:cNvPr>
          <p:cNvSpPr txBox="1">
            <a:spLocks/>
          </p:cNvSpPr>
          <p:nvPr/>
        </p:nvSpPr>
        <p:spPr>
          <a:xfrm>
            <a:off x="431971" y="1681342"/>
            <a:ext cx="4269121" cy="24603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fr-FR" sz="1600">
                <a:solidFill>
                  <a:srgbClr val="000000"/>
                </a:solidFill>
              </a:rPr>
              <a:t>Certains blocs d'adresses appelés adresses privées sont utilisés par la plupart des entreprises pour attribuer des adresses IPv4 aux hôtes internes.</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a:solidFill>
                  <a:srgbClr val="000000"/>
                </a:solidFill>
              </a:rPr>
              <a:t>Les adresses IPv4 privées ne sont pas uniques et peuvent être utilisées par n'importe quel réseau interne.</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graphicFrame>
        <p:nvGraphicFramePr>
          <p:cNvPr id="6" name="Table 5">
            <a:extLst>
              <a:ext uri="{FF2B5EF4-FFF2-40B4-BE49-F238E27FC236}">
                <a16:creationId xmlns:a16="http://schemas.microsoft.com/office/drawing/2014/main" xmlns:c15="http://schemas.microsoft.com/office/drawing/2012/chart" xmlns:c="http://schemas.openxmlformats.org/drawingml/2006/chart" xmlns="" id="{89B44CF3-2CFA-4BA2-948A-BF99DA4FD67D}"/>
              </a:ext>
            </a:extLst>
          </p:cNvPr>
          <p:cNvGraphicFramePr>
            <a:graphicFrameLocks noGrp="1"/>
          </p:cNvGraphicFramePr>
          <p:nvPr>
            <p:extLst>
              <p:ext uri="{D42A27DB-BD31-4B8C-83A1-F6EECF244321}">
                <p14:modId xmlns:p14="http://schemas.microsoft.com/office/powerpoint/2010/main" val="728869958"/>
              </p:ext>
            </p:extLst>
          </p:nvPr>
        </p:nvGraphicFramePr>
        <p:xfrm>
          <a:off x="5173532" y="1804924"/>
          <a:ext cx="3644396" cy="1511300"/>
        </p:xfrm>
        <a:graphic>
          <a:graphicData uri="http://schemas.openxmlformats.org/drawingml/2006/table">
            <a:tbl>
              <a:tblPr firstRow="1" bandRow="1">
                <a:tableStyleId>{5C22544A-7EE6-4342-B048-85BDC9FD1C3A}</a:tableStyleId>
              </a:tblPr>
              <a:tblGrid>
                <a:gridCol w="1219648">
                  <a:extLst>
                    <a:ext uri="{9D8B030D-6E8A-4147-A177-3AD203B41FA5}">
                      <a16:colId xmlns:a16="http://schemas.microsoft.com/office/drawing/2014/main" xmlns:c15="http://schemas.microsoft.com/office/drawing/2012/chart" xmlns:c="http://schemas.openxmlformats.org/drawingml/2006/chart" xmlns="" val="828829070"/>
                    </a:ext>
                  </a:extLst>
                </a:gridCol>
                <a:gridCol w="2424748">
                  <a:extLst>
                    <a:ext uri="{9D8B030D-6E8A-4147-A177-3AD203B41FA5}">
                      <a16:colId xmlns:a16="http://schemas.microsoft.com/office/drawing/2014/main" xmlns:c15="http://schemas.microsoft.com/office/drawing/2012/chart" xmlns:c="http://schemas.openxmlformats.org/drawingml/2006/chart" xmlns="" val="1771473634"/>
                    </a:ext>
                  </a:extLst>
                </a:gridCol>
              </a:tblGrid>
              <a:tr h="370840">
                <a:tc>
                  <a:txBody>
                    <a:bodyPr/>
                    <a:lstStyle/>
                    <a:p>
                      <a:pPr algn="l" rtl="0" fontAlgn="ctr"/>
                      <a:r>
                        <a:rPr lang="fr-FR" sz="1100" b="1">
                          <a:effectLst/>
                        </a:rPr>
                        <a:t>Adresse réseau et préfixe</a:t>
                      </a:r>
                    </a:p>
                  </a:txBody>
                  <a:tcPr marL="31750" marR="31750" marT="31750" marB="31750" anchor="ctr"/>
                </a:tc>
                <a:tc>
                  <a:txBody>
                    <a:bodyPr/>
                    <a:lstStyle/>
                    <a:p>
                      <a:pPr algn="l" rtl="0" fontAlgn="ctr"/>
                      <a:r>
                        <a:rPr lang="fr-FR" sz="1100" b="1">
                          <a:effectLst/>
                        </a:rPr>
                        <a:t>Gamme d'adresses privée RFC 1918</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171941068"/>
                  </a:ext>
                </a:extLst>
              </a:tr>
              <a:tr h="370840">
                <a:tc>
                  <a:txBody>
                    <a:bodyPr/>
                    <a:lstStyle/>
                    <a:p>
                      <a:pPr rtl="0" fontAlgn="ctr"/>
                      <a:r>
                        <a:rPr lang="fr-FR" sz="1100" b="0">
                          <a:effectLst/>
                        </a:rPr>
                        <a:t>10.0.0.0/8</a:t>
                      </a:r>
                    </a:p>
                  </a:txBody>
                  <a:tcPr marL="31750" marR="31750" marT="31750" marB="31750" anchor="ctr"/>
                </a:tc>
                <a:tc>
                  <a:txBody>
                    <a:bodyPr/>
                    <a:lstStyle/>
                    <a:p>
                      <a:pPr rtl="0" fontAlgn="ctr"/>
                      <a:r>
                        <a:rPr lang="fr-FR" sz="1100" b="0">
                          <a:effectLst/>
                        </a:rPr>
                        <a:t>10.0.0.0 - 10.255.255.255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015275534"/>
                  </a:ext>
                </a:extLst>
              </a:tr>
              <a:tr h="370840">
                <a:tc>
                  <a:txBody>
                    <a:bodyPr/>
                    <a:lstStyle/>
                    <a:p>
                      <a:pPr rtl="0" fontAlgn="ctr"/>
                      <a:r>
                        <a:rPr lang="fr-FR" sz="1100" b="0">
                          <a:effectLst/>
                        </a:rPr>
                        <a:t>172.16.0.0/12</a:t>
                      </a:r>
                    </a:p>
                  </a:txBody>
                  <a:tcPr marL="31750" marR="31750" marT="31750" marB="31750" anchor="ctr"/>
                </a:tc>
                <a:tc>
                  <a:txBody>
                    <a:bodyPr/>
                    <a:lstStyle/>
                    <a:p>
                      <a:pPr rtl="0" fontAlgn="ctr"/>
                      <a:r>
                        <a:rPr lang="fr-FR" sz="1100" b="0">
                          <a:effectLst/>
                        </a:rPr>
                        <a:t>172.16.0.0 - 172.31.255.255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058997535"/>
                  </a:ext>
                </a:extLst>
              </a:tr>
              <a:tr h="370840">
                <a:tc>
                  <a:txBody>
                    <a:bodyPr/>
                    <a:lstStyle/>
                    <a:p>
                      <a:pPr rtl="0" fontAlgn="ctr"/>
                      <a:r>
                        <a:rPr lang="fr-FR" sz="1100" b="0">
                          <a:effectLst/>
                        </a:rPr>
                        <a:t>192.168.0.0/16</a:t>
                      </a:r>
                    </a:p>
                  </a:txBody>
                  <a:tcPr marL="31750" marR="31750" marT="31750" marB="31750" anchor="ctr"/>
                </a:tc>
                <a:tc>
                  <a:txBody>
                    <a:bodyPr/>
                    <a:lstStyle/>
                    <a:p>
                      <a:pPr rtl="0" fontAlgn="ctr"/>
                      <a:r>
                        <a:rPr lang="fr-FR" sz="1100" b="0">
                          <a:effectLst/>
                        </a:rPr>
                        <a:t>192.168.0.0 - 192.168.255.255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597758659"/>
                  </a:ext>
                </a:extLst>
              </a:tr>
            </a:tbl>
          </a:graphicData>
        </a:graphic>
      </p:graphicFrame>
    </p:spTree>
    <p:extLst>
      <p:ext uri="{BB962C8B-B14F-4D97-AF65-F5344CB8AC3E}">
        <p14:creationId xmlns:p14="http://schemas.microsoft.com/office/powerpoint/2010/main" val="413273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76200" y="101600"/>
            <a:ext cx="8345488" cy="731837"/>
          </a:xfrm>
        </p:spPr>
        <p:txBody>
          <a:bodyPr/>
          <a:lstStyle/>
          <a:p>
            <a:pPr rtl="0"/>
            <a:r>
              <a:rPr lang="fr-FR" sz="1600" dirty="0"/>
              <a:t>Types d'adresses IPv4</a:t>
            </a:r>
            <a:r>
              <a:rPr lang="en-US" dirty="0"/>
              <a:t/>
            </a:r>
            <a:br>
              <a:rPr lang="en-US" dirty="0"/>
            </a:br>
            <a:r>
              <a:rPr lang="fr-FR" sz="2400" dirty="0"/>
              <a:t>Routage vers l'internet</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8280057" cy="728192"/>
          </a:xfrm>
        </p:spPr>
        <p:txBody>
          <a:bodyPr/>
          <a:lstStyle/>
          <a:p>
            <a:pPr marL="342900" indent="-342900" algn="l" rtl="0">
              <a:buFont typeface="Arial" panose="020B0604020202020204" pitchFamily="34" charset="0"/>
              <a:buChar char="•"/>
            </a:pPr>
            <a:r>
              <a:rPr lang="fr-FR" sz="1600">
                <a:solidFill>
                  <a:srgbClr val="000000"/>
                </a:solidFill>
              </a:rPr>
              <a:t>Le processus de traduction d'adresses réseau (NAT) convertit les adresses IPv4 privées en adresses IPv4 publiques.</a:t>
            </a:r>
          </a:p>
        </p:txBody>
      </p:sp>
      <p:sp>
        <p:nvSpPr>
          <p:cNvPr id="5" name="Content Placeholder 3">
            <a:extLst>
              <a:ext uri="{FF2B5EF4-FFF2-40B4-BE49-F238E27FC236}">
                <a16:creationId xmlns:a16="http://schemas.microsoft.com/office/drawing/2014/main" xmlns:c15="http://schemas.microsoft.com/office/drawing/2012/chart" xmlns:c="http://schemas.openxmlformats.org/drawingml/2006/chart" xmlns="" id="{BB41F94C-72F5-4291-BC41-D3CA12CF0380}"/>
              </a:ext>
            </a:extLst>
          </p:cNvPr>
          <p:cNvSpPr txBox="1">
            <a:spLocks/>
          </p:cNvSpPr>
          <p:nvPr/>
        </p:nvSpPr>
        <p:spPr>
          <a:xfrm>
            <a:off x="431971" y="1683758"/>
            <a:ext cx="2905739"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fr-FR" sz="1600">
                <a:solidFill>
                  <a:srgbClr val="000000"/>
                </a:solidFill>
              </a:rPr>
              <a:t>NAT est généralement activé sur le routeur périphérique qui se connecte à l'internet.</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a:solidFill>
                  <a:srgbClr val="000000"/>
                </a:solidFill>
              </a:rPr>
              <a:t>Il traduit les adresses IP privées en adresses IP publiques.</a:t>
            </a: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012E9573-E9D0-43E1-8820-1689885BBBE5}"/>
              </a:ext>
            </a:extLst>
          </p:cNvPr>
          <p:cNvPicPr>
            <a:picLocks noChangeAspect="1"/>
          </p:cNvPicPr>
          <p:nvPr/>
        </p:nvPicPr>
        <p:blipFill>
          <a:blip r:embed="rId3"/>
          <a:stretch>
            <a:fillRect/>
          </a:stretch>
        </p:blipFill>
        <p:spPr>
          <a:xfrm>
            <a:off x="3337710" y="1583611"/>
            <a:ext cx="5288257" cy="3440210"/>
          </a:xfrm>
          <a:prstGeom prst="rect">
            <a:avLst/>
          </a:prstGeom>
        </p:spPr>
      </p:pic>
    </p:spTree>
    <p:extLst>
      <p:ext uri="{BB962C8B-B14F-4D97-AF65-F5344CB8AC3E}">
        <p14:creationId xmlns:p14="http://schemas.microsoft.com/office/powerpoint/2010/main" val="288846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67734" y="169334"/>
            <a:ext cx="8345488" cy="731837"/>
          </a:xfrm>
        </p:spPr>
        <p:txBody>
          <a:bodyPr/>
          <a:lstStyle/>
          <a:p>
            <a:pPr rtl="0"/>
            <a:r>
              <a:rPr lang="fr-FR" sz="1600" dirty="0"/>
              <a:t>Les types d'adresses IPv4</a:t>
            </a:r>
            <a:r>
              <a:rPr lang="en-US" dirty="0"/>
              <a:t/>
            </a:r>
            <a:br>
              <a:rPr lang="en-US" dirty="0"/>
            </a:br>
            <a:r>
              <a:rPr lang="fr-FR" sz="2400" dirty="0"/>
              <a:t>Les adresses IPv4 des utilisateurs spéciaux</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4799905" cy="1478990"/>
          </a:xfrm>
        </p:spPr>
        <p:txBody>
          <a:bodyPr/>
          <a:lstStyle/>
          <a:p>
            <a:pPr marL="0" indent="0" algn="l" rtl="0"/>
            <a:r>
              <a:rPr lang="fr-FR">
                <a:solidFill>
                  <a:srgbClr val="000000"/>
                </a:solidFill>
              </a:rPr>
              <a:t>Adresses de bouclage</a:t>
            </a:r>
          </a:p>
          <a:p>
            <a:pPr marL="342900" indent="-342900" algn="l" rtl="0">
              <a:buFont typeface="Arial" panose="020B0604020202020204" pitchFamily="34" charset="0"/>
              <a:buChar char="•"/>
            </a:pPr>
            <a:r>
              <a:rPr lang="fr-FR" sz="1600">
                <a:solidFill>
                  <a:srgbClr val="000000"/>
                </a:solidFill>
              </a:rPr>
              <a:t>127.0.0.0 /8 (127.0.0.1 to 127.255.255.254)</a:t>
            </a:r>
          </a:p>
          <a:p>
            <a:pPr marL="342900" indent="-342900" algn="l" rtl="0">
              <a:buFont typeface="Arial" panose="020B0604020202020204" pitchFamily="34" charset="0"/>
              <a:buChar char="•"/>
            </a:pPr>
            <a:r>
              <a:rPr lang="fr-FR" sz="1600">
                <a:solidFill>
                  <a:srgbClr val="000000"/>
                </a:solidFill>
              </a:rPr>
              <a:t>Généralement identifié comme 127.0.0.1</a:t>
            </a:r>
          </a:p>
          <a:p>
            <a:pPr marL="342900" indent="-342900" algn="l" rtl="0">
              <a:buFont typeface="Arial" panose="020B0604020202020204" pitchFamily="34" charset="0"/>
              <a:buChar char="•"/>
            </a:pPr>
            <a:r>
              <a:rPr lang="fr-FR" sz="1600">
                <a:solidFill>
                  <a:srgbClr val="000000"/>
                </a:solidFill>
              </a:rPr>
              <a:t>Utilisées sur un hôte pour vérifier si la configuration TCP/IP est opérationnelle.</a:t>
            </a: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ADE57F18-BC87-45CB-B8E6-D449D45277B5}"/>
              </a:ext>
            </a:extLst>
          </p:cNvPr>
          <p:cNvPicPr>
            <a:picLocks noChangeAspect="1"/>
          </p:cNvPicPr>
          <p:nvPr/>
        </p:nvPicPr>
        <p:blipFill>
          <a:blip r:embed="rId3"/>
          <a:stretch>
            <a:fillRect/>
          </a:stretch>
        </p:blipFill>
        <p:spPr>
          <a:xfrm>
            <a:off x="5357308" y="1214135"/>
            <a:ext cx="3564074" cy="876875"/>
          </a:xfrm>
          <a:prstGeom prst="rect">
            <a:avLst/>
          </a:prstGeom>
        </p:spPr>
      </p:pic>
      <p:sp>
        <p:nvSpPr>
          <p:cNvPr id="5" name="Content Placeholder 3">
            <a:extLst>
              <a:ext uri="{FF2B5EF4-FFF2-40B4-BE49-F238E27FC236}">
                <a16:creationId xmlns:a16="http://schemas.microsoft.com/office/drawing/2014/main" xmlns:c15="http://schemas.microsoft.com/office/drawing/2012/chart" xmlns:c="http://schemas.openxmlformats.org/drawingml/2006/chart" xmlns="" id="{15B257E1-0405-4735-85E9-547525F12CE6}"/>
              </a:ext>
            </a:extLst>
          </p:cNvPr>
          <p:cNvSpPr txBox="1">
            <a:spLocks/>
          </p:cNvSpPr>
          <p:nvPr/>
        </p:nvSpPr>
        <p:spPr>
          <a:xfrm>
            <a:off x="431970" y="2385343"/>
            <a:ext cx="8206421" cy="190695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fr-FR">
                <a:solidFill>
                  <a:srgbClr val="000000"/>
                </a:solidFill>
              </a:rPr>
              <a:t>Adresses link-local</a:t>
            </a:r>
          </a:p>
          <a:p>
            <a:pPr marL="342900" indent="-342900" algn="l" rtl="0">
              <a:buFont typeface="Arial" panose="020B0604020202020204" pitchFamily="34" charset="0"/>
              <a:buChar char="•"/>
            </a:pPr>
            <a:r>
              <a:rPr lang="fr-FR" sz="1600">
                <a:solidFill>
                  <a:srgbClr val="000000"/>
                </a:solidFill>
              </a:rPr>
              <a:t>169.254.0.0 /16 (169.254.0.1 to 169.254.255.254)</a:t>
            </a:r>
          </a:p>
          <a:p>
            <a:pPr marL="342900" indent="-342900" algn="l" rtl="0">
              <a:buFont typeface="Arial" panose="020B0604020202020204" pitchFamily="34" charset="0"/>
              <a:buChar char="•"/>
            </a:pPr>
            <a:r>
              <a:rPr lang="fr-FR" sz="1600">
                <a:solidFill>
                  <a:srgbClr val="000000"/>
                </a:solidFill>
              </a:rPr>
              <a:t>Plus connues sous le nom d'adresses APIPA (adressage IP privé automatique), </a:t>
            </a:r>
          </a:p>
          <a:p>
            <a:pPr marL="342900" indent="-342900" algn="l" rtl="0">
              <a:buFont typeface="Arial" panose="020B0604020202020204" pitchFamily="34" charset="0"/>
              <a:buChar char="•"/>
            </a:pPr>
            <a:r>
              <a:rPr lang="fr-FR" sz="1600">
                <a:solidFill>
                  <a:srgbClr val="000000"/>
                </a:solidFill>
              </a:rPr>
              <a:t>Elles sont utilisées par un client DHCP Windows pour se configurer automatiquement si aucun serveur DHCP n'est disponible.</a:t>
            </a:r>
          </a:p>
        </p:txBody>
      </p:sp>
    </p:spTree>
    <p:extLst>
      <p:ext uri="{BB962C8B-B14F-4D97-AF65-F5344CB8AC3E}">
        <p14:creationId xmlns:p14="http://schemas.microsoft.com/office/powerpoint/2010/main" val="40078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93133" y="135467"/>
            <a:ext cx="8345488" cy="731837"/>
          </a:xfrm>
        </p:spPr>
        <p:txBody>
          <a:bodyPr/>
          <a:lstStyle/>
          <a:p>
            <a:pPr rtl="0"/>
            <a:r>
              <a:rPr lang="fr-FR" sz="1600" dirty="0"/>
              <a:t>Les types d'adresses IPv4</a:t>
            </a:r>
            <a:r>
              <a:rPr lang="en-US" dirty="0"/>
              <a:t/>
            </a:r>
            <a:br>
              <a:rPr lang="en-US" dirty="0"/>
            </a:br>
            <a:r>
              <a:rPr lang="fr-FR" sz="2400" dirty="0"/>
              <a:t>Ancien système d'adressage par classe</a:t>
            </a: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ADCDBF03-421E-4564-9492-4248ADBE461B}"/>
              </a:ext>
            </a:extLst>
          </p:cNvPr>
          <p:cNvPicPr>
            <a:picLocks noChangeAspect="1"/>
          </p:cNvPicPr>
          <p:nvPr/>
        </p:nvPicPr>
        <p:blipFill>
          <a:blip r:embed="rId3"/>
          <a:stretch>
            <a:fillRect/>
          </a:stretch>
        </p:blipFill>
        <p:spPr>
          <a:xfrm>
            <a:off x="5482551" y="1536047"/>
            <a:ext cx="3163682" cy="1836595"/>
          </a:xfrm>
          <a:prstGeom prst="rect">
            <a:avLst/>
          </a:prstGeom>
        </p:spPr>
      </p:pic>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2" y="990533"/>
            <a:ext cx="4956309" cy="4060826"/>
          </a:xfrm>
        </p:spPr>
        <p:txBody>
          <a:bodyPr/>
          <a:lstStyle/>
          <a:p>
            <a:pPr marL="0" indent="0" algn="l" rtl="0"/>
            <a:r>
              <a:rPr lang="fr-FR" sz="1400" dirty="0">
                <a:solidFill>
                  <a:srgbClr val="000000"/>
                </a:solidFill>
              </a:rPr>
              <a:t>les adresses IPv4 étaient attribuées à l'aide de l' adressage par classe tel que défini dans la RFC 790 (1981).</a:t>
            </a:r>
          </a:p>
          <a:p>
            <a:pPr marL="342900" indent="-342900" algn="l" rtl="0">
              <a:buFont typeface="Arial" panose="020B0604020202020204" pitchFamily="34" charset="0"/>
              <a:buChar char="•"/>
            </a:pPr>
            <a:r>
              <a:rPr lang="fr-FR" sz="1400" dirty="0">
                <a:solidFill>
                  <a:srgbClr val="000000"/>
                </a:solidFill>
              </a:rPr>
              <a:t>Classe A (0.0.0.0/8 à 127.0.0.0/8)</a:t>
            </a:r>
          </a:p>
          <a:p>
            <a:pPr marL="342900" indent="-342900" algn="l" rtl="0">
              <a:buFont typeface="Arial" panose="020B0604020202020204" pitchFamily="34" charset="0"/>
              <a:buChar char="•"/>
            </a:pPr>
            <a:r>
              <a:rPr lang="fr-FR" sz="1400" dirty="0">
                <a:solidFill>
                  <a:srgbClr val="000000"/>
                </a:solidFill>
              </a:rPr>
              <a:t>Classe B (128.0.0.0 /16 — 191.255.0.0 /16)</a:t>
            </a:r>
          </a:p>
          <a:p>
            <a:pPr marL="342900" indent="-342900" algn="l" rtl="0">
              <a:buFont typeface="Arial" panose="020B0604020202020204" pitchFamily="34" charset="0"/>
              <a:buChar char="•"/>
            </a:pPr>
            <a:r>
              <a:rPr lang="fr-FR" sz="1400" dirty="0">
                <a:solidFill>
                  <a:srgbClr val="000000"/>
                </a:solidFill>
              </a:rPr>
              <a:t>Classe C (192.0.0.0 /24 — 223.255.255.0 /24)</a:t>
            </a:r>
          </a:p>
          <a:p>
            <a:pPr marL="342900" indent="-342900" algn="l" rtl="0">
              <a:buFont typeface="Arial" panose="020B0604020202020204" pitchFamily="34" charset="0"/>
              <a:buChar char="•"/>
            </a:pPr>
            <a:r>
              <a:rPr lang="fr-FR" sz="1400" dirty="0">
                <a:solidFill>
                  <a:srgbClr val="000000"/>
                </a:solidFill>
              </a:rPr>
              <a:t>Classe D (224.0.0.0 à 239.0.0.0)</a:t>
            </a:r>
          </a:p>
          <a:p>
            <a:pPr marL="342900" indent="-342900" algn="l" rtl="0">
              <a:buFont typeface="Arial" panose="020B0604020202020204" pitchFamily="34" charset="0"/>
              <a:buChar char="•"/>
            </a:pPr>
            <a:r>
              <a:rPr lang="fr-FR" sz="1400" dirty="0">
                <a:solidFill>
                  <a:srgbClr val="000000"/>
                </a:solidFill>
              </a:rPr>
              <a:t>Classe E (240.0.0.0 — 255.0.0.0)</a:t>
            </a:r>
          </a:p>
          <a:p>
            <a:pPr marL="342900" indent="-342900" algn="l">
              <a:buFont typeface="Arial" panose="020B0604020202020204" pitchFamily="34" charset="0"/>
              <a:buChar char="•"/>
            </a:pPr>
            <a:endParaRPr lang="en-CA" sz="1400" dirty="0">
              <a:solidFill>
                <a:srgbClr val="000000"/>
              </a:solidFill>
            </a:endParaRPr>
          </a:p>
          <a:p>
            <a:pPr marL="342900" indent="-342900" algn="l" rtl="0">
              <a:buFont typeface="Arial" panose="020B0604020202020204" pitchFamily="34" charset="0"/>
              <a:buChar char="•"/>
            </a:pPr>
            <a:r>
              <a:rPr lang="fr-FR" sz="1400" dirty="0">
                <a:solidFill>
                  <a:srgbClr val="000000"/>
                </a:solidFill>
              </a:rPr>
              <a:t>L'adressage de classe a gaspillé de nombreuses adresses IPv4.</a:t>
            </a:r>
          </a:p>
          <a:p>
            <a:pPr marL="342900" indent="-342900" algn="l">
              <a:buFont typeface="Arial" panose="020B0604020202020204" pitchFamily="34" charset="0"/>
              <a:buChar char="•"/>
            </a:pPr>
            <a:endParaRPr lang="en-CA" sz="1400" dirty="0">
              <a:solidFill>
                <a:srgbClr val="000000"/>
              </a:solidFill>
            </a:endParaRPr>
          </a:p>
          <a:p>
            <a:pPr marL="0" indent="0" algn="l" rtl="0"/>
            <a:r>
              <a:rPr lang="fr-FR" sz="1400" dirty="0">
                <a:solidFill>
                  <a:srgbClr val="000000"/>
                </a:solidFill>
              </a:rPr>
              <a:t>L'allocation d'adresse par classe a été remplacée par l'adressage sans classe qui ignore les règles des classes (A, B, C). </a:t>
            </a:r>
          </a:p>
        </p:txBody>
      </p:sp>
    </p:spTree>
    <p:extLst>
      <p:ext uri="{BB962C8B-B14F-4D97-AF65-F5344CB8AC3E}">
        <p14:creationId xmlns:p14="http://schemas.microsoft.com/office/powerpoint/2010/main" val="72890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110067"/>
            <a:ext cx="8345488" cy="731837"/>
          </a:xfrm>
        </p:spPr>
        <p:txBody>
          <a:bodyPr/>
          <a:lstStyle/>
          <a:p>
            <a:pPr rtl="0"/>
            <a:r>
              <a:rPr lang="fr-FR" sz="1600" dirty="0"/>
              <a:t>Types d'adresses IPv4 </a:t>
            </a:r>
            <a:r>
              <a:rPr lang="en-US" dirty="0"/>
              <a:t/>
            </a:r>
            <a:br>
              <a:rPr lang="en-US" dirty="0"/>
            </a:br>
            <a:r>
              <a:rPr lang="fr-FR" sz="2400" dirty="0"/>
              <a:t>Attribution des adresses IP</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91535" y="1050152"/>
            <a:ext cx="8280057" cy="737711"/>
          </a:xfrm>
        </p:spPr>
        <p:txBody>
          <a:bodyPr/>
          <a:lstStyle/>
          <a:p>
            <a:pPr marL="342900" indent="-342900" algn="l" rtl="0">
              <a:buFont typeface="Arial" panose="020B0604020202020204" pitchFamily="34" charset="0"/>
              <a:buChar char="•"/>
            </a:pPr>
            <a:r>
              <a:rPr lang="fr-FR" sz="1600" dirty="0">
                <a:solidFill>
                  <a:srgbClr val="000000"/>
                </a:solidFill>
              </a:rPr>
              <a:t>L'IANA gère les blocs d'adresses IPv4 et IPv6 et les attribue aux organismes d'enregistrement Internet locaux (RIR).  </a:t>
            </a:r>
          </a:p>
        </p:txBody>
      </p:sp>
      <p:sp>
        <p:nvSpPr>
          <p:cNvPr id="5" name="Content Placeholder 3">
            <a:extLst>
              <a:ext uri="{FF2B5EF4-FFF2-40B4-BE49-F238E27FC236}">
                <a16:creationId xmlns:a16="http://schemas.microsoft.com/office/drawing/2014/main" xmlns:c15="http://schemas.microsoft.com/office/drawing/2012/chart" xmlns:c="http://schemas.openxmlformats.org/drawingml/2006/chart" xmlns="" id="{409BC4D9-9184-42D7-839E-39E96E08A3D4}"/>
              </a:ext>
            </a:extLst>
          </p:cNvPr>
          <p:cNvSpPr txBox="1">
            <a:spLocks/>
          </p:cNvSpPr>
          <p:nvPr/>
        </p:nvSpPr>
        <p:spPr>
          <a:xfrm>
            <a:off x="499703" y="1985916"/>
            <a:ext cx="3337951" cy="224824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fr-FR" sz="1600" dirty="0">
                <a:solidFill>
                  <a:srgbClr val="000000"/>
                </a:solidFill>
              </a:rPr>
              <a:t>Les RIR sont chargés d'attribuer des adresses IP à des FAI qui, à leur tour, fournissent des blocs d'adresses IPv4 aux entreprises et aux FAI de plus petite envergure. </a:t>
            </a: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B02C39C3-1B89-41EA-828D-DA77348A5746}"/>
              </a:ext>
            </a:extLst>
          </p:cNvPr>
          <p:cNvPicPr>
            <a:picLocks noChangeAspect="1"/>
          </p:cNvPicPr>
          <p:nvPr/>
        </p:nvPicPr>
        <p:blipFill>
          <a:blip r:embed="rId3"/>
          <a:stretch>
            <a:fillRect/>
          </a:stretch>
        </p:blipFill>
        <p:spPr>
          <a:xfrm>
            <a:off x="3937299" y="1862334"/>
            <a:ext cx="4607351" cy="2371831"/>
          </a:xfrm>
          <a:prstGeom prst="rect">
            <a:avLst/>
          </a:prstGeom>
        </p:spPr>
      </p:pic>
    </p:spTree>
    <p:extLst>
      <p:ext uri="{BB962C8B-B14F-4D97-AF65-F5344CB8AC3E}">
        <p14:creationId xmlns:p14="http://schemas.microsoft.com/office/powerpoint/2010/main" val="61974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8759" y="2092960"/>
            <a:ext cx="7848344" cy="929640"/>
          </a:xfrm>
        </p:spPr>
        <p:txBody>
          <a:bodyPr/>
          <a:lstStyle/>
          <a:p>
            <a:pPr rtl="0"/>
            <a:r>
              <a:rPr lang="fr-FR" dirty="0">
                <a:solidFill>
                  <a:schemeClr val="accent5">
                    <a:lumMod val="40000"/>
                    <a:lumOff val="60000"/>
                  </a:schemeClr>
                </a:solidFill>
              </a:rPr>
              <a:t>11.4 Segmentation du réseau</a:t>
            </a:r>
            <a:r>
              <a:rPr lang="en-CA" dirty="0">
                <a:solidFill>
                  <a:schemeClr val="accent5">
                    <a:lumMod val="40000"/>
                    <a:lumOff val="60000"/>
                  </a:schemeClr>
                </a:solidFill>
              </a:rPr>
              <a:t/>
            </a:r>
            <a:br>
              <a:rPr lang="en-CA" dirty="0">
                <a:solidFill>
                  <a:schemeClr val="accent5">
                    <a:lumMod val="40000"/>
                    <a:lumOff val="60000"/>
                  </a:schemeClr>
                </a:solidFill>
              </a:rPr>
            </a:br>
            <a:endParaRPr lang="en-CA"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4286237413"/>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27000" y="177800"/>
            <a:ext cx="8345488" cy="731837"/>
          </a:xfrm>
        </p:spPr>
        <p:txBody>
          <a:bodyPr/>
          <a:lstStyle/>
          <a:p>
            <a:pPr rtl="0"/>
            <a:r>
              <a:rPr lang="fr-FR" sz="1600" dirty="0"/>
              <a:t>La segmentation du réseau </a:t>
            </a:r>
            <a:r>
              <a:rPr lang="en-US" dirty="0"/>
              <a:t/>
            </a:r>
            <a:br>
              <a:rPr lang="en-US" dirty="0"/>
            </a:br>
            <a:r>
              <a:rPr lang="fr-FR" sz="2400" dirty="0"/>
              <a:t>Domaines de diffusion et de segmentation</a:t>
            </a:r>
          </a:p>
        </p:txBody>
      </p:sp>
      <p:sp>
        <p:nvSpPr>
          <p:cNvPr id="4" name="Content Placeholder 1">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23504" y="990884"/>
            <a:ext cx="8217177" cy="1190197"/>
          </a:xfrm>
        </p:spPr>
        <p:txBody>
          <a:bodyPr/>
          <a:lstStyle/>
          <a:p>
            <a:pPr marL="342900" indent="-342900" algn="l" rtl="0">
              <a:buFont typeface="Arial" panose="020B0604020202020204" pitchFamily="34" charset="0"/>
              <a:buChar char="•"/>
            </a:pPr>
            <a:r>
              <a:rPr lang="fr-FR" sz="1600" dirty="0">
                <a:solidFill>
                  <a:srgbClr val="000000"/>
                </a:solidFill>
              </a:rPr>
              <a:t>Plusieurs protocoles utilisent des diffusions ou des multidiffusions (par exemple, ARP utilise des diffusions pour localiser d'autres périphériques, les hôtes envoient des diffusions de découverte DHCP pour localiser un serveur DHCP.)</a:t>
            </a:r>
          </a:p>
          <a:p>
            <a:pPr marL="342900" indent="-342900" algn="l" rtl="0">
              <a:buFont typeface="Arial" panose="020B0604020202020204" pitchFamily="34" charset="0"/>
              <a:buChar char="•"/>
            </a:pPr>
            <a:r>
              <a:rPr lang="fr-FR" sz="1600" dirty="0">
                <a:solidFill>
                  <a:srgbClr val="000000"/>
                </a:solidFill>
              </a:rPr>
              <a:t>Les commutateurs diffusent les messages de diffusion sur toutes les interfaces, sauf celle d'où les messages proviennent. </a:t>
            </a: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10398782-9905-4785-9579-06EB01676450}"/>
              </a:ext>
            </a:extLst>
          </p:cNvPr>
          <p:cNvPicPr>
            <a:picLocks noChangeAspect="1"/>
          </p:cNvPicPr>
          <p:nvPr/>
        </p:nvPicPr>
        <p:blipFill>
          <a:blip r:embed="rId3"/>
          <a:stretch>
            <a:fillRect/>
          </a:stretch>
        </p:blipFill>
        <p:spPr>
          <a:xfrm>
            <a:off x="935916" y="2283381"/>
            <a:ext cx="4432055" cy="2638933"/>
          </a:xfrm>
          <a:prstGeom prst="rect">
            <a:avLst/>
          </a:prstGeom>
        </p:spPr>
      </p:pic>
      <p:sp>
        <p:nvSpPr>
          <p:cNvPr id="5" name="Content Placeholder 3">
            <a:extLst>
              <a:ext uri="{FF2B5EF4-FFF2-40B4-BE49-F238E27FC236}">
                <a16:creationId xmlns:a16="http://schemas.microsoft.com/office/drawing/2014/main" xmlns:c15="http://schemas.microsoft.com/office/drawing/2012/chart" xmlns:c="http://schemas.openxmlformats.org/drawingml/2006/chart" xmlns="" id="{845B5FA5-3694-4D86-AB3C-0BB4544AC221}"/>
              </a:ext>
            </a:extLst>
          </p:cNvPr>
          <p:cNvSpPr txBox="1">
            <a:spLocks/>
          </p:cNvSpPr>
          <p:nvPr/>
        </p:nvSpPr>
        <p:spPr>
          <a:xfrm>
            <a:off x="5464792" y="2287365"/>
            <a:ext cx="3324206" cy="23444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fr-FR" sz="1600" dirty="0">
                <a:solidFill>
                  <a:srgbClr val="000000"/>
                </a:solidFill>
              </a:rPr>
              <a:t>Le seul périphérique qui arrête les diffusions est un routeur.</a:t>
            </a:r>
          </a:p>
          <a:p>
            <a:pPr marL="342900" indent="-342900" algn="l" rtl="0">
              <a:buFont typeface="Arial" panose="020B0604020202020204" pitchFamily="34" charset="0"/>
              <a:buChar char="•"/>
            </a:pPr>
            <a:r>
              <a:rPr lang="fr-FR" sz="1600" dirty="0">
                <a:solidFill>
                  <a:srgbClr val="000000"/>
                </a:solidFill>
              </a:rPr>
              <a:t>Les routeurs ne diffusent pas les messages de diffusion. </a:t>
            </a:r>
          </a:p>
          <a:p>
            <a:pPr marL="342900" indent="-342900" algn="l" rtl="0">
              <a:buFont typeface="Arial" panose="020B0604020202020204" pitchFamily="34" charset="0"/>
              <a:buChar char="•"/>
            </a:pPr>
            <a:r>
              <a:rPr lang="fr-FR" sz="1600" dirty="0">
                <a:solidFill>
                  <a:srgbClr val="000000"/>
                </a:solidFill>
              </a:rPr>
              <a:t>Chaque interface de routeur se connecte à un domaine de diffusion, et les diffusions sont propagées dans leur domaine de diffusion spécifique.</a:t>
            </a:r>
          </a:p>
        </p:txBody>
      </p:sp>
    </p:spTree>
    <p:extLst>
      <p:ext uri="{BB962C8B-B14F-4D97-AF65-F5344CB8AC3E}">
        <p14:creationId xmlns:p14="http://schemas.microsoft.com/office/powerpoint/2010/main" val="46914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59267" y="87302"/>
            <a:ext cx="8345488" cy="731837"/>
          </a:xfrm>
        </p:spPr>
        <p:txBody>
          <a:bodyPr/>
          <a:lstStyle/>
          <a:p>
            <a:pPr rtl="0"/>
            <a:r>
              <a:rPr lang="fr-FR" sz="1600" dirty="0"/>
              <a:t>Segmentation du réseau</a:t>
            </a:r>
            <a:r>
              <a:rPr lang="en-US" dirty="0"/>
              <a:t/>
            </a:r>
            <a:br>
              <a:rPr lang="en-US" dirty="0"/>
            </a:br>
            <a:r>
              <a:rPr lang="fr-FR" sz="2400" dirty="0"/>
              <a:t>Problèmes liés aux domaines de diffusion importants</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358106" y="957018"/>
            <a:ext cx="4807003" cy="3899461"/>
          </a:xfrm>
        </p:spPr>
        <p:txBody>
          <a:bodyPr/>
          <a:lstStyle/>
          <a:p>
            <a:pPr marL="342900" indent="-342900" algn="l" rtl="0">
              <a:buFont typeface="Arial" panose="020B0604020202020204" pitchFamily="34" charset="0"/>
              <a:buChar char="•"/>
            </a:pPr>
            <a:r>
              <a:rPr lang="fr-FR" sz="1600" dirty="0">
                <a:solidFill>
                  <a:srgbClr val="000000"/>
                </a:solidFill>
              </a:rPr>
              <a:t>Dans ce type de domaine, les hôtes peuvent générer un nombre excessif de diffusion et ainsi avoir un impact négatif sur le réseau.</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dirty="0">
                <a:solidFill>
                  <a:srgbClr val="000000"/>
                </a:solidFill>
              </a:rPr>
              <a:t>La solution consiste à réduire la taille du réseau en créant de plus petits domaines de diffusion. C'est ce qu'on appelle le processus de création de sous-réseaux.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dirty="0">
                <a:solidFill>
                  <a:srgbClr val="000000"/>
                </a:solidFill>
              </a:rPr>
              <a:t>l'adresse réseau 172.16.0.0 /16 ont été divisés en deux sous-réseaux de 200 utilisateurs chacun : 172.16.0.0 /24 et 172.16.1.0 /24. </a:t>
            </a:r>
          </a:p>
          <a:p>
            <a:pPr marL="342900" indent="-342900" algn="l" rtl="0">
              <a:buFont typeface="Arial" panose="020B0604020202020204" pitchFamily="34" charset="0"/>
              <a:buChar char="•"/>
            </a:pPr>
            <a:r>
              <a:rPr lang="fr-FR" sz="1600" dirty="0">
                <a:solidFill>
                  <a:srgbClr val="000000"/>
                </a:solidFill>
              </a:rPr>
              <a:t>Les diffusions ne sont propagées qu'au sein des domaines de diffusion plus petits. </a:t>
            </a: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5A7A91AF-16E4-4E33-B4E6-A586D3355209}"/>
              </a:ext>
            </a:extLst>
          </p:cNvPr>
          <p:cNvPicPr>
            <a:picLocks noChangeAspect="1"/>
          </p:cNvPicPr>
          <p:nvPr/>
        </p:nvPicPr>
        <p:blipFill>
          <a:blip r:embed="rId3"/>
          <a:stretch>
            <a:fillRect/>
          </a:stretch>
        </p:blipFill>
        <p:spPr>
          <a:xfrm>
            <a:off x="5447794" y="793739"/>
            <a:ext cx="3330224" cy="1980005"/>
          </a:xfrm>
          <a:prstGeom prst="rect">
            <a:avLst/>
          </a:prstGeom>
        </p:spPr>
      </p:pic>
      <p:pic>
        <p:nvPicPr>
          <p:cNvPr id="5" name="Picture 4">
            <a:extLst>
              <a:ext uri="{FF2B5EF4-FFF2-40B4-BE49-F238E27FC236}">
                <a16:creationId xmlns:a16="http://schemas.microsoft.com/office/drawing/2014/main" xmlns:c15="http://schemas.microsoft.com/office/drawing/2012/chart" xmlns:c="http://schemas.openxmlformats.org/drawingml/2006/chart" xmlns="" id="{65746CC1-6CFB-4882-AB1A-AEF0BB4396C4}"/>
              </a:ext>
            </a:extLst>
          </p:cNvPr>
          <p:cNvPicPr>
            <a:picLocks noChangeAspect="1"/>
          </p:cNvPicPr>
          <p:nvPr/>
        </p:nvPicPr>
        <p:blipFill>
          <a:blip r:embed="rId4"/>
          <a:stretch>
            <a:fillRect/>
          </a:stretch>
        </p:blipFill>
        <p:spPr>
          <a:xfrm>
            <a:off x="5211625" y="2909683"/>
            <a:ext cx="3802562" cy="1755763"/>
          </a:xfrm>
          <a:prstGeom prst="rect">
            <a:avLst/>
          </a:prstGeom>
        </p:spPr>
      </p:pic>
    </p:spTree>
    <p:extLst>
      <p:ext uri="{BB962C8B-B14F-4D97-AF65-F5344CB8AC3E}">
        <p14:creationId xmlns:p14="http://schemas.microsoft.com/office/powerpoint/2010/main" val="2044923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0"/>
            <a:ext cx="8345488" cy="731837"/>
          </a:xfrm>
        </p:spPr>
        <p:txBody>
          <a:bodyPr/>
          <a:lstStyle/>
          <a:p>
            <a:pPr rtl="0"/>
            <a:r>
              <a:rPr lang="fr-FR" sz="1600"/>
              <a:t>Segmentation du réseau</a:t>
            </a:r>
            <a:r>
              <a:rPr lang="en-US" dirty="0"/>
              <a:t/>
            </a:r>
            <a:br>
              <a:rPr lang="en-US" dirty="0"/>
            </a:br>
            <a:r>
              <a:rPr lang="fr-FR" sz="2400"/>
              <a:t>Pourquoi créer des sous-réseaux ?</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20364" y="703019"/>
            <a:ext cx="8280057" cy="1550058"/>
          </a:xfrm>
        </p:spPr>
        <p:txBody>
          <a:bodyPr/>
          <a:lstStyle/>
          <a:p>
            <a:pPr marL="342900" indent="-342900" algn="l" rtl="0">
              <a:buFont typeface="Arial" panose="020B0604020202020204" pitchFamily="34" charset="0"/>
              <a:buChar char="•"/>
            </a:pPr>
            <a:r>
              <a:rPr lang="fr-FR" sz="1600" dirty="0">
                <a:solidFill>
                  <a:srgbClr val="000000"/>
                </a:solidFill>
              </a:rPr>
              <a:t>La segmentation en sous-réseaux réduit le trafic global et améliore les performances réseau. </a:t>
            </a:r>
          </a:p>
          <a:p>
            <a:pPr marL="342900" indent="-342900" algn="l" rtl="0">
              <a:buFont typeface="Arial" panose="020B0604020202020204" pitchFamily="34" charset="0"/>
              <a:buChar char="•"/>
            </a:pPr>
            <a:r>
              <a:rPr lang="fr-FR" sz="1600" dirty="0">
                <a:solidFill>
                  <a:srgbClr val="000000"/>
                </a:solidFill>
              </a:rPr>
              <a:t>Elle permet également de mettre en œuvre des politiques de sécurité entre les différents sous-réseaux.</a:t>
            </a:r>
          </a:p>
          <a:p>
            <a:pPr marL="342900" indent="-342900" algn="l" rtl="0">
              <a:buFont typeface="Arial" panose="020B0604020202020204" pitchFamily="34" charset="0"/>
              <a:buChar char="•"/>
            </a:pPr>
            <a:r>
              <a:rPr lang="fr-FR" sz="1600" dirty="0">
                <a:solidFill>
                  <a:srgbClr val="000000"/>
                </a:solidFill>
              </a:rPr>
              <a:t>Le sous-réseau réduit le nombre de périphériques affectés par un trafic de diffusion anormal</a:t>
            </a:r>
            <a:r>
              <a:rPr lang="fr-FR" sz="1600" dirty="0" smtClean="0">
                <a:solidFill>
                  <a:srgbClr val="000000"/>
                </a:solidFill>
              </a:rPr>
              <a:t>.</a:t>
            </a:r>
            <a:endParaRPr lang="en-CA" sz="1600" dirty="0">
              <a:solidFill>
                <a:srgbClr val="000000"/>
              </a:solidFill>
            </a:endParaRPr>
          </a:p>
          <a:p>
            <a:pPr marL="342900" indent="-342900" algn="l" rtl="0">
              <a:buFont typeface="Arial" panose="020B0604020202020204" pitchFamily="34" charset="0"/>
              <a:buChar char="•"/>
            </a:pPr>
            <a:r>
              <a:rPr lang="fr-FR" sz="1600" dirty="0">
                <a:solidFill>
                  <a:srgbClr val="000000"/>
                </a:solidFill>
              </a:rPr>
              <a:t>Les sous-réseaux sont utilisés pour diverses raisons, notamment:</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xmlns:c15="http://schemas.microsoft.com/office/drawing/2012/chart" xmlns:c="http://schemas.openxmlformats.org/drawingml/2006/chart" xmlns="" id="{24D8B652-544C-4DA4-843F-B9A537AD3E84}"/>
              </a:ext>
            </a:extLst>
          </p:cNvPr>
          <p:cNvSpPr/>
          <p:nvPr/>
        </p:nvSpPr>
        <p:spPr>
          <a:xfrm>
            <a:off x="375431" y="2816057"/>
            <a:ext cx="2698320" cy="1806839"/>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pPr rtl="0"/>
            <a:r>
              <a:rPr lang="fr-FR" sz="1600"/>
              <a:t>Emplacement</a:t>
            </a: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63D0E2D3-D553-4D04-B410-56EFCD0EF721}"/>
              </a:ext>
            </a:extLst>
          </p:cNvPr>
          <p:cNvPicPr>
            <a:picLocks noChangeAspect="1"/>
          </p:cNvPicPr>
          <p:nvPr/>
        </p:nvPicPr>
        <p:blipFill>
          <a:blip r:embed="rId3"/>
          <a:stretch>
            <a:fillRect/>
          </a:stretch>
        </p:blipFill>
        <p:spPr>
          <a:xfrm>
            <a:off x="687806" y="3196584"/>
            <a:ext cx="2073570" cy="980130"/>
          </a:xfrm>
          <a:prstGeom prst="rect">
            <a:avLst/>
          </a:prstGeom>
        </p:spPr>
      </p:pic>
      <p:sp>
        <p:nvSpPr>
          <p:cNvPr id="8" name="Rectangle 7">
            <a:extLst>
              <a:ext uri="{FF2B5EF4-FFF2-40B4-BE49-F238E27FC236}">
                <a16:creationId xmlns:a16="http://schemas.microsoft.com/office/drawing/2014/main" xmlns:c15="http://schemas.microsoft.com/office/drawing/2012/chart" xmlns:c="http://schemas.openxmlformats.org/drawingml/2006/chart" xmlns="" id="{32CC4029-1176-45DF-9BD6-D3DC9A0400D7}"/>
              </a:ext>
            </a:extLst>
          </p:cNvPr>
          <p:cNvSpPr/>
          <p:nvPr/>
        </p:nvSpPr>
        <p:spPr>
          <a:xfrm>
            <a:off x="3342986" y="2705234"/>
            <a:ext cx="2698320"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pPr rtl="0"/>
            <a:r>
              <a:rPr lang="fr-FR" sz="1600"/>
              <a:t>Groupe ou fonction</a:t>
            </a:r>
          </a:p>
        </p:txBody>
      </p:sp>
      <p:pic>
        <p:nvPicPr>
          <p:cNvPr id="5" name="Picture 4">
            <a:extLst>
              <a:ext uri="{FF2B5EF4-FFF2-40B4-BE49-F238E27FC236}">
                <a16:creationId xmlns:a16="http://schemas.microsoft.com/office/drawing/2014/main" xmlns:c15="http://schemas.microsoft.com/office/drawing/2012/chart" xmlns:c="http://schemas.openxmlformats.org/drawingml/2006/chart" xmlns="" id="{7332D7C8-8057-4C93-9478-2A5D8FE11E83}"/>
              </a:ext>
            </a:extLst>
          </p:cNvPr>
          <p:cNvPicPr>
            <a:picLocks noChangeAspect="1"/>
          </p:cNvPicPr>
          <p:nvPr/>
        </p:nvPicPr>
        <p:blipFill>
          <a:blip r:embed="rId4"/>
          <a:stretch>
            <a:fillRect/>
          </a:stretch>
        </p:blipFill>
        <p:spPr>
          <a:xfrm>
            <a:off x="3632200" y="3108750"/>
            <a:ext cx="1856386" cy="1229938"/>
          </a:xfrm>
          <a:prstGeom prst="rect">
            <a:avLst/>
          </a:prstGeom>
        </p:spPr>
      </p:pic>
      <p:sp>
        <p:nvSpPr>
          <p:cNvPr id="9" name="Rectangle 8">
            <a:extLst>
              <a:ext uri="{FF2B5EF4-FFF2-40B4-BE49-F238E27FC236}">
                <a16:creationId xmlns:a16="http://schemas.microsoft.com/office/drawing/2014/main" xmlns:c15="http://schemas.microsoft.com/office/drawing/2012/chart" xmlns:c="http://schemas.openxmlformats.org/drawingml/2006/chart" xmlns="" id="{38AE73D0-B95E-40DB-9C64-6AF021F99C3A}"/>
              </a:ext>
            </a:extLst>
          </p:cNvPr>
          <p:cNvSpPr/>
          <p:nvPr/>
        </p:nvSpPr>
        <p:spPr>
          <a:xfrm>
            <a:off x="6319781" y="2710358"/>
            <a:ext cx="2523186"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pPr rtl="0"/>
            <a:r>
              <a:rPr lang="fr-FR" sz="1600"/>
              <a:t>Type de périphérique</a:t>
            </a:r>
          </a:p>
        </p:txBody>
      </p:sp>
      <p:pic>
        <p:nvPicPr>
          <p:cNvPr id="6" name="Picture 5">
            <a:extLst>
              <a:ext uri="{FF2B5EF4-FFF2-40B4-BE49-F238E27FC236}">
                <a16:creationId xmlns:a16="http://schemas.microsoft.com/office/drawing/2014/main" xmlns:c15="http://schemas.microsoft.com/office/drawing/2012/chart" xmlns:c="http://schemas.openxmlformats.org/drawingml/2006/chart" xmlns="" id="{7D853623-0268-429C-9C1F-8E5C4E0CD002}"/>
              </a:ext>
            </a:extLst>
          </p:cNvPr>
          <p:cNvPicPr>
            <a:picLocks noChangeAspect="1"/>
          </p:cNvPicPr>
          <p:nvPr/>
        </p:nvPicPr>
        <p:blipFill>
          <a:blip r:embed="rId5"/>
          <a:stretch>
            <a:fillRect/>
          </a:stretch>
        </p:blipFill>
        <p:spPr>
          <a:xfrm>
            <a:off x="6618481" y="3196584"/>
            <a:ext cx="1925785" cy="1275918"/>
          </a:xfrm>
          <a:prstGeom prst="rect">
            <a:avLst/>
          </a:prstGeom>
        </p:spPr>
      </p:pic>
    </p:spTree>
    <p:extLst>
      <p:ext uri="{BB962C8B-B14F-4D97-AF65-F5344CB8AC3E}">
        <p14:creationId xmlns:p14="http://schemas.microsoft.com/office/powerpoint/2010/main" val="134882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8758" y="2457026"/>
            <a:ext cx="7848344" cy="929640"/>
          </a:xfrm>
        </p:spPr>
        <p:txBody>
          <a:bodyPr/>
          <a:lstStyle/>
          <a:p>
            <a:pPr rtl="0"/>
            <a:r>
              <a:rPr lang="fr-FR" dirty="0">
                <a:solidFill>
                  <a:schemeClr val="accent5">
                    <a:lumMod val="40000"/>
                    <a:lumOff val="60000"/>
                  </a:schemeClr>
                </a:solidFill>
              </a:rPr>
              <a:t>11.5 Segmentation un réseau IPv4 en sous-réseaux</a:t>
            </a:r>
            <a:r>
              <a:rPr lang="en-CA" dirty="0">
                <a:solidFill>
                  <a:schemeClr val="accent5">
                    <a:lumMod val="40000"/>
                    <a:lumOff val="60000"/>
                  </a:schemeClr>
                </a:solidFill>
              </a:rPr>
              <a:t/>
            </a:r>
            <a:br>
              <a:rPr lang="en-CA" dirty="0">
                <a:solidFill>
                  <a:schemeClr val="accent5">
                    <a:lumMod val="40000"/>
                    <a:lumOff val="60000"/>
                  </a:schemeClr>
                </a:solidFill>
              </a:rPr>
            </a:br>
            <a:endParaRPr lang="en-CA"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03752357"/>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203200"/>
            <a:ext cx="8345488" cy="731837"/>
          </a:xfrm>
        </p:spPr>
        <p:txBody>
          <a:bodyPr/>
          <a:lstStyle/>
          <a:p>
            <a:pPr rtl="0"/>
            <a:r>
              <a:rPr lang="fr-FR" sz="1600" dirty="0"/>
              <a:t>Segmenter un réseau IPv4 en sous-réseaux</a:t>
            </a:r>
            <a:r>
              <a:rPr lang="en-US" dirty="0"/>
              <a:t/>
            </a:r>
            <a:br>
              <a:rPr lang="en-US" dirty="0"/>
            </a:br>
            <a:r>
              <a:rPr lang="fr-FR" sz="2400" dirty="0"/>
              <a:t>Segmentation des réseaux à la limite d'octet</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347304" y="1016286"/>
            <a:ext cx="8280057" cy="1114783"/>
          </a:xfrm>
        </p:spPr>
        <p:txBody>
          <a:bodyPr/>
          <a:lstStyle/>
          <a:p>
            <a:pPr marL="342900" indent="-342900" algn="l" rtl="0">
              <a:buFont typeface="Arial" panose="020B0604020202020204" pitchFamily="34" charset="0"/>
              <a:buChar char="•"/>
            </a:pPr>
            <a:r>
              <a:rPr lang="fr-FR" sz="1600" dirty="0">
                <a:solidFill>
                  <a:srgbClr val="000000"/>
                </a:solidFill>
              </a:rPr>
              <a:t>Le plus simple est de segmenter les réseaux à la limite d'octet de /8, /16 et /24. </a:t>
            </a:r>
            <a:endParaRPr lang="en-CA" sz="1600" dirty="0">
              <a:solidFill>
                <a:srgbClr val="000000"/>
              </a:solidFill>
            </a:endParaRPr>
          </a:p>
          <a:p>
            <a:pPr marL="342900" indent="-342900" algn="l" rtl="0">
              <a:buFont typeface="Arial" panose="020B0604020202020204" pitchFamily="34" charset="0"/>
              <a:buChar char="•"/>
            </a:pPr>
            <a:r>
              <a:rPr lang="fr-FR" sz="1600" dirty="0">
                <a:solidFill>
                  <a:srgbClr val="000000"/>
                </a:solidFill>
              </a:rPr>
              <a:t>Notez que l'utilisation de préfixes plus longs réduit le nombre d'hôtes par sous-réseau.</a:t>
            </a:r>
          </a:p>
        </p:txBody>
      </p:sp>
      <p:graphicFrame>
        <p:nvGraphicFramePr>
          <p:cNvPr id="5" name="Table 4">
            <a:extLst>
              <a:ext uri="{FF2B5EF4-FFF2-40B4-BE49-F238E27FC236}">
                <a16:creationId xmlns:a16="http://schemas.microsoft.com/office/drawing/2014/main" xmlns:c15="http://schemas.microsoft.com/office/drawing/2012/chart" xmlns:c="http://schemas.openxmlformats.org/drawingml/2006/chart" xmlns="" id="{AB61C527-BCD3-42E1-8735-11AC62583EC0}"/>
              </a:ext>
            </a:extLst>
          </p:cNvPr>
          <p:cNvGraphicFramePr>
            <a:graphicFrameLocks noGrp="1"/>
          </p:cNvGraphicFramePr>
          <p:nvPr>
            <p:extLst>
              <p:ext uri="{D42A27DB-BD31-4B8C-83A1-F6EECF244321}">
                <p14:modId xmlns:p14="http://schemas.microsoft.com/office/powerpoint/2010/main" val="3801785178"/>
              </p:ext>
            </p:extLst>
          </p:nvPr>
        </p:nvGraphicFramePr>
        <p:xfrm>
          <a:off x="1025841" y="1899350"/>
          <a:ext cx="6896100" cy="1595120"/>
        </p:xfrm>
        <a:graphic>
          <a:graphicData uri="http://schemas.openxmlformats.org/drawingml/2006/table">
            <a:tbl>
              <a:tblPr firstRow="1" bandRow="1">
                <a:tableStyleId>{5C22544A-7EE6-4342-B048-85BDC9FD1C3A}</a:tableStyleId>
              </a:tblPr>
              <a:tblGrid>
                <a:gridCol w="1103376">
                  <a:extLst>
                    <a:ext uri="{9D8B030D-6E8A-4147-A177-3AD203B41FA5}">
                      <a16:colId xmlns:a16="http://schemas.microsoft.com/office/drawing/2014/main" xmlns:c15="http://schemas.microsoft.com/office/drawing/2012/chart" xmlns:c="http://schemas.openxmlformats.org/drawingml/2006/chart" xmlns="" val="401309278"/>
                    </a:ext>
                  </a:extLst>
                </a:gridCol>
                <a:gridCol w="1215438">
                  <a:extLst>
                    <a:ext uri="{9D8B030D-6E8A-4147-A177-3AD203B41FA5}">
                      <a16:colId xmlns:a16="http://schemas.microsoft.com/office/drawing/2014/main" xmlns:c15="http://schemas.microsoft.com/office/drawing/2012/chart" xmlns:c="http://schemas.openxmlformats.org/drawingml/2006/chart" xmlns="" val="1282189193"/>
                    </a:ext>
                  </a:extLst>
                </a:gridCol>
                <a:gridCol w="3473910">
                  <a:extLst>
                    <a:ext uri="{9D8B030D-6E8A-4147-A177-3AD203B41FA5}">
                      <a16:colId xmlns:a16="http://schemas.microsoft.com/office/drawing/2014/main" xmlns:c15="http://schemas.microsoft.com/office/drawing/2012/chart" xmlns:c="http://schemas.openxmlformats.org/drawingml/2006/chart" xmlns="" val="2307218981"/>
                    </a:ext>
                  </a:extLst>
                </a:gridCol>
                <a:gridCol w="1103376">
                  <a:extLst>
                    <a:ext uri="{9D8B030D-6E8A-4147-A177-3AD203B41FA5}">
                      <a16:colId xmlns:a16="http://schemas.microsoft.com/office/drawing/2014/main" xmlns:c15="http://schemas.microsoft.com/office/drawing/2012/chart" xmlns:c="http://schemas.openxmlformats.org/drawingml/2006/chart" xmlns="" val="1338141003"/>
                    </a:ext>
                  </a:extLst>
                </a:gridCol>
              </a:tblGrid>
              <a:tr h="370840">
                <a:tc>
                  <a:txBody>
                    <a:bodyPr/>
                    <a:lstStyle/>
                    <a:p>
                      <a:pPr algn="l" rtl="0" fontAlgn="ctr"/>
                      <a:r>
                        <a:rPr lang="fr-FR" sz="1100" b="1">
                          <a:effectLst/>
                        </a:rPr>
                        <a:t>Longueur de préfixe</a:t>
                      </a:r>
                    </a:p>
                  </a:txBody>
                  <a:tcPr marL="31750" marR="31750" marT="31750" marB="31750" anchor="ctr"/>
                </a:tc>
                <a:tc>
                  <a:txBody>
                    <a:bodyPr/>
                    <a:lstStyle/>
                    <a:p>
                      <a:pPr algn="l" rtl="0" fontAlgn="ctr"/>
                      <a:r>
                        <a:rPr lang="fr-FR" sz="1100" b="1">
                          <a:effectLst/>
                        </a:rPr>
                        <a:t>Masque de sous-réseau</a:t>
                      </a:r>
                    </a:p>
                  </a:txBody>
                  <a:tcPr marL="31750" marR="31750" marT="31750" marB="31750" anchor="ctr"/>
                </a:tc>
                <a:tc>
                  <a:txBody>
                    <a:bodyPr/>
                    <a:lstStyle/>
                    <a:p>
                      <a:pPr algn="l" rtl="0" fontAlgn="ctr"/>
                      <a:r>
                        <a:rPr lang="fr-FR" sz="1100" b="1">
                          <a:effectLst/>
                        </a:rPr>
                        <a:t>Masque de sous-réseau (binaire) (n= réseau, h= hôte)</a:t>
                      </a:r>
                    </a:p>
                  </a:txBody>
                  <a:tcPr marL="31750" marR="31750" marT="31750" marB="31750" anchor="ctr"/>
                </a:tc>
                <a:tc>
                  <a:txBody>
                    <a:bodyPr/>
                    <a:lstStyle/>
                    <a:p>
                      <a:pPr algn="l" rtl="0" fontAlgn="ctr"/>
                      <a:r>
                        <a:rPr lang="fr-FR" sz="1100" b="1">
                          <a:effectLst/>
                        </a:rPr>
                        <a:t>Nombre d'hôtes</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400614944"/>
                  </a:ext>
                </a:extLst>
              </a:tr>
              <a:tr h="370840">
                <a:tc>
                  <a:txBody>
                    <a:bodyPr/>
                    <a:lstStyle/>
                    <a:p>
                      <a:pPr rtl="0" fontAlgn="ctr"/>
                      <a:r>
                        <a:rPr lang="fr-FR" sz="1100" b="1">
                          <a:effectLst/>
                        </a:rPr>
                        <a:t>/8</a:t>
                      </a:r>
                    </a:p>
                  </a:txBody>
                  <a:tcPr marL="31750" marR="31750" marT="31750" marB="31750" anchor="ctr"/>
                </a:tc>
                <a:tc>
                  <a:txBody>
                    <a:bodyPr/>
                    <a:lstStyle/>
                    <a:p>
                      <a:pPr rtl="0" fontAlgn="ctr"/>
                      <a:r>
                        <a:rPr lang="fr-FR" sz="1100" b="1">
                          <a:effectLst/>
                        </a:rPr>
                        <a:t>255</a:t>
                      </a:r>
                      <a:r>
                        <a:rPr lang="fr-FR" sz="1100" b="0">
                          <a:effectLst/>
                        </a:rPr>
                        <a:t>.0.0.0</a:t>
                      </a:r>
                    </a:p>
                  </a:txBody>
                  <a:tcPr marL="31750" marR="31750" marT="31750" marB="31750" anchor="ctr"/>
                </a:tc>
                <a:tc>
                  <a:txBody>
                    <a:bodyPr/>
                    <a:lstStyle/>
                    <a:p>
                      <a:pPr rtl="0" fontAlgn="ctr"/>
                      <a:r>
                        <a:rPr lang="fr-FR" sz="1100" b="1">
                          <a:effectLst/>
                          <a:latin typeface="Courier New" panose="02070309020205020404" pitchFamily="49" charset="0"/>
                          <a:cs typeface="Courier New" panose="02070309020205020404" pitchFamily="49" charset="0"/>
                        </a:rPr>
                        <a:t>nnnnnnnn</a:t>
                      </a:r>
                      <a:r>
                        <a:rPr lang="fr-FR" sz="1100" b="0">
                          <a:effectLst/>
                          <a:latin typeface="Courier New" panose="02070309020205020404" pitchFamily="49" charset="0"/>
                          <a:cs typeface="Courier New" panose="02070309020205020404" pitchFamily="49" charset="0"/>
                        </a:rPr>
                        <a:t>.hhhhhhhh.hhhhhhhh.hhhhhhhh </a:t>
                      </a:r>
                      <a:r>
                        <a:rPr lang="en-CA" sz="1100" b="0" dirty="0">
                          <a:effectLst/>
                          <a:latin typeface="Courier New" panose="02070309020205020404" pitchFamily="49" charset="0"/>
                          <a:cs typeface="Courier New" panose="02070309020205020404" pitchFamily="49" charset="0"/>
                        </a:rPr>
                        <a:t/>
                      </a:r>
                      <a:br>
                        <a:rPr lang="en-CA" sz="1100" b="0" dirty="0">
                          <a:effectLst/>
                          <a:latin typeface="Courier New" panose="02070309020205020404" pitchFamily="49" charset="0"/>
                          <a:cs typeface="Courier New" panose="02070309020205020404" pitchFamily="49" charset="0"/>
                        </a:rPr>
                      </a:br>
                      <a:r>
                        <a:rPr lang="fr-FR" sz="1100" b="1">
                          <a:effectLst/>
                          <a:latin typeface="Courier New" panose="02070309020205020404" pitchFamily="49" charset="0"/>
                          <a:cs typeface="Courier New" panose="02070309020205020404" pitchFamily="49" charset="0"/>
                        </a:rPr>
                        <a:t>11111111</a:t>
                      </a:r>
                      <a:r>
                        <a:rPr lang="fr-FR" sz="1100" b="0">
                          <a:effectLst/>
                          <a:latin typeface="Courier New" panose="02070309020205020404" pitchFamily="49" charset="0"/>
                          <a:cs typeface="Courier New" panose="02070309020205020404" pitchFamily="49" charset="0"/>
                        </a:rPr>
                        <a:t>.00000000.00000000.00000000</a:t>
                      </a:r>
                    </a:p>
                  </a:txBody>
                  <a:tcPr marL="31750" marR="31750" marT="31750" marB="31750" anchor="ctr"/>
                </a:tc>
                <a:tc>
                  <a:txBody>
                    <a:bodyPr/>
                    <a:lstStyle/>
                    <a:p>
                      <a:pPr rtl="0" fontAlgn="ctr"/>
                      <a:r>
                        <a:rPr lang="fr-FR" sz="1000" b="0">
                          <a:effectLst/>
                        </a:rPr>
                        <a:t>16777214</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637917206"/>
                  </a:ext>
                </a:extLst>
              </a:tr>
              <a:tr h="370840">
                <a:tc>
                  <a:txBody>
                    <a:bodyPr/>
                    <a:lstStyle/>
                    <a:p>
                      <a:pPr rtl="0" fontAlgn="ctr"/>
                      <a:r>
                        <a:rPr lang="fr-FR" sz="1100" b="1">
                          <a:effectLst/>
                        </a:rPr>
                        <a:t>/16</a:t>
                      </a:r>
                    </a:p>
                  </a:txBody>
                  <a:tcPr marL="31750" marR="31750" marT="31750" marB="31750" anchor="ctr"/>
                </a:tc>
                <a:tc>
                  <a:txBody>
                    <a:bodyPr/>
                    <a:lstStyle/>
                    <a:p>
                      <a:pPr rtl="0" fontAlgn="ctr"/>
                      <a:r>
                        <a:rPr lang="fr-FR" sz="1100" b="1">
                          <a:effectLst/>
                        </a:rPr>
                        <a:t>255.255</a:t>
                      </a:r>
                      <a:r>
                        <a:rPr lang="fr-FR" sz="1100" b="0">
                          <a:effectLst/>
                        </a:rPr>
                        <a:t>.0.0</a:t>
                      </a:r>
                    </a:p>
                  </a:txBody>
                  <a:tcPr marL="31750" marR="31750" marT="31750" marB="31750" anchor="ctr"/>
                </a:tc>
                <a:tc>
                  <a:txBody>
                    <a:bodyPr/>
                    <a:lstStyle/>
                    <a:p>
                      <a:pPr rtl="0" fontAlgn="ctr"/>
                      <a:r>
                        <a:rPr lang="fr-FR" sz="1100" b="1">
                          <a:effectLst/>
                          <a:latin typeface="Courier New" panose="02070309020205020404" pitchFamily="49" charset="0"/>
                          <a:cs typeface="Courier New" panose="02070309020205020404" pitchFamily="49" charset="0"/>
                        </a:rPr>
                        <a:t>nnnnnnnn.nnnnnnnn</a:t>
                      </a:r>
                      <a:r>
                        <a:rPr lang="fr-FR" sz="1100" b="0">
                          <a:effectLst/>
                          <a:latin typeface="Courier New" panose="02070309020205020404" pitchFamily="49" charset="0"/>
                          <a:cs typeface="Courier New" panose="02070309020205020404" pitchFamily="49" charset="0"/>
                        </a:rPr>
                        <a:t>.hhhhhhhh.hhhhhhhh </a:t>
                      </a:r>
                      <a:r>
                        <a:rPr lang="en-CA" sz="1100" b="0" dirty="0">
                          <a:effectLst/>
                          <a:latin typeface="Courier New" panose="02070309020205020404" pitchFamily="49" charset="0"/>
                          <a:cs typeface="Courier New" panose="02070309020205020404" pitchFamily="49" charset="0"/>
                        </a:rPr>
                        <a:t/>
                      </a:r>
                      <a:br>
                        <a:rPr lang="en-CA" sz="1100" b="0" dirty="0">
                          <a:effectLst/>
                          <a:latin typeface="Courier New" panose="02070309020205020404" pitchFamily="49" charset="0"/>
                          <a:cs typeface="Courier New" panose="02070309020205020404" pitchFamily="49" charset="0"/>
                        </a:rPr>
                      </a:br>
                      <a:r>
                        <a:rPr lang="fr-FR" sz="1100" b="1">
                          <a:effectLst/>
                          <a:latin typeface="Courier New" panose="02070309020205020404" pitchFamily="49" charset="0"/>
                          <a:cs typeface="Courier New" panose="02070309020205020404" pitchFamily="49" charset="0"/>
                        </a:rPr>
                        <a:t>11111111.11111111</a:t>
                      </a:r>
                      <a:r>
                        <a:rPr lang="fr-FR" sz="1100" b="0">
                          <a:effectLst/>
                          <a:latin typeface="Courier New" panose="02070309020205020404" pitchFamily="49" charset="0"/>
                          <a:cs typeface="Courier New" panose="02070309020205020404" pitchFamily="49" charset="0"/>
                        </a:rPr>
                        <a:t>.00000000.00000000</a:t>
                      </a:r>
                    </a:p>
                  </a:txBody>
                  <a:tcPr marL="31750" marR="31750" marT="31750" marB="31750" anchor="ctr"/>
                </a:tc>
                <a:tc>
                  <a:txBody>
                    <a:bodyPr/>
                    <a:lstStyle/>
                    <a:p>
                      <a:pPr rtl="0" fontAlgn="ctr"/>
                      <a:r>
                        <a:rPr lang="fr-FR" sz="1000" b="0">
                          <a:effectLst/>
                        </a:rPr>
                        <a:t>65534</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750285378"/>
                  </a:ext>
                </a:extLst>
              </a:tr>
              <a:tr h="370840">
                <a:tc>
                  <a:txBody>
                    <a:bodyPr/>
                    <a:lstStyle/>
                    <a:p>
                      <a:pPr rtl="0" fontAlgn="ctr"/>
                      <a:r>
                        <a:rPr lang="fr-FR" sz="1100" b="1">
                          <a:effectLst/>
                        </a:rPr>
                        <a:t>/24</a:t>
                      </a:r>
                    </a:p>
                  </a:txBody>
                  <a:tcPr marL="31750" marR="31750" marT="31750" marB="31750" anchor="ctr"/>
                </a:tc>
                <a:tc>
                  <a:txBody>
                    <a:bodyPr/>
                    <a:lstStyle/>
                    <a:p>
                      <a:pPr rtl="0" fontAlgn="ctr"/>
                      <a:r>
                        <a:rPr lang="fr-FR" sz="1100" b="1">
                          <a:effectLst/>
                        </a:rPr>
                        <a:t>255.255.255</a:t>
                      </a:r>
                      <a:r>
                        <a:rPr lang="fr-FR" sz="1100" b="0">
                          <a:effectLst/>
                        </a:rPr>
                        <a:t>.0</a:t>
                      </a:r>
                    </a:p>
                  </a:txBody>
                  <a:tcPr marL="31750" marR="31750" marT="31750" marB="31750" anchor="ctr"/>
                </a:tc>
                <a:tc>
                  <a:txBody>
                    <a:bodyPr/>
                    <a:lstStyle/>
                    <a:p>
                      <a:pPr rtl="0" fontAlgn="ctr"/>
                      <a:r>
                        <a:rPr lang="fr-FR" sz="1100" b="1">
                          <a:effectLst/>
                          <a:latin typeface="Courier New" panose="02070309020205020404" pitchFamily="49" charset="0"/>
                          <a:cs typeface="Courier New" panose="02070309020205020404" pitchFamily="49" charset="0"/>
                        </a:rPr>
                        <a:t>nnnnnnnn.nnnnnnnn</a:t>
                      </a:r>
                      <a:r>
                        <a:rPr lang="fr-FR" sz="1100" b="0">
                          <a:effectLst/>
                          <a:latin typeface="Courier New" panose="02070309020205020404" pitchFamily="49" charset="0"/>
                          <a:cs typeface="Courier New" panose="02070309020205020404" pitchFamily="49" charset="0"/>
                        </a:rPr>
                        <a:t>.</a:t>
                      </a:r>
                      <a:r>
                        <a:rPr lang="fr-FR" sz="1100" b="1">
                          <a:effectLst/>
                          <a:latin typeface="Courier New" panose="02070309020205020404" pitchFamily="49" charset="0"/>
                          <a:cs typeface="Courier New" panose="02070309020205020404" pitchFamily="49" charset="0"/>
                        </a:rPr>
                        <a:t>nnnnnnnn</a:t>
                      </a:r>
                      <a:r>
                        <a:rPr lang="fr-FR" sz="1100" b="0">
                          <a:effectLst/>
                          <a:latin typeface="Courier New" panose="02070309020205020404" pitchFamily="49" charset="0"/>
                          <a:cs typeface="Courier New" panose="02070309020205020404" pitchFamily="49" charset="0"/>
                        </a:rPr>
                        <a:t>.hhhhhhhh </a:t>
                      </a:r>
                      <a:r>
                        <a:rPr lang="en-CA" sz="1100" b="0" dirty="0">
                          <a:effectLst/>
                          <a:latin typeface="Courier New" panose="02070309020205020404" pitchFamily="49" charset="0"/>
                          <a:cs typeface="Courier New" panose="02070309020205020404" pitchFamily="49" charset="0"/>
                        </a:rPr>
                        <a:t/>
                      </a:r>
                      <a:br>
                        <a:rPr lang="en-CA" sz="1100" b="0" dirty="0">
                          <a:effectLst/>
                          <a:latin typeface="Courier New" panose="02070309020205020404" pitchFamily="49" charset="0"/>
                          <a:cs typeface="Courier New" panose="02070309020205020404" pitchFamily="49" charset="0"/>
                        </a:rPr>
                      </a:br>
                      <a:r>
                        <a:rPr lang="fr-FR" sz="1100" b="1">
                          <a:effectLst/>
                          <a:latin typeface="Courier New" panose="02070309020205020404" pitchFamily="49" charset="0"/>
                          <a:cs typeface="Courier New" panose="02070309020205020404" pitchFamily="49" charset="0"/>
                        </a:rPr>
                        <a:t>11111111.11111111.11111111</a:t>
                      </a:r>
                      <a:r>
                        <a:rPr lang="fr-FR" sz="1100" b="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rtl="0" fontAlgn="ctr"/>
                      <a:r>
                        <a:rPr lang="fr-FR" sz="1000" b="0" dirty="0">
                          <a:effectLst/>
                        </a:rPr>
                        <a:t>254</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444667633"/>
                  </a:ext>
                </a:extLst>
              </a:tr>
            </a:tbl>
          </a:graphicData>
        </a:graphic>
      </p:graphicFrame>
    </p:spTree>
    <p:extLst>
      <p:ext uri="{BB962C8B-B14F-4D97-AF65-F5344CB8AC3E}">
        <p14:creationId xmlns:p14="http://schemas.microsoft.com/office/powerpoint/2010/main" val="382037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67733" y="93133"/>
            <a:ext cx="8345488" cy="731837"/>
          </a:xfrm>
        </p:spPr>
        <p:txBody>
          <a:bodyPr/>
          <a:lstStyle/>
          <a:p>
            <a:pPr rtl="0"/>
            <a:r>
              <a:rPr lang="fr-FR" sz="1600" dirty="0"/>
              <a:t>Segmenter un réseau IPv4 en sous-réseaux</a:t>
            </a:r>
            <a:r>
              <a:rPr lang="en-US" dirty="0"/>
              <a:t/>
            </a:r>
            <a:br>
              <a:rPr lang="en-US" dirty="0"/>
            </a:br>
            <a:r>
              <a:rPr lang="fr-FR" sz="2400" dirty="0"/>
              <a:t> Création de sous-réseaux au niveau de la limite d'octet (suite)</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57200" y="807768"/>
            <a:ext cx="8280057" cy="362511"/>
          </a:xfrm>
        </p:spPr>
        <p:txBody>
          <a:bodyPr/>
          <a:lstStyle/>
          <a:p>
            <a:pPr marL="342900" indent="-342900" algn="l" rtl="0">
              <a:buFont typeface="Arial" panose="020B0604020202020204" pitchFamily="34" charset="0"/>
              <a:buChar char="•"/>
            </a:pPr>
            <a:r>
              <a:rPr lang="fr-FR" sz="1600" dirty="0">
                <a:solidFill>
                  <a:srgbClr val="000000"/>
                </a:solidFill>
              </a:rPr>
              <a:t>Dans le premier tableau 10.0.0.0/8 est sous-réseau en utilisant /16 et dans le deuxième tableau, un masque /24.</a:t>
            </a:r>
          </a:p>
        </p:txBody>
      </p:sp>
      <p:graphicFrame>
        <p:nvGraphicFramePr>
          <p:cNvPr id="2" name="Table 1">
            <a:extLst>
              <a:ext uri="{FF2B5EF4-FFF2-40B4-BE49-F238E27FC236}">
                <a16:creationId xmlns:a16="http://schemas.microsoft.com/office/drawing/2014/main" xmlns:c15="http://schemas.microsoft.com/office/drawing/2012/chart" xmlns:c="http://schemas.openxmlformats.org/drawingml/2006/chart" xmlns="" id="{61270C55-FA5F-44D6-BE83-71DEA8A80121}"/>
              </a:ext>
            </a:extLst>
          </p:cNvPr>
          <p:cNvGraphicFramePr>
            <a:graphicFrameLocks noGrp="1"/>
          </p:cNvGraphicFramePr>
          <p:nvPr>
            <p:extLst>
              <p:ext uri="{D42A27DB-BD31-4B8C-83A1-F6EECF244321}">
                <p14:modId xmlns:p14="http://schemas.microsoft.com/office/powerpoint/2010/main" val="2060269672"/>
              </p:ext>
            </p:extLst>
          </p:nvPr>
        </p:nvGraphicFramePr>
        <p:xfrm>
          <a:off x="160867" y="1571734"/>
          <a:ext cx="4243492" cy="3040772"/>
        </p:xfrm>
        <a:graphic>
          <a:graphicData uri="http://schemas.openxmlformats.org/drawingml/2006/table">
            <a:tbl>
              <a:tblPr firstRow="1" bandRow="1">
                <a:tableStyleId>{5C22544A-7EE6-4342-B048-85BDC9FD1C3A}</a:tableStyleId>
              </a:tblPr>
              <a:tblGrid>
                <a:gridCol w="1784073">
                  <a:extLst>
                    <a:ext uri="{9D8B030D-6E8A-4147-A177-3AD203B41FA5}">
                      <a16:colId xmlns:a16="http://schemas.microsoft.com/office/drawing/2014/main" xmlns:c15="http://schemas.microsoft.com/office/drawing/2012/chart" xmlns:c="http://schemas.openxmlformats.org/drawingml/2006/chart" xmlns="" val="1832368472"/>
                    </a:ext>
                  </a:extLst>
                </a:gridCol>
                <a:gridCol w="1554576">
                  <a:extLst>
                    <a:ext uri="{9D8B030D-6E8A-4147-A177-3AD203B41FA5}">
                      <a16:colId xmlns:a16="http://schemas.microsoft.com/office/drawing/2014/main" xmlns:c15="http://schemas.microsoft.com/office/drawing/2012/chart" xmlns:c="http://schemas.openxmlformats.org/drawingml/2006/chart" xmlns="" val="3133033927"/>
                    </a:ext>
                  </a:extLst>
                </a:gridCol>
                <a:gridCol w="904843">
                  <a:extLst>
                    <a:ext uri="{9D8B030D-6E8A-4147-A177-3AD203B41FA5}">
                      <a16:colId xmlns:a16="http://schemas.microsoft.com/office/drawing/2014/main" xmlns:c15="http://schemas.microsoft.com/office/drawing/2012/chart" xmlns:c="http://schemas.openxmlformats.org/drawingml/2006/chart" xmlns="" val="1854765229"/>
                    </a:ext>
                  </a:extLst>
                </a:gridCol>
              </a:tblGrid>
              <a:tr h="677199">
                <a:tc>
                  <a:txBody>
                    <a:bodyPr/>
                    <a:lstStyle/>
                    <a:p>
                      <a:pPr algn="l" rtl="0" fontAlgn="ctr"/>
                      <a:r>
                        <a:rPr lang="fr-FR" sz="1000" b="1" dirty="0">
                          <a:effectLst/>
                        </a:rPr>
                        <a:t>Adresse de sous-réseau</a:t>
                      </a:r>
                      <a:r>
                        <a:rPr lang="en-CA" sz="1000" b="1" dirty="0">
                          <a:effectLst/>
                        </a:rPr>
                        <a:t/>
                      </a:r>
                      <a:br>
                        <a:rPr lang="en-CA" sz="1000" b="1" dirty="0">
                          <a:effectLst/>
                        </a:rPr>
                      </a:br>
                      <a:r>
                        <a:rPr lang="fr-FR" sz="1000" b="0" dirty="0">
                          <a:effectLst/>
                        </a:rPr>
                        <a:t>(256 sous-réseaux possibles)</a:t>
                      </a:r>
                    </a:p>
                  </a:txBody>
                  <a:tcPr marL="31750" marR="31750" marT="31750" marB="31750" anchor="ctr"/>
                </a:tc>
                <a:tc>
                  <a:txBody>
                    <a:bodyPr/>
                    <a:lstStyle/>
                    <a:p>
                      <a:pPr algn="l" rtl="0" fontAlgn="ctr"/>
                      <a:r>
                        <a:rPr lang="fr-FR" sz="1000" b="1">
                          <a:effectLst/>
                        </a:rPr>
                        <a:t>Plage d'hôtes</a:t>
                      </a:r>
                      <a:r>
                        <a:rPr lang="en-CA" sz="1000" b="1" dirty="0">
                          <a:effectLst/>
                        </a:rPr>
                        <a:t/>
                      </a:r>
                      <a:br>
                        <a:rPr lang="en-CA" sz="1000" b="1" dirty="0">
                          <a:effectLst/>
                        </a:rPr>
                      </a:br>
                      <a:r>
                        <a:rPr lang="fr-FR" sz="1000" b="0">
                          <a:effectLst/>
                        </a:rPr>
                        <a:t>(65534 hôtes possibles par sous-réseau)</a:t>
                      </a:r>
                    </a:p>
                  </a:txBody>
                  <a:tcPr marL="31750" marR="31750" marT="31750" marB="31750" anchor="ctr"/>
                </a:tc>
                <a:tc>
                  <a:txBody>
                    <a:bodyPr/>
                    <a:lstStyle/>
                    <a:p>
                      <a:pPr algn="l" rtl="0" fontAlgn="ctr"/>
                      <a:r>
                        <a:rPr lang="fr-FR" sz="1000" b="1">
                          <a:effectLst/>
                        </a:rPr>
                        <a:t>Diffusion</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621925027"/>
                  </a:ext>
                </a:extLst>
              </a:tr>
              <a:tr h="221697">
                <a:tc>
                  <a:txBody>
                    <a:bodyPr/>
                    <a:lstStyle/>
                    <a:p>
                      <a:pPr rtl="0" fontAlgn="ctr"/>
                      <a:r>
                        <a:rPr lang="fr-FR" sz="1000" b="1">
                          <a:effectLst/>
                        </a:rPr>
                        <a:t>10.0</a:t>
                      </a:r>
                      <a:r>
                        <a:rPr lang="fr-FR" sz="1000" b="0">
                          <a:effectLst/>
                        </a:rPr>
                        <a:t>.0.0</a:t>
                      </a:r>
                      <a:r>
                        <a:rPr lang="fr-FR" sz="1000" b="1">
                          <a:effectLst/>
                        </a:rPr>
                        <a:t>/16</a:t>
                      </a:r>
                    </a:p>
                  </a:txBody>
                  <a:tcPr marL="31750" marR="31750" marT="31750" marB="31750" anchor="ctr"/>
                </a:tc>
                <a:tc>
                  <a:txBody>
                    <a:bodyPr/>
                    <a:lstStyle/>
                    <a:p>
                      <a:pPr rtl="0" fontAlgn="ctr"/>
                      <a:r>
                        <a:rPr lang="fr-FR" sz="1000" b="1">
                          <a:effectLst/>
                        </a:rPr>
                        <a:t>10.0</a:t>
                      </a:r>
                      <a:r>
                        <a:rPr lang="fr-FR" sz="1000" b="0">
                          <a:effectLst/>
                        </a:rPr>
                        <a:t>.0.1 - </a:t>
                      </a:r>
                      <a:r>
                        <a:rPr lang="fr-FR" sz="1000" b="1">
                          <a:effectLst/>
                        </a:rPr>
                        <a:t>10.0</a:t>
                      </a:r>
                      <a:r>
                        <a:rPr lang="fr-FR" sz="1000" b="0">
                          <a:effectLst/>
                        </a:rPr>
                        <a:t>.255.254 </a:t>
                      </a:r>
                    </a:p>
                  </a:txBody>
                  <a:tcPr marL="31750" marR="31750" marT="31750" marB="31750" anchor="ctr"/>
                </a:tc>
                <a:tc>
                  <a:txBody>
                    <a:bodyPr/>
                    <a:lstStyle/>
                    <a:p>
                      <a:pPr rtl="0" fontAlgn="ctr"/>
                      <a:r>
                        <a:rPr lang="fr-FR" sz="1000" b="1">
                          <a:effectLst/>
                        </a:rPr>
                        <a:t>10.0</a:t>
                      </a:r>
                      <a:r>
                        <a:rPr lang="fr-FR" sz="1000" b="0">
                          <a:effectLst/>
                        </a:rPr>
                        <a:t>.255.255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643493669"/>
                  </a:ext>
                </a:extLst>
              </a:tr>
              <a:tr h="221697">
                <a:tc>
                  <a:txBody>
                    <a:bodyPr/>
                    <a:lstStyle/>
                    <a:p>
                      <a:pPr rtl="0" fontAlgn="ctr"/>
                      <a:r>
                        <a:rPr lang="fr-FR" sz="1000" b="1">
                          <a:effectLst/>
                        </a:rPr>
                        <a:t>10.1.</a:t>
                      </a:r>
                      <a:r>
                        <a:rPr lang="fr-FR" sz="1000" b="0">
                          <a:effectLst/>
                        </a:rPr>
                        <a:t>0,0</a:t>
                      </a:r>
                      <a:r>
                        <a:rPr lang="fr-FR" sz="1000" b="1">
                          <a:effectLst/>
                        </a:rPr>
                        <a:t>/16</a:t>
                      </a:r>
                    </a:p>
                  </a:txBody>
                  <a:tcPr marL="31750" marR="31750" marT="31750" marB="31750" anchor="ctr"/>
                </a:tc>
                <a:tc>
                  <a:txBody>
                    <a:bodyPr/>
                    <a:lstStyle/>
                    <a:p>
                      <a:pPr rtl="0" fontAlgn="ctr"/>
                      <a:r>
                        <a:rPr lang="fr-FR" sz="1000" b="1">
                          <a:effectLst/>
                        </a:rPr>
                        <a:t>10,1</a:t>
                      </a:r>
                      <a:r>
                        <a:rPr lang="fr-FR" sz="1000" b="0">
                          <a:effectLst/>
                        </a:rPr>
                        <a:t>.0.1 - </a:t>
                      </a:r>
                      <a:r>
                        <a:rPr lang="fr-FR" sz="1000" b="1">
                          <a:effectLst/>
                        </a:rPr>
                        <a:t>10,1</a:t>
                      </a:r>
                      <a:r>
                        <a:rPr lang="fr-FR" sz="1000" b="0">
                          <a:effectLst/>
                        </a:rPr>
                        <a:t>.255.254 </a:t>
                      </a:r>
                    </a:p>
                  </a:txBody>
                  <a:tcPr marL="31750" marR="31750" marT="31750" marB="31750" anchor="ctr"/>
                </a:tc>
                <a:tc>
                  <a:txBody>
                    <a:bodyPr/>
                    <a:lstStyle/>
                    <a:p>
                      <a:pPr rtl="0" fontAlgn="ctr"/>
                      <a:r>
                        <a:rPr lang="fr-FR" sz="1000" b="1">
                          <a:effectLst/>
                        </a:rPr>
                        <a:t>10.1</a:t>
                      </a:r>
                      <a:r>
                        <a:rPr lang="fr-FR" sz="1000" b="0">
                          <a:effectLst/>
                        </a:rPr>
                        <a:t>.255.255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459356146"/>
                  </a:ext>
                </a:extLst>
              </a:tr>
              <a:tr h="221697">
                <a:tc>
                  <a:txBody>
                    <a:bodyPr/>
                    <a:lstStyle/>
                    <a:p>
                      <a:pPr rtl="0" fontAlgn="ctr"/>
                      <a:r>
                        <a:rPr lang="fr-FR" sz="1000" b="1">
                          <a:effectLst/>
                        </a:rPr>
                        <a:t>10.2</a:t>
                      </a:r>
                      <a:r>
                        <a:rPr lang="fr-FR" sz="1000" b="0">
                          <a:effectLst/>
                        </a:rPr>
                        <a:t>.0.0</a:t>
                      </a:r>
                      <a:r>
                        <a:rPr lang="fr-FR" sz="1000" b="1">
                          <a:effectLst/>
                        </a:rPr>
                        <a:t>/16</a:t>
                      </a:r>
                    </a:p>
                  </a:txBody>
                  <a:tcPr marL="31750" marR="31750" marT="31750" marB="31750" anchor="ctr"/>
                </a:tc>
                <a:tc>
                  <a:txBody>
                    <a:bodyPr/>
                    <a:lstStyle/>
                    <a:p>
                      <a:pPr rtl="0" fontAlgn="ctr"/>
                      <a:r>
                        <a:rPr lang="fr-FR" sz="1000" b="1">
                          <a:effectLst/>
                        </a:rPr>
                        <a:t>10.2</a:t>
                      </a:r>
                      <a:r>
                        <a:rPr lang="fr-FR" sz="1000" b="0">
                          <a:effectLst/>
                        </a:rPr>
                        <a:t>.0.1 - </a:t>
                      </a:r>
                      <a:r>
                        <a:rPr lang="fr-FR" sz="1000" b="1">
                          <a:effectLst/>
                        </a:rPr>
                        <a:t>10.2</a:t>
                      </a:r>
                      <a:r>
                        <a:rPr lang="fr-FR" sz="1000" b="0">
                          <a:effectLst/>
                        </a:rPr>
                        <a:t>.255.254 </a:t>
                      </a:r>
                    </a:p>
                  </a:txBody>
                  <a:tcPr marL="31750" marR="31750" marT="31750" marB="31750" anchor="ctr"/>
                </a:tc>
                <a:tc>
                  <a:txBody>
                    <a:bodyPr/>
                    <a:lstStyle/>
                    <a:p>
                      <a:pPr rtl="0" fontAlgn="ctr"/>
                      <a:r>
                        <a:rPr lang="fr-FR" sz="1000" b="1">
                          <a:effectLst/>
                        </a:rPr>
                        <a:t>10.2</a:t>
                      </a:r>
                      <a:r>
                        <a:rPr lang="fr-FR" sz="1000" b="0">
                          <a:effectLst/>
                        </a:rPr>
                        <a:t>.255.255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417579166"/>
                  </a:ext>
                </a:extLst>
              </a:tr>
              <a:tr h="221697">
                <a:tc>
                  <a:txBody>
                    <a:bodyPr/>
                    <a:lstStyle/>
                    <a:p>
                      <a:pPr rtl="0" fontAlgn="ctr"/>
                      <a:r>
                        <a:rPr lang="fr-FR" sz="1000" b="1">
                          <a:effectLst/>
                        </a:rPr>
                        <a:t>10,3</a:t>
                      </a:r>
                      <a:r>
                        <a:rPr lang="fr-FR" sz="1000" b="0">
                          <a:effectLst/>
                        </a:rPr>
                        <a:t>0,0,0</a:t>
                      </a:r>
                      <a:r>
                        <a:rPr lang="fr-FR" sz="1000" b="1">
                          <a:effectLst/>
                        </a:rPr>
                        <a:t>/16</a:t>
                      </a:r>
                    </a:p>
                  </a:txBody>
                  <a:tcPr marL="31750" marR="31750" marT="31750" marB="31750" anchor="ctr"/>
                </a:tc>
                <a:tc>
                  <a:txBody>
                    <a:bodyPr/>
                    <a:lstStyle/>
                    <a:p>
                      <a:pPr rtl="0" fontAlgn="ctr"/>
                      <a:r>
                        <a:rPr lang="fr-FR" sz="1000" b="1">
                          <a:effectLst/>
                        </a:rPr>
                        <a:t>10.3</a:t>
                      </a:r>
                      <a:r>
                        <a:rPr lang="fr-FR" sz="1000" b="0">
                          <a:effectLst/>
                        </a:rPr>
                        <a:t>.0.1 - </a:t>
                      </a:r>
                      <a:r>
                        <a:rPr lang="fr-FR" sz="1000" b="1">
                          <a:effectLst/>
                        </a:rPr>
                        <a:t>10.3</a:t>
                      </a:r>
                      <a:r>
                        <a:rPr lang="fr-FR" sz="1000" b="0">
                          <a:effectLst/>
                        </a:rPr>
                        <a:t>.255.254 </a:t>
                      </a:r>
                    </a:p>
                  </a:txBody>
                  <a:tcPr marL="31750" marR="31750" marT="31750" marB="31750" anchor="ctr"/>
                </a:tc>
                <a:tc>
                  <a:txBody>
                    <a:bodyPr/>
                    <a:lstStyle/>
                    <a:p>
                      <a:pPr rtl="0" fontAlgn="ctr"/>
                      <a:r>
                        <a:rPr lang="fr-FR" sz="1000" b="1">
                          <a:effectLst/>
                        </a:rPr>
                        <a:t>10.3</a:t>
                      </a:r>
                      <a:r>
                        <a:rPr lang="fr-FR" sz="1000" b="0">
                          <a:effectLst/>
                        </a:rPr>
                        <a:t>.255.255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246693201"/>
                  </a:ext>
                </a:extLst>
              </a:tr>
              <a:tr h="221697">
                <a:tc>
                  <a:txBody>
                    <a:bodyPr/>
                    <a:lstStyle/>
                    <a:p>
                      <a:pPr rtl="0" fontAlgn="ctr"/>
                      <a:r>
                        <a:rPr lang="fr-FR" sz="1000" b="1">
                          <a:effectLst/>
                        </a:rPr>
                        <a:t>10,4</a:t>
                      </a:r>
                      <a:r>
                        <a:rPr lang="fr-FR" sz="1000" b="0">
                          <a:effectLst/>
                        </a:rPr>
                        <a:t>0,0,0</a:t>
                      </a:r>
                      <a:r>
                        <a:rPr lang="fr-FR" sz="1000" b="1">
                          <a:effectLst/>
                        </a:rPr>
                        <a:t>/16</a:t>
                      </a:r>
                    </a:p>
                  </a:txBody>
                  <a:tcPr marL="31750" marR="31750" marT="31750" marB="31750" anchor="ctr"/>
                </a:tc>
                <a:tc>
                  <a:txBody>
                    <a:bodyPr/>
                    <a:lstStyle/>
                    <a:p>
                      <a:pPr rtl="0" fontAlgn="ctr"/>
                      <a:r>
                        <a:rPr lang="fr-FR" sz="1000" b="1">
                          <a:effectLst/>
                        </a:rPr>
                        <a:t>10.4</a:t>
                      </a:r>
                      <a:r>
                        <a:rPr lang="fr-FR" sz="1000" b="0">
                          <a:effectLst/>
                        </a:rPr>
                        <a:t>.0.1 - </a:t>
                      </a:r>
                      <a:r>
                        <a:rPr lang="fr-FR" sz="1000" b="1">
                          <a:effectLst/>
                        </a:rPr>
                        <a:t>10.4</a:t>
                      </a:r>
                      <a:r>
                        <a:rPr lang="fr-FR" sz="1000" b="0">
                          <a:effectLst/>
                        </a:rPr>
                        <a:t>.255.254 </a:t>
                      </a:r>
                    </a:p>
                  </a:txBody>
                  <a:tcPr marL="31750" marR="31750" marT="31750" marB="31750" anchor="ctr"/>
                </a:tc>
                <a:tc>
                  <a:txBody>
                    <a:bodyPr/>
                    <a:lstStyle/>
                    <a:p>
                      <a:pPr rtl="0" fontAlgn="ctr"/>
                      <a:r>
                        <a:rPr lang="fr-FR" sz="1000" b="1">
                          <a:effectLst/>
                        </a:rPr>
                        <a:t>10.4</a:t>
                      </a:r>
                      <a:r>
                        <a:rPr lang="fr-FR" sz="1000" b="0">
                          <a:effectLst/>
                        </a:rPr>
                        <a:t>.255.255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260802008"/>
                  </a:ext>
                </a:extLst>
              </a:tr>
              <a:tr h="221697">
                <a:tc>
                  <a:txBody>
                    <a:bodyPr/>
                    <a:lstStyle/>
                    <a:p>
                      <a:pPr rtl="0" fontAlgn="ctr"/>
                      <a:r>
                        <a:rPr lang="fr-FR" sz="1000" b="1">
                          <a:effectLst/>
                        </a:rPr>
                        <a:t>10,5</a:t>
                      </a:r>
                      <a:r>
                        <a:rPr lang="fr-FR" sz="1000" b="0">
                          <a:effectLst/>
                        </a:rPr>
                        <a:t>0,0,0</a:t>
                      </a:r>
                      <a:r>
                        <a:rPr lang="fr-FR" sz="1000" b="1">
                          <a:effectLst/>
                        </a:rPr>
                        <a:t>/16</a:t>
                      </a:r>
                    </a:p>
                  </a:txBody>
                  <a:tcPr marL="31750" marR="31750" marT="31750" marB="31750" anchor="ctr"/>
                </a:tc>
                <a:tc>
                  <a:txBody>
                    <a:bodyPr/>
                    <a:lstStyle/>
                    <a:p>
                      <a:pPr rtl="0" fontAlgn="ctr"/>
                      <a:r>
                        <a:rPr lang="fr-FR" sz="1000" b="1">
                          <a:effectLst/>
                        </a:rPr>
                        <a:t>10,5</a:t>
                      </a:r>
                      <a:r>
                        <a:rPr lang="fr-FR" sz="1000" b="0">
                          <a:effectLst/>
                        </a:rPr>
                        <a:t>.0.1 - </a:t>
                      </a:r>
                      <a:r>
                        <a:rPr lang="fr-FR" sz="1000" b="1">
                          <a:effectLst/>
                        </a:rPr>
                        <a:t>10,5</a:t>
                      </a:r>
                      <a:r>
                        <a:rPr lang="fr-FR" sz="1000" b="0">
                          <a:effectLst/>
                        </a:rPr>
                        <a:t>.255.254 </a:t>
                      </a:r>
                    </a:p>
                  </a:txBody>
                  <a:tcPr marL="31750" marR="31750" marT="31750" marB="31750" anchor="ctr"/>
                </a:tc>
                <a:tc>
                  <a:txBody>
                    <a:bodyPr/>
                    <a:lstStyle/>
                    <a:p>
                      <a:pPr rtl="0" fontAlgn="ctr"/>
                      <a:r>
                        <a:rPr lang="fr-FR" sz="1000" b="1">
                          <a:effectLst/>
                        </a:rPr>
                        <a:t>10.5</a:t>
                      </a:r>
                      <a:r>
                        <a:rPr lang="fr-FR" sz="1000" b="0">
                          <a:effectLst/>
                        </a:rPr>
                        <a:t>.255.255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140251696"/>
                  </a:ext>
                </a:extLst>
              </a:tr>
              <a:tr h="221697">
                <a:tc>
                  <a:txBody>
                    <a:bodyPr/>
                    <a:lstStyle/>
                    <a:p>
                      <a:pPr rtl="0" fontAlgn="ctr"/>
                      <a:r>
                        <a:rPr lang="fr-FR" sz="1000" b="1">
                          <a:effectLst/>
                        </a:rPr>
                        <a:t>10,6</a:t>
                      </a:r>
                      <a:r>
                        <a:rPr lang="fr-FR" sz="1000" b="0">
                          <a:effectLst/>
                        </a:rPr>
                        <a:t>0,0,0</a:t>
                      </a:r>
                      <a:r>
                        <a:rPr lang="fr-FR" sz="1000" b="1">
                          <a:effectLst/>
                        </a:rPr>
                        <a:t>/16</a:t>
                      </a:r>
                    </a:p>
                  </a:txBody>
                  <a:tcPr marL="31750" marR="31750" marT="31750" marB="31750" anchor="ctr"/>
                </a:tc>
                <a:tc>
                  <a:txBody>
                    <a:bodyPr/>
                    <a:lstStyle/>
                    <a:p>
                      <a:pPr rtl="0" fontAlgn="ctr"/>
                      <a:r>
                        <a:rPr lang="fr-FR" sz="1000" b="1">
                          <a:effectLst/>
                        </a:rPr>
                        <a:t>10.6</a:t>
                      </a:r>
                      <a:r>
                        <a:rPr lang="fr-FR" sz="1000" b="0">
                          <a:effectLst/>
                        </a:rPr>
                        <a:t>.0.1 - </a:t>
                      </a:r>
                      <a:r>
                        <a:rPr lang="fr-FR" sz="1000" b="1">
                          <a:effectLst/>
                        </a:rPr>
                        <a:t>10.6</a:t>
                      </a:r>
                      <a:r>
                        <a:rPr lang="fr-FR" sz="1000" b="0">
                          <a:effectLst/>
                        </a:rPr>
                        <a:t>.255.254 </a:t>
                      </a:r>
                    </a:p>
                  </a:txBody>
                  <a:tcPr marL="31750" marR="31750" marT="31750" marB="31750" anchor="ctr"/>
                </a:tc>
                <a:tc>
                  <a:txBody>
                    <a:bodyPr/>
                    <a:lstStyle/>
                    <a:p>
                      <a:pPr rtl="0" fontAlgn="ctr"/>
                      <a:r>
                        <a:rPr lang="fr-FR" sz="1000" b="1">
                          <a:effectLst/>
                        </a:rPr>
                        <a:t>10.6</a:t>
                      </a:r>
                      <a:r>
                        <a:rPr lang="fr-FR" sz="1000" b="0">
                          <a:effectLst/>
                        </a:rPr>
                        <a:t>.255.255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579384603"/>
                  </a:ext>
                </a:extLst>
              </a:tr>
              <a:tr h="221697">
                <a:tc>
                  <a:txBody>
                    <a:bodyPr/>
                    <a:lstStyle/>
                    <a:p>
                      <a:pPr rtl="0" fontAlgn="ctr"/>
                      <a:r>
                        <a:rPr lang="fr-FR" sz="1000" b="1">
                          <a:effectLst/>
                        </a:rPr>
                        <a:t>10,7</a:t>
                      </a:r>
                      <a:r>
                        <a:rPr lang="fr-FR" sz="1000" b="0">
                          <a:effectLst/>
                        </a:rPr>
                        <a:t>0,0,0</a:t>
                      </a:r>
                      <a:r>
                        <a:rPr lang="fr-FR" sz="1000" b="1">
                          <a:effectLst/>
                        </a:rPr>
                        <a:t>/16</a:t>
                      </a:r>
                    </a:p>
                  </a:txBody>
                  <a:tcPr marL="31750" marR="31750" marT="31750" marB="31750" anchor="ctr"/>
                </a:tc>
                <a:tc>
                  <a:txBody>
                    <a:bodyPr/>
                    <a:lstStyle/>
                    <a:p>
                      <a:pPr rtl="0" fontAlgn="ctr"/>
                      <a:r>
                        <a:rPr lang="fr-FR" sz="1000" b="1">
                          <a:effectLst/>
                        </a:rPr>
                        <a:t>10,7</a:t>
                      </a:r>
                      <a:r>
                        <a:rPr lang="fr-FR" sz="1000" b="0">
                          <a:effectLst/>
                        </a:rPr>
                        <a:t>.0.1 - </a:t>
                      </a:r>
                      <a:r>
                        <a:rPr lang="fr-FR" sz="1000" b="1">
                          <a:effectLst/>
                        </a:rPr>
                        <a:t>10,7</a:t>
                      </a:r>
                      <a:r>
                        <a:rPr lang="fr-FR" sz="1000" b="0">
                          <a:effectLst/>
                        </a:rPr>
                        <a:t>.255.254 </a:t>
                      </a:r>
                    </a:p>
                  </a:txBody>
                  <a:tcPr marL="31750" marR="31750" marT="31750" marB="31750" anchor="ctr"/>
                </a:tc>
                <a:tc>
                  <a:txBody>
                    <a:bodyPr/>
                    <a:lstStyle/>
                    <a:p>
                      <a:pPr rtl="0" fontAlgn="ctr"/>
                      <a:r>
                        <a:rPr lang="fr-FR" sz="1000" b="1">
                          <a:effectLst/>
                        </a:rPr>
                        <a:t>10.7</a:t>
                      </a:r>
                      <a:r>
                        <a:rPr lang="fr-FR" sz="1000" b="0">
                          <a:effectLst/>
                        </a:rPr>
                        <a:t>.255.255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319694656"/>
                  </a:ext>
                </a:extLst>
              </a:tr>
              <a:tr h="221697">
                <a:tc>
                  <a:txBody>
                    <a:bodyPr/>
                    <a:lstStyle/>
                    <a:p>
                      <a:pPr rtl="0" fontAlgn="ctr"/>
                      <a:r>
                        <a:rPr lang="fr-FR" sz="1000" b="0">
                          <a:effectLst/>
                        </a:rPr>
                        <a:t>...</a:t>
                      </a:r>
                    </a:p>
                  </a:txBody>
                  <a:tcPr marL="31750" marR="31750" marT="31750" marB="31750" anchor="ctr"/>
                </a:tc>
                <a:tc>
                  <a:txBody>
                    <a:bodyPr/>
                    <a:lstStyle/>
                    <a:p>
                      <a:pPr rtl="0" fontAlgn="ctr"/>
                      <a:r>
                        <a:rPr lang="fr-FR" sz="1000" b="0">
                          <a:effectLst/>
                        </a:rPr>
                        <a:t>...</a:t>
                      </a:r>
                    </a:p>
                  </a:txBody>
                  <a:tcPr marL="31750" marR="31750" marT="31750" marB="31750" anchor="ctr"/>
                </a:tc>
                <a:tc>
                  <a:txBody>
                    <a:bodyPr/>
                    <a:lstStyle/>
                    <a:p>
                      <a:pPr rtl="0" fontAlgn="ctr"/>
                      <a:r>
                        <a:rPr lang="fr-FR" sz="1000" b="0">
                          <a:effectLst/>
                        </a:rPr>
                        <a:t>...</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511108504"/>
                  </a:ext>
                </a:extLst>
              </a:tr>
              <a:tr h="353190">
                <a:tc>
                  <a:txBody>
                    <a:bodyPr/>
                    <a:lstStyle/>
                    <a:p>
                      <a:pPr rtl="0" fontAlgn="ctr"/>
                      <a:r>
                        <a:rPr lang="fr-FR" sz="1000" b="1">
                          <a:effectLst/>
                        </a:rPr>
                        <a:t>10.255</a:t>
                      </a:r>
                      <a:r>
                        <a:rPr lang="fr-FR" sz="1000" b="0">
                          <a:effectLst/>
                        </a:rPr>
                        <a:t>.0.0</a:t>
                      </a:r>
                      <a:r>
                        <a:rPr lang="fr-FR" sz="1000" b="1">
                          <a:effectLst/>
                        </a:rPr>
                        <a:t>/16</a:t>
                      </a:r>
                    </a:p>
                  </a:txBody>
                  <a:tcPr marL="31750" marR="31750" marT="31750" marB="31750" anchor="ctr"/>
                </a:tc>
                <a:tc>
                  <a:txBody>
                    <a:bodyPr/>
                    <a:lstStyle/>
                    <a:p>
                      <a:pPr rtl="0" fontAlgn="ctr"/>
                      <a:r>
                        <a:rPr lang="fr-FR" sz="1000" b="1">
                          <a:effectLst/>
                        </a:rPr>
                        <a:t>10.255</a:t>
                      </a:r>
                      <a:r>
                        <a:rPr lang="fr-FR" sz="1000" b="0">
                          <a:effectLst/>
                        </a:rPr>
                        <a:t>.0.1 - </a:t>
                      </a:r>
                      <a:r>
                        <a:rPr lang="fr-FR" sz="1000" b="1">
                          <a:effectLst/>
                        </a:rPr>
                        <a:t>10.255</a:t>
                      </a:r>
                      <a:r>
                        <a:rPr lang="fr-FR" sz="1000" b="0">
                          <a:effectLst/>
                        </a:rPr>
                        <a:t>.255.254 </a:t>
                      </a:r>
                    </a:p>
                  </a:txBody>
                  <a:tcPr marL="31750" marR="31750" marT="31750" marB="31750" anchor="ctr"/>
                </a:tc>
                <a:tc>
                  <a:txBody>
                    <a:bodyPr/>
                    <a:lstStyle/>
                    <a:p>
                      <a:pPr rtl="0" fontAlgn="ctr"/>
                      <a:r>
                        <a:rPr lang="fr-FR" sz="1000" b="1" dirty="0">
                          <a:effectLst/>
                        </a:rPr>
                        <a:t>10.255</a:t>
                      </a:r>
                      <a:r>
                        <a:rPr lang="fr-FR" sz="1000" b="0" dirty="0">
                          <a:effectLst/>
                        </a:rPr>
                        <a:t>.255.255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36941723"/>
                  </a:ext>
                </a:extLst>
              </a:tr>
            </a:tbl>
          </a:graphicData>
        </a:graphic>
      </p:graphicFrame>
      <p:graphicFrame>
        <p:nvGraphicFramePr>
          <p:cNvPr id="7" name="Table 6">
            <a:extLst>
              <a:ext uri="{FF2B5EF4-FFF2-40B4-BE49-F238E27FC236}">
                <a16:creationId xmlns:a16="http://schemas.microsoft.com/office/drawing/2014/main" xmlns:c15="http://schemas.microsoft.com/office/drawing/2012/chart" xmlns:c="http://schemas.openxmlformats.org/drawingml/2006/chart" xmlns="" id="{1A119983-4ED6-4A9F-ABB0-451D571C31AD}"/>
              </a:ext>
            </a:extLst>
          </p:cNvPr>
          <p:cNvGraphicFramePr>
            <a:graphicFrameLocks noGrp="1"/>
          </p:cNvGraphicFramePr>
          <p:nvPr>
            <p:extLst>
              <p:ext uri="{D42A27DB-BD31-4B8C-83A1-F6EECF244321}">
                <p14:modId xmlns:p14="http://schemas.microsoft.com/office/powerpoint/2010/main" val="3481788309"/>
              </p:ext>
            </p:extLst>
          </p:nvPr>
        </p:nvGraphicFramePr>
        <p:xfrm>
          <a:off x="4665133" y="1498600"/>
          <a:ext cx="4284135" cy="3263900"/>
        </p:xfrm>
        <a:graphic>
          <a:graphicData uri="http://schemas.openxmlformats.org/drawingml/2006/table">
            <a:tbl>
              <a:tblPr firstRow="1" bandRow="1">
                <a:tableStyleId>{5C22544A-7EE6-4342-B048-85BDC9FD1C3A}</a:tableStyleId>
              </a:tblPr>
              <a:tblGrid>
                <a:gridCol w="1162854">
                  <a:extLst>
                    <a:ext uri="{9D8B030D-6E8A-4147-A177-3AD203B41FA5}">
                      <a16:colId xmlns:a16="http://schemas.microsoft.com/office/drawing/2014/main" xmlns:c15="http://schemas.microsoft.com/office/drawing/2012/chart" xmlns:c="http://schemas.openxmlformats.org/drawingml/2006/chart" xmlns="" val="1832368472"/>
                    </a:ext>
                  </a:extLst>
                </a:gridCol>
                <a:gridCol w="1940778">
                  <a:extLst>
                    <a:ext uri="{9D8B030D-6E8A-4147-A177-3AD203B41FA5}">
                      <a16:colId xmlns:a16="http://schemas.microsoft.com/office/drawing/2014/main" xmlns:c15="http://schemas.microsoft.com/office/drawing/2012/chart" xmlns:c="http://schemas.openxmlformats.org/drawingml/2006/chart" xmlns="" val="3133033927"/>
                    </a:ext>
                  </a:extLst>
                </a:gridCol>
                <a:gridCol w="1180503">
                  <a:extLst>
                    <a:ext uri="{9D8B030D-6E8A-4147-A177-3AD203B41FA5}">
                      <a16:colId xmlns:a16="http://schemas.microsoft.com/office/drawing/2014/main" xmlns:c15="http://schemas.microsoft.com/office/drawing/2012/chart" xmlns:c="http://schemas.openxmlformats.org/drawingml/2006/chart" xmlns="" val="1854765229"/>
                    </a:ext>
                  </a:extLst>
                </a:gridCol>
              </a:tblGrid>
              <a:tr h="469899">
                <a:tc>
                  <a:txBody>
                    <a:bodyPr/>
                    <a:lstStyle/>
                    <a:p>
                      <a:pPr algn="l" rtl="0" fontAlgn="ctr"/>
                      <a:r>
                        <a:rPr lang="fr-FR" sz="1000" b="1" dirty="0">
                          <a:effectLst/>
                        </a:rPr>
                        <a:t>Adresse de sous-réseau</a:t>
                      </a:r>
                      <a:r>
                        <a:rPr lang="en-CA" sz="1000" b="1" dirty="0">
                          <a:effectLst/>
                        </a:rPr>
                        <a:t/>
                      </a:r>
                      <a:br>
                        <a:rPr lang="en-CA" sz="1000" b="1" dirty="0">
                          <a:effectLst/>
                        </a:rPr>
                      </a:br>
                      <a:r>
                        <a:rPr lang="fr-FR" sz="1000" b="0" dirty="0">
                          <a:effectLst/>
                        </a:rPr>
                        <a:t>(65,536 sous-réseaux possibles)</a:t>
                      </a:r>
                    </a:p>
                  </a:txBody>
                  <a:tcPr marL="31750" marR="31750" marT="31750" marB="31750" anchor="ctr"/>
                </a:tc>
                <a:tc>
                  <a:txBody>
                    <a:bodyPr/>
                    <a:lstStyle/>
                    <a:p>
                      <a:pPr algn="l" rtl="0" fontAlgn="ctr"/>
                      <a:r>
                        <a:rPr lang="fr-FR" sz="1000" b="1" dirty="0">
                          <a:effectLst/>
                        </a:rPr>
                        <a:t>Plage d'hôtes</a:t>
                      </a:r>
                      <a:r>
                        <a:rPr lang="en-CA" sz="1000" b="1" dirty="0">
                          <a:effectLst/>
                        </a:rPr>
                        <a:t/>
                      </a:r>
                      <a:br>
                        <a:rPr lang="en-CA" sz="1000" b="1" dirty="0">
                          <a:effectLst/>
                        </a:rPr>
                      </a:br>
                      <a:r>
                        <a:rPr lang="fr-FR" sz="1000" b="0" dirty="0">
                          <a:effectLst/>
                        </a:rPr>
                        <a:t>(254 hôtes possibles par sous-réseau)</a:t>
                      </a:r>
                    </a:p>
                  </a:txBody>
                  <a:tcPr marL="31750" marR="31750" marT="31750" marB="31750" anchor="ctr"/>
                </a:tc>
                <a:tc>
                  <a:txBody>
                    <a:bodyPr/>
                    <a:lstStyle/>
                    <a:p>
                      <a:pPr algn="l" rtl="0" fontAlgn="ctr"/>
                      <a:r>
                        <a:rPr lang="fr-FR" sz="1000" b="1">
                          <a:effectLst/>
                        </a:rPr>
                        <a:t>Diffusion</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621925027"/>
                  </a:ext>
                </a:extLst>
              </a:tr>
              <a:tr h="204139">
                <a:tc>
                  <a:txBody>
                    <a:bodyPr/>
                    <a:lstStyle/>
                    <a:p>
                      <a:pPr rtl="0" fontAlgn="ctr"/>
                      <a:r>
                        <a:rPr lang="fr-FR" sz="1000" b="1">
                          <a:effectLst/>
                        </a:rPr>
                        <a:t>10,0.0</a:t>
                      </a:r>
                      <a:r>
                        <a:rPr lang="fr-FR" sz="1000" b="0">
                          <a:effectLst/>
                        </a:rPr>
                        <a:t>.0</a:t>
                      </a:r>
                      <a:r>
                        <a:rPr lang="fr-FR" sz="1000" b="1">
                          <a:effectLst/>
                        </a:rPr>
                        <a:t>/24</a:t>
                      </a:r>
                    </a:p>
                  </a:txBody>
                  <a:tcPr marL="31750" marR="31750" marT="31750" marB="31750" anchor="ctr"/>
                </a:tc>
                <a:tc>
                  <a:txBody>
                    <a:bodyPr/>
                    <a:lstStyle/>
                    <a:p>
                      <a:pPr rtl="0" fontAlgn="ctr"/>
                      <a:r>
                        <a:rPr lang="fr-FR" sz="1000" b="1">
                          <a:effectLst/>
                        </a:rPr>
                        <a:t>10.0.0</a:t>
                      </a:r>
                      <a:r>
                        <a:rPr lang="fr-FR" sz="1000" b="0">
                          <a:effectLst/>
                        </a:rPr>
                        <a:t>.1 - </a:t>
                      </a:r>
                      <a:r>
                        <a:rPr lang="fr-FR" sz="1000" b="1">
                          <a:effectLst/>
                        </a:rPr>
                        <a:t>10.0.0</a:t>
                      </a:r>
                      <a:r>
                        <a:rPr lang="fr-FR" sz="1000" b="0">
                          <a:effectLst/>
                        </a:rPr>
                        <a:t>.254</a:t>
                      </a:r>
                    </a:p>
                  </a:txBody>
                  <a:tcPr marL="31750" marR="31750" marT="31750" marB="31750" anchor="ctr"/>
                </a:tc>
                <a:tc>
                  <a:txBody>
                    <a:bodyPr/>
                    <a:lstStyle/>
                    <a:p>
                      <a:pPr rtl="0" fontAlgn="ctr"/>
                      <a:r>
                        <a:rPr lang="fr-FR" sz="1000" b="1">
                          <a:effectLst/>
                        </a:rPr>
                        <a:t>10,0,0</a:t>
                      </a:r>
                      <a:r>
                        <a:rPr lang="fr-FR" sz="1000" b="0">
                          <a:effectLst/>
                        </a:rPr>
                        <a:t>.255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648350670"/>
                  </a:ext>
                </a:extLst>
              </a:tr>
              <a:tr h="204139">
                <a:tc>
                  <a:txBody>
                    <a:bodyPr/>
                    <a:lstStyle/>
                    <a:p>
                      <a:pPr rtl="0" fontAlgn="ctr"/>
                      <a:r>
                        <a:rPr lang="fr-FR" sz="1000" b="1">
                          <a:effectLst/>
                        </a:rPr>
                        <a:t>10,0,1</a:t>
                      </a:r>
                      <a:r>
                        <a:rPr lang="fr-FR" sz="1000" b="0">
                          <a:effectLst/>
                        </a:rPr>
                        <a:t>.0</a:t>
                      </a:r>
                      <a:r>
                        <a:rPr lang="fr-FR" sz="1000" b="1">
                          <a:effectLst/>
                        </a:rPr>
                        <a:t>/24</a:t>
                      </a:r>
                    </a:p>
                  </a:txBody>
                  <a:tcPr marL="31750" marR="31750" marT="31750" marB="31750" anchor="ctr"/>
                </a:tc>
                <a:tc>
                  <a:txBody>
                    <a:bodyPr/>
                    <a:lstStyle/>
                    <a:p>
                      <a:pPr rtl="0" fontAlgn="ctr"/>
                      <a:r>
                        <a:rPr lang="fr-FR" sz="1000" b="1">
                          <a:effectLst/>
                        </a:rPr>
                        <a:t>10.0.1</a:t>
                      </a:r>
                      <a:r>
                        <a:rPr lang="fr-FR" sz="1000" b="0">
                          <a:effectLst/>
                        </a:rPr>
                        <a:t>.1 - </a:t>
                      </a:r>
                      <a:r>
                        <a:rPr lang="fr-FR" sz="1000" b="1">
                          <a:effectLst/>
                        </a:rPr>
                        <a:t>10.0.1</a:t>
                      </a:r>
                      <a:r>
                        <a:rPr lang="fr-FR" sz="1000" b="0">
                          <a:effectLst/>
                        </a:rPr>
                        <a:t>.254</a:t>
                      </a:r>
                    </a:p>
                  </a:txBody>
                  <a:tcPr marL="31750" marR="31750" marT="31750" marB="31750" anchor="ctr"/>
                </a:tc>
                <a:tc>
                  <a:txBody>
                    <a:bodyPr/>
                    <a:lstStyle/>
                    <a:p>
                      <a:pPr rtl="0" fontAlgn="ctr"/>
                      <a:r>
                        <a:rPr lang="fr-FR" sz="1000" b="1">
                          <a:effectLst/>
                        </a:rPr>
                        <a:t>10.0.1</a:t>
                      </a:r>
                      <a:r>
                        <a:rPr lang="fr-FR" sz="1000" b="0">
                          <a:effectLst/>
                        </a:rPr>
                        <a:t>.255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838933585"/>
                  </a:ext>
                </a:extLst>
              </a:tr>
              <a:tr h="204139">
                <a:tc>
                  <a:txBody>
                    <a:bodyPr/>
                    <a:lstStyle/>
                    <a:p>
                      <a:pPr rtl="0" fontAlgn="ctr"/>
                      <a:r>
                        <a:rPr lang="fr-FR" sz="1000" b="1">
                          <a:effectLst/>
                        </a:rPr>
                        <a:t>10.0.2</a:t>
                      </a:r>
                      <a:r>
                        <a:rPr lang="fr-FR" sz="1000" b="0">
                          <a:effectLst/>
                        </a:rPr>
                        <a:t>.0</a:t>
                      </a:r>
                      <a:r>
                        <a:rPr lang="fr-FR" sz="1000" b="1">
                          <a:effectLst/>
                        </a:rPr>
                        <a:t>/24</a:t>
                      </a:r>
                    </a:p>
                  </a:txBody>
                  <a:tcPr marL="31750" marR="31750" marT="31750" marB="31750" anchor="ctr"/>
                </a:tc>
                <a:tc>
                  <a:txBody>
                    <a:bodyPr/>
                    <a:lstStyle/>
                    <a:p>
                      <a:pPr rtl="0" fontAlgn="ctr"/>
                      <a:r>
                        <a:rPr lang="fr-FR" sz="1000" b="1">
                          <a:effectLst/>
                        </a:rPr>
                        <a:t>10.0.2</a:t>
                      </a:r>
                      <a:r>
                        <a:rPr lang="fr-FR" sz="1000" b="0">
                          <a:effectLst/>
                        </a:rPr>
                        <a:t>.1 - </a:t>
                      </a:r>
                      <a:r>
                        <a:rPr lang="fr-FR" sz="1000" b="1">
                          <a:effectLst/>
                        </a:rPr>
                        <a:t>10.0.2</a:t>
                      </a:r>
                      <a:r>
                        <a:rPr lang="fr-FR" sz="1000" b="0">
                          <a:effectLst/>
                        </a:rPr>
                        <a:t>.254</a:t>
                      </a:r>
                    </a:p>
                  </a:txBody>
                  <a:tcPr marL="31750" marR="31750" marT="31750" marB="31750" anchor="ctr"/>
                </a:tc>
                <a:tc>
                  <a:txBody>
                    <a:bodyPr/>
                    <a:lstStyle/>
                    <a:p>
                      <a:pPr rtl="0" fontAlgn="ctr"/>
                      <a:r>
                        <a:rPr lang="fr-FR" sz="1000" b="1">
                          <a:effectLst/>
                        </a:rPr>
                        <a:t>10.0.2</a:t>
                      </a:r>
                      <a:r>
                        <a:rPr lang="fr-FR" sz="1000" b="0">
                          <a:effectLst/>
                        </a:rPr>
                        <a:t>.255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643493669"/>
                  </a:ext>
                </a:extLst>
              </a:tr>
              <a:tr h="204139">
                <a:tc>
                  <a:txBody>
                    <a:bodyPr/>
                    <a:lstStyle/>
                    <a:p>
                      <a:pPr rtl="0" fontAlgn="ctr"/>
                      <a:r>
                        <a:rPr lang="fr-FR" sz="1000" b="0">
                          <a:effectLst/>
                        </a:rPr>
                        <a:t>…</a:t>
                      </a:r>
                    </a:p>
                  </a:txBody>
                  <a:tcPr marL="31750" marR="31750" marT="31750" marB="31750" anchor="ctr"/>
                </a:tc>
                <a:tc>
                  <a:txBody>
                    <a:bodyPr/>
                    <a:lstStyle/>
                    <a:p>
                      <a:pPr rtl="0" fontAlgn="ctr"/>
                      <a:r>
                        <a:rPr lang="fr-FR" sz="1000" b="0">
                          <a:effectLst/>
                        </a:rPr>
                        <a:t>…</a:t>
                      </a:r>
                    </a:p>
                  </a:txBody>
                  <a:tcPr marL="31750" marR="31750" marT="31750" marB="31750" anchor="ctr"/>
                </a:tc>
                <a:tc>
                  <a:txBody>
                    <a:bodyPr/>
                    <a:lstStyle/>
                    <a:p>
                      <a:pPr rtl="0" fontAlgn="ctr"/>
                      <a:r>
                        <a:rPr lang="fr-FR" sz="1000" b="0">
                          <a:effectLst/>
                        </a:rPr>
                        <a:t>…</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459356146"/>
                  </a:ext>
                </a:extLst>
              </a:tr>
              <a:tr h="204139">
                <a:tc>
                  <a:txBody>
                    <a:bodyPr/>
                    <a:lstStyle/>
                    <a:p>
                      <a:pPr rtl="0" fontAlgn="ctr"/>
                      <a:r>
                        <a:rPr lang="fr-FR" sz="1000" b="1">
                          <a:effectLst/>
                        </a:rPr>
                        <a:t>10.0.255</a:t>
                      </a:r>
                      <a:r>
                        <a:rPr lang="fr-FR" sz="1000" b="0">
                          <a:effectLst/>
                        </a:rPr>
                        <a:t>.0</a:t>
                      </a:r>
                      <a:r>
                        <a:rPr lang="fr-FR" sz="1000" b="1">
                          <a:effectLst/>
                        </a:rPr>
                        <a:t>/24</a:t>
                      </a:r>
                    </a:p>
                  </a:txBody>
                  <a:tcPr marL="31750" marR="31750" marT="31750" marB="31750" anchor="ctr"/>
                </a:tc>
                <a:tc>
                  <a:txBody>
                    <a:bodyPr/>
                    <a:lstStyle/>
                    <a:p>
                      <a:pPr rtl="0" fontAlgn="ctr"/>
                      <a:r>
                        <a:rPr lang="fr-FR" sz="1000" b="1">
                          <a:effectLst/>
                        </a:rPr>
                        <a:t>10.0.255</a:t>
                      </a:r>
                      <a:r>
                        <a:rPr lang="fr-FR" sz="1000" b="0">
                          <a:effectLst/>
                        </a:rPr>
                        <a:t>.1 - </a:t>
                      </a:r>
                      <a:r>
                        <a:rPr lang="fr-FR" sz="1000" b="1">
                          <a:effectLst/>
                        </a:rPr>
                        <a:t>10.0.255</a:t>
                      </a:r>
                      <a:r>
                        <a:rPr lang="fr-FR" sz="1000" b="0">
                          <a:effectLst/>
                        </a:rPr>
                        <a:t>.254</a:t>
                      </a:r>
                    </a:p>
                  </a:txBody>
                  <a:tcPr marL="31750" marR="31750" marT="31750" marB="31750" anchor="ctr"/>
                </a:tc>
                <a:tc>
                  <a:txBody>
                    <a:bodyPr/>
                    <a:lstStyle/>
                    <a:p>
                      <a:pPr rtl="0" fontAlgn="ctr"/>
                      <a:r>
                        <a:rPr lang="fr-FR" sz="1000" b="1">
                          <a:effectLst/>
                        </a:rPr>
                        <a:t>10.0.255</a:t>
                      </a:r>
                      <a:r>
                        <a:rPr lang="fr-FR" sz="1000" b="0">
                          <a:effectLst/>
                        </a:rPr>
                        <a:t>.255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417579166"/>
                  </a:ext>
                </a:extLst>
              </a:tr>
              <a:tr h="204139">
                <a:tc>
                  <a:txBody>
                    <a:bodyPr/>
                    <a:lstStyle/>
                    <a:p>
                      <a:pPr rtl="0" fontAlgn="ctr"/>
                      <a:r>
                        <a:rPr lang="fr-FR" sz="1000" b="1">
                          <a:effectLst/>
                        </a:rPr>
                        <a:t>10.1.0</a:t>
                      </a:r>
                      <a:r>
                        <a:rPr lang="fr-FR" sz="1000" b="0">
                          <a:effectLst/>
                        </a:rPr>
                        <a:t>.0</a:t>
                      </a:r>
                      <a:r>
                        <a:rPr lang="fr-FR" sz="1000" b="1">
                          <a:effectLst/>
                        </a:rPr>
                        <a:t>/24</a:t>
                      </a:r>
                    </a:p>
                  </a:txBody>
                  <a:tcPr marL="31750" marR="31750" marT="31750" marB="31750" anchor="ctr"/>
                </a:tc>
                <a:tc>
                  <a:txBody>
                    <a:bodyPr/>
                    <a:lstStyle/>
                    <a:p>
                      <a:pPr rtl="0" fontAlgn="ctr"/>
                      <a:r>
                        <a:rPr lang="fr-FR" sz="1000" b="1">
                          <a:effectLst/>
                        </a:rPr>
                        <a:t>10.1.0</a:t>
                      </a:r>
                      <a:r>
                        <a:rPr lang="fr-FR" sz="1000" b="0">
                          <a:effectLst/>
                        </a:rPr>
                        <a:t>.1 - </a:t>
                      </a:r>
                      <a:r>
                        <a:rPr lang="fr-FR" sz="1000" b="1">
                          <a:effectLst/>
                        </a:rPr>
                        <a:t>10.1.0</a:t>
                      </a:r>
                      <a:r>
                        <a:rPr lang="fr-FR" sz="1000" b="0">
                          <a:effectLst/>
                        </a:rPr>
                        <a:t>.254</a:t>
                      </a:r>
                    </a:p>
                  </a:txBody>
                  <a:tcPr marL="31750" marR="31750" marT="31750" marB="31750" anchor="ctr"/>
                </a:tc>
                <a:tc>
                  <a:txBody>
                    <a:bodyPr/>
                    <a:lstStyle/>
                    <a:p>
                      <a:pPr rtl="0" fontAlgn="ctr"/>
                      <a:r>
                        <a:rPr lang="fr-FR" sz="1000" b="1">
                          <a:effectLst/>
                        </a:rPr>
                        <a:t>10.1.0</a:t>
                      </a:r>
                      <a:r>
                        <a:rPr lang="fr-FR" sz="1000" b="0">
                          <a:effectLst/>
                        </a:rPr>
                        <a:t>.255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246693201"/>
                  </a:ext>
                </a:extLst>
              </a:tr>
              <a:tr h="204139">
                <a:tc>
                  <a:txBody>
                    <a:bodyPr/>
                    <a:lstStyle/>
                    <a:p>
                      <a:pPr rtl="0" fontAlgn="ctr"/>
                      <a:r>
                        <a:rPr lang="fr-FR" sz="1000" b="1">
                          <a:effectLst/>
                        </a:rPr>
                        <a:t>10.1.1</a:t>
                      </a:r>
                      <a:r>
                        <a:rPr lang="fr-FR" sz="1000" b="0">
                          <a:effectLst/>
                        </a:rPr>
                        <a:t>.0</a:t>
                      </a:r>
                      <a:r>
                        <a:rPr lang="fr-FR" sz="1000" b="1">
                          <a:effectLst/>
                        </a:rPr>
                        <a:t>/24</a:t>
                      </a:r>
                    </a:p>
                  </a:txBody>
                  <a:tcPr marL="31750" marR="31750" marT="31750" marB="31750" anchor="ctr"/>
                </a:tc>
                <a:tc>
                  <a:txBody>
                    <a:bodyPr/>
                    <a:lstStyle/>
                    <a:p>
                      <a:pPr rtl="0" fontAlgn="ctr"/>
                      <a:r>
                        <a:rPr lang="fr-FR" sz="1000" b="1">
                          <a:effectLst/>
                        </a:rPr>
                        <a:t>10.1.1</a:t>
                      </a:r>
                      <a:r>
                        <a:rPr lang="fr-FR" sz="1000" b="0">
                          <a:effectLst/>
                        </a:rPr>
                        <a:t>.1 - </a:t>
                      </a:r>
                      <a:r>
                        <a:rPr lang="fr-FR" sz="1000" b="1">
                          <a:effectLst/>
                        </a:rPr>
                        <a:t>10.1.1</a:t>
                      </a:r>
                      <a:r>
                        <a:rPr lang="fr-FR" sz="1000" b="0">
                          <a:effectLst/>
                        </a:rPr>
                        <a:t>.254</a:t>
                      </a:r>
                    </a:p>
                  </a:txBody>
                  <a:tcPr marL="31750" marR="31750" marT="31750" marB="31750" anchor="ctr"/>
                </a:tc>
                <a:tc>
                  <a:txBody>
                    <a:bodyPr/>
                    <a:lstStyle/>
                    <a:p>
                      <a:pPr rtl="0" fontAlgn="ctr"/>
                      <a:r>
                        <a:rPr lang="fr-FR" sz="1000" b="1">
                          <a:effectLst/>
                        </a:rPr>
                        <a:t>10.1.1</a:t>
                      </a:r>
                      <a:r>
                        <a:rPr lang="fr-FR" sz="1000" b="0">
                          <a:effectLst/>
                        </a:rPr>
                        <a:t>.255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260802008"/>
                  </a:ext>
                </a:extLst>
              </a:tr>
              <a:tr h="204139">
                <a:tc>
                  <a:txBody>
                    <a:bodyPr/>
                    <a:lstStyle/>
                    <a:p>
                      <a:pPr rtl="0" fontAlgn="ctr"/>
                      <a:r>
                        <a:rPr lang="fr-FR" sz="1000" b="1">
                          <a:effectLst/>
                        </a:rPr>
                        <a:t>10.1.2</a:t>
                      </a:r>
                      <a:r>
                        <a:rPr lang="fr-FR" sz="1000" b="0">
                          <a:effectLst/>
                        </a:rPr>
                        <a:t>.0</a:t>
                      </a:r>
                      <a:r>
                        <a:rPr lang="fr-FR" sz="1000" b="1">
                          <a:effectLst/>
                        </a:rPr>
                        <a:t>/24</a:t>
                      </a:r>
                    </a:p>
                  </a:txBody>
                  <a:tcPr marL="31750" marR="31750" marT="31750" marB="31750" anchor="ctr"/>
                </a:tc>
                <a:tc>
                  <a:txBody>
                    <a:bodyPr/>
                    <a:lstStyle/>
                    <a:p>
                      <a:pPr rtl="0" fontAlgn="ctr"/>
                      <a:r>
                        <a:rPr lang="fr-FR" sz="1000" b="1">
                          <a:effectLst/>
                        </a:rPr>
                        <a:t>10.1.2</a:t>
                      </a:r>
                      <a:r>
                        <a:rPr lang="fr-FR" sz="1000" b="0">
                          <a:effectLst/>
                        </a:rPr>
                        <a:t>.1 - </a:t>
                      </a:r>
                      <a:r>
                        <a:rPr lang="fr-FR" sz="1000" b="1">
                          <a:effectLst/>
                        </a:rPr>
                        <a:t>10.1.2</a:t>
                      </a:r>
                      <a:r>
                        <a:rPr lang="fr-FR" sz="1000" b="0">
                          <a:effectLst/>
                        </a:rPr>
                        <a:t>.254</a:t>
                      </a:r>
                    </a:p>
                  </a:txBody>
                  <a:tcPr marL="31750" marR="31750" marT="31750" marB="31750" anchor="ctr"/>
                </a:tc>
                <a:tc>
                  <a:txBody>
                    <a:bodyPr/>
                    <a:lstStyle/>
                    <a:p>
                      <a:pPr rtl="0" fontAlgn="ctr"/>
                      <a:r>
                        <a:rPr lang="fr-FR" sz="1000" b="1">
                          <a:effectLst/>
                        </a:rPr>
                        <a:t>10.1.2</a:t>
                      </a:r>
                      <a:r>
                        <a:rPr lang="fr-FR" sz="1000" b="0">
                          <a:effectLst/>
                        </a:rPr>
                        <a:t>.255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140251696"/>
                  </a:ext>
                </a:extLst>
              </a:tr>
              <a:tr h="204139">
                <a:tc>
                  <a:txBody>
                    <a:bodyPr/>
                    <a:lstStyle/>
                    <a:p>
                      <a:pPr rtl="0" fontAlgn="ctr"/>
                      <a:r>
                        <a:rPr lang="fr-FR" sz="1000" b="0">
                          <a:effectLst/>
                        </a:rPr>
                        <a:t>…</a:t>
                      </a:r>
                    </a:p>
                  </a:txBody>
                  <a:tcPr marL="31750" marR="31750" marT="31750" marB="31750" anchor="ctr"/>
                </a:tc>
                <a:tc>
                  <a:txBody>
                    <a:bodyPr/>
                    <a:lstStyle/>
                    <a:p>
                      <a:pPr rtl="0" fontAlgn="ctr"/>
                      <a:r>
                        <a:rPr lang="fr-FR" sz="1000" b="0">
                          <a:effectLst/>
                        </a:rPr>
                        <a:t>…</a:t>
                      </a:r>
                    </a:p>
                  </a:txBody>
                  <a:tcPr marL="31750" marR="31750" marT="31750" marB="31750" anchor="ctr"/>
                </a:tc>
                <a:tc>
                  <a:txBody>
                    <a:bodyPr/>
                    <a:lstStyle/>
                    <a:p>
                      <a:pPr rtl="0" fontAlgn="ctr"/>
                      <a:r>
                        <a:rPr lang="fr-FR" sz="1000" b="0">
                          <a:effectLst/>
                        </a:rPr>
                        <a:t>…</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579384603"/>
                  </a:ext>
                </a:extLst>
              </a:tr>
              <a:tr h="204139">
                <a:tc>
                  <a:txBody>
                    <a:bodyPr/>
                    <a:lstStyle/>
                    <a:p>
                      <a:pPr rtl="0" fontAlgn="ctr"/>
                      <a:r>
                        <a:rPr lang="fr-FR" sz="1000" b="1">
                          <a:effectLst/>
                        </a:rPr>
                        <a:t>10.100.0</a:t>
                      </a:r>
                      <a:r>
                        <a:rPr lang="fr-FR" sz="1000" b="0">
                          <a:effectLst/>
                        </a:rPr>
                        <a:t>.0</a:t>
                      </a:r>
                      <a:r>
                        <a:rPr lang="fr-FR" sz="1000" b="1">
                          <a:effectLst/>
                        </a:rPr>
                        <a:t>/24</a:t>
                      </a:r>
                    </a:p>
                  </a:txBody>
                  <a:tcPr marL="31750" marR="31750" marT="31750" marB="31750" anchor="ctr"/>
                </a:tc>
                <a:tc>
                  <a:txBody>
                    <a:bodyPr/>
                    <a:lstStyle/>
                    <a:p>
                      <a:pPr rtl="0" fontAlgn="ctr"/>
                      <a:r>
                        <a:rPr lang="fr-FR" sz="1000" b="1" dirty="0">
                          <a:effectLst/>
                        </a:rPr>
                        <a:t>10.100.0</a:t>
                      </a:r>
                      <a:r>
                        <a:rPr lang="fr-FR" sz="1000" b="0" dirty="0">
                          <a:effectLst/>
                        </a:rPr>
                        <a:t>.1 - </a:t>
                      </a:r>
                      <a:r>
                        <a:rPr lang="fr-FR" sz="1000" b="1" dirty="0">
                          <a:effectLst/>
                        </a:rPr>
                        <a:t>10.100.0</a:t>
                      </a:r>
                      <a:r>
                        <a:rPr lang="fr-FR" sz="1000" b="0" dirty="0">
                          <a:effectLst/>
                        </a:rPr>
                        <a:t>.254</a:t>
                      </a:r>
                    </a:p>
                  </a:txBody>
                  <a:tcPr marL="31750" marR="31750" marT="31750" marB="31750" anchor="ctr"/>
                </a:tc>
                <a:tc>
                  <a:txBody>
                    <a:bodyPr/>
                    <a:lstStyle/>
                    <a:p>
                      <a:pPr rtl="0" fontAlgn="ctr"/>
                      <a:r>
                        <a:rPr lang="fr-FR" sz="1000" b="1">
                          <a:effectLst/>
                        </a:rPr>
                        <a:t>10.100.0</a:t>
                      </a:r>
                      <a:r>
                        <a:rPr lang="fr-FR" sz="1000" b="0">
                          <a:effectLst/>
                        </a:rPr>
                        <a:t>.255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319694656"/>
                  </a:ext>
                </a:extLst>
              </a:tr>
              <a:tr h="204139">
                <a:tc>
                  <a:txBody>
                    <a:bodyPr/>
                    <a:lstStyle/>
                    <a:p>
                      <a:pPr rtl="0" fontAlgn="ctr"/>
                      <a:r>
                        <a:rPr lang="fr-FR" sz="1000" b="0">
                          <a:effectLst/>
                        </a:rPr>
                        <a:t>...</a:t>
                      </a:r>
                    </a:p>
                  </a:txBody>
                  <a:tcPr marL="31750" marR="31750" marT="31750" marB="31750" anchor="ctr"/>
                </a:tc>
                <a:tc>
                  <a:txBody>
                    <a:bodyPr/>
                    <a:lstStyle/>
                    <a:p>
                      <a:pPr rtl="0" fontAlgn="ctr"/>
                      <a:r>
                        <a:rPr lang="fr-FR" sz="1000" b="0">
                          <a:effectLst/>
                        </a:rPr>
                        <a:t>...</a:t>
                      </a:r>
                    </a:p>
                  </a:txBody>
                  <a:tcPr marL="31750" marR="31750" marT="31750" marB="31750" anchor="ctr"/>
                </a:tc>
                <a:tc>
                  <a:txBody>
                    <a:bodyPr/>
                    <a:lstStyle/>
                    <a:p>
                      <a:pPr rtl="0" fontAlgn="ctr"/>
                      <a:r>
                        <a:rPr lang="fr-FR" sz="1000" b="0">
                          <a:effectLst/>
                        </a:rPr>
                        <a:t>...</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511108504"/>
                  </a:ext>
                </a:extLst>
              </a:tr>
              <a:tr h="204139">
                <a:tc>
                  <a:txBody>
                    <a:bodyPr/>
                    <a:lstStyle/>
                    <a:p>
                      <a:pPr rtl="0" fontAlgn="ctr"/>
                      <a:r>
                        <a:rPr lang="fr-FR" sz="1000" b="1">
                          <a:effectLst/>
                        </a:rPr>
                        <a:t>10.255.255</a:t>
                      </a:r>
                      <a:r>
                        <a:rPr lang="fr-FR" sz="1000" b="0">
                          <a:effectLst/>
                        </a:rPr>
                        <a:t>.0</a:t>
                      </a:r>
                      <a:r>
                        <a:rPr lang="fr-FR" sz="1000" b="1">
                          <a:effectLst/>
                        </a:rPr>
                        <a:t>/24</a:t>
                      </a:r>
                    </a:p>
                  </a:txBody>
                  <a:tcPr marL="31750" marR="31750" marT="31750" marB="31750" anchor="ctr"/>
                </a:tc>
                <a:tc>
                  <a:txBody>
                    <a:bodyPr/>
                    <a:lstStyle/>
                    <a:p>
                      <a:pPr rtl="0" fontAlgn="ctr"/>
                      <a:r>
                        <a:rPr lang="fr-FR" sz="1000" b="1" dirty="0">
                          <a:effectLst/>
                        </a:rPr>
                        <a:t>10.255.255</a:t>
                      </a:r>
                      <a:r>
                        <a:rPr lang="fr-FR" sz="1000" b="0" dirty="0">
                          <a:effectLst/>
                        </a:rPr>
                        <a:t>.1 - </a:t>
                      </a:r>
                      <a:r>
                        <a:rPr lang="fr-FR" sz="1000" b="1" dirty="0">
                          <a:effectLst/>
                        </a:rPr>
                        <a:t>10.2255.255</a:t>
                      </a:r>
                      <a:r>
                        <a:rPr lang="fr-FR" sz="1000" b="0" dirty="0">
                          <a:effectLst/>
                        </a:rPr>
                        <a:t>.254</a:t>
                      </a:r>
                    </a:p>
                  </a:txBody>
                  <a:tcPr marL="31750" marR="31750" marT="31750" marB="31750" anchor="ctr"/>
                </a:tc>
                <a:tc>
                  <a:txBody>
                    <a:bodyPr/>
                    <a:lstStyle/>
                    <a:p>
                      <a:pPr rtl="0" fontAlgn="ctr"/>
                      <a:r>
                        <a:rPr lang="fr-FR" sz="1000" b="1" dirty="0">
                          <a:effectLst/>
                        </a:rPr>
                        <a:t>10.255.255</a:t>
                      </a:r>
                      <a:r>
                        <a:rPr lang="fr-FR" sz="1000" b="0" dirty="0">
                          <a:effectLst/>
                        </a:rPr>
                        <a:t>.255</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36941723"/>
                  </a:ext>
                </a:extLst>
              </a:tr>
            </a:tbl>
          </a:graphicData>
        </a:graphic>
      </p:graphicFrame>
    </p:spTree>
    <p:extLst>
      <p:ext uri="{BB962C8B-B14F-4D97-AF65-F5344CB8AC3E}">
        <p14:creationId xmlns:p14="http://schemas.microsoft.com/office/powerpoint/2010/main" val="391854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67733" y="118534"/>
            <a:ext cx="8345488" cy="731837"/>
          </a:xfrm>
        </p:spPr>
        <p:txBody>
          <a:bodyPr/>
          <a:lstStyle/>
          <a:p>
            <a:pPr rtl="0"/>
            <a:r>
              <a:rPr lang="fr-FR" sz="1600" dirty="0"/>
              <a:t>Segmenter un réseau IPv4 en sous-réseaux</a:t>
            </a:r>
            <a:r>
              <a:rPr lang="en-US" dirty="0"/>
              <a:t/>
            </a:r>
            <a:br>
              <a:rPr lang="en-US" dirty="0"/>
            </a:br>
            <a:r>
              <a:rPr lang="fr-FR" sz="2400" dirty="0" smtClean="0"/>
              <a:t>Création </a:t>
            </a:r>
            <a:r>
              <a:rPr lang="fr-FR" sz="2400" dirty="0"/>
              <a:t>de sous-réseaux au niveau de la limite d'octet</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48905" y="1024752"/>
            <a:ext cx="8280057" cy="464334"/>
          </a:xfrm>
        </p:spPr>
        <p:txBody>
          <a:bodyPr/>
          <a:lstStyle/>
          <a:p>
            <a:pPr marL="342900" indent="-342900" algn="l" rtl="0">
              <a:buFont typeface="Arial" panose="020B0604020202020204" pitchFamily="34" charset="0"/>
              <a:buChar char="•"/>
            </a:pPr>
            <a:r>
              <a:rPr lang="fr-FR" sz="1600" dirty="0">
                <a:solidFill>
                  <a:srgbClr val="000000"/>
                </a:solidFill>
              </a:rPr>
              <a:t>Reportez-vous au tableau pour voir six façons de sous-réseau d'un réseau /24.</a:t>
            </a:r>
          </a:p>
        </p:txBody>
      </p:sp>
      <p:graphicFrame>
        <p:nvGraphicFramePr>
          <p:cNvPr id="5" name="Table 4">
            <a:extLst>
              <a:ext uri="{FF2B5EF4-FFF2-40B4-BE49-F238E27FC236}">
                <a16:creationId xmlns:a16="http://schemas.microsoft.com/office/drawing/2014/main" xmlns:c15="http://schemas.microsoft.com/office/drawing/2012/chart" xmlns:c="http://schemas.openxmlformats.org/drawingml/2006/chart" xmlns="" id="{3EE5DF15-7779-4ED6-8960-EFEFE4B7C5F0}"/>
              </a:ext>
            </a:extLst>
          </p:cNvPr>
          <p:cNvGraphicFramePr>
            <a:graphicFrameLocks noGrp="1"/>
          </p:cNvGraphicFramePr>
          <p:nvPr>
            <p:extLst>
              <p:ext uri="{D42A27DB-BD31-4B8C-83A1-F6EECF244321}">
                <p14:modId xmlns:p14="http://schemas.microsoft.com/office/powerpoint/2010/main" val="1880066965"/>
              </p:ext>
            </p:extLst>
          </p:nvPr>
        </p:nvGraphicFramePr>
        <p:xfrm>
          <a:off x="1258569" y="1626400"/>
          <a:ext cx="6728460" cy="274574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xmlns:c15="http://schemas.microsoft.com/office/drawing/2012/chart" xmlns:c="http://schemas.openxmlformats.org/drawingml/2006/chart" xmlns="" val="3173678455"/>
                    </a:ext>
                  </a:extLst>
                </a:gridCol>
                <a:gridCol w="1203960">
                  <a:extLst>
                    <a:ext uri="{9D8B030D-6E8A-4147-A177-3AD203B41FA5}">
                      <a16:colId xmlns:a16="http://schemas.microsoft.com/office/drawing/2014/main" xmlns:c15="http://schemas.microsoft.com/office/drawing/2012/chart" xmlns:c="http://schemas.openxmlformats.org/drawingml/2006/chart" xmlns="" val="1538934761"/>
                    </a:ext>
                  </a:extLst>
                </a:gridCol>
                <a:gridCol w="3092530">
                  <a:extLst>
                    <a:ext uri="{9D8B030D-6E8A-4147-A177-3AD203B41FA5}">
                      <a16:colId xmlns:a16="http://schemas.microsoft.com/office/drawing/2014/main" xmlns:c15="http://schemas.microsoft.com/office/drawing/2012/chart" xmlns:c="http://schemas.openxmlformats.org/drawingml/2006/chart" xmlns="" val="1045760004"/>
                    </a:ext>
                  </a:extLst>
                </a:gridCol>
                <a:gridCol w="747950">
                  <a:extLst>
                    <a:ext uri="{9D8B030D-6E8A-4147-A177-3AD203B41FA5}">
                      <a16:colId xmlns:a16="http://schemas.microsoft.com/office/drawing/2014/main" xmlns:c15="http://schemas.microsoft.com/office/drawing/2012/chart" xmlns:c="http://schemas.openxmlformats.org/drawingml/2006/chart" xmlns="" val="2485496051"/>
                    </a:ext>
                  </a:extLst>
                </a:gridCol>
                <a:gridCol w="723900">
                  <a:extLst>
                    <a:ext uri="{9D8B030D-6E8A-4147-A177-3AD203B41FA5}">
                      <a16:colId xmlns:a16="http://schemas.microsoft.com/office/drawing/2014/main" xmlns:c15="http://schemas.microsoft.com/office/drawing/2012/chart" xmlns:c="http://schemas.openxmlformats.org/drawingml/2006/chart" xmlns="" val="660007875"/>
                    </a:ext>
                  </a:extLst>
                </a:gridCol>
              </a:tblGrid>
              <a:tr h="370840">
                <a:tc>
                  <a:txBody>
                    <a:bodyPr/>
                    <a:lstStyle/>
                    <a:p>
                      <a:pPr algn="l" rtl="0" fontAlgn="ctr"/>
                      <a:r>
                        <a:rPr lang="fr-FR" sz="1000" b="1" dirty="0">
                          <a:effectLst/>
                        </a:rPr>
                        <a:t>Longueur de préfixe</a:t>
                      </a:r>
                    </a:p>
                  </a:txBody>
                  <a:tcPr marL="31750" marR="31750" marT="31750" marB="31750" anchor="ctr"/>
                </a:tc>
                <a:tc>
                  <a:txBody>
                    <a:bodyPr/>
                    <a:lstStyle/>
                    <a:p>
                      <a:pPr algn="l" rtl="0" fontAlgn="ctr"/>
                      <a:r>
                        <a:rPr lang="fr-FR" sz="1000" b="1">
                          <a:effectLst/>
                        </a:rPr>
                        <a:t>Masque de sous-réseau</a:t>
                      </a:r>
                    </a:p>
                  </a:txBody>
                  <a:tcPr marL="31750" marR="31750" marT="31750" marB="31750" anchor="ctr"/>
                </a:tc>
                <a:tc>
                  <a:txBody>
                    <a:bodyPr/>
                    <a:lstStyle/>
                    <a:p>
                      <a:pPr algn="l" rtl="0" fontAlgn="ctr"/>
                      <a:r>
                        <a:rPr lang="fr-FR" sz="1000" b="1" dirty="0">
                          <a:effectLst/>
                        </a:rPr>
                        <a:t>Masque de sous-réseau (binaire)</a:t>
                      </a:r>
                      <a:r>
                        <a:rPr lang="en-CA" sz="1000" b="1" dirty="0">
                          <a:effectLst/>
                        </a:rPr>
                        <a:t/>
                      </a:r>
                      <a:br>
                        <a:rPr lang="en-CA" sz="1000" b="1" dirty="0">
                          <a:effectLst/>
                        </a:rPr>
                      </a:br>
                      <a:r>
                        <a:rPr lang="fr-FR" sz="1000" b="1" dirty="0">
                          <a:effectLst/>
                        </a:rPr>
                        <a:t>(n = réseau, h = hôte)</a:t>
                      </a:r>
                    </a:p>
                  </a:txBody>
                  <a:tcPr marL="31750" marR="31750" marT="31750" marB="31750" anchor="ctr"/>
                </a:tc>
                <a:tc>
                  <a:txBody>
                    <a:bodyPr/>
                    <a:lstStyle/>
                    <a:p>
                      <a:pPr algn="l" rtl="0" fontAlgn="ctr"/>
                      <a:r>
                        <a:rPr lang="fr-FR" sz="1000" b="1">
                          <a:effectLst/>
                        </a:rPr>
                        <a:t>Nombre de sous-réseaux</a:t>
                      </a:r>
                    </a:p>
                  </a:txBody>
                  <a:tcPr marL="31750" marR="31750" marT="31750" marB="31750" anchor="ctr"/>
                </a:tc>
                <a:tc>
                  <a:txBody>
                    <a:bodyPr/>
                    <a:lstStyle/>
                    <a:p>
                      <a:pPr algn="l" rtl="0" fontAlgn="ctr"/>
                      <a:r>
                        <a:rPr lang="fr-FR" sz="1000" b="1">
                          <a:effectLst/>
                        </a:rPr>
                        <a:t>Nombre d'hôtes</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275849055"/>
                  </a:ext>
                </a:extLst>
              </a:tr>
              <a:tr h="370840">
                <a:tc>
                  <a:txBody>
                    <a:bodyPr/>
                    <a:lstStyle/>
                    <a:p>
                      <a:pPr rtl="0" fontAlgn="ctr"/>
                      <a:r>
                        <a:rPr lang="fr-FR" sz="1000" b="0">
                          <a:effectLst/>
                        </a:rPr>
                        <a:t>/25</a:t>
                      </a:r>
                    </a:p>
                  </a:txBody>
                  <a:tcPr marL="31750" marR="31750" marT="31750" marB="31750" anchor="ctr"/>
                </a:tc>
                <a:tc>
                  <a:txBody>
                    <a:bodyPr/>
                    <a:lstStyle/>
                    <a:p>
                      <a:pPr rtl="0" fontAlgn="ctr"/>
                      <a:r>
                        <a:rPr lang="fr-FR" sz="1000" b="0">
                          <a:effectLst/>
                        </a:rPr>
                        <a:t>255.255.255.128</a:t>
                      </a:r>
                    </a:p>
                  </a:txBody>
                  <a:tcPr marL="31750" marR="31750" marT="31750" marB="31750" anchor="ctr"/>
                </a:tc>
                <a:tc>
                  <a:txBody>
                    <a:bodyPr/>
                    <a:lstStyle/>
                    <a:p>
                      <a:pPr rtl="0" fontAlgn="ctr"/>
                      <a:r>
                        <a:rPr lang="fr-FR" sz="1000" b="0">
                          <a:effectLst/>
                          <a:latin typeface="Courier New" panose="02070309020205020404" pitchFamily="49" charset="0"/>
                          <a:cs typeface="Courier New" panose="02070309020205020404" pitchFamily="49" charset="0"/>
                        </a:rPr>
                        <a:t>nnnnnnnn.nnnnnnnn.nnnnnnnn.</a:t>
                      </a:r>
                      <a:r>
                        <a:rPr lang="fr-FR" sz="1000" b="1">
                          <a:effectLst/>
                          <a:latin typeface="Courier New" panose="02070309020205020404" pitchFamily="49" charset="0"/>
                          <a:cs typeface="Courier New" panose="02070309020205020404" pitchFamily="49" charset="0"/>
                        </a:rPr>
                        <a:t>n</a:t>
                      </a:r>
                      <a:r>
                        <a:rPr lang="fr-FR" sz="1000" b="0">
                          <a:effectLst/>
                          <a:latin typeface="Courier New" panose="02070309020205020404" pitchFamily="49" charset="0"/>
                          <a:cs typeface="Courier New" panose="02070309020205020404" pitchFamily="49" charset="0"/>
                        </a:rPr>
                        <a:t>hhhhhhh</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11111111.11111111.11111111.</a:t>
                      </a:r>
                      <a:r>
                        <a:rPr lang="fr-FR" sz="1000" b="1">
                          <a:effectLst/>
                          <a:latin typeface="Courier New" panose="02070309020205020404" pitchFamily="49" charset="0"/>
                          <a:cs typeface="Courier New" panose="02070309020205020404" pitchFamily="49" charset="0"/>
                        </a:rPr>
                        <a:t>1</a:t>
                      </a:r>
                      <a:r>
                        <a:rPr lang="fr-FR" sz="1000" b="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rtl="0" fontAlgn="ctr"/>
                      <a:r>
                        <a:rPr lang="fr-FR" sz="1000" b="1">
                          <a:effectLst/>
                        </a:rPr>
                        <a:t>2</a:t>
                      </a:r>
                    </a:p>
                  </a:txBody>
                  <a:tcPr marL="31750" marR="31750" marT="31750" marB="31750" anchor="ctr"/>
                </a:tc>
                <a:tc>
                  <a:txBody>
                    <a:bodyPr/>
                    <a:lstStyle/>
                    <a:p>
                      <a:pPr rtl="0" fontAlgn="ctr"/>
                      <a:r>
                        <a:rPr lang="fr-FR" sz="1000" b="0">
                          <a:effectLst/>
                        </a:rPr>
                        <a:t>126</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601271128"/>
                  </a:ext>
                </a:extLst>
              </a:tr>
              <a:tr h="370840">
                <a:tc>
                  <a:txBody>
                    <a:bodyPr/>
                    <a:lstStyle/>
                    <a:p>
                      <a:pPr rtl="0" fontAlgn="ctr"/>
                      <a:r>
                        <a:rPr lang="fr-FR" sz="1000" b="0">
                          <a:effectLst/>
                        </a:rPr>
                        <a:t>/26</a:t>
                      </a:r>
                    </a:p>
                  </a:txBody>
                  <a:tcPr marL="31750" marR="31750" marT="31750" marB="31750" anchor="ctr"/>
                </a:tc>
                <a:tc>
                  <a:txBody>
                    <a:bodyPr/>
                    <a:lstStyle/>
                    <a:p>
                      <a:pPr rtl="0" fontAlgn="ctr"/>
                      <a:r>
                        <a:rPr lang="fr-FR" sz="1000" b="0">
                          <a:effectLst/>
                        </a:rPr>
                        <a:t>255.255.255.192</a:t>
                      </a:r>
                    </a:p>
                  </a:txBody>
                  <a:tcPr marL="31750" marR="31750" marT="31750" marB="31750" anchor="ctr"/>
                </a:tc>
                <a:tc>
                  <a:txBody>
                    <a:bodyPr/>
                    <a:lstStyle/>
                    <a:p>
                      <a:pPr rtl="0" fontAlgn="ctr"/>
                      <a:r>
                        <a:rPr lang="fr-FR" sz="1000" b="0">
                          <a:effectLst/>
                          <a:latin typeface="Courier New" panose="02070309020205020404" pitchFamily="49" charset="0"/>
                          <a:cs typeface="Courier New" panose="02070309020205020404" pitchFamily="49" charset="0"/>
                        </a:rPr>
                        <a:t>nnnnnnnn.nnnnnnnn.nnnnnnnn.</a:t>
                      </a:r>
                      <a:r>
                        <a:rPr lang="fr-FR" sz="1000" b="1">
                          <a:effectLst/>
                          <a:latin typeface="Courier New" panose="02070309020205020404" pitchFamily="49" charset="0"/>
                          <a:cs typeface="Courier New" panose="02070309020205020404" pitchFamily="49" charset="0"/>
                        </a:rPr>
                        <a:t>nn</a:t>
                      </a:r>
                      <a:r>
                        <a:rPr lang="fr-FR" sz="1000" b="0">
                          <a:effectLst/>
                          <a:latin typeface="Courier New" panose="02070309020205020404" pitchFamily="49" charset="0"/>
                          <a:cs typeface="Courier New" panose="02070309020205020404" pitchFamily="49" charset="0"/>
                        </a:rPr>
                        <a:t>hhhhhh</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11111111.11111111.11111111.</a:t>
                      </a:r>
                      <a:r>
                        <a:rPr lang="fr-FR" sz="1000" b="1">
                          <a:effectLst/>
                          <a:latin typeface="Courier New" panose="02070309020205020404" pitchFamily="49" charset="0"/>
                          <a:cs typeface="Courier New" panose="02070309020205020404" pitchFamily="49" charset="0"/>
                        </a:rPr>
                        <a:t>11</a:t>
                      </a:r>
                      <a:r>
                        <a:rPr lang="fr-FR" sz="1000" b="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rtl="0" fontAlgn="ctr"/>
                      <a:r>
                        <a:rPr lang="fr-FR" sz="1000" b="1">
                          <a:effectLst/>
                        </a:rPr>
                        <a:t>4</a:t>
                      </a:r>
                    </a:p>
                  </a:txBody>
                  <a:tcPr marL="31750" marR="31750" marT="31750" marB="31750" anchor="ctr"/>
                </a:tc>
                <a:tc>
                  <a:txBody>
                    <a:bodyPr/>
                    <a:lstStyle/>
                    <a:p>
                      <a:pPr rtl="0" fontAlgn="ctr"/>
                      <a:r>
                        <a:rPr lang="fr-FR" sz="1000" b="0">
                          <a:effectLst/>
                        </a:rPr>
                        <a:t>62</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999121572"/>
                  </a:ext>
                </a:extLst>
              </a:tr>
              <a:tr h="370840">
                <a:tc>
                  <a:txBody>
                    <a:bodyPr/>
                    <a:lstStyle/>
                    <a:p>
                      <a:pPr rtl="0" fontAlgn="ctr"/>
                      <a:r>
                        <a:rPr lang="fr-FR" sz="1000" b="0">
                          <a:effectLst/>
                        </a:rPr>
                        <a:t>/27</a:t>
                      </a:r>
                    </a:p>
                  </a:txBody>
                  <a:tcPr marL="31750" marR="31750" marT="31750" marB="31750" anchor="ctr"/>
                </a:tc>
                <a:tc>
                  <a:txBody>
                    <a:bodyPr/>
                    <a:lstStyle/>
                    <a:p>
                      <a:pPr rtl="0" fontAlgn="ctr"/>
                      <a:r>
                        <a:rPr lang="fr-FR" sz="1000" b="0">
                          <a:effectLst/>
                        </a:rPr>
                        <a:t>255.255.255.224</a:t>
                      </a:r>
                    </a:p>
                  </a:txBody>
                  <a:tcPr marL="31750" marR="31750" marT="31750" marB="31750" anchor="ctr"/>
                </a:tc>
                <a:tc>
                  <a:txBody>
                    <a:bodyPr/>
                    <a:lstStyle/>
                    <a:p>
                      <a:pPr rtl="0" fontAlgn="ctr"/>
                      <a:r>
                        <a:rPr lang="fr-FR" sz="1000" b="0">
                          <a:effectLst/>
                          <a:latin typeface="Courier New" panose="02070309020205020404" pitchFamily="49" charset="0"/>
                          <a:cs typeface="Courier New" panose="02070309020205020404" pitchFamily="49" charset="0"/>
                        </a:rPr>
                        <a:t>nnnnnnnn.nnnnnnnn.nnnnnnnn.</a:t>
                      </a:r>
                      <a:r>
                        <a:rPr lang="fr-FR" sz="1000" b="1">
                          <a:effectLst/>
                          <a:latin typeface="Courier New" panose="02070309020205020404" pitchFamily="49" charset="0"/>
                          <a:cs typeface="Courier New" panose="02070309020205020404" pitchFamily="49" charset="0"/>
                        </a:rPr>
                        <a:t>nnn</a:t>
                      </a:r>
                      <a:r>
                        <a:rPr lang="fr-FR" sz="1000" b="0">
                          <a:effectLst/>
                          <a:latin typeface="Courier New" panose="02070309020205020404" pitchFamily="49" charset="0"/>
                          <a:cs typeface="Courier New" panose="02070309020205020404" pitchFamily="49" charset="0"/>
                        </a:rPr>
                        <a:t>hhhhh</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11111111.11111111.11111111.</a:t>
                      </a:r>
                      <a:r>
                        <a:rPr lang="fr-FR" sz="1000" b="1">
                          <a:effectLst/>
                          <a:latin typeface="Courier New" panose="02070309020205020404" pitchFamily="49" charset="0"/>
                          <a:cs typeface="Courier New" panose="02070309020205020404" pitchFamily="49" charset="0"/>
                        </a:rPr>
                        <a:t>111</a:t>
                      </a:r>
                      <a:r>
                        <a:rPr lang="fr-FR" sz="1000" b="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rtl="0" fontAlgn="ctr"/>
                      <a:r>
                        <a:rPr lang="fr-FR" sz="1000" b="1">
                          <a:effectLst/>
                        </a:rPr>
                        <a:t>8</a:t>
                      </a:r>
                    </a:p>
                  </a:txBody>
                  <a:tcPr marL="31750" marR="31750" marT="31750" marB="31750" anchor="ctr"/>
                </a:tc>
                <a:tc>
                  <a:txBody>
                    <a:bodyPr/>
                    <a:lstStyle/>
                    <a:p>
                      <a:pPr rtl="0" fontAlgn="ctr"/>
                      <a:r>
                        <a:rPr lang="fr-FR" sz="1000" b="0">
                          <a:effectLst/>
                        </a:rPr>
                        <a:t>30</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46473952"/>
                  </a:ext>
                </a:extLst>
              </a:tr>
              <a:tr h="370840">
                <a:tc>
                  <a:txBody>
                    <a:bodyPr/>
                    <a:lstStyle/>
                    <a:p>
                      <a:pPr rtl="0" fontAlgn="ctr"/>
                      <a:r>
                        <a:rPr lang="fr-FR" sz="1000" b="0">
                          <a:effectLst/>
                        </a:rPr>
                        <a:t>/28</a:t>
                      </a:r>
                    </a:p>
                  </a:txBody>
                  <a:tcPr marL="31750" marR="31750" marT="31750" marB="31750" anchor="ctr"/>
                </a:tc>
                <a:tc>
                  <a:txBody>
                    <a:bodyPr/>
                    <a:lstStyle/>
                    <a:p>
                      <a:pPr rtl="0" fontAlgn="ctr"/>
                      <a:r>
                        <a:rPr lang="fr-FR" sz="1000" b="0">
                          <a:effectLst/>
                        </a:rPr>
                        <a:t>255.255.255.240</a:t>
                      </a:r>
                    </a:p>
                  </a:txBody>
                  <a:tcPr marL="31750" marR="31750" marT="31750" marB="31750" anchor="ctr"/>
                </a:tc>
                <a:tc>
                  <a:txBody>
                    <a:bodyPr/>
                    <a:lstStyle/>
                    <a:p>
                      <a:pPr rtl="0" fontAlgn="ctr"/>
                      <a:r>
                        <a:rPr lang="fr-FR" sz="1000" b="0">
                          <a:effectLst/>
                          <a:latin typeface="Courier New" panose="02070309020205020404" pitchFamily="49" charset="0"/>
                          <a:cs typeface="Courier New" panose="02070309020205020404" pitchFamily="49" charset="0"/>
                        </a:rPr>
                        <a:t>nnnnnnnn.nnnnnnnn.nnnnnnnn.</a:t>
                      </a:r>
                      <a:r>
                        <a:rPr lang="fr-FR" sz="1000" b="1">
                          <a:effectLst/>
                          <a:latin typeface="Courier New" panose="02070309020205020404" pitchFamily="49" charset="0"/>
                          <a:cs typeface="Courier New" panose="02070309020205020404" pitchFamily="49" charset="0"/>
                        </a:rPr>
                        <a:t>nnnn</a:t>
                      </a:r>
                      <a:r>
                        <a:rPr lang="fr-FR" sz="1000" b="0">
                          <a:effectLst/>
                          <a:latin typeface="Courier New" panose="02070309020205020404" pitchFamily="49" charset="0"/>
                          <a:cs typeface="Courier New" panose="02070309020205020404" pitchFamily="49" charset="0"/>
                        </a:rPr>
                        <a:t>hhhh</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11111111.11111111.11111111.</a:t>
                      </a:r>
                      <a:r>
                        <a:rPr lang="fr-FR" sz="1000" b="1">
                          <a:effectLst/>
                          <a:latin typeface="Courier New" panose="02070309020205020404" pitchFamily="49" charset="0"/>
                          <a:cs typeface="Courier New" panose="02070309020205020404" pitchFamily="49" charset="0"/>
                        </a:rPr>
                        <a:t>1111</a:t>
                      </a:r>
                      <a:r>
                        <a:rPr lang="fr-FR" sz="1000" b="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rtl="0" fontAlgn="ctr"/>
                      <a:r>
                        <a:rPr lang="fr-FR" sz="1000" b="1">
                          <a:effectLst/>
                        </a:rPr>
                        <a:t>16</a:t>
                      </a:r>
                    </a:p>
                  </a:txBody>
                  <a:tcPr marL="31750" marR="31750" marT="31750" marB="31750" anchor="ctr"/>
                </a:tc>
                <a:tc>
                  <a:txBody>
                    <a:bodyPr/>
                    <a:lstStyle/>
                    <a:p>
                      <a:pPr rtl="0" fontAlgn="ctr"/>
                      <a:r>
                        <a:rPr lang="fr-FR" sz="1000" b="0">
                          <a:effectLst/>
                        </a:rPr>
                        <a:t>14</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694683452"/>
                  </a:ext>
                </a:extLst>
              </a:tr>
              <a:tr h="370840">
                <a:tc>
                  <a:txBody>
                    <a:bodyPr/>
                    <a:lstStyle/>
                    <a:p>
                      <a:pPr rtl="0" fontAlgn="ctr"/>
                      <a:r>
                        <a:rPr lang="fr-FR" sz="1000" b="0">
                          <a:effectLst/>
                        </a:rPr>
                        <a:t>/29</a:t>
                      </a:r>
                    </a:p>
                  </a:txBody>
                  <a:tcPr marL="31750" marR="31750" marT="31750" marB="31750" anchor="ctr"/>
                </a:tc>
                <a:tc>
                  <a:txBody>
                    <a:bodyPr/>
                    <a:lstStyle/>
                    <a:p>
                      <a:pPr rtl="0" fontAlgn="ctr"/>
                      <a:r>
                        <a:rPr lang="fr-FR" sz="1000" b="0">
                          <a:effectLst/>
                        </a:rPr>
                        <a:t>255.255.255.248</a:t>
                      </a:r>
                    </a:p>
                  </a:txBody>
                  <a:tcPr marL="31750" marR="31750" marT="31750" marB="31750" anchor="ctr"/>
                </a:tc>
                <a:tc>
                  <a:txBody>
                    <a:bodyPr/>
                    <a:lstStyle/>
                    <a:p>
                      <a:pPr rtl="0" fontAlgn="ctr"/>
                      <a:r>
                        <a:rPr lang="fr-FR" sz="1000" b="0">
                          <a:effectLst/>
                          <a:latin typeface="Courier New" panose="02070309020205020404" pitchFamily="49" charset="0"/>
                          <a:cs typeface="Courier New" panose="02070309020205020404" pitchFamily="49" charset="0"/>
                        </a:rPr>
                        <a:t>nnnnnnnn.nnnnnnnn.nnnnnnnn.</a:t>
                      </a:r>
                      <a:r>
                        <a:rPr lang="fr-FR" sz="1000" b="1">
                          <a:effectLst/>
                          <a:latin typeface="Courier New" panose="02070309020205020404" pitchFamily="49" charset="0"/>
                          <a:cs typeface="Courier New" panose="02070309020205020404" pitchFamily="49" charset="0"/>
                        </a:rPr>
                        <a:t>nnnnn</a:t>
                      </a:r>
                      <a:r>
                        <a:rPr lang="fr-FR" sz="1000" b="0">
                          <a:effectLst/>
                          <a:latin typeface="Courier New" panose="02070309020205020404" pitchFamily="49" charset="0"/>
                          <a:cs typeface="Courier New" panose="02070309020205020404" pitchFamily="49" charset="0"/>
                        </a:rPr>
                        <a:t>hhh</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11111111.11111111.11111111.</a:t>
                      </a:r>
                      <a:r>
                        <a:rPr lang="fr-FR" sz="1000" b="1">
                          <a:effectLst/>
                          <a:latin typeface="Courier New" panose="02070309020205020404" pitchFamily="49" charset="0"/>
                          <a:cs typeface="Courier New" panose="02070309020205020404" pitchFamily="49" charset="0"/>
                        </a:rPr>
                        <a:t>11111</a:t>
                      </a:r>
                      <a:r>
                        <a:rPr lang="fr-FR" sz="1000" b="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rtl="0" fontAlgn="ctr"/>
                      <a:r>
                        <a:rPr lang="fr-FR" sz="1000" b="1">
                          <a:effectLst/>
                        </a:rPr>
                        <a:t>32</a:t>
                      </a:r>
                    </a:p>
                  </a:txBody>
                  <a:tcPr marL="31750" marR="31750" marT="31750" marB="31750" anchor="ctr"/>
                </a:tc>
                <a:tc>
                  <a:txBody>
                    <a:bodyPr/>
                    <a:lstStyle/>
                    <a:p>
                      <a:pPr rtl="0" fontAlgn="ctr"/>
                      <a:r>
                        <a:rPr lang="fr-FR" sz="1000" b="0">
                          <a:effectLst/>
                        </a:rPr>
                        <a:t>6</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090259769"/>
                  </a:ext>
                </a:extLst>
              </a:tr>
              <a:tr h="370840">
                <a:tc>
                  <a:txBody>
                    <a:bodyPr/>
                    <a:lstStyle/>
                    <a:p>
                      <a:pPr rtl="0" fontAlgn="ctr"/>
                      <a:r>
                        <a:rPr lang="fr-FR" sz="1000" b="0">
                          <a:effectLst/>
                        </a:rPr>
                        <a:t>/30</a:t>
                      </a:r>
                    </a:p>
                  </a:txBody>
                  <a:tcPr marL="31750" marR="31750" marT="31750" marB="31750" anchor="ctr"/>
                </a:tc>
                <a:tc>
                  <a:txBody>
                    <a:bodyPr/>
                    <a:lstStyle/>
                    <a:p>
                      <a:pPr rtl="0" fontAlgn="ctr"/>
                      <a:r>
                        <a:rPr lang="fr-FR" sz="1000" b="0">
                          <a:effectLst/>
                        </a:rPr>
                        <a:t>255.255.255.252</a:t>
                      </a:r>
                    </a:p>
                  </a:txBody>
                  <a:tcPr marL="31750" marR="31750" marT="31750" marB="31750" anchor="ctr"/>
                </a:tc>
                <a:tc>
                  <a:txBody>
                    <a:bodyPr/>
                    <a:lstStyle/>
                    <a:p>
                      <a:pPr rtl="0" fontAlgn="ctr"/>
                      <a:r>
                        <a:rPr lang="fr-FR" sz="1000" b="0">
                          <a:effectLst/>
                          <a:latin typeface="Courier New" panose="02070309020205020404" pitchFamily="49" charset="0"/>
                          <a:cs typeface="Courier New" panose="02070309020205020404" pitchFamily="49" charset="0"/>
                        </a:rPr>
                        <a:t>nnnnnnnn.nnnnnnnn.nnnnnnnn.</a:t>
                      </a:r>
                      <a:r>
                        <a:rPr lang="fr-FR" sz="1000" b="1">
                          <a:effectLst/>
                          <a:latin typeface="Courier New" panose="02070309020205020404" pitchFamily="49" charset="0"/>
                          <a:cs typeface="Courier New" panose="02070309020205020404" pitchFamily="49" charset="0"/>
                        </a:rPr>
                        <a:t>nnnnnn</a:t>
                      </a:r>
                      <a:r>
                        <a:rPr lang="fr-FR" sz="1000" b="0">
                          <a:effectLst/>
                          <a:latin typeface="Courier New" panose="02070309020205020404" pitchFamily="49" charset="0"/>
                          <a:cs typeface="Courier New" panose="02070309020205020404" pitchFamily="49" charset="0"/>
                        </a:rPr>
                        <a:t>hh</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11111111.11111111.11111111.</a:t>
                      </a:r>
                      <a:r>
                        <a:rPr lang="fr-FR" sz="1000" b="1">
                          <a:effectLst/>
                          <a:latin typeface="Courier New" panose="02070309020205020404" pitchFamily="49" charset="0"/>
                          <a:cs typeface="Courier New" panose="02070309020205020404" pitchFamily="49" charset="0"/>
                        </a:rPr>
                        <a:t>111111</a:t>
                      </a:r>
                      <a:r>
                        <a:rPr lang="fr-FR" sz="1000" b="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rtl="0" fontAlgn="ctr"/>
                      <a:r>
                        <a:rPr lang="fr-FR" sz="1000" b="1">
                          <a:effectLst/>
                        </a:rPr>
                        <a:t>64</a:t>
                      </a:r>
                    </a:p>
                  </a:txBody>
                  <a:tcPr marL="31750" marR="31750" marT="31750" marB="31750" anchor="ctr"/>
                </a:tc>
                <a:tc>
                  <a:txBody>
                    <a:bodyPr/>
                    <a:lstStyle/>
                    <a:p>
                      <a:pPr rtl="0" fontAlgn="ctr"/>
                      <a:r>
                        <a:rPr lang="fr-FR" sz="1000" b="0" dirty="0">
                          <a:effectLst/>
                        </a:rPr>
                        <a:t>2</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4211026032"/>
                  </a:ext>
                </a:extLst>
              </a:tr>
            </a:tbl>
          </a:graphicData>
        </a:graphic>
      </p:graphicFrame>
    </p:spTree>
    <p:extLst>
      <p:ext uri="{BB962C8B-B14F-4D97-AF65-F5344CB8AC3E}">
        <p14:creationId xmlns:p14="http://schemas.microsoft.com/office/powerpoint/2010/main" val="318695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43933" y="254000"/>
            <a:ext cx="8345488" cy="731837"/>
          </a:xfrm>
        </p:spPr>
        <p:txBody>
          <a:bodyPr/>
          <a:lstStyle/>
          <a:p>
            <a:pPr rtl="0"/>
            <a:r>
              <a:rPr lang="fr-FR" sz="1600" dirty="0"/>
              <a:t>Segmenter un réseau IPv4 en sous-réseaux</a:t>
            </a:r>
            <a:r>
              <a:rPr lang="en-US" dirty="0"/>
              <a:t/>
            </a:r>
            <a:br>
              <a:rPr lang="en-US" dirty="0"/>
            </a:br>
            <a:r>
              <a:rPr lang="fr-FR" sz="2400" dirty="0"/>
              <a:t>Démonstration vidéo – Le masque de sous-réseau</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C9D46F16-EEA0-4615-BEC6-329F2EA79979}"/>
              </a:ext>
            </a:extLst>
          </p:cNvPr>
          <p:cNvSpPr>
            <a:spLocks noGrp="1"/>
          </p:cNvSpPr>
          <p:nvPr>
            <p:ph idx="1"/>
          </p:nvPr>
        </p:nvSpPr>
        <p:spPr>
          <a:xfrm>
            <a:off x="525104" y="999352"/>
            <a:ext cx="8280057" cy="3073946"/>
          </a:xfrm>
        </p:spPr>
        <p:txBody>
          <a:bodyPr/>
          <a:lstStyle/>
          <a:p>
            <a:pPr marL="342900" indent="-342900" algn="l" rtl="0">
              <a:buFont typeface="Arial" panose="020B0604020202020204" pitchFamily="34" charset="0"/>
              <a:buChar char="•"/>
            </a:pPr>
            <a:r>
              <a:rPr lang="fr-FR" sz="1600" dirty="0">
                <a:solidFill>
                  <a:srgbClr val="000000"/>
                </a:solidFill>
              </a:rPr>
              <a:t>Cette vidéo démontrera le processus de sous-réseau.</a:t>
            </a:r>
          </a:p>
        </p:txBody>
      </p:sp>
    </p:spTree>
    <p:extLst>
      <p:ext uri="{BB962C8B-B14F-4D97-AF65-F5344CB8AC3E}">
        <p14:creationId xmlns:p14="http://schemas.microsoft.com/office/powerpoint/2010/main" val="875352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10067" y="228600"/>
            <a:ext cx="8345488" cy="731837"/>
          </a:xfrm>
        </p:spPr>
        <p:txBody>
          <a:bodyPr/>
          <a:lstStyle/>
          <a:p>
            <a:pPr rtl="0"/>
            <a:r>
              <a:rPr lang="fr-FR" sz="1600" dirty="0"/>
              <a:t>Segmentation un réseau IPv4 en sous-réseaux</a:t>
            </a:r>
            <a:r>
              <a:rPr lang="en-US" dirty="0"/>
              <a:t/>
            </a:r>
            <a:br>
              <a:rPr lang="en-US" dirty="0"/>
            </a:br>
            <a:r>
              <a:rPr lang="fr-FR" sz="2400" dirty="0"/>
              <a:t>Démonstration vidéo – Segmenter en sous-réseaux à l'aide du nombre magique</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462DA5F1-C9EC-4870-AFDB-E640F921A2A8}"/>
              </a:ext>
            </a:extLst>
          </p:cNvPr>
          <p:cNvSpPr>
            <a:spLocks noGrp="1"/>
          </p:cNvSpPr>
          <p:nvPr>
            <p:ph idx="1"/>
          </p:nvPr>
        </p:nvSpPr>
        <p:spPr>
          <a:xfrm>
            <a:off x="491238" y="1024753"/>
            <a:ext cx="8280057" cy="3073946"/>
          </a:xfrm>
        </p:spPr>
        <p:txBody>
          <a:bodyPr/>
          <a:lstStyle/>
          <a:p>
            <a:pPr marL="342900" indent="-342900" algn="l" rtl="0">
              <a:buFont typeface="Arial" panose="020B0604020202020204" pitchFamily="34" charset="0"/>
              <a:buChar char="•"/>
            </a:pPr>
            <a:r>
              <a:rPr lang="fr-FR" sz="1600" dirty="0">
                <a:solidFill>
                  <a:srgbClr val="000000"/>
                </a:solidFill>
              </a:rPr>
              <a:t>Cette vidéo présentera une démonstration de sous-réseaux avec le nombre magique.</a:t>
            </a:r>
          </a:p>
        </p:txBody>
      </p:sp>
    </p:spTree>
    <p:extLst>
      <p:ext uri="{BB962C8B-B14F-4D97-AF65-F5344CB8AC3E}">
        <p14:creationId xmlns:p14="http://schemas.microsoft.com/office/powerpoint/2010/main" val="783810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254000"/>
            <a:ext cx="8345488" cy="731837"/>
          </a:xfrm>
        </p:spPr>
        <p:txBody>
          <a:bodyPr/>
          <a:lstStyle/>
          <a:p>
            <a:pPr rtl="0"/>
            <a:r>
              <a:rPr lang="fr-FR" sz="1600" dirty="0"/>
              <a:t>Segmentation un réseau IPv4 en sous- réseaux</a:t>
            </a:r>
            <a:r>
              <a:rPr lang="en-US" dirty="0"/>
              <a:t/>
            </a:r>
            <a:br>
              <a:rPr lang="en-US" dirty="0"/>
            </a:br>
            <a:r>
              <a:rPr lang="fr-FR" sz="2400" dirty="0" err="1"/>
              <a:t>Packet</a:t>
            </a:r>
            <a:r>
              <a:rPr lang="fr-FR" sz="2400" dirty="0"/>
              <a:t> Tracer - Segmentation un réseau IPv4 en sous- réseaux</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06572" y="1278752"/>
            <a:ext cx="8280057" cy="3073946"/>
          </a:xfrm>
        </p:spPr>
        <p:txBody>
          <a:bodyPr/>
          <a:lstStyle/>
          <a:p>
            <a:pPr marL="0" indent="0" algn="l" rtl="0">
              <a:spcBef>
                <a:spcPts val="0"/>
              </a:spcBef>
            </a:pPr>
            <a:r>
              <a:rPr lang="fr-FR" sz="1600" dirty="0">
                <a:solidFill>
                  <a:srgbClr val="000000"/>
                </a:solidFill>
              </a:rPr>
              <a:t>Dans le cadre de ce </a:t>
            </a:r>
            <a:r>
              <a:rPr lang="fr-FR" sz="1600" dirty="0" err="1">
                <a:solidFill>
                  <a:srgbClr val="000000"/>
                </a:solidFill>
              </a:rPr>
              <a:t>Packet</a:t>
            </a:r>
            <a:r>
              <a:rPr lang="fr-FR" sz="1600" dirty="0">
                <a:solidFill>
                  <a:srgbClr val="000000"/>
                </a:solidFill>
              </a:rPr>
              <a:t> Tracer, vous ferez ce qui suit :</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dirty="0">
                <a:solidFill>
                  <a:srgbClr val="000000"/>
                </a:solidFill>
              </a:rPr>
              <a:t>Conception d'un schéma d'adressage IPv4 comportant des sous-réseaux</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dirty="0">
                <a:solidFill>
                  <a:srgbClr val="000000"/>
                </a:solidFill>
              </a:rPr>
              <a:t>Configurer les périphériques</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dirty="0">
                <a:solidFill>
                  <a:srgbClr val="000000"/>
                </a:solidFill>
              </a:rPr>
              <a:t>Tester le réseau et résoudre les problèmes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042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6" y="2524761"/>
            <a:ext cx="7848344" cy="929640"/>
          </a:xfrm>
        </p:spPr>
        <p:txBody>
          <a:bodyPr/>
          <a:lstStyle/>
          <a:p>
            <a:pPr rtl="0"/>
            <a:r>
              <a:rPr lang="fr-FR" dirty="0">
                <a:solidFill>
                  <a:schemeClr val="accent5">
                    <a:lumMod val="40000"/>
                    <a:lumOff val="60000"/>
                  </a:schemeClr>
                </a:solidFill>
              </a:rPr>
              <a:t>11.6 Création de sous-réseaux avec le préfixe /16 et /8</a:t>
            </a:r>
          </a:p>
        </p:txBody>
      </p:sp>
    </p:spTree>
    <p:custDataLst>
      <p:tags r:id="rId1"/>
    </p:custDataLst>
    <p:extLst>
      <p:ext uri="{BB962C8B-B14F-4D97-AF65-F5344CB8AC3E}">
        <p14:creationId xmlns:p14="http://schemas.microsoft.com/office/powerpoint/2010/main" val="1804441035"/>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0"/>
            <a:ext cx="8345488" cy="731837"/>
          </a:xfrm>
        </p:spPr>
        <p:txBody>
          <a:bodyPr/>
          <a:lstStyle/>
          <a:p>
            <a:pPr rtl="0"/>
            <a:r>
              <a:rPr lang="fr-FR" sz="1600"/>
              <a:t>Sous-réseaux avec le préfixe /16 et /8</a:t>
            </a:r>
            <a:r>
              <a:rPr lang="en-US" dirty="0"/>
              <a:t/>
            </a:r>
            <a:br>
              <a:rPr lang="en-US" dirty="0"/>
            </a:br>
            <a:r>
              <a:rPr lang="fr-FR" sz="2400"/>
              <a:t>Créer des sous-réseaux avec un préfixe /16</a:t>
            </a:r>
          </a:p>
        </p:txBody>
      </p:sp>
      <p:graphicFrame>
        <p:nvGraphicFramePr>
          <p:cNvPr id="2" name="Table 1">
            <a:extLst>
              <a:ext uri="{FF2B5EF4-FFF2-40B4-BE49-F238E27FC236}">
                <a16:creationId xmlns:a16="http://schemas.microsoft.com/office/drawing/2014/main" xmlns:c15="http://schemas.microsoft.com/office/drawing/2012/chart" xmlns:c="http://schemas.openxmlformats.org/drawingml/2006/chart" xmlns="" id="{CDE0FA95-43CC-4153-B365-8C3E8D1B3BEC}"/>
              </a:ext>
            </a:extLst>
          </p:cNvPr>
          <p:cNvGraphicFramePr>
            <a:graphicFrameLocks noGrp="1"/>
          </p:cNvGraphicFramePr>
          <p:nvPr>
            <p:extLst>
              <p:ext uri="{D42A27DB-BD31-4B8C-83A1-F6EECF244321}">
                <p14:modId xmlns:p14="http://schemas.microsoft.com/office/powerpoint/2010/main" val="2025093607"/>
              </p:ext>
            </p:extLst>
          </p:nvPr>
        </p:nvGraphicFramePr>
        <p:xfrm>
          <a:off x="101379" y="724531"/>
          <a:ext cx="8887638" cy="4610100"/>
        </p:xfrm>
        <a:graphic>
          <a:graphicData uri="http://schemas.openxmlformats.org/drawingml/2006/table">
            <a:tbl>
              <a:tblPr firstRow="1" bandRow="1">
                <a:tableStyleId>{5C22544A-7EE6-4342-B048-85BDC9FD1C3A}</a:tableStyleId>
              </a:tblPr>
              <a:tblGrid>
                <a:gridCol w="1527986">
                  <a:extLst>
                    <a:ext uri="{9D8B030D-6E8A-4147-A177-3AD203B41FA5}">
                      <a16:colId xmlns:a16="http://schemas.microsoft.com/office/drawing/2014/main" xmlns:c15="http://schemas.microsoft.com/office/drawing/2012/chart" xmlns:c="http://schemas.openxmlformats.org/drawingml/2006/chart" xmlns="" val="3400914921"/>
                    </a:ext>
                  </a:extLst>
                </a:gridCol>
                <a:gridCol w="1573193">
                  <a:extLst>
                    <a:ext uri="{9D8B030D-6E8A-4147-A177-3AD203B41FA5}">
                      <a16:colId xmlns:a16="http://schemas.microsoft.com/office/drawing/2014/main" xmlns:c15="http://schemas.microsoft.com/office/drawing/2012/chart" xmlns:c="http://schemas.openxmlformats.org/drawingml/2006/chart" xmlns="" val="2755569675"/>
                    </a:ext>
                  </a:extLst>
                </a:gridCol>
                <a:gridCol w="3670785">
                  <a:extLst>
                    <a:ext uri="{9D8B030D-6E8A-4147-A177-3AD203B41FA5}">
                      <a16:colId xmlns:a16="http://schemas.microsoft.com/office/drawing/2014/main" xmlns:c15="http://schemas.microsoft.com/office/drawing/2012/chart" xmlns:c="http://schemas.openxmlformats.org/drawingml/2006/chart" xmlns="" val="2977755399"/>
                    </a:ext>
                  </a:extLst>
                </a:gridCol>
                <a:gridCol w="1104704">
                  <a:extLst>
                    <a:ext uri="{9D8B030D-6E8A-4147-A177-3AD203B41FA5}">
                      <a16:colId xmlns:a16="http://schemas.microsoft.com/office/drawing/2014/main" xmlns:c15="http://schemas.microsoft.com/office/drawing/2012/chart" xmlns:c="http://schemas.openxmlformats.org/drawingml/2006/chart" xmlns="" val="1257793725"/>
                    </a:ext>
                  </a:extLst>
                </a:gridCol>
                <a:gridCol w="1010970">
                  <a:extLst>
                    <a:ext uri="{9D8B030D-6E8A-4147-A177-3AD203B41FA5}">
                      <a16:colId xmlns:a16="http://schemas.microsoft.com/office/drawing/2014/main" xmlns:c15="http://schemas.microsoft.com/office/drawing/2012/chart" xmlns:c="http://schemas.openxmlformats.org/drawingml/2006/chart" xmlns="" val="859093634"/>
                    </a:ext>
                  </a:extLst>
                </a:gridCol>
              </a:tblGrid>
              <a:tr h="273793">
                <a:tc>
                  <a:txBody>
                    <a:bodyPr/>
                    <a:lstStyle/>
                    <a:p>
                      <a:pPr algn="l" rtl="0" fontAlgn="ctr"/>
                      <a:r>
                        <a:rPr lang="fr-FR" sz="800" b="1" dirty="0">
                          <a:effectLst/>
                        </a:rPr>
                        <a:t>Longueur de préfixe</a:t>
                      </a:r>
                    </a:p>
                  </a:txBody>
                  <a:tcPr marL="31750" marR="31750" marT="31750" marB="31750" anchor="ctr"/>
                </a:tc>
                <a:tc>
                  <a:txBody>
                    <a:bodyPr/>
                    <a:lstStyle/>
                    <a:p>
                      <a:pPr algn="l" rtl="0" fontAlgn="ctr"/>
                      <a:r>
                        <a:rPr lang="fr-FR" sz="800" b="1">
                          <a:effectLst/>
                        </a:rPr>
                        <a:t>Masque de sous-réseau</a:t>
                      </a:r>
                    </a:p>
                  </a:txBody>
                  <a:tcPr marL="31750" marR="31750" marT="31750" marB="31750" anchor="ctr"/>
                </a:tc>
                <a:tc>
                  <a:txBody>
                    <a:bodyPr/>
                    <a:lstStyle/>
                    <a:p>
                      <a:pPr algn="l" rtl="0" fontAlgn="ctr"/>
                      <a:r>
                        <a:rPr lang="fr-FR" sz="800" b="1">
                          <a:effectLst/>
                        </a:rPr>
                        <a:t>Network Address (n = network, h = host)</a:t>
                      </a:r>
                    </a:p>
                  </a:txBody>
                  <a:tcPr marL="31750" marR="31750" marT="31750" marB="31750" anchor="ctr"/>
                </a:tc>
                <a:tc>
                  <a:txBody>
                    <a:bodyPr/>
                    <a:lstStyle/>
                    <a:p>
                      <a:pPr algn="l" rtl="0" fontAlgn="ctr"/>
                      <a:r>
                        <a:rPr lang="fr-FR" sz="800" b="1">
                          <a:effectLst/>
                        </a:rPr>
                        <a:t>Nombre de sous-réseaux</a:t>
                      </a:r>
                    </a:p>
                  </a:txBody>
                  <a:tcPr marL="31750" marR="31750" marT="31750" marB="31750" anchor="ctr"/>
                </a:tc>
                <a:tc>
                  <a:txBody>
                    <a:bodyPr/>
                    <a:lstStyle/>
                    <a:p>
                      <a:pPr algn="l" rtl="0" fontAlgn="ctr"/>
                      <a:r>
                        <a:rPr lang="fr-FR" sz="800" b="1">
                          <a:effectLst/>
                        </a:rPr>
                        <a:t>Nombre d'hôtes</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34953287"/>
                  </a:ext>
                </a:extLst>
              </a:tr>
              <a:tr h="273793">
                <a:tc>
                  <a:txBody>
                    <a:bodyPr/>
                    <a:lstStyle/>
                    <a:p>
                      <a:pPr rtl="0" fontAlgn="ctr"/>
                      <a:r>
                        <a:rPr lang="fr-FR" sz="800" b="0" dirty="0">
                          <a:effectLst/>
                        </a:rPr>
                        <a:t>/17</a:t>
                      </a:r>
                    </a:p>
                  </a:txBody>
                  <a:tcPr marL="31750" marR="31750" marT="31750" marB="31750" anchor="ctr"/>
                </a:tc>
                <a:tc>
                  <a:txBody>
                    <a:bodyPr/>
                    <a:lstStyle/>
                    <a:p>
                      <a:pPr rtl="0" fontAlgn="ctr"/>
                      <a:r>
                        <a:rPr lang="fr-FR" sz="800" b="0">
                          <a:effectLst/>
                        </a:rPr>
                        <a:t>255.255.</a:t>
                      </a:r>
                      <a:r>
                        <a:rPr lang="fr-FR" sz="800" b="1">
                          <a:effectLst/>
                        </a:rPr>
                        <a:t>128</a:t>
                      </a:r>
                      <a:r>
                        <a:rPr lang="fr-FR" sz="800" b="0">
                          <a:effectLst/>
                        </a:rPr>
                        <a:t>.0</a:t>
                      </a:r>
                    </a:p>
                  </a:txBody>
                  <a:tcPr marL="31750" marR="31750" marT="31750" marB="31750" anchor="ctr"/>
                </a:tc>
                <a:tc>
                  <a:txBody>
                    <a:bodyPr/>
                    <a:lstStyle/>
                    <a:p>
                      <a:pPr rtl="0" fontAlgn="ctr"/>
                      <a:r>
                        <a:rPr lang="fr-FR" sz="800" b="0">
                          <a:effectLst/>
                          <a:latin typeface="Courier New" panose="02070309020205020404" pitchFamily="49" charset="0"/>
                          <a:cs typeface="Courier New" panose="02070309020205020404" pitchFamily="49" charset="0"/>
                        </a:rPr>
                        <a:t>nnnnnnnn.nnnnnnnn.</a:t>
                      </a:r>
                      <a:r>
                        <a:rPr lang="fr-FR" sz="800" b="1">
                          <a:effectLst/>
                          <a:latin typeface="Courier New" panose="02070309020205020404" pitchFamily="49" charset="0"/>
                          <a:cs typeface="Courier New" panose="02070309020205020404" pitchFamily="49" charset="0"/>
                        </a:rPr>
                        <a:t>n</a:t>
                      </a:r>
                      <a:r>
                        <a:rPr lang="fr-FR" sz="800" b="0">
                          <a:effectLst/>
                          <a:latin typeface="Courier New" panose="02070309020205020404" pitchFamily="49" charset="0"/>
                          <a:cs typeface="Courier New" panose="02070309020205020404" pitchFamily="49" charset="0"/>
                        </a:rPr>
                        <a:t>hhhhhhh.hhhhhhhh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a:effectLst/>
                          <a:latin typeface="Courier New" panose="02070309020205020404" pitchFamily="49" charset="0"/>
                          <a:cs typeface="Courier New" panose="02070309020205020404" pitchFamily="49" charset="0"/>
                        </a:rPr>
                        <a:t>11111111.11111111.</a:t>
                      </a:r>
                      <a:r>
                        <a:rPr lang="fr-FR" sz="800" b="1">
                          <a:effectLst/>
                          <a:latin typeface="Courier New" panose="02070309020205020404" pitchFamily="49" charset="0"/>
                          <a:cs typeface="Courier New" panose="02070309020205020404" pitchFamily="49" charset="0"/>
                        </a:rPr>
                        <a:t>1</a:t>
                      </a:r>
                      <a:r>
                        <a:rPr lang="fr-FR" sz="800" b="0">
                          <a:effectLst/>
                          <a:latin typeface="Courier New" panose="02070309020205020404" pitchFamily="49" charset="0"/>
                          <a:cs typeface="Courier New" panose="02070309020205020404" pitchFamily="49" charset="0"/>
                        </a:rPr>
                        <a:t>0000000.00000000</a:t>
                      </a:r>
                    </a:p>
                  </a:txBody>
                  <a:tcPr marL="31750" marR="31750" marT="31750" marB="31750" anchor="ctr"/>
                </a:tc>
                <a:tc>
                  <a:txBody>
                    <a:bodyPr/>
                    <a:lstStyle/>
                    <a:p>
                      <a:pPr rtl="0" fontAlgn="ctr"/>
                      <a:r>
                        <a:rPr lang="fr-FR" sz="800" b="1">
                          <a:effectLst/>
                        </a:rPr>
                        <a:t>2</a:t>
                      </a:r>
                    </a:p>
                  </a:txBody>
                  <a:tcPr marL="31750" marR="31750" marT="31750" marB="31750" anchor="ctr"/>
                </a:tc>
                <a:tc>
                  <a:txBody>
                    <a:bodyPr/>
                    <a:lstStyle/>
                    <a:p>
                      <a:pPr rtl="0" fontAlgn="ctr"/>
                      <a:r>
                        <a:rPr lang="fr-FR" sz="800" b="0">
                          <a:effectLst/>
                        </a:rPr>
                        <a:t>32766</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543777364"/>
                  </a:ext>
                </a:extLst>
              </a:tr>
              <a:tr h="273793">
                <a:tc>
                  <a:txBody>
                    <a:bodyPr/>
                    <a:lstStyle/>
                    <a:p>
                      <a:pPr rtl="0" fontAlgn="ctr"/>
                      <a:r>
                        <a:rPr lang="fr-FR" sz="800" b="0">
                          <a:effectLst/>
                        </a:rPr>
                        <a:t>/18</a:t>
                      </a:r>
                    </a:p>
                  </a:txBody>
                  <a:tcPr marL="31750" marR="31750" marT="31750" marB="31750" anchor="ctr"/>
                </a:tc>
                <a:tc>
                  <a:txBody>
                    <a:bodyPr/>
                    <a:lstStyle/>
                    <a:p>
                      <a:pPr rtl="0" fontAlgn="ctr"/>
                      <a:r>
                        <a:rPr lang="fr-FR" sz="800" b="0">
                          <a:effectLst/>
                        </a:rPr>
                        <a:t>255.255.</a:t>
                      </a:r>
                      <a:r>
                        <a:rPr lang="fr-FR" sz="800" b="1" kern="1200">
                          <a:solidFill>
                            <a:schemeClr val="dk1"/>
                          </a:solidFill>
                          <a:effectLst/>
                          <a:latin typeface="+mn-lt"/>
                          <a:ea typeface="+mn-ea"/>
                          <a:cs typeface="+mn-cs"/>
                        </a:rPr>
                        <a:t>192</a:t>
                      </a:r>
                      <a:r>
                        <a:rPr lang="fr-FR" sz="800" b="0">
                          <a:effectLst/>
                        </a:rPr>
                        <a:t>.0</a:t>
                      </a:r>
                    </a:p>
                  </a:txBody>
                  <a:tcPr marL="31750" marR="31750" marT="31750" marB="31750" anchor="ctr"/>
                </a:tc>
                <a:tc>
                  <a:txBody>
                    <a:bodyPr/>
                    <a:lstStyle/>
                    <a:p>
                      <a:pPr rtl="0" fontAlgn="ctr"/>
                      <a:r>
                        <a:rPr lang="fr-FR" sz="800" b="0">
                          <a:effectLst/>
                          <a:latin typeface="Courier New" panose="02070309020205020404" pitchFamily="49" charset="0"/>
                          <a:cs typeface="Courier New" panose="02070309020205020404" pitchFamily="49" charset="0"/>
                        </a:rPr>
                        <a:t>nnnnnnnnnnnnnnnnn. </a:t>
                      </a:r>
                      <a:r>
                        <a:rPr lang="fr-FR" sz="800" b="1">
                          <a:effectLst/>
                          <a:latin typeface="Courier New" panose="02070309020205020404" pitchFamily="49" charset="0"/>
                          <a:cs typeface="Courier New" panose="02070309020205020404" pitchFamily="49" charset="0"/>
                        </a:rPr>
                        <a:t>nn</a:t>
                      </a:r>
                      <a:r>
                        <a:rPr lang="fr-FR" sz="800" b="0">
                          <a:effectLst/>
                          <a:latin typeface="Courier New" panose="02070309020205020404" pitchFamily="49" charset="0"/>
                          <a:cs typeface="Courier New" panose="02070309020205020404" pitchFamily="49" charset="0"/>
                        </a:rPr>
                        <a:t>hhhhhhhhhhhhhh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a:effectLst/>
                          <a:latin typeface="Courier New" panose="02070309020205020404" pitchFamily="49" charset="0"/>
                          <a:cs typeface="Courier New" panose="02070309020205020404" pitchFamily="49" charset="0"/>
                        </a:rPr>
                        <a:t>1111111111.</a:t>
                      </a:r>
                      <a:r>
                        <a:rPr lang="fr-FR" sz="800" b="1">
                          <a:effectLst/>
                          <a:latin typeface="Courier New" panose="02070309020205020404" pitchFamily="49" charset="0"/>
                          <a:cs typeface="Courier New" panose="02070309020205020404" pitchFamily="49" charset="0"/>
                        </a:rPr>
                        <a:t>11</a:t>
                      </a:r>
                      <a:r>
                        <a:rPr lang="fr-FR" sz="800" b="0">
                          <a:effectLst/>
                          <a:latin typeface="Courier New" panose="02070309020205020404" pitchFamily="49" charset="0"/>
                          <a:cs typeface="Courier New" panose="02070309020205020404" pitchFamily="49" charset="0"/>
                        </a:rPr>
                        <a:t>000000.00000000</a:t>
                      </a:r>
                    </a:p>
                  </a:txBody>
                  <a:tcPr marL="31750" marR="31750" marT="31750" marB="31750" anchor="ctr"/>
                </a:tc>
                <a:tc>
                  <a:txBody>
                    <a:bodyPr/>
                    <a:lstStyle/>
                    <a:p>
                      <a:pPr rtl="0" fontAlgn="ctr"/>
                      <a:r>
                        <a:rPr lang="fr-FR" sz="800" b="1">
                          <a:effectLst/>
                        </a:rPr>
                        <a:t>4</a:t>
                      </a:r>
                    </a:p>
                  </a:txBody>
                  <a:tcPr marL="31750" marR="31750" marT="31750" marB="31750" anchor="ctr"/>
                </a:tc>
                <a:tc>
                  <a:txBody>
                    <a:bodyPr/>
                    <a:lstStyle/>
                    <a:p>
                      <a:pPr rtl="0" fontAlgn="ctr"/>
                      <a:r>
                        <a:rPr lang="fr-FR" sz="800" b="0">
                          <a:effectLst/>
                        </a:rPr>
                        <a:t>16382</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507666450"/>
                  </a:ext>
                </a:extLst>
              </a:tr>
              <a:tr h="273793">
                <a:tc>
                  <a:txBody>
                    <a:bodyPr/>
                    <a:lstStyle/>
                    <a:p>
                      <a:pPr rtl="0" fontAlgn="ctr"/>
                      <a:r>
                        <a:rPr lang="fr-FR" sz="800" b="0">
                          <a:effectLst/>
                        </a:rPr>
                        <a:t>/19</a:t>
                      </a:r>
                    </a:p>
                  </a:txBody>
                  <a:tcPr marL="31750" marR="31750" marT="31750" marB="31750" anchor="ctr"/>
                </a:tc>
                <a:tc>
                  <a:txBody>
                    <a:bodyPr/>
                    <a:lstStyle/>
                    <a:p>
                      <a:pPr rtl="0" fontAlgn="ctr"/>
                      <a:r>
                        <a:rPr lang="fr-FR" sz="800" b="0">
                          <a:effectLst/>
                        </a:rPr>
                        <a:t>255.255.</a:t>
                      </a:r>
                      <a:r>
                        <a:rPr lang="fr-FR" sz="800" b="1" kern="1200">
                          <a:solidFill>
                            <a:schemeClr val="dk1"/>
                          </a:solidFill>
                          <a:effectLst/>
                          <a:latin typeface="+mn-lt"/>
                          <a:ea typeface="+mn-ea"/>
                          <a:cs typeface="+mn-cs"/>
                        </a:rPr>
                        <a:t>224</a:t>
                      </a:r>
                      <a:r>
                        <a:rPr lang="fr-FR" sz="800" b="0">
                          <a:effectLst/>
                        </a:rPr>
                        <a:t>.0</a:t>
                      </a:r>
                    </a:p>
                  </a:txBody>
                  <a:tcPr marL="31750" marR="31750" marT="31750" marB="31750" anchor="ctr"/>
                </a:tc>
                <a:tc>
                  <a:txBody>
                    <a:bodyPr/>
                    <a:lstStyle/>
                    <a:p>
                      <a:pPr rtl="0" fontAlgn="ctr"/>
                      <a:r>
                        <a:rPr lang="fr-FR" sz="800" b="0">
                          <a:effectLst/>
                          <a:latin typeface="Courier New" panose="02070309020205020404" pitchFamily="49" charset="0"/>
                          <a:cs typeface="Courier New" panose="02070309020205020404" pitchFamily="49" charset="0"/>
                        </a:rPr>
                        <a:t>nnnnnnnnnnnnnnnnn. </a:t>
                      </a:r>
                      <a:r>
                        <a:rPr lang="fr-FR" sz="800" b="1">
                          <a:effectLst/>
                          <a:latin typeface="Courier New" panose="02070309020205020404" pitchFamily="49" charset="0"/>
                          <a:cs typeface="Courier New" panose="02070309020205020404" pitchFamily="49" charset="0"/>
                        </a:rPr>
                        <a:t>nnnn</a:t>
                      </a:r>
                      <a:r>
                        <a:rPr lang="fr-FR" sz="800" b="0">
                          <a:effectLst/>
                          <a:latin typeface="Courier New" panose="02070309020205020404" pitchFamily="49" charset="0"/>
                          <a:cs typeface="Courier New" panose="02070309020205020404" pitchFamily="49" charset="0"/>
                        </a:rPr>
                        <a:t>hhhhhhhhhhhh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a:effectLst/>
                          <a:latin typeface="Courier New" panose="02070309020205020404" pitchFamily="49" charset="0"/>
                          <a:cs typeface="Courier New" panose="02070309020205020404" pitchFamily="49" charset="0"/>
                        </a:rPr>
                        <a:t>1111111111.</a:t>
                      </a:r>
                      <a:r>
                        <a:rPr lang="fr-FR" sz="800" b="1">
                          <a:effectLst/>
                          <a:latin typeface="Courier New" panose="02070309020205020404" pitchFamily="49" charset="0"/>
                          <a:cs typeface="Courier New" panose="02070309020205020404" pitchFamily="49" charset="0"/>
                        </a:rPr>
                        <a:t>111</a:t>
                      </a:r>
                      <a:r>
                        <a:rPr lang="fr-FR" sz="800" b="0">
                          <a:effectLst/>
                          <a:latin typeface="Courier New" panose="02070309020205020404" pitchFamily="49" charset="0"/>
                          <a:cs typeface="Courier New" panose="02070309020205020404" pitchFamily="49" charset="0"/>
                        </a:rPr>
                        <a:t>00000.00000000</a:t>
                      </a:r>
                    </a:p>
                  </a:txBody>
                  <a:tcPr marL="31750" marR="31750" marT="31750" marB="31750" anchor="ctr"/>
                </a:tc>
                <a:tc>
                  <a:txBody>
                    <a:bodyPr/>
                    <a:lstStyle/>
                    <a:p>
                      <a:pPr rtl="0" fontAlgn="ctr"/>
                      <a:r>
                        <a:rPr lang="fr-FR" sz="800" b="1">
                          <a:effectLst/>
                        </a:rPr>
                        <a:t>8</a:t>
                      </a:r>
                    </a:p>
                  </a:txBody>
                  <a:tcPr marL="31750" marR="31750" marT="31750" marB="31750" anchor="ctr"/>
                </a:tc>
                <a:tc>
                  <a:txBody>
                    <a:bodyPr/>
                    <a:lstStyle/>
                    <a:p>
                      <a:pPr rtl="0" fontAlgn="ctr"/>
                      <a:r>
                        <a:rPr lang="fr-FR" sz="800" b="0">
                          <a:effectLst/>
                        </a:rPr>
                        <a:t>8190</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895088631"/>
                  </a:ext>
                </a:extLst>
              </a:tr>
              <a:tr h="273793">
                <a:tc>
                  <a:txBody>
                    <a:bodyPr/>
                    <a:lstStyle/>
                    <a:p>
                      <a:pPr rtl="0" fontAlgn="ctr"/>
                      <a:r>
                        <a:rPr lang="fr-FR" sz="800" b="0">
                          <a:effectLst/>
                        </a:rPr>
                        <a:t>/20</a:t>
                      </a:r>
                    </a:p>
                  </a:txBody>
                  <a:tcPr marL="31750" marR="31750" marT="31750" marB="31750" anchor="ctr"/>
                </a:tc>
                <a:tc>
                  <a:txBody>
                    <a:bodyPr/>
                    <a:lstStyle/>
                    <a:p>
                      <a:pPr rtl="0" fontAlgn="ctr"/>
                      <a:r>
                        <a:rPr lang="fr-FR" sz="800" b="0">
                          <a:effectLst/>
                        </a:rPr>
                        <a:t>255.255.</a:t>
                      </a:r>
                      <a:r>
                        <a:rPr lang="fr-FR" sz="800" b="1" kern="1200">
                          <a:solidFill>
                            <a:schemeClr val="dk1"/>
                          </a:solidFill>
                          <a:effectLst/>
                          <a:latin typeface="+mn-lt"/>
                          <a:ea typeface="+mn-ea"/>
                          <a:cs typeface="+mn-cs"/>
                        </a:rPr>
                        <a:t>240</a:t>
                      </a:r>
                      <a:r>
                        <a:rPr lang="fr-FR" sz="800" b="0">
                          <a:effectLst/>
                        </a:rPr>
                        <a:t>.0</a:t>
                      </a:r>
                    </a:p>
                  </a:txBody>
                  <a:tcPr marL="31750" marR="31750" marT="31750" marB="31750" anchor="ctr"/>
                </a:tc>
                <a:tc>
                  <a:txBody>
                    <a:bodyPr/>
                    <a:lstStyle/>
                    <a:p>
                      <a:pPr rtl="0" fontAlgn="ctr"/>
                      <a:r>
                        <a:rPr lang="fr-FR" sz="800" b="0">
                          <a:effectLst/>
                          <a:latin typeface="Courier New" panose="02070309020205020404" pitchFamily="49" charset="0"/>
                          <a:cs typeface="Courier New" panose="02070309020205020404" pitchFamily="49" charset="0"/>
                        </a:rPr>
                        <a:t>nnnnnnnnnnnnnnnnn. </a:t>
                      </a:r>
                      <a:r>
                        <a:rPr lang="fr-FR" sz="800" b="1">
                          <a:effectLst/>
                          <a:latin typeface="Courier New" panose="02070309020205020404" pitchFamily="49" charset="0"/>
                          <a:cs typeface="Courier New" panose="02070309020205020404" pitchFamily="49" charset="0"/>
                        </a:rPr>
                        <a:t>nnnn</a:t>
                      </a:r>
                      <a:r>
                        <a:rPr lang="fr-FR" sz="800" b="0">
                          <a:effectLst/>
                          <a:latin typeface="Courier New" panose="02070309020205020404" pitchFamily="49" charset="0"/>
                          <a:cs typeface="Courier New" panose="02070309020205020404" pitchFamily="49" charset="0"/>
                        </a:rPr>
                        <a:t>hhhhhhhhhhh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a:effectLst/>
                          <a:latin typeface="Courier New" panose="02070309020205020404" pitchFamily="49" charset="0"/>
                          <a:cs typeface="Courier New" panose="02070309020205020404" pitchFamily="49" charset="0"/>
                        </a:rPr>
                        <a:t>1111111111.</a:t>
                      </a:r>
                      <a:r>
                        <a:rPr lang="fr-FR" sz="800" b="1">
                          <a:effectLst/>
                          <a:latin typeface="Courier New" panose="02070309020205020404" pitchFamily="49" charset="0"/>
                          <a:cs typeface="Courier New" panose="02070309020205020404" pitchFamily="49" charset="0"/>
                        </a:rPr>
                        <a:t>1111</a:t>
                      </a:r>
                      <a:r>
                        <a:rPr lang="fr-FR" sz="800" b="0">
                          <a:effectLst/>
                          <a:latin typeface="Courier New" panose="02070309020205020404" pitchFamily="49" charset="0"/>
                          <a:cs typeface="Courier New" panose="02070309020205020404" pitchFamily="49" charset="0"/>
                        </a:rPr>
                        <a:t>0000.00000000</a:t>
                      </a:r>
                    </a:p>
                  </a:txBody>
                  <a:tcPr marL="31750" marR="31750" marT="31750" marB="31750" anchor="ctr"/>
                </a:tc>
                <a:tc>
                  <a:txBody>
                    <a:bodyPr/>
                    <a:lstStyle/>
                    <a:p>
                      <a:pPr rtl="0" fontAlgn="ctr"/>
                      <a:r>
                        <a:rPr lang="fr-FR" sz="800" b="1">
                          <a:effectLst/>
                        </a:rPr>
                        <a:t>16</a:t>
                      </a:r>
                    </a:p>
                  </a:txBody>
                  <a:tcPr marL="31750" marR="31750" marT="31750" marB="31750" anchor="ctr"/>
                </a:tc>
                <a:tc>
                  <a:txBody>
                    <a:bodyPr/>
                    <a:lstStyle/>
                    <a:p>
                      <a:pPr rtl="0" fontAlgn="ctr"/>
                      <a:r>
                        <a:rPr lang="fr-FR" sz="800" b="0">
                          <a:effectLst/>
                        </a:rPr>
                        <a:t>4094</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687745671"/>
                  </a:ext>
                </a:extLst>
              </a:tr>
              <a:tr h="273793">
                <a:tc>
                  <a:txBody>
                    <a:bodyPr/>
                    <a:lstStyle/>
                    <a:p>
                      <a:pPr rtl="0" fontAlgn="ctr"/>
                      <a:r>
                        <a:rPr lang="fr-FR" sz="800" b="0">
                          <a:effectLst/>
                        </a:rPr>
                        <a:t>/21</a:t>
                      </a:r>
                    </a:p>
                  </a:txBody>
                  <a:tcPr marL="31750" marR="31750" marT="31750" marB="31750" anchor="ctr"/>
                </a:tc>
                <a:tc>
                  <a:txBody>
                    <a:bodyPr/>
                    <a:lstStyle/>
                    <a:p>
                      <a:pPr rtl="0" fontAlgn="ctr"/>
                      <a:r>
                        <a:rPr lang="fr-FR" sz="800" b="0">
                          <a:effectLst/>
                        </a:rPr>
                        <a:t>255.255.</a:t>
                      </a:r>
                      <a:r>
                        <a:rPr lang="fr-FR" sz="800" b="1" kern="1200">
                          <a:solidFill>
                            <a:schemeClr val="dk1"/>
                          </a:solidFill>
                          <a:effectLst/>
                          <a:latin typeface="+mn-lt"/>
                          <a:ea typeface="+mn-ea"/>
                          <a:cs typeface="+mn-cs"/>
                        </a:rPr>
                        <a:t>248</a:t>
                      </a:r>
                      <a:r>
                        <a:rPr lang="fr-FR" sz="800" b="0">
                          <a:effectLst/>
                        </a:rPr>
                        <a:t>.0</a:t>
                      </a:r>
                    </a:p>
                  </a:txBody>
                  <a:tcPr marL="31750" marR="31750" marT="31750" marB="31750" anchor="ctr"/>
                </a:tc>
                <a:tc>
                  <a:txBody>
                    <a:bodyPr/>
                    <a:lstStyle/>
                    <a:p>
                      <a:pPr rtl="0" fontAlgn="ctr"/>
                      <a:r>
                        <a:rPr lang="fr-FR" sz="800" b="0">
                          <a:effectLst/>
                          <a:latin typeface="Courier New" panose="02070309020205020404" pitchFamily="49" charset="0"/>
                          <a:cs typeface="Courier New" panose="02070309020205020404" pitchFamily="49" charset="0"/>
                        </a:rPr>
                        <a:t>nnnnnnnnnnnnnnnnn. </a:t>
                      </a:r>
                      <a:r>
                        <a:rPr lang="fr-FR" sz="800" b="1">
                          <a:effectLst/>
                          <a:latin typeface="Courier New" panose="02070309020205020404" pitchFamily="49" charset="0"/>
                          <a:cs typeface="Courier New" panose="02070309020205020404" pitchFamily="49" charset="0"/>
                        </a:rPr>
                        <a:t>nnnnn</a:t>
                      </a:r>
                      <a:r>
                        <a:rPr lang="fr-FR" sz="800" b="0">
                          <a:effectLst/>
                          <a:latin typeface="Courier New" panose="02070309020205020404" pitchFamily="49" charset="0"/>
                          <a:cs typeface="Courier New" panose="02070309020205020404" pitchFamily="49" charset="0"/>
                        </a:rPr>
                        <a:t>hhhhhhhhhh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a:effectLst/>
                          <a:latin typeface="Courier New" panose="02070309020205020404" pitchFamily="49" charset="0"/>
                          <a:cs typeface="Courier New" panose="02070309020205020404" pitchFamily="49" charset="0"/>
                        </a:rPr>
                        <a:t>1111111111.</a:t>
                      </a:r>
                      <a:r>
                        <a:rPr lang="fr-FR" sz="800" b="1">
                          <a:effectLst/>
                          <a:latin typeface="Courier New" panose="02070309020205020404" pitchFamily="49" charset="0"/>
                          <a:cs typeface="Courier New" panose="02070309020205020404" pitchFamily="49" charset="0"/>
                        </a:rPr>
                        <a:t>11111</a:t>
                      </a:r>
                      <a:r>
                        <a:rPr lang="fr-FR" sz="800" b="0">
                          <a:effectLst/>
                          <a:latin typeface="Courier New" panose="02070309020205020404" pitchFamily="49" charset="0"/>
                          <a:cs typeface="Courier New" panose="02070309020205020404" pitchFamily="49" charset="0"/>
                        </a:rPr>
                        <a:t>000.00000000</a:t>
                      </a:r>
                    </a:p>
                  </a:txBody>
                  <a:tcPr marL="31750" marR="31750" marT="31750" marB="31750" anchor="ctr"/>
                </a:tc>
                <a:tc>
                  <a:txBody>
                    <a:bodyPr/>
                    <a:lstStyle/>
                    <a:p>
                      <a:pPr rtl="0" fontAlgn="ctr"/>
                      <a:r>
                        <a:rPr lang="fr-FR" sz="800" b="1">
                          <a:effectLst/>
                        </a:rPr>
                        <a:t>32</a:t>
                      </a:r>
                    </a:p>
                  </a:txBody>
                  <a:tcPr marL="31750" marR="31750" marT="31750" marB="31750" anchor="ctr"/>
                </a:tc>
                <a:tc>
                  <a:txBody>
                    <a:bodyPr/>
                    <a:lstStyle/>
                    <a:p>
                      <a:pPr rtl="0" fontAlgn="ctr"/>
                      <a:r>
                        <a:rPr lang="fr-FR" sz="800" b="0">
                          <a:effectLst/>
                        </a:rPr>
                        <a:t>2046</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717418088"/>
                  </a:ext>
                </a:extLst>
              </a:tr>
              <a:tr h="273793">
                <a:tc>
                  <a:txBody>
                    <a:bodyPr/>
                    <a:lstStyle/>
                    <a:p>
                      <a:pPr rtl="0" fontAlgn="ctr"/>
                      <a:r>
                        <a:rPr lang="fr-FR" sz="800" b="0">
                          <a:effectLst/>
                        </a:rPr>
                        <a:t>/22</a:t>
                      </a:r>
                    </a:p>
                  </a:txBody>
                  <a:tcPr marL="31750" marR="31750" marT="31750" marB="31750" anchor="ctr"/>
                </a:tc>
                <a:tc>
                  <a:txBody>
                    <a:bodyPr/>
                    <a:lstStyle/>
                    <a:p>
                      <a:pPr rtl="0" fontAlgn="ctr"/>
                      <a:r>
                        <a:rPr lang="fr-FR" sz="800" b="0">
                          <a:effectLst/>
                        </a:rPr>
                        <a:t>255.255.</a:t>
                      </a:r>
                      <a:r>
                        <a:rPr lang="fr-FR" sz="800" b="1" kern="1200">
                          <a:solidFill>
                            <a:schemeClr val="dk1"/>
                          </a:solidFill>
                          <a:effectLst/>
                          <a:latin typeface="+mn-lt"/>
                          <a:ea typeface="+mn-ea"/>
                          <a:cs typeface="+mn-cs"/>
                        </a:rPr>
                        <a:t>252</a:t>
                      </a:r>
                      <a:r>
                        <a:rPr lang="fr-FR" sz="800" b="0">
                          <a:effectLst/>
                        </a:rPr>
                        <a:t>.0</a:t>
                      </a:r>
                    </a:p>
                  </a:txBody>
                  <a:tcPr marL="31750" marR="31750" marT="31750" marB="31750" anchor="ctr"/>
                </a:tc>
                <a:tc>
                  <a:txBody>
                    <a:bodyPr/>
                    <a:lstStyle/>
                    <a:p>
                      <a:pPr rtl="0" fontAlgn="ctr"/>
                      <a:r>
                        <a:rPr lang="fr-FR" sz="800" b="0">
                          <a:effectLst/>
                          <a:latin typeface="Courier New" panose="02070309020205020404" pitchFamily="49" charset="0"/>
                          <a:cs typeface="Courier New" panose="02070309020205020404" pitchFamily="49" charset="0"/>
                        </a:rPr>
                        <a:t>nnnnnnnnnnnnnnnnn. </a:t>
                      </a:r>
                      <a:r>
                        <a:rPr lang="fr-FR" sz="800" b="1">
                          <a:effectLst/>
                          <a:latin typeface="Courier New" panose="02070309020205020404" pitchFamily="49" charset="0"/>
                          <a:cs typeface="Courier New" panose="02070309020205020404" pitchFamily="49" charset="0"/>
                        </a:rPr>
                        <a:t>nnnnnn</a:t>
                      </a:r>
                      <a:r>
                        <a:rPr lang="fr-FR" sz="800" b="0">
                          <a:effectLst/>
                          <a:latin typeface="Courier New" panose="02070309020205020404" pitchFamily="49" charset="0"/>
                          <a:cs typeface="Courier New" panose="02070309020205020404" pitchFamily="49" charset="0"/>
                        </a:rPr>
                        <a:t>hh.hhhhhhhhh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a:effectLst/>
                          <a:latin typeface="Courier New" panose="02070309020205020404" pitchFamily="49" charset="0"/>
                          <a:cs typeface="Courier New" panose="02070309020205020404" pitchFamily="49" charset="0"/>
                        </a:rPr>
                        <a:t>1111111111.</a:t>
                      </a:r>
                      <a:r>
                        <a:rPr lang="fr-FR" sz="800" b="1">
                          <a:effectLst/>
                          <a:latin typeface="Courier New" panose="02070309020205020404" pitchFamily="49" charset="0"/>
                          <a:cs typeface="Courier New" panose="02070309020205020404" pitchFamily="49" charset="0"/>
                        </a:rPr>
                        <a:t>111111</a:t>
                      </a:r>
                      <a:r>
                        <a:rPr lang="fr-FR" sz="800" b="0">
                          <a:effectLst/>
                          <a:latin typeface="Courier New" panose="02070309020205020404" pitchFamily="49" charset="0"/>
                          <a:cs typeface="Courier New" panose="02070309020205020404" pitchFamily="49" charset="0"/>
                        </a:rPr>
                        <a:t>00.00000000</a:t>
                      </a:r>
                    </a:p>
                  </a:txBody>
                  <a:tcPr marL="31750" marR="31750" marT="31750" marB="31750" anchor="ctr"/>
                </a:tc>
                <a:tc>
                  <a:txBody>
                    <a:bodyPr/>
                    <a:lstStyle/>
                    <a:p>
                      <a:pPr rtl="0" fontAlgn="ctr"/>
                      <a:r>
                        <a:rPr lang="fr-FR" sz="800" b="1">
                          <a:effectLst/>
                        </a:rPr>
                        <a:t>64</a:t>
                      </a:r>
                    </a:p>
                  </a:txBody>
                  <a:tcPr marL="31750" marR="31750" marT="31750" marB="31750" anchor="ctr"/>
                </a:tc>
                <a:tc>
                  <a:txBody>
                    <a:bodyPr/>
                    <a:lstStyle/>
                    <a:p>
                      <a:pPr rtl="0" fontAlgn="ctr"/>
                      <a:r>
                        <a:rPr lang="fr-FR" sz="800" b="0">
                          <a:effectLst/>
                        </a:rPr>
                        <a:t>1022</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297882614"/>
                  </a:ext>
                </a:extLst>
              </a:tr>
              <a:tr h="273793">
                <a:tc>
                  <a:txBody>
                    <a:bodyPr/>
                    <a:lstStyle/>
                    <a:p>
                      <a:pPr rtl="0" fontAlgn="ctr"/>
                      <a:r>
                        <a:rPr lang="fr-FR" sz="800" b="0">
                          <a:effectLst/>
                        </a:rPr>
                        <a:t>/23</a:t>
                      </a:r>
                    </a:p>
                  </a:txBody>
                  <a:tcPr marL="31750" marR="31750" marT="31750" marB="31750" anchor="ctr"/>
                </a:tc>
                <a:tc>
                  <a:txBody>
                    <a:bodyPr/>
                    <a:lstStyle/>
                    <a:p>
                      <a:pPr rtl="0" fontAlgn="ctr"/>
                      <a:r>
                        <a:rPr lang="fr-FR" sz="800" b="0">
                          <a:effectLst/>
                        </a:rPr>
                        <a:t>255.255.</a:t>
                      </a:r>
                      <a:r>
                        <a:rPr lang="fr-FR" sz="800" b="1" kern="1200">
                          <a:solidFill>
                            <a:schemeClr val="dk1"/>
                          </a:solidFill>
                          <a:effectLst/>
                          <a:latin typeface="+mn-lt"/>
                          <a:ea typeface="+mn-ea"/>
                          <a:cs typeface="+mn-cs"/>
                        </a:rPr>
                        <a:t>254</a:t>
                      </a:r>
                      <a:r>
                        <a:rPr lang="fr-FR" sz="800" b="0">
                          <a:effectLst/>
                        </a:rPr>
                        <a:t>.0</a:t>
                      </a:r>
                    </a:p>
                  </a:txBody>
                  <a:tcPr marL="31750" marR="31750" marT="31750" marB="31750" anchor="ctr"/>
                </a:tc>
                <a:tc>
                  <a:txBody>
                    <a:bodyPr/>
                    <a:lstStyle/>
                    <a:p>
                      <a:pPr rtl="0" fontAlgn="ctr"/>
                      <a:r>
                        <a:rPr lang="fr-FR" sz="800" b="0">
                          <a:effectLst/>
                          <a:latin typeface="Courier New" panose="02070309020205020404" pitchFamily="49" charset="0"/>
                          <a:cs typeface="Courier New" panose="02070309020205020404" pitchFamily="49" charset="0"/>
                        </a:rPr>
                        <a:t>nnnnnnnnnnnnnnnnn. </a:t>
                      </a:r>
                      <a:r>
                        <a:rPr lang="fr-FR" sz="800" b="1">
                          <a:effectLst/>
                          <a:latin typeface="Courier New" panose="02070309020205020404" pitchFamily="49" charset="0"/>
                          <a:cs typeface="Courier New" panose="02070309020205020404" pitchFamily="49" charset="0"/>
                        </a:rPr>
                        <a:t>nnnnnnn</a:t>
                      </a:r>
                      <a:r>
                        <a:rPr lang="fr-FR" sz="800" b="0">
                          <a:effectLst/>
                          <a:latin typeface="Courier New" panose="02070309020205020404" pitchFamily="49" charset="0"/>
                          <a:cs typeface="Courier New" panose="02070309020205020404" pitchFamily="49" charset="0"/>
                        </a:rPr>
                        <a:t>h.hhhhhhhh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a:effectLst/>
                          <a:latin typeface="Courier New" panose="02070309020205020404" pitchFamily="49" charset="0"/>
                          <a:cs typeface="Courier New" panose="02070309020205020404" pitchFamily="49" charset="0"/>
                        </a:rPr>
                        <a:t>1111111111.</a:t>
                      </a:r>
                      <a:r>
                        <a:rPr lang="fr-FR" sz="800" b="1">
                          <a:effectLst/>
                          <a:latin typeface="Courier New" panose="02070309020205020404" pitchFamily="49" charset="0"/>
                          <a:cs typeface="Courier New" panose="02070309020205020404" pitchFamily="49" charset="0"/>
                        </a:rPr>
                        <a:t>1111111</a:t>
                      </a:r>
                      <a:r>
                        <a:rPr lang="fr-FR" sz="800" b="0">
                          <a:effectLst/>
                          <a:latin typeface="Courier New" panose="02070309020205020404" pitchFamily="49" charset="0"/>
                          <a:cs typeface="Courier New" panose="02070309020205020404" pitchFamily="49" charset="0"/>
                        </a:rPr>
                        <a:t>0.00000000</a:t>
                      </a:r>
                    </a:p>
                  </a:txBody>
                  <a:tcPr marL="31750" marR="31750" marT="31750" marB="31750" anchor="ctr"/>
                </a:tc>
                <a:tc>
                  <a:txBody>
                    <a:bodyPr/>
                    <a:lstStyle/>
                    <a:p>
                      <a:pPr rtl="0" fontAlgn="ctr"/>
                      <a:r>
                        <a:rPr lang="fr-FR" sz="800" b="1">
                          <a:effectLst/>
                        </a:rPr>
                        <a:t>128</a:t>
                      </a:r>
                    </a:p>
                  </a:txBody>
                  <a:tcPr marL="31750" marR="31750" marT="31750" marB="31750" anchor="ctr"/>
                </a:tc>
                <a:tc>
                  <a:txBody>
                    <a:bodyPr/>
                    <a:lstStyle/>
                    <a:p>
                      <a:pPr rtl="0" fontAlgn="ctr"/>
                      <a:r>
                        <a:rPr lang="fr-FR" sz="800" b="0">
                          <a:effectLst/>
                        </a:rPr>
                        <a:t>510</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4013125813"/>
                  </a:ext>
                </a:extLst>
              </a:tr>
              <a:tr h="273793">
                <a:tc>
                  <a:txBody>
                    <a:bodyPr/>
                    <a:lstStyle/>
                    <a:p>
                      <a:pPr rtl="0" fontAlgn="ctr"/>
                      <a:r>
                        <a:rPr lang="fr-FR" sz="800" b="0">
                          <a:effectLst/>
                        </a:rPr>
                        <a:t>/24</a:t>
                      </a:r>
                    </a:p>
                  </a:txBody>
                  <a:tcPr marL="31750" marR="31750" marT="31750" marB="31750" anchor="ctr"/>
                </a:tc>
                <a:tc>
                  <a:txBody>
                    <a:bodyPr/>
                    <a:lstStyle/>
                    <a:p>
                      <a:pPr rtl="0" fontAlgn="ctr"/>
                      <a:r>
                        <a:rPr lang="fr-FR" sz="800" b="0">
                          <a:effectLst/>
                        </a:rPr>
                        <a:t>255.255.</a:t>
                      </a:r>
                      <a:r>
                        <a:rPr lang="fr-FR" sz="800" b="1" kern="1200">
                          <a:solidFill>
                            <a:schemeClr val="dk1"/>
                          </a:solidFill>
                          <a:effectLst/>
                          <a:latin typeface="+mn-lt"/>
                          <a:ea typeface="+mn-ea"/>
                          <a:cs typeface="+mn-cs"/>
                        </a:rPr>
                        <a:t>255</a:t>
                      </a:r>
                      <a:r>
                        <a:rPr lang="fr-FR" sz="800" b="0">
                          <a:effectLst/>
                        </a:rPr>
                        <a:t>.</a:t>
                      </a:r>
                      <a:r>
                        <a:rPr lang="fr-FR" sz="800" b="1">
                          <a:effectLst/>
                        </a:rPr>
                        <a:t>0</a:t>
                      </a:r>
                    </a:p>
                  </a:txBody>
                  <a:tcPr marL="31750" marR="31750" marT="31750" marB="31750" anchor="ctr"/>
                </a:tc>
                <a:tc>
                  <a:txBody>
                    <a:bodyPr/>
                    <a:lstStyle/>
                    <a:p>
                      <a:pPr rtl="0" fontAlgn="ctr"/>
                      <a:r>
                        <a:rPr lang="fr-FR" sz="800" b="0">
                          <a:effectLst/>
                          <a:latin typeface="Courier New" panose="02070309020205020404" pitchFamily="49" charset="0"/>
                          <a:cs typeface="Courier New" panose="02070309020205020404" pitchFamily="49" charset="0"/>
                        </a:rPr>
                        <a:t>nnnnnnnnnnnnnnnnn. </a:t>
                      </a:r>
                      <a:r>
                        <a:rPr lang="fr-FR" sz="800" b="1">
                          <a:effectLst/>
                          <a:latin typeface="Courier New" panose="02070309020205020404" pitchFamily="49" charset="0"/>
                          <a:cs typeface="Courier New" panose="02070309020205020404" pitchFamily="49" charset="0"/>
                        </a:rPr>
                        <a:t>nnnnnnnn</a:t>
                      </a:r>
                      <a:r>
                        <a:rPr lang="fr-FR" sz="800" b="0">
                          <a:effectLst/>
                          <a:latin typeface="Courier New" panose="02070309020205020404" pitchFamily="49" charset="0"/>
                          <a:cs typeface="Courier New" panose="02070309020205020404" pitchFamily="49" charset="0"/>
                        </a:rPr>
                        <a:t>.hhhhhhh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a:effectLst/>
                          <a:latin typeface="Courier New" panose="02070309020205020404" pitchFamily="49" charset="0"/>
                          <a:cs typeface="Courier New" panose="02070309020205020404" pitchFamily="49" charset="0"/>
                        </a:rPr>
                        <a:t>1111111111.</a:t>
                      </a:r>
                      <a:r>
                        <a:rPr lang="fr-FR" sz="800" b="1">
                          <a:effectLst/>
                          <a:latin typeface="Courier New" panose="02070309020205020404" pitchFamily="49" charset="0"/>
                          <a:cs typeface="Courier New" panose="02070309020205020404" pitchFamily="49" charset="0"/>
                        </a:rPr>
                        <a:t>11111111</a:t>
                      </a:r>
                      <a:r>
                        <a:rPr lang="fr-FR" sz="800" b="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rtl="0" fontAlgn="ctr"/>
                      <a:r>
                        <a:rPr lang="fr-FR" sz="800" b="1">
                          <a:effectLst/>
                        </a:rPr>
                        <a:t>256</a:t>
                      </a:r>
                    </a:p>
                  </a:txBody>
                  <a:tcPr marL="31750" marR="31750" marT="31750" marB="31750" anchor="ctr"/>
                </a:tc>
                <a:tc>
                  <a:txBody>
                    <a:bodyPr/>
                    <a:lstStyle/>
                    <a:p>
                      <a:pPr rtl="0" fontAlgn="ctr"/>
                      <a:r>
                        <a:rPr lang="fr-FR" sz="800" b="0">
                          <a:effectLst/>
                        </a:rPr>
                        <a:t>254</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556719010"/>
                  </a:ext>
                </a:extLst>
              </a:tr>
              <a:tr h="273793">
                <a:tc>
                  <a:txBody>
                    <a:bodyPr/>
                    <a:lstStyle/>
                    <a:p>
                      <a:pPr rtl="0" fontAlgn="ctr"/>
                      <a:r>
                        <a:rPr lang="fr-FR" sz="800" b="0" dirty="0">
                          <a:effectLst/>
                        </a:rPr>
                        <a:t>/25</a:t>
                      </a:r>
                    </a:p>
                  </a:txBody>
                  <a:tcPr marL="31750" marR="31750" marT="31750" marB="31750" anchor="ctr"/>
                </a:tc>
                <a:tc>
                  <a:txBody>
                    <a:bodyPr/>
                    <a:lstStyle/>
                    <a:p>
                      <a:pPr rtl="0" fontAlgn="ctr"/>
                      <a:r>
                        <a:rPr lang="fr-FR" sz="800" b="0">
                          <a:effectLst/>
                        </a:rPr>
                        <a:t>255.255.</a:t>
                      </a:r>
                      <a:r>
                        <a:rPr lang="fr-FR" sz="800" b="1" kern="1200">
                          <a:solidFill>
                            <a:schemeClr val="dk1"/>
                          </a:solidFill>
                          <a:effectLst/>
                          <a:latin typeface="+mn-lt"/>
                          <a:ea typeface="+mn-ea"/>
                          <a:cs typeface="+mn-cs"/>
                        </a:rPr>
                        <a:t>255</a:t>
                      </a:r>
                      <a:r>
                        <a:rPr lang="fr-FR" sz="800" b="0">
                          <a:effectLst/>
                        </a:rPr>
                        <a:t>.</a:t>
                      </a:r>
                      <a:r>
                        <a:rPr lang="fr-FR" sz="800" b="1">
                          <a:effectLst/>
                        </a:rPr>
                        <a:t>128</a:t>
                      </a:r>
                    </a:p>
                  </a:txBody>
                  <a:tcPr marL="31750" marR="31750" marT="31750" marB="31750" anchor="ctr"/>
                </a:tc>
                <a:tc>
                  <a:txBody>
                    <a:bodyPr/>
                    <a:lstStyle/>
                    <a:p>
                      <a:pPr rtl="0" fontAlgn="ctr"/>
                      <a:r>
                        <a:rPr lang="fr-FR" sz="800" b="0" dirty="0" err="1">
                          <a:effectLst/>
                          <a:latin typeface="Courier New" panose="02070309020205020404" pitchFamily="49" charset="0"/>
                          <a:cs typeface="Courier New" panose="02070309020205020404" pitchFamily="49" charset="0"/>
                        </a:rPr>
                        <a:t>nnnnnnnnnnnnnnnnn</a:t>
                      </a:r>
                      <a:r>
                        <a:rPr lang="fr-FR" sz="800" b="0" dirty="0">
                          <a:effectLst/>
                          <a:latin typeface="Courier New" panose="02070309020205020404" pitchFamily="49" charset="0"/>
                          <a:cs typeface="Courier New" panose="02070309020205020404" pitchFamily="49" charset="0"/>
                        </a:rPr>
                        <a:t>. </a:t>
                      </a:r>
                      <a:r>
                        <a:rPr lang="fr-FR" sz="800" b="1" dirty="0" err="1">
                          <a:effectLst/>
                          <a:latin typeface="Courier New" panose="02070309020205020404" pitchFamily="49" charset="0"/>
                          <a:cs typeface="Courier New" panose="02070309020205020404" pitchFamily="49" charset="0"/>
                        </a:rPr>
                        <a:t>nnnnnnnnn.n</a:t>
                      </a:r>
                      <a:r>
                        <a:rPr lang="fr-FR" sz="800" b="0" dirty="0" err="1">
                          <a:effectLst/>
                          <a:latin typeface="Courier New" panose="02070309020205020404" pitchFamily="49" charset="0"/>
                          <a:cs typeface="Courier New" panose="02070309020205020404" pitchFamily="49" charset="0"/>
                        </a:rPr>
                        <a:t>hhhhhhh</a:t>
                      </a:r>
                      <a:r>
                        <a:rPr lang="fr-FR" sz="800" b="0" dirty="0">
                          <a:effectLst/>
                          <a:latin typeface="Courier New" panose="02070309020205020404" pitchFamily="49" charset="0"/>
                          <a:cs typeface="Courier New" panose="02070309020205020404" pitchFamily="49" charset="0"/>
                        </a:rPr>
                        <a:t>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dirty="0">
                          <a:effectLst/>
                          <a:latin typeface="Courier New" panose="02070309020205020404" pitchFamily="49" charset="0"/>
                          <a:cs typeface="Courier New" panose="02070309020205020404" pitchFamily="49" charset="0"/>
                        </a:rPr>
                        <a:t>1111111111.</a:t>
                      </a:r>
                      <a:r>
                        <a:rPr lang="fr-FR" sz="800" b="1" dirty="0">
                          <a:effectLst/>
                          <a:latin typeface="Courier New" panose="02070309020205020404" pitchFamily="49" charset="0"/>
                          <a:cs typeface="Courier New" panose="02070309020205020404" pitchFamily="49" charset="0"/>
                        </a:rPr>
                        <a:t>11111111.1</a:t>
                      </a:r>
                      <a:r>
                        <a:rPr lang="fr-FR" sz="8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rtl="0" fontAlgn="ctr"/>
                      <a:r>
                        <a:rPr lang="fr-FR" sz="800" b="1">
                          <a:effectLst/>
                        </a:rPr>
                        <a:t>512  </a:t>
                      </a:r>
                    </a:p>
                  </a:txBody>
                  <a:tcPr marL="31750" marR="31750" marT="31750" marB="31750" anchor="ctr"/>
                </a:tc>
                <a:tc>
                  <a:txBody>
                    <a:bodyPr/>
                    <a:lstStyle/>
                    <a:p>
                      <a:pPr rtl="0" fontAlgn="ctr"/>
                      <a:r>
                        <a:rPr lang="fr-FR" sz="800" b="0" dirty="0">
                          <a:effectLst/>
                        </a:rPr>
                        <a:t>126</a:t>
                      </a:r>
                    </a:p>
                  </a:txBody>
                  <a:tcPr marL="31750" marR="31750" marT="31750" marB="31750" anchor="ctr"/>
                </a:tc>
              </a:tr>
              <a:tr h="273793">
                <a:tc>
                  <a:txBody>
                    <a:bodyPr/>
                    <a:lstStyle/>
                    <a:p>
                      <a:pPr rtl="0" fontAlgn="ctr"/>
                      <a:r>
                        <a:rPr lang="fr-FR" sz="800" b="0" dirty="0" smtClean="0">
                          <a:effectLst/>
                        </a:rPr>
                        <a:t>/26</a:t>
                      </a:r>
                      <a:endParaRPr lang="fr-FR" sz="800" b="0" dirty="0">
                        <a:effectLst/>
                      </a:endParaRPr>
                    </a:p>
                  </a:txBody>
                  <a:tcPr marL="31750" marR="31750" marT="31750" marB="31750" anchor="ctr"/>
                </a:tc>
                <a:tc>
                  <a:txBody>
                    <a:bodyPr/>
                    <a:lstStyle/>
                    <a:p>
                      <a:pPr rtl="0" fontAlgn="ctr"/>
                      <a:r>
                        <a:rPr lang="fr-FR" sz="800" b="0" dirty="0">
                          <a:effectLst/>
                        </a:rPr>
                        <a:t>255.255.</a:t>
                      </a:r>
                      <a:r>
                        <a:rPr lang="fr-FR" sz="800" b="1" kern="1200" dirty="0">
                          <a:solidFill>
                            <a:schemeClr val="dk1"/>
                          </a:solidFill>
                          <a:effectLst/>
                          <a:latin typeface="+mn-lt"/>
                          <a:ea typeface="+mn-ea"/>
                          <a:cs typeface="+mn-cs"/>
                        </a:rPr>
                        <a:t>255</a:t>
                      </a:r>
                      <a:r>
                        <a:rPr lang="fr-FR" sz="800" b="0" dirty="0">
                          <a:effectLst/>
                        </a:rPr>
                        <a:t>.</a:t>
                      </a:r>
                      <a:r>
                        <a:rPr lang="fr-FR" sz="800" b="1" dirty="0">
                          <a:effectLst/>
                        </a:rPr>
                        <a:t>192</a:t>
                      </a:r>
                    </a:p>
                  </a:txBody>
                  <a:tcPr marL="31750" marR="31750" marT="31750" marB="31750" anchor="ctr"/>
                </a:tc>
                <a:tc>
                  <a:txBody>
                    <a:bodyPr/>
                    <a:lstStyle/>
                    <a:p>
                      <a:pPr rtl="0" fontAlgn="ctr"/>
                      <a:r>
                        <a:rPr lang="fr-FR" sz="800" b="0" dirty="0" err="1" smtClean="0">
                          <a:effectLst/>
                          <a:latin typeface="Courier New" panose="02070309020205020404" pitchFamily="49" charset="0"/>
                          <a:cs typeface="Courier New" panose="02070309020205020404" pitchFamily="49" charset="0"/>
                        </a:rPr>
                        <a:t>nnnnnnnnnnnnnnnnn</a:t>
                      </a:r>
                      <a:r>
                        <a:rPr lang="fr-FR" sz="800" b="0" dirty="0" smtClean="0">
                          <a:effectLst/>
                          <a:latin typeface="Courier New" panose="02070309020205020404" pitchFamily="49" charset="0"/>
                          <a:cs typeface="Courier New" panose="02070309020205020404" pitchFamily="49" charset="0"/>
                        </a:rPr>
                        <a:t>. </a:t>
                      </a:r>
                      <a:r>
                        <a:rPr lang="fr-FR" sz="800" b="1" dirty="0" err="1" smtClean="0">
                          <a:effectLst/>
                          <a:latin typeface="Courier New" panose="02070309020205020404" pitchFamily="49" charset="0"/>
                          <a:cs typeface="Courier New" panose="02070309020205020404" pitchFamily="49" charset="0"/>
                        </a:rPr>
                        <a:t>nnnnnnnnn.nn</a:t>
                      </a:r>
                      <a:r>
                        <a:rPr lang="fr-FR" sz="800" b="0" dirty="0" err="1" smtClean="0">
                          <a:effectLst/>
                          <a:latin typeface="Courier New" panose="02070309020205020404" pitchFamily="49" charset="0"/>
                          <a:cs typeface="Courier New" panose="02070309020205020404" pitchFamily="49" charset="0"/>
                        </a:rPr>
                        <a:t>hhhhhhh</a:t>
                      </a:r>
                      <a:r>
                        <a:rPr lang="fr-FR" sz="800" b="0" dirty="0" smtClean="0">
                          <a:effectLst/>
                          <a:latin typeface="Courier New" panose="02070309020205020404" pitchFamily="49" charset="0"/>
                          <a:cs typeface="Courier New" panose="02070309020205020404" pitchFamily="49" charset="0"/>
                        </a:rPr>
                        <a:t> </a:t>
                      </a:r>
                      <a:r>
                        <a:rPr lang="en-CA" sz="800" b="0" dirty="0" smtClean="0">
                          <a:effectLst/>
                          <a:latin typeface="Courier New" panose="02070309020205020404" pitchFamily="49" charset="0"/>
                          <a:cs typeface="Courier New" panose="02070309020205020404" pitchFamily="49" charset="0"/>
                        </a:rPr>
                        <a:t/>
                      </a:r>
                      <a:br>
                        <a:rPr lang="en-CA" sz="800" b="0" dirty="0" smtClean="0">
                          <a:effectLst/>
                          <a:latin typeface="Courier New" panose="02070309020205020404" pitchFamily="49" charset="0"/>
                          <a:cs typeface="Courier New" panose="02070309020205020404" pitchFamily="49" charset="0"/>
                        </a:rPr>
                      </a:br>
                      <a:r>
                        <a:rPr lang="fr-FR" sz="800" b="0" dirty="0" smtClean="0">
                          <a:effectLst/>
                          <a:latin typeface="Courier New" panose="02070309020205020404" pitchFamily="49" charset="0"/>
                          <a:cs typeface="Courier New" panose="02070309020205020404" pitchFamily="49" charset="0"/>
                        </a:rPr>
                        <a:t>1111111111.</a:t>
                      </a:r>
                      <a:r>
                        <a:rPr lang="fr-FR" sz="800" b="1" dirty="0" smtClean="0">
                          <a:effectLst/>
                          <a:latin typeface="Courier New" panose="02070309020205020404" pitchFamily="49" charset="0"/>
                          <a:cs typeface="Courier New" panose="02070309020205020404" pitchFamily="49" charset="0"/>
                        </a:rPr>
                        <a:t>11111111.11</a:t>
                      </a:r>
                      <a:r>
                        <a:rPr lang="fr-FR" sz="800" b="0" dirty="0" smtClean="0">
                          <a:effectLst/>
                          <a:latin typeface="Courier New" panose="02070309020205020404" pitchFamily="49" charset="0"/>
                          <a:cs typeface="Courier New" panose="02070309020205020404" pitchFamily="49" charset="0"/>
                        </a:rPr>
                        <a:t>000000</a:t>
                      </a:r>
                      <a:endParaRPr lang="fr-FR" sz="800" b="0" dirty="0">
                        <a:effectLst/>
                        <a:latin typeface="Courier New" panose="02070309020205020404" pitchFamily="49" charset="0"/>
                        <a:cs typeface="Courier New" panose="02070309020205020404" pitchFamily="49" charset="0"/>
                      </a:endParaRPr>
                    </a:p>
                  </a:txBody>
                  <a:tcPr marL="31750" marR="31750" marT="31750" marB="31750" anchor="ctr"/>
                </a:tc>
                <a:tc>
                  <a:txBody>
                    <a:bodyPr/>
                    <a:lstStyle/>
                    <a:p>
                      <a:pPr rtl="0" fontAlgn="ctr"/>
                      <a:r>
                        <a:rPr lang="fr-FR" sz="800" b="1" dirty="0">
                          <a:effectLst/>
                        </a:rPr>
                        <a:t>1024</a:t>
                      </a:r>
                    </a:p>
                  </a:txBody>
                  <a:tcPr marL="31750" marR="31750" marT="31750" marB="31750" anchor="ctr"/>
                </a:tc>
                <a:tc>
                  <a:txBody>
                    <a:bodyPr/>
                    <a:lstStyle/>
                    <a:p>
                      <a:pPr rtl="0" fontAlgn="ctr"/>
                      <a:r>
                        <a:rPr lang="fr-FR" sz="800" b="0" dirty="0">
                          <a:effectLst/>
                        </a:rPr>
                        <a:t>62</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884378750"/>
                  </a:ext>
                </a:extLst>
              </a:tr>
              <a:tr h="273793">
                <a:tc>
                  <a:txBody>
                    <a:bodyPr/>
                    <a:lstStyle/>
                    <a:p>
                      <a:pPr rtl="0" fontAlgn="ctr"/>
                      <a:r>
                        <a:rPr lang="fr-FR" sz="800" b="0">
                          <a:effectLst/>
                        </a:rPr>
                        <a:t>/27</a:t>
                      </a:r>
                    </a:p>
                  </a:txBody>
                  <a:tcPr marL="31750" marR="31750" marT="31750" marB="31750" anchor="ctr"/>
                </a:tc>
                <a:tc>
                  <a:txBody>
                    <a:bodyPr/>
                    <a:lstStyle/>
                    <a:p>
                      <a:pPr rtl="0" fontAlgn="ctr"/>
                      <a:r>
                        <a:rPr lang="fr-FR" sz="800" b="0">
                          <a:effectLst/>
                        </a:rPr>
                        <a:t>255.255.</a:t>
                      </a:r>
                      <a:r>
                        <a:rPr lang="fr-FR" sz="800" b="1" kern="1200">
                          <a:solidFill>
                            <a:schemeClr val="dk1"/>
                          </a:solidFill>
                          <a:effectLst/>
                          <a:latin typeface="+mn-lt"/>
                          <a:ea typeface="+mn-ea"/>
                          <a:cs typeface="+mn-cs"/>
                        </a:rPr>
                        <a:t>255</a:t>
                      </a:r>
                      <a:r>
                        <a:rPr lang="fr-FR" sz="800" b="0">
                          <a:effectLst/>
                        </a:rPr>
                        <a:t>.</a:t>
                      </a:r>
                      <a:r>
                        <a:rPr lang="fr-FR" sz="800" b="1">
                          <a:effectLst/>
                        </a:rPr>
                        <a:t>224</a:t>
                      </a:r>
                    </a:p>
                  </a:txBody>
                  <a:tcPr marL="31750" marR="31750" marT="31750" marB="31750" anchor="ctr"/>
                </a:tc>
                <a:tc>
                  <a:txBody>
                    <a:bodyPr/>
                    <a:lstStyle/>
                    <a:p>
                      <a:pPr rtl="0" fontAlgn="ctr"/>
                      <a:r>
                        <a:rPr lang="fr-FR" sz="800" b="0">
                          <a:effectLst/>
                          <a:latin typeface="Courier New" panose="02070309020205020404" pitchFamily="49" charset="0"/>
                          <a:cs typeface="Courier New" panose="02070309020205020404" pitchFamily="49" charset="0"/>
                        </a:rPr>
                        <a:t>nnnnnnnnnnnnnnnnn. </a:t>
                      </a:r>
                      <a:r>
                        <a:rPr lang="fr-FR" sz="800" b="1">
                          <a:effectLst/>
                          <a:latin typeface="Courier New" panose="02070309020205020404" pitchFamily="49" charset="0"/>
                          <a:cs typeface="Courier New" panose="02070309020205020404" pitchFamily="49" charset="0"/>
                        </a:rPr>
                        <a:t>nnnnnnnnnnnnn</a:t>
                      </a:r>
                      <a:r>
                        <a:rPr lang="fr-FR" sz="800" b="0">
                          <a:effectLst/>
                          <a:latin typeface="Courier New" panose="02070309020205020404" pitchFamily="49" charset="0"/>
                          <a:cs typeface="Courier New" panose="02070309020205020404" pitchFamily="49" charset="0"/>
                        </a:rPr>
                        <a:t>hhhhh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a:effectLst/>
                          <a:latin typeface="Courier New" panose="02070309020205020404" pitchFamily="49" charset="0"/>
                          <a:cs typeface="Courier New" panose="02070309020205020404" pitchFamily="49" charset="0"/>
                        </a:rPr>
                        <a:t>1111111111.</a:t>
                      </a:r>
                      <a:r>
                        <a:rPr lang="fr-FR" sz="800" b="1">
                          <a:effectLst/>
                          <a:latin typeface="Courier New" panose="02070309020205020404" pitchFamily="49" charset="0"/>
                          <a:cs typeface="Courier New" panose="02070309020205020404" pitchFamily="49" charset="0"/>
                        </a:rPr>
                        <a:t>11111111.111</a:t>
                      </a:r>
                      <a:r>
                        <a:rPr lang="fr-FR" sz="800" b="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rtl="0" fontAlgn="ctr"/>
                      <a:r>
                        <a:rPr lang="fr-FR" sz="800" b="1">
                          <a:effectLst/>
                        </a:rPr>
                        <a:t>2048</a:t>
                      </a:r>
                    </a:p>
                  </a:txBody>
                  <a:tcPr marL="31750" marR="31750" marT="31750" marB="31750" anchor="ctr"/>
                </a:tc>
                <a:tc>
                  <a:txBody>
                    <a:bodyPr/>
                    <a:lstStyle/>
                    <a:p>
                      <a:pPr rtl="0" fontAlgn="ctr"/>
                      <a:r>
                        <a:rPr lang="fr-FR" sz="800" b="0">
                          <a:effectLst/>
                        </a:rPr>
                        <a:t>30</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662949982"/>
                  </a:ext>
                </a:extLst>
              </a:tr>
              <a:tr h="273793">
                <a:tc>
                  <a:txBody>
                    <a:bodyPr/>
                    <a:lstStyle/>
                    <a:p>
                      <a:pPr rtl="0" fontAlgn="ctr"/>
                      <a:r>
                        <a:rPr lang="fr-FR" sz="800" b="0">
                          <a:effectLst/>
                        </a:rPr>
                        <a:t>/28</a:t>
                      </a:r>
                    </a:p>
                  </a:txBody>
                  <a:tcPr marL="31750" marR="31750" marT="31750" marB="31750" anchor="ctr"/>
                </a:tc>
                <a:tc>
                  <a:txBody>
                    <a:bodyPr/>
                    <a:lstStyle/>
                    <a:p>
                      <a:pPr rtl="0" fontAlgn="ctr"/>
                      <a:r>
                        <a:rPr lang="fr-FR" sz="800" b="0">
                          <a:effectLst/>
                        </a:rPr>
                        <a:t>255.255</a:t>
                      </a:r>
                      <a:r>
                        <a:rPr lang="fr-FR" sz="800" b="1" kern="1200">
                          <a:solidFill>
                            <a:schemeClr val="dk1"/>
                          </a:solidFill>
                          <a:effectLst/>
                          <a:latin typeface="+mn-lt"/>
                          <a:ea typeface="+mn-ea"/>
                          <a:cs typeface="+mn-cs"/>
                        </a:rPr>
                        <a:t>.255.</a:t>
                      </a:r>
                      <a:r>
                        <a:rPr lang="fr-FR" sz="800" b="1">
                          <a:effectLst/>
                        </a:rPr>
                        <a:t>240</a:t>
                      </a:r>
                    </a:p>
                  </a:txBody>
                  <a:tcPr marL="31750" marR="31750" marT="31750" marB="31750" anchor="ctr"/>
                </a:tc>
                <a:tc>
                  <a:txBody>
                    <a:bodyPr/>
                    <a:lstStyle/>
                    <a:p>
                      <a:pPr rtl="0" fontAlgn="ctr"/>
                      <a:r>
                        <a:rPr lang="fr-FR" sz="800" b="0">
                          <a:effectLst/>
                          <a:latin typeface="Courier New" panose="02070309020205020404" pitchFamily="49" charset="0"/>
                          <a:cs typeface="Courier New" panose="02070309020205020404" pitchFamily="49" charset="0"/>
                        </a:rPr>
                        <a:t>nnnnnnnnnnnnnnnnn. </a:t>
                      </a:r>
                      <a:r>
                        <a:rPr lang="fr-FR" sz="800" b="1">
                          <a:effectLst/>
                          <a:latin typeface="Courier New" panose="02070309020205020404" pitchFamily="49" charset="0"/>
                          <a:cs typeface="Courier New" panose="02070309020205020404" pitchFamily="49" charset="0"/>
                        </a:rPr>
                        <a:t>nnnnnnnnnnnnnn</a:t>
                      </a:r>
                      <a:r>
                        <a:rPr lang="fr-FR" sz="800" b="0">
                          <a:effectLst/>
                          <a:latin typeface="Courier New" panose="02070309020205020404" pitchFamily="49" charset="0"/>
                          <a:cs typeface="Courier New" panose="02070309020205020404" pitchFamily="49" charset="0"/>
                        </a:rPr>
                        <a:t>hhhh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a:effectLst/>
                          <a:latin typeface="Courier New" panose="02070309020205020404" pitchFamily="49" charset="0"/>
                          <a:cs typeface="Courier New" panose="02070309020205020404" pitchFamily="49" charset="0"/>
                        </a:rPr>
                        <a:t>1111111111.</a:t>
                      </a:r>
                      <a:r>
                        <a:rPr lang="fr-FR" sz="800" b="1">
                          <a:effectLst/>
                          <a:latin typeface="Courier New" panose="02070309020205020404" pitchFamily="49" charset="0"/>
                          <a:cs typeface="Courier New" panose="02070309020205020404" pitchFamily="49" charset="0"/>
                        </a:rPr>
                        <a:t>11111111.1111</a:t>
                      </a:r>
                      <a:r>
                        <a:rPr lang="fr-FR" sz="800" b="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rtl="0" fontAlgn="ctr"/>
                      <a:r>
                        <a:rPr lang="fr-FR" sz="800" b="1">
                          <a:effectLst/>
                        </a:rPr>
                        <a:t>4096</a:t>
                      </a:r>
                    </a:p>
                  </a:txBody>
                  <a:tcPr marL="31750" marR="31750" marT="31750" marB="31750" anchor="ctr"/>
                </a:tc>
                <a:tc>
                  <a:txBody>
                    <a:bodyPr/>
                    <a:lstStyle/>
                    <a:p>
                      <a:pPr rtl="0" fontAlgn="ctr"/>
                      <a:r>
                        <a:rPr lang="fr-FR" sz="800" b="0">
                          <a:effectLst/>
                        </a:rPr>
                        <a:t>14</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47945818"/>
                  </a:ext>
                </a:extLst>
              </a:tr>
              <a:tr h="273793">
                <a:tc>
                  <a:txBody>
                    <a:bodyPr/>
                    <a:lstStyle/>
                    <a:p>
                      <a:pPr rtl="0" fontAlgn="ctr"/>
                      <a:r>
                        <a:rPr lang="fr-FR" sz="800" b="0">
                          <a:effectLst/>
                        </a:rPr>
                        <a:t>/29</a:t>
                      </a:r>
                    </a:p>
                  </a:txBody>
                  <a:tcPr marL="31750" marR="31750" marT="31750" marB="31750" anchor="ctr"/>
                </a:tc>
                <a:tc>
                  <a:txBody>
                    <a:bodyPr/>
                    <a:lstStyle/>
                    <a:p>
                      <a:pPr rtl="0" fontAlgn="ctr"/>
                      <a:r>
                        <a:rPr lang="fr-FR" sz="800" b="0">
                          <a:effectLst/>
                        </a:rPr>
                        <a:t>255.255.</a:t>
                      </a:r>
                      <a:r>
                        <a:rPr lang="fr-FR" sz="800" b="1" kern="1200">
                          <a:solidFill>
                            <a:schemeClr val="dk1"/>
                          </a:solidFill>
                          <a:effectLst/>
                          <a:latin typeface="+mn-lt"/>
                          <a:ea typeface="+mn-ea"/>
                          <a:cs typeface="+mn-cs"/>
                        </a:rPr>
                        <a:t>255</a:t>
                      </a:r>
                      <a:r>
                        <a:rPr lang="fr-FR" sz="800" b="0">
                          <a:effectLst/>
                        </a:rPr>
                        <a:t>.</a:t>
                      </a:r>
                      <a:r>
                        <a:rPr lang="fr-FR" sz="800" b="1">
                          <a:effectLst/>
                        </a:rPr>
                        <a:t>248</a:t>
                      </a:r>
                    </a:p>
                  </a:txBody>
                  <a:tcPr marL="31750" marR="31750" marT="31750" marB="31750" anchor="ctr"/>
                </a:tc>
                <a:tc>
                  <a:txBody>
                    <a:bodyPr/>
                    <a:lstStyle/>
                    <a:p>
                      <a:pPr rtl="0" fontAlgn="ctr"/>
                      <a:r>
                        <a:rPr lang="fr-FR" sz="800" b="0">
                          <a:effectLst/>
                          <a:latin typeface="Courier New" panose="02070309020205020404" pitchFamily="49" charset="0"/>
                          <a:cs typeface="Courier New" panose="02070309020205020404" pitchFamily="49" charset="0"/>
                        </a:rPr>
                        <a:t>nnnnnnnnnnnnnnnnn. </a:t>
                      </a:r>
                      <a:r>
                        <a:rPr lang="fr-FR" sz="800" b="1">
                          <a:effectLst/>
                          <a:latin typeface="Courier New" panose="02070309020205020404" pitchFamily="49" charset="0"/>
                          <a:cs typeface="Courier New" panose="02070309020205020404" pitchFamily="49" charset="0"/>
                        </a:rPr>
                        <a:t>nnnnnnnnnnnnnn</a:t>
                      </a:r>
                      <a:r>
                        <a:rPr lang="fr-FR" sz="800" b="0">
                          <a:effectLst/>
                          <a:latin typeface="Courier New" panose="02070309020205020404" pitchFamily="49" charset="0"/>
                          <a:cs typeface="Courier New" panose="02070309020205020404" pitchFamily="49" charset="0"/>
                        </a:rPr>
                        <a:t>hhhh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a:effectLst/>
                          <a:latin typeface="Courier New" panose="02070309020205020404" pitchFamily="49" charset="0"/>
                          <a:cs typeface="Courier New" panose="02070309020205020404" pitchFamily="49" charset="0"/>
                        </a:rPr>
                        <a:t>1111111111.</a:t>
                      </a:r>
                      <a:r>
                        <a:rPr lang="fr-FR" sz="800" b="1">
                          <a:effectLst/>
                          <a:latin typeface="Courier New" panose="02070309020205020404" pitchFamily="49" charset="0"/>
                          <a:cs typeface="Courier New" panose="02070309020205020404" pitchFamily="49" charset="0"/>
                        </a:rPr>
                        <a:t>11111111.11111</a:t>
                      </a:r>
                      <a:r>
                        <a:rPr lang="fr-FR" sz="800" b="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rtl="0" fontAlgn="ctr"/>
                      <a:r>
                        <a:rPr lang="fr-FR" sz="800" b="1">
                          <a:effectLst/>
                        </a:rPr>
                        <a:t>8192</a:t>
                      </a:r>
                    </a:p>
                  </a:txBody>
                  <a:tcPr marL="31750" marR="31750" marT="31750" marB="31750" anchor="ctr"/>
                </a:tc>
                <a:tc>
                  <a:txBody>
                    <a:bodyPr/>
                    <a:lstStyle/>
                    <a:p>
                      <a:pPr rtl="0" fontAlgn="ctr"/>
                      <a:r>
                        <a:rPr lang="fr-FR" sz="800" b="0">
                          <a:effectLst/>
                        </a:rPr>
                        <a:t>6</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719294433"/>
                  </a:ext>
                </a:extLst>
              </a:tr>
              <a:tr h="0">
                <a:tc>
                  <a:txBody>
                    <a:bodyPr/>
                    <a:lstStyle/>
                    <a:p>
                      <a:pPr rtl="0" fontAlgn="ctr"/>
                      <a:r>
                        <a:rPr lang="fr-FR" sz="800" b="0">
                          <a:effectLst/>
                        </a:rPr>
                        <a:t>/30</a:t>
                      </a:r>
                    </a:p>
                  </a:txBody>
                  <a:tcPr marL="31750" marR="31750" marT="31750" marB="31750" anchor="ctr"/>
                </a:tc>
                <a:tc>
                  <a:txBody>
                    <a:bodyPr/>
                    <a:lstStyle/>
                    <a:p>
                      <a:pPr rtl="0" fontAlgn="ctr"/>
                      <a:r>
                        <a:rPr lang="fr-FR" sz="800" b="0" dirty="0">
                          <a:effectLst/>
                        </a:rPr>
                        <a:t>255.255.</a:t>
                      </a:r>
                      <a:r>
                        <a:rPr lang="fr-FR" sz="800" b="1" kern="1200" dirty="0">
                          <a:solidFill>
                            <a:schemeClr val="dk1"/>
                          </a:solidFill>
                          <a:effectLst/>
                          <a:latin typeface="+mn-lt"/>
                          <a:ea typeface="+mn-ea"/>
                          <a:cs typeface="+mn-cs"/>
                        </a:rPr>
                        <a:t>255.</a:t>
                      </a:r>
                      <a:r>
                        <a:rPr lang="fr-FR" sz="800" b="1" dirty="0">
                          <a:effectLst/>
                        </a:rPr>
                        <a:t>252</a:t>
                      </a:r>
                    </a:p>
                  </a:txBody>
                  <a:tcPr marL="31750" marR="31750" marT="31750" marB="31750" anchor="ctr"/>
                </a:tc>
                <a:tc>
                  <a:txBody>
                    <a:bodyPr/>
                    <a:lstStyle/>
                    <a:p>
                      <a:pPr rtl="0" fontAlgn="ctr"/>
                      <a:r>
                        <a:rPr lang="fr-FR" sz="800" b="0">
                          <a:effectLst/>
                          <a:latin typeface="Courier New" panose="02070309020205020404" pitchFamily="49" charset="0"/>
                          <a:cs typeface="Courier New" panose="02070309020205020404" pitchFamily="49" charset="0"/>
                        </a:rPr>
                        <a:t>nnnnnnnnnnnnnnnnn. </a:t>
                      </a:r>
                      <a:r>
                        <a:rPr lang="fr-FR" sz="800" b="1">
                          <a:effectLst/>
                          <a:latin typeface="Courier New" panose="02070309020205020404" pitchFamily="49" charset="0"/>
                          <a:cs typeface="Courier New" panose="02070309020205020404" pitchFamily="49" charset="0"/>
                        </a:rPr>
                        <a:t>nnnnnnnnnnnnnnn</a:t>
                      </a:r>
                      <a:r>
                        <a:rPr lang="fr-FR" sz="800" b="0">
                          <a:effectLst/>
                          <a:latin typeface="Courier New" panose="02070309020205020404" pitchFamily="49" charset="0"/>
                          <a:cs typeface="Courier New" panose="02070309020205020404" pitchFamily="49" charset="0"/>
                        </a:rPr>
                        <a:t>hh </a:t>
                      </a:r>
                      <a:r>
                        <a:rPr lang="en-CA" sz="800" b="0" dirty="0">
                          <a:effectLst/>
                          <a:latin typeface="Courier New" panose="02070309020205020404" pitchFamily="49" charset="0"/>
                          <a:cs typeface="Courier New" panose="02070309020205020404" pitchFamily="49" charset="0"/>
                        </a:rPr>
                        <a:t/>
                      </a:r>
                      <a:br>
                        <a:rPr lang="en-CA" sz="800" b="0" dirty="0">
                          <a:effectLst/>
                          <a:latin typeface="Courier New" panose="02070309020205020404" pitchFamily="49" charset="0"/>
                          <a:cs typeface="Courier New" panose="02070309020205020404" pitchFamily="49" charset="0"/>
                        </a:rPr>
                      </a:br>
                      <a:r>
                        <a:rPr lang="fr-FR" sz="800" b="0">
                          <a:effectLst/>
                          <a:latin typeface="Courier New" panose="02070309020205020404" pitchFamily="49" charset="0"/>
                          <a:cs typeface="Courier New" panose="02070309020205020404" pitchFamily="49" charset="0"/>
                        </a:rPr>
                        <a:t>1111111111.</a:t>
                      </a:r>
                      <a:r>
                        <a:rPr lang="fr-FR" sz="800" b="1">
                          <a:effectLst/>
                          <a:latin typeface="Courier New" panose="02070309020205020404" pitchFamily="49" charset="0"/>
                          <a:cs typeface="Courier New" panose="02070309020205020404" pitchFamily="49" charset="0"/>
                        </a:rPr>
                        <a:t>11111111.111111</a:t>
                      </a:r>
                      <a:r>
                        <a:rPr lang="fr-FR" sz="800" b="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rtl="0" fontAlgn="ctr"/>
                      <a:r>
                        <a:rPr lang="fr-FR" sz="800" b="1">
                          <a:effectLst/>
                        </a:rPr>
                        <a:t>16384</a:t>
                      </a:r>
                    </a:p>
                  </a:txBody>
                  <a:tcPr marL="31750" marR="31750" marT="31750" marB="31750" anchor="ctr"/>
                </a:tc>
                <a:tc>
                  <a:txBody>
                    <a:bodyPr/>
                    <a:lstStyle/>
                    <a:p>
                      <a:pPr rtl="0" fontAlgn="ctr"/>
                      <a:r>
                        <a:rPr lang="fr-FR" sz="800" b="0" dirty="0">
                          <a:effectLst/>
                        </a:rPr>
                        <a:t>2</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088457338"/>
                  </a:ext>
                </a:extLst>
              </a:tr>
            </a:tbl>
          </a:graphicData>
        </a:graphic>
      </p:graphicFrame>
    </p:spTree>
    <p:extLst>
      <p:ext uri="{BB962C8B-B14F-4D97-AF65-F5344CB8AC3E}">
        <p14:creationId xmlns:p14="http://schemas.microsoft.com/office/powerpoint/2010/main" val="74349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08488" y="123582"/>
            <a:ext cx="8345488" cy="731837"/>
          </a:xfrm>
        </p:spPr>
        <p:txBody>
          <a:bodyPr/>
          <a:lstStyle/>
          <a:p>
            <a:pPr rtl="0"/>
            <a:r>
              <a:rPr lang="fr-FR" sz="1600" dirty="0"/>
              <a:t>Création de sous-réseaux avec le préfixe /16 et /8</a:t>
            </a:r>
            <a:r>
              <a:rPr lang="en-US" dirty="0"/>
              <a:t/>
            </a:r>
            <a:br>
              <a:rPr lang="en-US" dirty="0"/>
            </a:br>
            <a:r>
              <a:rPr lang="fr-FR" sz="2400" dirty="0"/>
              <a:t>Créer 100 sous-réseaux avec un préfixe /16</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64845"/>
            <a:ext cx="5403221" cy="3669447"/>
          </a:xfrm>
        </p:spPr>
        <p:txBody>
          <a:bodyPr/>
          <a:lstStyle/>
          <a:p>
            <a:pPr marL="0" indent="0" algn="l" rtl="0"/>
            <a:r>
              <a:rPr lang="fr-FR" sz="1600">
                <a:solidFill>
                  <a:srgbClr val="000000"/>
                </a:solidFill>
              </a:rPr>
              <a:t>Considérons une grande entreprise qui nécessite au moins 100 sous-réseaux et qui a choisi l'adresse privée 172.16.0.0/16 comme adresse de réseau interne.</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a:solidFill>
                  <a:srgbClr val="000000"/>
                </a:solidFill>
              </a:rPr>
              <a:t>La figure indique le nombre de sous-réseaux qui peuvent être créés si l'on emprunte des bits au troisième et au quatrième octets. </a:t>
            </a:r>
          </a:p>
          <a:p>
            <a:pPr marL="342900" indent="-342900" algn="l" rtl="0">
              <a:buFont typeface="Arial" panose="020B0604020202020204" pitchFamily="34" charset="0"/>
              <a:buChar char="•"/>
            </a:pPr>
            <a:r>
              <a:rPr lang="fr-FR" sz="1600">
                <a:solidFill>
                  <a:srgbClr val="000000"/>
                </a:solidFill>
              </a:rPr>
              <a:t>Notez qu'il y a maintenant jusqu'à 14 bits hôtes qui peuvent être empruntés (c'est-à-dire que les deux derniers bits ne peuvent pas être empruntés).</a:t>
            </a:r>
          </a:p>
          <a:p>
            <a:pPr marL="342900" indent="-342900" algn="l">
              <a:buFont typeface="Arial" panose="020B0604020202020204" pitchFamily="34" charset="0"/>
              <a:buChar char="•"/>
            </a:pPr>
            <a:endParaRPr lang="en-CA" sz="1600" dirty="0">
              <a:solidFill>
                <a:srgbClr val="000000"/>
              </a:solidFill>
            </a:endParaRPr>
          </a:p>
          <a:p>
            <a:pPr marL="0" indent="0" algn="l" rtl="0"/>
            <a:r>
              <a:rPr lang="fr-FR" sz="1600">
                <a:solidFill>
                  <a:srgbClr val="000000"/>
                </a:solidFill>
              </a:rPr>
              <a:t>Pour obtenir les 100 sous-réseaux nécessaires à l'entreprise, il faudrait emprunter 7 bits (c'est-à-dire 2</a:t>
            </a:r>
            <a:r>
              <a:rPr lang="fr-FR" sz="1600" baseline="30000">
                <a:solidFill>
                  <a:srgbClr val="000000"/>
                </a:solidFill>
              </a:rPr>
              <a:t>7</a:t>
            </a:r>
            <a:r>
              <a:rPr lang="fr-FR" sz="1600">
                <a:solidFill>
                  <a:srgbClr val="000000"/>
                </a:solidFill>
              </a:rPr>
              <a:t>= 128 sous-réseaux) (pour un total de 128 sous-réseaux).</a:t>
            </a: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7D912EB9-9234-4648-AF24-14759A57CE1E}"/>
              </a:ext>
            </a:extLst>
          </p:cNvPr>
          <p:cNvPicPr>
            <a:picLocks noChangeAspect="1"/>
          </p:cNvPicPr>
          <p:nvPr/>
        </p:nvPicPr>
        <p:blipFill>
          <a:blip r:embed="rId3"/>
          <a:stretch>
            <a:fillRect/>
          </a:stretch>
        </p:blipFill>
        <p:spPr>
          <a:xfrm>
            <a:off x="6102029" y="855419"/>
            <a:ext cx="2914800" cy="2806844"/>
          </a:xfrm>
          <a:prstGeom prst="rect">
            <a:avLst/>
          </a:prstGeom>
        </p:spPr>
      </p:pic>
    </p:spTree>
    <p:extLst>
      <p:ext uri="{BB962C8B-B14F-4D97-AF65-F5344CB8AC3E}">
        <p14:creationId xmlns:p14="http://schemas.microsoft.com/office/powerpoint/2010/main" val="117726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31735" y="54244"/>
            <a:ext cx="8345488" cy="731837"/>
          </a:xfrm>
        </p:spPr>
        <p:txBody>
          <a:bodyPr/>
          <a:lstStyle/>
          <a:p>
            <a:pPr rtl="0"/>
            <a:r>
              <a:rPr lang="fr-FR" sz="1600" dirty="0"/>
              <a:t>Création de sous-réseaux avec le préfixe /8</a:t>
            </a:r>
            <a:r>
              <a:rPr lang="en-US" dirty="0"/>
              <a:t/>
            </a:r>
            <a:br>
              <a:rPr lang="en-US" dirty="0"/>
            </a:br>
            <a:r>
              <a:rPr lang="fr-FR" sz="2400" dirty="0"/>
              <a:t>Créer 100 sous-réseaux avec un préfixe /8</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08723" y="646192"/>
            <a:ext cx="4863929" cy="3073946"/>
          </a:xfrm>
        </p:spPr>
        <p:txBody>
          <a:bodyPr/>
          <a:lstStyle/>
          <a:p>
            <a:pPr marL="0" indent="0" algn="l" rtl="0"/>
            <a:r>
              <a:rPr lang="fr-FR" sz="1600" dirty="0">
                <a:solidFill>
                  <a:srgbClr val="000000"/>
                </a:solidFill>
              </a:rPr>
              <a:t>Prenons le cas d'un petit FAI qui exige 1000 sous-réseaux pour ses clients en utilisant l'adresse de réseau 10.0.0.0/8, ce qui signifie qu'il y a 8 bits dans la partie réseau et 24 bits d'hôte disponibles à emprunter pour le sous-réseau. </a:t>
            </a:r>
          </a:p>
          <a:p>
            <a:pPr marL="342900" indent="-342900" algn="l" rtl="0">
              <a:buFont typeface="Arial" panose="020B0604020202020204" pitchFamily="34" charset="0"/>
              <a:buChar char="•"/>
            </a:pPr>
            <a:r>
              <a:rPr lang="fr-FR" sz="1400" dirty="0">
                <a:solidFill>
                  <a:srgbClr val="000000"/>
                </a:solidFill>
              </a:rPr>
              <a:t>La figure indique le nombre de sous-réseaux qui peuvent être créés si l'on emprunte des bits au deuxième et au troisième octets. </a:t>
            </a:r>
          </a:p>
          <a:p>
            <a:pPr marL="342900" indent="-342900" algn="l" rtl="0">
              <a:buFont typeface="Arial" panose="020B0604020202020204" pitchFamily="34" charset="0"/>
              <a:buChar char="•"/>
            </a:pPr>
            <a:r>
              <a:rPr lang="fr-FR" sz="1400" dirty="0">
                <a:solidFill>
                  <a:srgbClr val="000000"/>
                </a:solidFill>
              </a:rPr>
              <a:t>Notez qu'il y a maintenant jusqu'à 22 bits hôtes qui peuvent être empruntés (c'est-à-dire que les deux derniers bits ne peuvent pas être empruntés).</a:t>
            </a:r>
          </a:p>
          <a:p>
            <a:pPr marL="342900" indent="-342900" algn="l">
              <a:buFont typeface="Arial" panose="020B0604020202020204" pitchFamily="34" charset="0"/>
              <a:buChar char="•"/>
            </a:pPr>
            <a:endParaRPr lang="en-CA" sz="1600" dirty="0">
              <a:solidFill>
                <a:srgbClr val="000000"/>
              </a:solidFill>
            </a:endParaRPr>
          </a:p>
          <a:p>
            <a:pPr marL="0" indent="0" algn="l" rtl="0"/>
            <a:r>
              <a:rPr lang="fr-FR" sz="1600" dirty="0">
                <a:solidFill>
                  <a:srgbClr val="000000"/>
                </a:solidFill>
              </a:rPr>
              <a:t>Pour obtenir les 1000 sous-réseaux nécessaires à l'entreprise, il faudrait emprunter 10 bits (c'est-à-dire 2</a:t>
            </a:r>
            <a:r>
              <a:rPr lang="fr-FR" sz="1600" baseline="30000" dirty="0">
                <a:solidFill>
                  <a:srgbClr val="000000"/>
                </a:solidFill>
              </a:rPr>
              <a:t>10</a:t>
            </a:r>
            <a:r>
              <a:rPr lang="fr-FR" sz="1600" dirty="0">
                <a:solidFill>
                  <a:srgbClr val="000000"/>
                </a:solidFill>
              </a:rPr>
              <a:t>= 1024 sous-réseaux) (pour un total de 128 sous-réseaux).</a:t>
            </a:r>
          </a:p>
        </p:txBody>
      </p:sp>
      <p:pic>
        <p:nvPicPr>
          <p:cNvPr id="6" name="Picture 5">
            <a:extLst>
              <a:ext uri="{FF2B5EF4-FFF2-40B4-BE49-F238E27FC236}">
                <a16:creationId xmlns:a16="http://schemas.microsoft.com/office/drawing/2014/main" xmlns:c15="http://schemas.microsoft.com/office/drawing/2012/chart" xmlns:c="http://schemas.openxmlformats.org/drawingml/2006/chart" xmlns="" id="{750D50AE-022A-4CE2-A161-C94FE631C328}"/>
              </a:ext>
            </a:extLst>
          </p:cNvPr>
          <p:cNvPicPr>
            <a:picLocks noChangeAspect="1"/>
          </p:cNvPicPr>
          <p:nvPr/>
        </p:nvPicPr>
        <p:blipFill>
          <a:blip r:embed="rId3"/>
          <a:stretch>
            <a:fillRect/>
          </a:stretch>
        </p:blipFill>
        <p:spPr>
          <a:xfrm>
            <a:off x="5399726" y="1244562"/>
            <a:ext cx="3648229" cy="2424738"/>
          </a:xfrm>
          <a:prstGeom prst="rect">
            <a:avLst/>
          </a:prstGeom>
        </p:spPr>
      </p:pic>
    </p:spTree>
    <p:extLst>
      <p:ext uri="{BB962C8B-B14F-4D97-AF65-F5344CB8AC3E}">
        <p14:creationId xmlns:p14="http://schemas.microsoft.com/office/powerpoint/2010/main" val="57086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333214"/>
            <a:ext cx="8345488" cy="731837"/>
          </a:xfrm>
        </p:spPr>
        <p:txBody>
          <a:bodyPr/>
          <a:lstStyle/>
          <a:p>
            <a:pPr rtl="0"/>
            <a:r>
              <a:rPr lang="fr-FR" sz="1600" dirty="0"/>
              <a:t>Création de sous-réseaux avec le préfixe /16 et /8</a:t>
            </a:r>
            <a:r>
              <a:rPr lang="en-US" dirty="0"/>
              <a:t/>
            </a:r>
            <a:br>
              <a:rPr lang="en-US" dirty="0"/>
            </a:br>
            <a:r>
              <a:rPr lang="fr-FR" sz="2400" dirty="0"/>
              <a:t>Démonstration vidéo - Segmentation en sous-réseaux sur plusieurs octets</a:t>
            </a:r>
          </a:p>
        </p:txBody>
      </p:sp>
      <p:sp>
        <p:nvSpPr>
          <p:cNvPr id="7" name="Content Placeholder 3">
            <a:extLst>
              <a:ext uri="{FF2B5EF4-FFF2-40B4-BE49-F238E27FC236}">
                <a16:creationId xmlns:a16="http://schemas.microsoft.com/office/drawing/2014/main" xmlns:c15="http://schemas.microsoft.com/office/drawing/2012/chart" xmlns:c="http://schemas.openxmlformats.org/drawingml/2006/chart" xmlns="" id="{8F956245-A45E-4456-B4A9-43F254AE2811}"/>
              </a:ext>
            </a:extLst>
          </p:cNvPr>
          <p:cNvSpPr txBox="1">
            <a:spLocks/>
          </p:cNvSpPr>
          <p:nvPr/>
        </p:nvSpPr>
        <p:spPr>
          <a:xfrm>
            <a:off x="431971" y="1126639"/>
            <a:ext cx="8345488"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fr-FR" sz="1600" dirty="0">
                <a:solidFill>
                  <a:srgbClr val="000000"/>
                </a:solidFill>
              </a:rPr>
              <a:t>Cette vidéo présentera la création de sous-réseaux sur plusieurs octets.</a:t>
            </a:r>
          </a:p>
        </p:txBody>
      </p:sp>
    </p:spTree>
    <p:extLst>
      <p:ext uri="{BB962C8B-B14F-4D97-AF65-F5344CB8AC3E}">
        <p14:creationId xmlns:p14="http://schemas.microsoft.com/office/powerpoint/2010/main" val="3742440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255722"/>
            <a:ext cx="8345488" cy="731837"/>
          </a:xfrm>
        </p:spPr>
        <p:txBody>
          <a:bodyPr/>
          <a:lstStyle/>
          <a:p>
            <a:pPr rtl="0"/>
            <a:r>
              <a:rPr lang="fr-FR" sz="1600" dirty="0"/>
              <a:t>Création de sous-réseaux avec le préfixe /16 et /8</a:t>
            </a:r>
            <a:r>
              <a:rPr lang="en-US" dirty="0"/>
              <a:t/>
            </a:r>
            <a:br>
              <a:rPr lang="en-US" dirty="0"/>
            </a:br>
            <a:r>
              <a:rPr lang="fr-FR" sz="2400" dirty="0"/>
              <a:t>Travaux pratiques - Formules de calcul des sous-réseaux IPv4</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1289371"/>
            <a:ext cx="8280057" cy="3073946"/>
          </a:xfrm>
        </p:spPr>
        <p:txBody>
          <a:bodyPr/>
          <a:lstStyle/>
          <a:p>
            <a:pPr marL="0" indent="0" algn="l" rtl="0"/>
            <a:r>
              <a:rPr lang="fr-FR" sz="1600" dirty="0">
                <a:solidFill>
                  <a:srgbClr val="000000"/>
                </a:solidFill>
              </a:rPr>
              <a:t>Au cours de ce travaux pratiques, vous réaliserez les objectifs suivants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dirty="0">
                <a:solidFill>
                  <a:srgbClr val="000000"/>
                </a:solidFill>
              </a:rPr>
              <a:t>Partie 1: Déterminer le sous-réseau d'adresses IPv4</a:t>
            </a:r>
          </a:p>
          <a:p>
            <a:pPr marL="342900" indent="-342900" algn="l" rtl="0">
              <a:buFont typeface="Arial" panose="020B0604020202020204" pitchFamily="34" charset="0"/>
              <a:buChar char="•"/>
            </a:pPr>
            <a:r>
              <a:rPr lang="fr-FR" sz="1600" dirty="0">
                <a:solidFill>
                  <a:srgbClr val="000000"/>
                </a:solidFill>
              </a:rPr>
              <a:t>Partie 2: Calculer le sous-réseau d'adresses IPv4</a:t>
            </a:r>
          </a:p>
        </p:txBody>
      </p:sp>
    </p:spTree>
    <p:extLst>
      <p:ext uri="{BB962C8B-B14F-4D97-AF65-F5344CB8AC3E}">
        <p14:creationId xmlns:p14="http://schemas.microsoft.com/office/powerpoint/2010/main" val="349735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11.7 Segmentation du réseau selon ses besoins</a:t>
            </a:r>
          </a:p>
        </p:txBody>
      </p:sp>
    </p:spTree>
    <p:custDataLst>
      <p:tags r:id="rId1"/>
    </p:custDataLst>
    <p:extLst>
      <p:ext uri="{BB962C8B-B14F-4D97-AF65-F5344CB8AC3E}">
        <p14:creationId xmlns:p14="http://schemas.microsoft.com/office/powerpoint/2010/main" val="1599129250"/>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0"/>
            <a:ext cx="8345488" cy="731837"/>
          </a:xfrm>
        </p:spPr>
        <p:txBody>
          <a:bodyPr/>
          <a:lstStyle/>
          <a:p>
            <a:pPr rtl="0"/>
            <a:r>
              <a:rPr lang="fr-FR" sz="1600"/>
              <a:t>Sous-réseau pour répondre aux exigences</a:t>
            </a:r>
            <a:r>
              <a:rPr lang="en-US" dirty="0"/>
              <a:t/>
            </a:r>
            <a:br>
              <a:rPr lang="en-US" dirty="0"/>
            </a:br>
            <a:r>
              <a:rPr lang="fr-FR" sz="2400"/>
              <a:t>Sous-réseau privé et espace d'adressage IPv4 public</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4985849" cy="3073946"/>
          </a:xfrm>
        </p:spPr>
        <p:txBody>
          <a:bodyPr/>
          <a:lstStyle/>
          <a:p>
            <a:pPr marL="0" indent="0" algn="l" rtl="0"/>
            <a:r>
              <a:rPr lang="fr-FR" sz="1600">
                <a:solidFill>
                  <a:srgbClr val="000000"/>
                </a:solidFill>
              </a:rPr>
              <a:t>Réseaux d'entreprises ont:</a:t>
            </a:r>
          </a:p>
          <a:p>
            <a:pPr marL="342900" indent="-342900" algn="l" rtl="0">
              <a:buFont typeface="Arial" panose="020B0604020202020204" pitchFamily="34" charset="0"/>
              <a:buChar char="•"/>
            </a:pPr>
            <a:r>
              <a:rPr lang="fr-FR" sz="1600">
                <a:solidFill>
                  <a:srgbClr val="000000"/>
                </a:solidFill>
              </a:rPr>
              <a:t>Intranet - Réseau interne d'une entreprise utilise généralement des adresses IPv4 privées.</a:t>
            </a:r>
          </a:p>
          <a:p>
            <a:pPr marL="342900" indent="-342900" algn="l" rtl="0">
              <a:buFont typeface="Arial" panose="020B0604020202020204" pitchFamily="34" charset="0"/>
              <a:buChar char="•"/>
            </a:pPr>
            <a:r>
              <a:rPr lang="fr-FR" sz="1600">
                <a:solidFill>
                  <a:srgbClr val="000000"/>
                </a:solidFill>
              </a:rPr>
              <a:t>DMZ — Une entreprise internet face aux serveurs. Les périphériques de la DMZ utilisent des adresses IPv4 publiques.</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a:solidFill>
                  <a:srgbClr val="000000"/>
                </a:solidFill>
              </a:rPr>
              <a:t>Une entreprise pourrait utiliser le 10.0.0.0/8 et le sous-réseau sur la limite du réseau /16 ou /24.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a:solidFill>
                  <a:srgbClr val="000000"/>
                </a:solidFill>
              </a:rPr>
              <a:t>Les périphériques DMZ devraient être configurés avec des adresses IP publiques.</a:t>
            </a: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32D669F9-6546-4D50-B5D4-ED794ADFFF31}"/>
              </a:ext>
            </a:extLst>
          </p:cNvPr>
          <p:cNvPicPr>
            <a:picLocks noChangeAspect="1"/>
          </p:cNvPicPr>
          <p:nvPr/>
        </p:nvPicPr>
        <p:blipFill>
          <a:blip r:embed="rId3"/>
          <a:stretch>
            <a:fillRect/>
          </a:stretch>
        </p:blipFill>
        <p:spPr>
          <a:xfrm>
            <a:off x="5374134" y="1118336"/>
            <a:ext cx="3581835" cy="2392363"/>
          </a:xfrm>
          <a:prstGeom prst="rect">
            <a:avLst/>
          </a:prstGeom>
        </p:spPr>
      </p:pic>
    </p:spTree>
    <p:extLst>
      <p:ext uri="{BB962C8B-B14F-4D97-AF65-F5344CB8AC3E}">
        <p14:creationId xmlns:p14="http://schemas.microsoft.com/office/powerpoint/2010/main" val="180448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0"/>
            <a:ext cx="8345488" cy="731837"/>
          </a:xfrm>
        </p:spPr>
        <p:txBody>
          <a:bodyPr/>
          <a:lstStyle/>
          <a:p>
            <a:pPr rtl="0"/>
            <a:r>
              <a:rPr lang="fr-FR" sz="1600"/>
              <a:t>Segmentation du réseau selon ses besoins</a:t>
            </a:r>
            <a:r>
              <a:rPr lang="en-US" dirty="0"/>
              <a:t/>
            </a:r>
            <a:br>
              <a:rPr lang="en-US" dirty="0"/>
            </a:br>
            <a:r>
              <a:rPr lang="fr-FR" sz="2000"/>
              <a:t>Réduire les adresses IPv4 de l'hôte inutilisées et maximiser les sous-réseaux</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8280057" cy="973381"/>
          </a:xfrm>
        </p:spPr>
        <p:txBody>
          <a:bodyPr/>
          <a:lstStyle/>
          <a:p>
            <a:pPr marL="0" indent="0" algn="l" rtl="0"/>
            <a:r>
              <a:rPr lang="fr-FR" sz="1600" dirty="0">
                <a:solidFill>
                  <a:srgbClr val="000000"/>
                </a:solidFill>
              </a:rPr>
              <a:t>Deux considérations sont à prendre en compte lors de la planification de sous-réseaux: </a:t>
            </a:r>
          </a:p>
          <a:p>
            <a:pPr marL="342900" indent="-342900" algn="l" rtl="0">
              <a:buFont typeface="Arial" panose="020B0604020202020204" pitchFamily="34" charset="0"/>
              <a:buChar char="•"/>
            </a:pPr>
            <a:r>
              <a:rPr lang="fr-FR" sz="1600" dirty="0">
                <a:solidFill>
                  <a:srgbClr val="000000"/>
                </a:solidFill>
              </a:rPr>
              <a:t>Le nombre d'adresses d'hôte nécessaires pour chaque réseau. </a:t>
            </a:r>
          </a:p>
          <a:p>
            <a:pPr marL="342900" indent="-342900" algn="l" rtl="0">
              <a:buFont typeface="Arial" panose="020B0604020202020204" pitchFamily="34" charset="0"/>
              <a:buChar char="•"/>
            </a:pPr>
            <a:r>
              <a:rPr lang="fr-FR" sz="1600" dirty="0">
                <a:solidFill>
                  <a:srgbClr val="000000"/>
                </a:solidFill>
              </a:rPr>
              <a:t>Le nombre de sous-réseaux nécessaires.</a:t>
            </a:r>
          </a:p>
          <a:p>
            <a:pPr marL="342900" indent="-342900" algn="l">
              <a:buFont typeface="Arial" panose="020B0604020202020204" pitchFamily="34" charset="0"/>
              <a:buChar char="•"/>
            </a:pPr>
            <a:endParaRPr lang="en-US" sz="1600" dirty="0">
              <a:solidFill>
                <a:srgbClr val="000000"/>
              </a:solidFill>
            </a:endParaRPr>
          </a:p>
        </p:txBody>
      </p:sp>
      <p:graphicFrame>
        <p:nvGraphicFramePr>
          <p:cNvPr id="6" name="Table 5">
            <a:extLst>
              <a:ext uri="{FF2B5EF4-FFF2-40B4-BE49-F238E27FC236}">
                <a16:creationId xmlns:a16="http://schemas.microsoft.com/office/drawing/2014/main" xmlns:c15="http://schemas.microsoft.com/office/drawing/2012/chart" xmlns:c="http://schemas.openxmlformats.org/drawingml/2006/chart" xmlns="" id="{2FCC84FF-7C82-4B7C-A9C2-37AE1AC6A2DC}"/>
              </a:ext>
            </a:extLst>
          </p:cNvPr>
          <p:cNvGraphicFramePr>
            <a:graphicFrameLocks noGrp="1"/>
          </p:cNvGraphicFramePr>
          <p:nvPr>
            <p:extLst>
              <p:ext uri="{D42A27DB-BD31-4B8C-83A1-F6EECF244321}">
                <p14:modId xmlns:p14="http://schemas.microsoft.com/office/powerpoint/2010/main" val="2337995539"/>
              </p:ext>
            </p:extLst>
          </p:nvPr>
        </p:nvGraphicFramePr>
        <p:xfrm>
          <a:off x="1207770" y="1851281"/>
          <a:ext cx="7510027" cy="2657191"/>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xmlns:c15="http://schemas.microsoft.com/office/drawing/2012/chart" xmlns:c="http://schemas.openxmlformats.org/drawingml/2006/chart" xmlns="" val="3173678455"/>
                    </a:ext>
                  </a:extLst>
                </a:gridCol>
                <a:gridCol w="1203960">
                  <a:extLst>
                    <a:ext uri="{9D8B030D-6E8A-4147-A177-3AD203B41FA5}">
                      <a16:colId xmlns:a16="http://schemas.microsoft.com/office/drawing/2014/main" xmlns:c15="http://schemas.microsoft.com/office/drawing/2012/chart" xmlns:c="http://schemas.openxmlformats.org/drawingml/2006/chart" xmlns="" val="1538934761"/>
                    </a:ext>
                  </a:extLst>
                </a:gridCol>
                <a:gridCol w="3092530">
                  <a:extLst>
                    <a:ext uri="{9D8B030D-6E8A-4147-A177-3AD203B41FA5}">
                      <a16:colId xmlns:a16="http://schemas.microsoft.com/office/drawing/2014/main" xmlns:c15="http://schemas.microsoft.com/office/drawing/2012/chart" xmlns:c="http://schemas.openxmlformats.org/drawingml/2006/chart" xmlns="" val="1045760004"/>
                    </a:ext>
                  </a:extLst>
                </a:gridCol>
                <a:gridCol w="1222780">
                  <a:extLst>
                    <a:ext uri="{9D8B030D-6E8A-4147-A177-3AD203B41FA5}">
                      <a16:colId xmlns:a16="http://schemas.microsoft.com/office/drawing/2014/main" xmlns:c15="http://schemas.microsoft.com/office/drawing/2012/chart" xmlns:c="http://schemas.openxmlformats.org/drawingml/2006/chart" xmlns="" val="2485496051"/>
                    </a:ext>
                  </a:extLst>
                </a:gridCol>
                <a:gridCol w="1030637">
                  <a:extLst>
                    <a:ext uri="{9D8B030D-6E8A-4147-A177-3AD203B41FA5}">
                      <a16:colId xmlns:a16="http://schemas.microsoft.com/office/drawing/2014/main" xmlns:c15="http://schemas.microsoft.com/office/drawing/2012/chart" xmlns:c="http://schemas.openxmlformats.org/drawingml/2006/chart" xmlns="" val="660007875"/>
                    </a:ext>
                  </a:extLst>
                </a:gridCol>
              </a:tblGrid>
              <a:tr h="432151">
                <a:tc>
                  <a:txBody>
                    <a:bodyPr/>
                    <a:lstStyle/>
                    <a:p>
                      <a:pPr algn="l" rtl="0" fontAlgn="ctr"/>
                      <a:r>
                        <a:rPr lang="fr-FR" sz="1000" b="1" dirty="0">
                          <a:effectLst/>
                        </a:rPr>
                        <a:t>Longueur de préfixe</a:t>
                      </a:r>
                    </a:p>
                  </a:txBody>
                  <a:tcPr marL="31750" marR="31750" marT="31750" marB="31750" anchor="ctr"/>
                </a:tc>
                <a:tc>
                  <a:txBody>
                    <a:bodyPr/>
                    <a:lstStyle/>
                    <a:p>
                      <a:pPr algn="l" rtl="0" fontAlgn="ctr"/>
                      <a:r>
                        <a:rPr lang="fr-FR" sz="1000" b="1">
                          <a:effectLst/>
                        </a:rPr>
                        <a:t>Masque de sous-réseau</a:t>
                      </a:r>
                    </a:p>
                  </a:txBody>
                  <a:tcPr marL="31750" marR="31750" marT="31750" marB="31750" anchor="ctr"/>
                </a:tc>
                <a:tc>
                  <a:txBody>
                    <a:bodyPr/>
                    <a:lstStyle/>
                    <a:p>
                      <a:pPr algn="l" rtl="0" fontAlgn="ctr"/>
                      <a:r>
                        <a:rPr lang="fr-FR" sz="1000" b="1" dirty="0">
                          <a:effectLst/>
                        </a:rPr>
                        <a:t>Masque de sous-réseau (binaire)</a:t>
                      </a:r>
                      <a:r>
                        <a:rPr lang="en-CA" sz="1000" b="1" dirty="0">
                          <a:effectLst/>
                        </a:rPr>
                        <a:t/>
                      </a:r>
                      <a:br>
                        <a:rPr lang="en-CA" sz="1000" b="1" dirty="0">
                          <a:effectLst/>
                        </a:rPr>
                      </a:br>
                      <a:r>
                        <a:rPr lang="fr-FR" sz="1000" b="1" dirty="0">
                          <a:effectLst/>
                        </a:rPr>
                        <a:t>(n = réseau, h = hôte)</a:t>
                      </a:r>
                    </a:p>
                  </a:txBody>
                  <a:tcPr marL="31750" marR="31750" marT="31750" marB="31750" anchor="ctr"/>
                </a:tc>
                <a:tc>
                  <a:txBody>
                    <a:bodyPr/>
                    <a:lstStyle/>
                    <a:p>
                      <a:pPr algn="l" rtl="0" fontAlgn="ctr"/>
                      <a:r>
                        <a:rPr lang="fr-FR" sz="1000" b="1">
                          <a:effectLst/>
                        </a:rPr>
                        <a:t>Nombre de sous-réseaux</a:t>
                      </a:r>
                    </a:p>
                  </a:txBody>
                  <a:tcPr marL="31750" marR="31750" marT="31750" marB="31750" anchor="ctr"/>
                </a:tc>
                <a:tc>
                  <a:txBody>
                    <a:bodyPr/>
                    <a:lstStyle/>
                    <a:p>
                      <a:pPr algn="l" rtl="0" fontAlgn="ctr"/>
                      <a:r>
                        <a:rPr lang="fr-FR" sz="1000" b="1">
                          <a:effectLst/>
                        </a:rPr>
                        <a:t>Nombre d'hôtes</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275849055"/>
                  </a:ext>
                </a:extLst>
              </a:tr>
              <a:tr h="370840">
                <a:tc>
                  <a:txBody>
                    <a:bodyPr/>
                    <a:lstStyle/>
                    <a:p>
                      <a:pPr rtl="0" fontAlgn="ctr"/>
                      <a:r>
                        <a:rPr lang="fr-FR" sz="1000" b="0">
                          <a:effectLst/>
                        </a:rPr>
                        <a:t>/25</a:t>
                      </a:r>
                    </a:p>
                  </a:txBody>
                  <a:tcPr marL="31750" marR="31750" marT="31750" marB="31750" anchor="ctr"/>
                </a:tc>
                <a:tc>
                  <a:txBody>
                    <a:bodyPr/>
                    <a:lstStyle/>
                    <a:p>
                      <a:pPr rtl="0" fontAlgn="ctr"/>
                      <a:r>
                        <a:rPr lang="fr-FR" sz="1000" b="0">
                          <a:effectLst/>
                        </a:rPr>
                        <a:t>255.255.255.128</a:t>
                      </a:r>
                    </a:p>
                  </a:txBody>
                  <a:tcPr marL="31750" marR="31750" marT="31750" marB="31750" anchor="ctr"/>
                </a:tc>
                <a:tc>
                  <a:txBody>
                    <a:bodyPr/>
                    <a:lstStyle/>
                    <a:p>
                      <a:pPr rtl="0" fontAlgn="ctr"/>
                      <a:r>
                        <a:rPr lang="fr-FR" sz="1000" b="0">
                          <a:effectLst/>
                          <a:latin typeface="Courier New" panose="02070309020205020404" pitchFamily="49" charset="0"/>
                          <a:cs typeface="Courier New" panose="02070309020205020404" pitchFamily="49" charset="0"/>
                        </a:rPr>
                        <a:t>nnnnnnnn.nnnnnnnn.nnnnnnnn.</a:t>
                      </a:r>
                      <a:r>
                        <a:rPr lang="fr-FR" sz="1000" b="1">
                          <a:effectLst/>
                          <a:latin typeface="Courier New" panose="02070309020205020404" pitchFamily="49" charset="0"/>
                          <a:cs typeface="Courier New" panose="02070309020205020404" pitchFamily="49" charset="0"/>
                        </a:rPr>
                        <a:t>n</a:t>
                      </a:r>
                      <a:r>
                        <a:rPr lang="fr-FR" sz="1000" b="0">
                          <a:effectLst/>
                          <a:latin typeface="Courier New" panose="02070309020205020404" pitchFamily="49" charset="0"/>
                          <a:cs typeface="Courier New" panose="02070309020205020404" pitchFamily="49" charset="0"/>
                        </a:rPr>
                        <a:t>hhhhhhh</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11111111.11111111.11111111.</a:t>
                      </a:r>
                      <a:r>
                        <a:rPr lang="fr-FR" sz="1000" b="1">
                          <a:effectLst/>
                          <a:latin typeface="Courier New" panose="02070309020205020404" pitchFamily="49" charset="0"/>
                          <a:cs typeface="Courier New" panose="02070309020205020404" pitchFamily="49" charset="0"/>
                        </a:rPr>
                        <a:t>1</a:t>
                      </a:r>
                      <a:r>
                        <a:rPr lang="fr-FR" sz="1000" b="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rtl="0" fontAlgn="ctr"/>
                      <a:r>
                        <a:rPr lang="fr-FR" sz="1000" b="1">
                          <a:effectLst/>
                        </a:rPr>
                        <a:t>2</a:t>
                      </a:r>
                    </a:p>
                  </a:txBody>
                  <a:tcPr marL="31750" marR="31750" marT="31750" marB="31750" anchor="ctr"/>
                </a:tc>
                <a:tc>
                  <a:txBody>
                    <a:bodyPr/>
                    <a:lstStyle/>
                    <a:p>
                      <a:pPr rtl="0" fontAlgn="ctr"/>
                      <a:r>
                        <a:rPr lang="fr-FR" sz="1000" b="0">
                          <a:effectLst/>
                        </a:rPr>
                        <a:t>126</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601271128"/>
                  </a:ext>
                </a:extLst>
              </a:tr>
              <a:tr h="370840">
                <a:tc>
                  <a:txBody>
                    <a:bodyPr/>
                    <a:lstStyle/>
                    <a:p>
                      <a:pPr rtl="0" fontAlgn="ctr"/>
                      <a:r>
                        <a:rPr lang="fr-FR" sz="1000" b="0">
                          <a:effectLst/>
                        </a:rPr>
                        <a:t>/26</a:t>
                      </a:r>
                    </a:p>
                  </a:txBody>
                  <a:tcPr marL="31750" marR="31750" marT="31750" marB="31750" anchor="ctr"/>
                </a:tc>
                <a:tc>
                  <a:txBody>
                    <a:bodyPr/>
                    <a:lstStyle/>
                    <a:p>
                      <a:pPr rtl="0" fontAlgn="ctr"/>
                      <a:r>
                        <a:rPr lang="fr-FR" sz="1000" b="0">
                          <a:effectLst/>
                        </a:rPr>
                        <a:t>255.255.255.192</a:t>
                      </a:r>
                    </a:p>
                  </a:txBody>
                  <a:tcPr marL="31750" marR="31750" marT="31750" marB="31750" anchor="ctr"/>
                </a:tc>
                <a:tc>
                  <a:txBody>
                    <a:bodyPr/>
                    <a:lstStyle/>
                    <a:p>
                      <a:pPr rtl="0" fontAlgn="ctr"/>
                      <a:r>
                        <a:rPr lang="fr-FR" sz="1000" b="0">
                          <a:effectLst/>
                          <a:latin typeface="Courier New" panose="02070309020205020404" pitchFamily="49" charset="0"/>
                          <a:cs typeface="Courier New" panose="02070309020205020404" pitchFamily="49" charset="0"/>
                        </a:rPr>
                        <a:t>nnnnnnnn.nnnnnnnn.nnnnnnnn.</a:t>
                      </a:r>
                      <a:r>
                        <a:rPr lang="fr-FR" sz="1000" b="1">
                          <a:effectLst/>
                          <a:latin typeface="Courier New" panose="02070309020205020404" pitchFamily="49" charset="0"/>
                          <a:cs typeface="Courier New" panose="02070309020205020404" pitchFamily="49" charset="0"/>
                        </a:rPr>
                        <a:t>nn</a:t>
                      </a:r>
                      <a:r>
                        <a:rPr lang="fr-FR" sz="1000" b="0">
                          <a:effectLst/>
                          <a:latin typeface="Courier New" panose="02070309020205020404" pitchFamily="49" charset="0"/>
                          <a:cs typeface="Courier New" panose="02070309020205020404" pitchFamily="49" charset="0"/>
                        </a:rPr>
                        <a:t>hhhhhh</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11111111.11111111.11111111.</a:t>
                      </a:r>
                      <a:r>
                        <a:rPr lang="fr-FR" sz="1000" b="1">
                          <a:effectLst/>
                          <a:latin typeface="Courier New" panose="02070309020205020404" pitchFamily="49" charset="0"/>
                          <a:cs typeface="Courier New" panose="02070309020205020404" pitchFamily="49" charset="0"/>
                        </a:rPr>
                        <a:t>11</a:t>
                      </a:r>
                      <a:r>
                        <a:rPr lang="fr-FR" sz="1000" b="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rtl="0" fontAlgn="ctr"/>
                      <a:r>
                        <a:rPr lang="fr-FR" sz="1000" b="1">
                          <a:effectLst/>
                        </a:rPr>
                        <a:t>4</a:t>
                      </a:r>
                    </a:p>
                  </a:txBody>
                  <a:tcPr marL="31750" marR="31750" marT="31750" marB="31750" anchor="ctr"/>
                </a:tc>
                <a:tc>
                  <a:txBody>
                    <a:bodyPr/>
                    <a:lstStyle/>
                    <a:p>
                      <a:pPr rtl="0" fontAlgn="ctr"/>
                      <a:r>
                        <a:rPr lang="fr-FR" sz="1000" b="0">
                          <a:effectLst/>
                        </a:rPr>
                        <a:t>62</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999121572"/>
                  </a:ext>
                </a:extLst>
              </a:tr>
              <a:tr h="370840">
                <a:tc>
                  <a:txBody>
                    <a:bodyPr/>
                    <a:lstStyle/>
                    <a:p>
                      <a:pPr rtl="0" fontAlgn="ctr"/>
                      <a:r>
                        <a:rPr lang="fr-FR" sz="1000" b="0">
                          <a:effectLst/>
                        </a:rPr>
                        <a:t>/27</a:t>
                      </a:r>
                    </a:p>
                  </a:txBody>
                  <a:tcPr marL="31750" marR="31750" marT="31750" marB="31750" anchor="ctr"/>
                </a:tc>
                <a:tc>
                  <a:txBody>
                    <a:bodyPr/>
                    <a:lstStyle/>
                    <a:p>
                      <a:pPr rtl="0" fontAlgn="ctr"/>
                      <a:r>
                        <a:rPr lang="fr-FR" sz="1000" b="0">
                          <a:effectLst/>
                        </a:rPr>
                        <a:t>255.255.255.224</a:t>
                      </a:r>
                    </a:p>
                  </a:txBody>
                  <a:tcPr marL="31750" marR="31750" marT="31750" marB="31750" anchor="ctr"/>
                </a:tc>
                <a:tc>
                  <a:txBody>
                    <a:bodyPr/>
                    <a:lstStyle/>
                    <a:p>
                      <a:pPr rtl="0" fontAlgn="ctr"/>
                      <a:r>
                        <a:rPr lang="fr-FR" sz="1000" b="0">
                          <a:effectLst/>
                          <a:latin typeface="Courier New" panose="02070309020205020404" pitchFamily="49" charset="0"/>
                          <a:cs typeface="Courier New" panose="02070309020205020404" pitchFamily="49" charset="0"/>
                        </a:rPr>
                        <a:t>nnnnnnnn.nnnnnnnn.nnnnnnnn.</a:t>
                      </a:r>
                      <a:r>
                        <a:rPr lang="fr-FR" sz="1000" b="1">
                          <a:effectLst/>
                          <a:latin typeface="Courier New" panose="02070309020205020404" pitchFamily="49" charset="0"/>
                          <a:cs typeface="Courier New" panose="02070309020205020404" pitchFamily="49" charset="0"/>
                        </a:rPr>
                        <a:t>nnn</a:t>
                      </a:r>
                      <a:r>
                        <a:rPr lang="fr-FR" sz="1000" b="0">
                          <a:effectLst/>
                          <a:latin typeface="Courier New" panose="02070309020205020404" pitchFamily="49" charset="0"/>
                          <a:cs typeface="Courier New" panose="02070309020205020404" pitchFamily="49" charset="0"/>
                        </a:rPr>
                        <a:t>hhhhh</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11111111.11111111.11111111.</a:t>
                      </a:r>
                      <a:r>
                        <a:rPr lang="fr-FR" sz="1000" b="1">
                          <a:effectLst/>
                          <a:latin typeface="Courier New" panose="02070309020205020404" pitchFamily="49" charset="0"/>
                          <a:cs typeface="Courier New" panose="02070309020205020404" pitchFamily="49" charset="0"/>
                        </a:rPr>
                        <a:t>111</a:t>
                      </a:r>
                      <a:r>
                        <a:rPr lang="fr-FR" sz="1000" b="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rtl="0" fontAlgn="ctr"/>
                      <a:r>
                        <a:rPr lang="fr-FR" sz="1000" b="1">
                          <a:effectLst/>
                        </a:rPr>
                        <a:t>8</a:t>
                      </a:r>
                    </a:p>
                  </a:txBody>
                  <a:tcPr marL="31750" marR="31750" marT="31750" marB="31750" anchor="ctr"/>
                </a:tc>
                <a:tc>
                  <a:txBody>
                    <a:bodyPr/>
                    <a:lstStyle/>
                    <a:p>
                      <a:pPr rtl="0" fontAlgn="ctr"/>
                      <a:r>
                        <a:rPr lang="fr-FR" sz="1000" b="0">
                          <a:effectLst/>
                        </a:rPr>
                        <a:t>30</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346473952"/>
                  </a:ext>
                </a:extLst>
              </a:tr>
              <a:tr h="370840">
                <a:tc>
                  <a:txBody>
                    <a:bodyPr/>
                    <a:lstStyle/>
                    <a:p>
                      <a:pPr rtl="0" fontAlgn="ctr"/>
                      <a:r>
                        <a:rPr lang="fr-FR" sz="1000" b="0">
                          <a:effectLst/>
                        </a:rPr>
                        <a:t>/28</a:t>
                      </a:r>
                    </a:p>
                  </a:txBody>
                  <a:tcPr marL="31750" marR="31750" marT="31750" marB="31750" anchor="ctr"/>
                </a:tc>
                <a:tc>
                  <a:txBody>
                    <a:bodyPr/>
                    <a:lstStyle/>
                    <a:p>
                      <a:pPr rtl="0" fontAlgn="ctr"/>
                      <a:r>
                        <a:rPr lang="fr-FR" sz="1000" b="0">
                          <a:effectLst/>
                        </a:rPr>
                        <a:t>255.255.255.240</a:t>
                      </a:r>
                    </a:p>
                  </a:txBody>
                  <a:tcPr marL="31750" marR="31750" marT="31750" marB="31750" anchor="ctr"/>
                </a:tc>
                <a:tc>
                  <a:txBody>
                    <a:bodyPr/>
                    <a:lstStyle/>
                    <a:p>
                      <a:pPr rtl="0" fontAlgn="ctr"/>
                      <a:r>
                        <a:rPr lang="fr-FR" sz="1000" b="0">
                          <a:effectLst/>
                          <a:latin typeface="Courier New" panose="02070309020205020404" pitchFamily="49" charset="0"/>
                          <a:cs typeface="Courier New" panose="02070309020205020404" pitchFamily="49" charset="0"/>
                        </a:rPr>
                        <a:t>nnnnnnnn.nnnnnnnn.nnnnnnnn.</a:t>
                      </a:r>
                      <a:r>
                        <a:rPr lang="fr-FR" sz="1000" b="1">
                          <a:effectLst/>
                          <a:latin typeface="Courier New" panose="02070309020205020404" pitchFamily="49" charset="0"/>
                          <a:cs typeface="Courier New" panose="02070309020205020404" pitchFamily="49" charset="0"/>
                        </a:rPr>
                        <a:t>nnnn</a:t>
                      </a:r>
                      <a:r>
                        <a:rPr lang="fr-FR" sz="1000" b="0">
                          <a:effectLst/>
                          <a:latin typeface="Courier New" panose="02070309020205020404" pitchFamily="49" charset="0"/>
                          <a:cs typeface="Courier New" panose="02070309020205020404" pitchFamily="49" charset="0"/>
                        </a:rPr>
                        <a:t>hhhh</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11111111.11111111.11111111.</a:t>
                      </a:r>
                      <a:r>
                        <a:rPr lang="fr-FR" sz="1000" b="1">
                          <a:effectLst/>
                          <a:latin typeface="Courier New" panose="02070309020205020404" pitchFamily="49" charset="0"/>
                          <a:cs typeface="Courier New" panose="02070309020205020404" pitchFamily="49" charset="0"/>
                        </a:rPr>
                        <a:t>1111</a:t>
                      </a:r>
                      <a:r>
                        <a:rPr lang="fr-FR" sz="1000" b="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rtl="0" fontAlgn="ctr"/>
                      <a:r>
                        <a:rPr lang="fr-FR" sz="1000" b="1">
                          <a:effectLst/>
                        </a:rPr>
                        <a:t>16</a:t>
                      </a:r>
                    </a:p>
                  </a:txBody>
                  <a:tcPr marL="31750" marR="31750" marT="31750" marB="31750" anchor="ctr"/>
                </a:tc>
                <a:tc>
                  <a:txBody>
                    <a:bodyPr/>
                    <a:lstStyle/>
                    <a:p>
                      <a:pPr rtl="0" fontAlgn="ctr"/>
                      <a:r>
                        <a:rPr lang="fr-FR" sz="1000" b="0">
                          <a:effectLst/>
                        </a:rPr>
                        <a:t>14</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1694683452"/>
                  </a:ext>
                </a:extLst>
              </a:tr>
              <a:tr h="370840">
                <a:tc>
                  <a:txBody>
                    <a:bodyPr/>
                    <a:lstStyle/>
                    <a:p>
                      <a:pPr rtl="0" fontAlgn="ctr"/>
                      <a:r>
                        <a:rPr lang="fr-FR" sz="1000" b="0">
                          <a:effectLst/>
                        </a:rPr>
                        <a:t>/29</a:t>
                      </a:r>
                    </a:p>
                  </a:txBody>
                  <a:tcPr marL="31750" marR="31750" marT="31750" marB="31750" anchor="ctr"/>
                </a:tc>
                <a:tc>
                  <a:txBody>
                    <a:bodyPr/>
                    <a:lstStyle/>
                    <a:p>
                      <a:pPr rtl="0" fontAlgn="ctr"/>
                      <a:r>
                        <a:rPr lang="fr-FR" sz="1000" b="0">
                          <a:effectLst/>
                        </a:rPr>
                        <a:t>255.255.255.248</a:t>
                      </a:r>
                    </a:p>
                  </a:txBody>
                  <a:tcPr marL="31750" marR="31750" marT="31750" marB="31750" anchor="ctr"/>
                </a:tc>
                <a:tc>
                  <a:txBody>
                    <a:bodyPr/>
                    <a:lstStyle/>
                    <a:p>
                      <a:pPr rtl="0" fontAlgn="ctr"/>
                      <a:r>
                        <a:rPr lang="fr-FR" sz="1000" b="0">
                          <a:effectLst/>
                          <a:latin typeface="Courier New" panose="02070309020205020404" pitchFamily="49" charset="0"/>
                          <a:cs typeface="Courier New" panose="02070309020205020404" pitchFamily="49" charset="0"/>
                        </a:rPr>
                        <a:t>nnnnnnnn.nnnnnnnn.nnnnnnnn.</a:t>
                      </a:r>
                      <a:r>
                        <a:rPr lang="fr-FR" sz="1000" b="1">
                          <a:effectLst/>
                          <a:latin typeface="Courier New" panose="02070309020205020404" pitchFamily="49" charset="0"/>
                          <a:cs typeface="Courier New" panose="02070309020205020404" pitchFamily="49" charset="0"/>
                        </a:rPr>
                        <a:t>nnnnn</a:t>
                      </a:r>
                      <a:r>
                        <a:rPr lang="fr-FR" sz="1000" b="0">
                          <a:effectLst/>
                          <a:latin typeface="Courier New" panose="02070309020205020404" pitchFamily="49" charset="0"/>
                          <a:cs typeface="Courier New" panose="02070309020205020404" pitchFamily="49" charset="0"/>
                        </a:rPr>
                        <a:t>hhh</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11111111.11111111.11111111.</a:t>
                      </a:r>
                      <a:r>
                        <a:rPr lang="fr-FR" sz="1000" b="1">
                          <a:effectLst/>
                          <a:latin typeface="Courier New" panose="02070309020205020404" pitchFamily="49" charset="0"/>
                          <a:cs typeface="Courier New" panose="02070309020205020404" pitchFamily="49" charset="0"/>
                        </a:rPr>
                        <a:t>11111</a:t>
                      </a:r>
                      <a:r>
                        <a:rPr lang="fr-FR" sz="1000" b="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rtl="0" fontAlgn="ctr"/>
                      <a:r>
                        <a:rPr lang="fr-FR" sz="1000" b="1">
                          <a:effectLst/>
                        </a:rPr>
                        <a:t>32</a:t>
                      </a:r>
                    </a:p>
                  </a:txBody>
                  <a:tcPr marL="31750" marR="31750" marT="31750" marB="31750" anchor="ctr"/>
                </a:tc>
                <a:tc>
                  <a:txBody>
                    <a:bodyPr/>
                    <a:lstStyle/>
                    <a:p>
                      <a:pPr rtl="0" fontAlgn="ctr"/>
                      <a:r>
                        <a:rPr lang="fr-FR" sz="1000" b="0">
                          <a:effectLst/>
                        </a:rPr>
                        <a:t>6</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2090259769"/>
                  </a:ext>
                </a:extLst>
              </a:tr>
              <a:tr h="370840">
                <a:tc>
                  <a:txBody>
                    <a:bodyPr/>
                    <a:lstStyle/>
                    <a:p>
                      <a:pPr rtl="0" fontAlgn="ctr"/>
                      <a:r>
                        <a:rPr lang="fr-FR" sz="1000" b="0">
                          <a:effectLst/>
                        </a:rPr>
                        <a:t>/30</a:t>
                      </a:r>
                    </a:p>
                  </a:txBody>
                  <a:tcPr marL="31750" marR="31750" marT="31750" marB="31750" anchor="ctr"/>
                </a:tc>
                <a:tc>
                  <a:txBody>
                    <a:bodyPr/>
                    <a:lstStyle/>
                    <a:p>
                      <a:pPr rtl="0" fontAlgn="ctr"/>
                      <a:r>
                        <a:rPr lang="fr-FR" sz="1000" b="0">
                          <a:effectLst/>
                        </a:rPr>
                        <a:t>255.255.255.252</a:t>
                      </a:r>
                    </a:p>
                  </a:txBody>
                  <a:tcPr marL="31750" marR="31750" marT="31750" marB="31750" anchor="ctr"/>
                </a:tc>
                <a:tc>
                  <a:txBody>
                    <a:bodyPr/>
                    <a:lstStyle/>
                    <a:p>
                      <a:pPr rtl="0" fontAlgn="ctr"/>
                      <a:r>
                        <a:rPr lang="fr-FR" sz="1000" b="0">
                          <a:effectLst/>
                          <a:latin typeface="Courier New" panose="02070309020205020404" pitchFamily="49" charset="0"/>
                          <a:cs typeface="Courier New" panose="02070309020205020404" pitchFamily="49" charset="0"/>
                        </a:rPr>
                        <a:t>nnnnnnnn.nnnnnnnn.nnnnnnnn.</a:t>
                      </a:r>
                      <a:r>
                        <a:rPr lang="fr-FR" sz="1000" b="1">
                          <a:effectLst/>
                          <a:latin typeface="Courier New" panose="02070309020205020404" pitchFamily="49" charset="0"/>
                          <a:cs typeface="Courier New" panose="02070309020205020404" pitchFamily="49" charset="0"/>
                        </a:rPr>
                        <a:t>nnnnnn</a:t>
                      </a:r>
                      <a:r>
                        <a:rPr lang="fr-FR" sz="1000" b="0">
                          <a:effectLst/>
                          <a:latin typeface="Courier New" panose="02070309020205020404" pitchFamily="49" charset="0"/>
                          <a:cs typeface="Courier New" panose="02070309020205020404" pitchFamily="49" charset="0"/>
                        </a:rPr>
                        <a:t>hh</a:t>
                      </a:r>
                      <a:r>
                        <a:rPr lang="en-CA" sz="1000" b="0" dirty="0">
                          <a:effectLst/>
                          <a:latin typeface="Courier New" panose="02070309020205020404" pitchFamily="49" charset="0"/>
                          <a:cs typeface="Courier New" panose="02070309020205020404" pitchFamily="49" charset="0"/>
                        </a:rPr>
                        <a:t/>
                      </a:r>
                      <a:br>
                        <a:rPr lang="en-CA" sz="1000" b="0" dirty="0">
                          <a:effectLst/>
                          <a:latin typeface="Courier New" panose="02070309020205020404" pitchFamily="49" charset="0"/>
                          <a:cs typeface="Courier New" panose="02070309020205020404" pitchFamily="49" charset="0"/>
                        </a:rPr>
                      </a:br>
                      <a:r>
                        <a:rPr lang="fr-FR" sz="1000" b="0">
                          <a:effectLst/>
                          <a:latin typeface="Courier New" panose="02070309020205020404" pitchFamily="49" charset="0"/>
                          <a:cs typeface="Courier New" panose="02070309020205020404" pitchFamily="49" charset="0"/>
                        </a:rPr>
                        <a:t>11111111.11111111.11111111.</a:t>
                      </a:r>
                      <a:r>
                        <a:rPr lang="fr-FR" sz="1000" b="1">
                          <a:effectLst/>
                          <a:latin typeface="Courier New" panose="02070309020205020404" pitchFamily="49" charset="0"/>
                          <a:cs typeface="Courier New" panose="02070309020205020404" pitchFamily="49" charset="0"/>
                        </a:rPr>
                        <a:t>111111</a:t>
                      </a:r>
                      <a:r>
                        <a:rPr lang="fr-FR" sz="1000" b="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rtl="0" fontAlgn="ctr"/>
                      <a:r>
                        <a:rPr lang="fr-FR" sz="1000" b="1">
                          <a:effectLst/>
                        </a:rPr>
                        <a:t>64</a:t>
                      </a:r>
                    </a:p>
                  </a:txBody>
                  <a:tcPr marL="31750" marR="31750" marT="31750" marB="31750" anchor="ctr"/>
                </a:tc>
                <a:tc>
                  <a:txBody>
                    <a:bodyPr/>
                    <a:lstStyle/>
                    <a:p>
                      <a:pPr rtl="0" fontAlgn="ctr"/>
                      <a:r>
                        <a:rPr lang="fr-FR" sz="1000" b="0" dirty="0">
                          <a:effectLst/>
                        </a:rPr>
                        <a:t>2</a:t>
                      </a:r>
                    </a:p>
                  </a:txBody>
                  <a:tcPr marL="31750" marR="31750" marT="31750" marB="31750" anchor="ctr"/>
                </a:tc>
                <a:extLst>
                  <a:ext uri="{0D108BD9-81ED-4DB2-BD59-A6C34878D82A}">
                    <a16:rowId xmlns:a16="http://schemas.microsoft.com/office/drawing/2014/main" xmlns:c15="http://schemas.microsoft.com/office/drawing/2012/chart" xmlns:c="http://schemas.openxmlformats.org/drawingml/2006/chart" xmlns="" val="4211026032"/>
                  </a:ext>
                </a:extLst>
              </a:tr>
            </a:tbl>
          </a:graphicData>
        </a:graphic>
      </p:graphicFrame>
      <p:cxnSp>
        <p:nvCxnSpPr>
          <p:cNvPr id="13" name="Connector: Elbow 12">
            <a:extLst>
              <a:ext uri="{FF2B5EF4-FFF2-40B4-BE49-F238E27FC236}">
                <a16:creationId xmlns:a16="http://schemas.microsoft.com/office/drawing/2014/main" xmlns:c15="http://schemas.microsoft.com/office/drawing/2012/chart" xmlns:c="http://schemas.openxmlformats.org/drawingml/2006/chart" xmlns="" id="{FFFCA02D-B099-4C7E-83CA-8A71906FCE6C}"/>
              </a:ext>
            </a:extLst>
          </p:cNvPr>
          <p:cNvCxnSpPr>
            <a:cxnSpLocks/>
          </p:cNvCxnSpPr>
          <p:nvPr/>
        </p:nvCxnSpPr>
        <p:spPr>
          <a:xfrm>
            <a:off x="4561926" y="1550041"/>
            <a:ext cx="2119081" cy="301240"/>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2">
            <a:extLst>
              <a:ext uri="{FF2B5EF4-FFF2-40B4-BE49-F238E27FC236}">
                <a16:creationId xmlns:a16="http://schemas.microsoft.com/office/drawing/2014/main" xmlns:c15="http://schemas.microsoft.com/office/drawing/2012/chart" xmlns:c="http://schemas.openxmlformats.org/drawingml/2006/chart" xmlns="" id="{FFFCA02D-B099-4C7E-83CA-8A71906FCE6C}"/>
              </a:ext>
            </a:extLst>
          </p:cNvPr>
          <p:cNvCxnSpPr>
            <a:cxnSpLocks/>
          </p:cNvCxnSpPr>
          <p:nvPr/>
        </p:nvCxnSpPr>
        <p:spPr>
          <a:xfrm>
            <a:off x="6311141" y="1385999"/>
            <a:ext cx="2119081" cy="301240"/>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07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0"/>
            <a:ext cx="8345488" cy="731837"/>
          </a:xfrm>
        </p:spPr>
        <p:txBody>
          <a:bodyPr/>
          <a:lstStyle/>
          <a:p>
            <a:pPr rtl="0"/>
            <a:r>
              <a:rPr lang="fr-FR" sz="1600"/>
              <a:t>Segmentation du réseau selon ses besoins</a:t>
            </a:r>
            <a:r>
              <a:rPr lang="en-US" dirty="0"/>
              <a:t/>
            </a:r>
            <a:br>
              <a:rPr lang="en-US" dirty="0"/>
            </a:br>
            <a:r>
              <a:rPr lang="fr-FR" sz="2400"/>
              <a:t>Exemple de besoins d'un réseau</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214996" y="855419"/>
            <a:ext cx="4709280" cy="3073946"/>
          </a:xfrm>
        </p:spPr>
        <p:txBody>
          <a:bodyPr/>
          <a:lstStyle/>
          <a:p>
            <a:pPr marL="342900" indent="-342900" algn="l" rtl="0">
              <a:buFont typeface="Arial" panose="020B0604020202020204" pitchFamily="34" charset="0"/>
              <a:buChar char="•"/>
            </a:pPr>
            <a:r>
              <a:rPr lang="fr-FR" sz="1600" dirty="0">
                <a:solidFill>
                  <a:srgbClr val="000000"/>
                </a:solidFill>
              </a:rPr>
              <a:t>Dans cet exemple, le siège social a attribué l'adresse réseau publique 172.16.0.0/22 (10 bits d'hôte) par son ISP (FAI) qui fournisse 1022 adresses d'hôte.</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dirty="0">
                <a:solidFill>
                  <a:srgbClr val="000000"/>
                </a:solidFill>
              </a:rPr>
              <a:t>Il y a cinq sites et donc cinq connexions Internet, ce qui signifie que l'organisation a besoin de 10 sous-réseaux avec le plus grand sous-réseau nécessite 40 adresses.</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dirty="0">
                <a:solidFill>
                  <a:srgbClr val="000000"/>
                </a:solidFill>
              </a:rPr>
              <a:t>Il a attribué 10 sous-réseaux avec un masque de sous-réseau /26 (c'est-à-dire 255.255.255.192).</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E326F2B6-A5EE-4BC1-9196-BEEE11210114}"/>
              </a:ext>
            </a:extLst>
          </p:cNvPr>
          <p:cNvPicPr>
            <a:picLocks noChangeAspect="1"/>
          </p:cNvPicPr>
          <p:nvPr/>
        </p:nvPicPr>
        <p:blipFill>
          <a:blip r:embed="rId3"/>
          <a:stretch>
            <a:fillRect/>
          </a:stretch>
        </p:blipFill>
        <p:spPr>
          <a:xfrm>
            <a:off x="5600700" y="925762"/>
            <a:ext cx="3031600" cy="1088497"/>
          </a:xfrm>
          <a:prstGeom prst="rect">
            <a:avLst/>
          </a:prstGeom>
        </p:spPr>
      </p:pic>
      <p:pic>
        <p:nvPicPr>
          <p:cNvPr id="5" name="Picture 4">
            <a:extLst>
              <a:ext uri="{FF2B5EF4-FFF2-40B4-BE49-F238E27FC236}">
                <a16:creationId xmlns:a16="http://schemas.microsoft.com/office/drawing/2014/main" xmlns:c15="http://schemas.microsoft.com/office/drawing/2012/chart" xmlns:c="http://schemas.openxmlformats.org/drawingml/2006/chart" xmlns="" id="{A4D967D5-2BEE-4CAF-BF74-C8F6AFDA0F51}"/>
              </a:ext>
            </a:extLst>
          </p:cNvPr>
          <p:cNvPicPr>
            <a:picLocks noChangeAspect="1"/>
          </p:cNvPicPr>
          <p:nvPr/>
        </p:nvPicPr>
        <p:blipFill>
          <a:blip r:embed="rId4"/>
          <a:stretch>
            <a:fillRect/>
          </a:stretch>
        </p:blipFill>
        <p:spPr>
          <a:xfrm>
            <a:off x="5172490" y="2208184"/>
            <a:ext cx="3616498" cy="2406479"/>
          </a:xfrm>
          <a:prstGeom prst="rect">
            <a:avLst/>
          </a:prstGeom>
        </p:spPr>
      </p:pic>
    </p:spTree>
    <p:extLst>
      <p:ext uri="{BB962C8B-B14F-4D97-AF65-F5344CB8AC3E}">
        <p14:creationId xmlns:p14="http://schemas.microsoft.com/office/powerpoint/2010/main" val="208820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302217"/>
            <a:ext cx="8345488" cy="731837"/>
          </a:xfrm>
        </p:spPr>
        <p:txBody>
          <a:bodyPr/>
          <a:lstStyle/>
          <a:p>
            <a:pPr rtl="0"/>
            <a:r>
              <a:rPr lang="fr-FR" sz="1600" dirty="0"/>
              <a:t>Segmentation du réseau selon ses besoins</a:t>
            </a:r>
            <a:r>
              <a:rPr lang="en-US" dirty="0"/>
              <a:t/>
            </a:r>
            <a:br>
              <a:rPr lang="en-US" dirty="0"/>
            </a:br>
            <a:r>
              <a:rPr lang="fr-FR" sz="2400" dirty="0" err="1"/>
              <a:t>Packet</a:t>
            </a:r>
            <a:r>
              <a:rPr lang="fr-FR" sz="2400" dirty="0"/>
              <a:t> Tracer - Scénario de segmentation en sous-réseaux</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9721" y="1250626"/>
            <a:ext cx="8280057" cy="3073946"/>
          </a:xfrm>
        </p:spPr>
        <p:txBody>
          <a:bodyPr/>
          <a:lstStyle/>
          <a:p>
            <a:pPr marL="0" indent="0" algn="l" rtl="0">
              <a:spcBef>
                <a:spcPts val="0"/>
              </a:spcBef>
            </a:pPr>
            <a:r>
              <a:rPr lang="fr-FR" sz="1600" dirty="0">
                <a:solidFill>
                  <a:srgbClr val="000000"/>
                </a:solidFill>
              </a:rPr>
              <a:t>Dans le cadre de ce </a:t>
            </a:r>
            <a:r>
              <a:rPr lang="fr-FR" sz="1600" dirty="0" err="1">
                <a:solidFill>
                  <a:srgbClr val="000000"/>
                </a:solidFill>
              </a:rPr>
              <a:t>Packet</a:t>
            </a:r>
            <a:r>
              <a:rPr lang="fr-FR" sz="1600" dirty="0">
                <a:solidFill>
                  <a:srgbClr val="000000"/>
                </a:solidFill>
              </a:rPr>
              <a:t> Tracer, vous ferez ce qui suit :</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dirty="0">
                <a:solidFill>
                  <a:srgbClr val="000000"/>
                </a:solidFill>
              </a:rPr>
              <a:t>Concevoir un schéma d'adressage IP</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dirty="0">
                <a:solidFill>
                  <a:srgbClr val="000000"/>
                </a:solidFill>
              </a:rPr>
              <a:t>Attribuer des adresses IP aux périphériques réseau et vérifier la connectivité</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898786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2051631"/>
            <a:ext cx="7848344" cy="929640"/>
          </a:xfrm>
        </p:spPr>
        <p:txBody>
          <a:bodyPr/>
          <a:lstStyle/>
          <a:p>
            <a:pPr rtl="0"/>
            <a:r>
              <a:rPr lang="fr-FR" dirty="0">
                <a:solidFill>
                  <a:schemeClr val="accent5">
                    <a:lumMod val="40000"/>
                    <a:lumOff val="60000"/>
                  </a:schemeClr>
                </a:solidFill>
              </a:rPr>
              <a:t>11.8 VLSM</a:t>
            </a:r>
            <a:r>
              <a:rPr lang="en-CA" dirty="0">
                <a:solidFill>
                  <a:schemeClr val="accent5">
                    <a:lumMod val="40000"/>
                    <a:lumOff val="60000"/>
                  </a:schemeClr>
                </a:solidFill>
              </a:rPr>
              <a:t/>
            </a:r>
            <a:br>
              <a:rPr lang="en-CA" dirty="0">
                <a:solidFill>
                  <a:schemeClr val="accent5">
                    <a:lumMod val="40000"/>
                    <a:lumOff val="60000"/>
                  </a:schemeClr>
                </a:solidFill>
              </a:rPr>
            </a:br>
            <a:endParaRPr lang="en-CA"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16898405"/>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85241" y="216976"/>
            <a:ext cx="8345488" cy="731837"/>
          </a:xfrm>
        </p:spPr>
        <p:txBody>
          <a:bodyPr/>
          <a:lstStyle/>
          <a:p>
            <a:pPr rtl="0"/>
            <a:r>
              <a:rPr lang="en-US" dirty="0"/>
              <a:t/>
            </a:r>
            <a:br>
              <a:rPr lang="en-US" dirty="0"/>
            </a:br>
            <a:r>
              <a:rPr lang="fr-FR" sz="2400" dirty="0"/>
              <a:t>Vidéo VLSM — Notions de base VLSM</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1095643"/>
            <a:ext cx="8280057" cy="3073946"/>
          </a:xfrm>
        </p:spPr>
        <p:txBody>
          <a:bodyPr/>
          <a:lstStyle/>
          <a:p>
            <a:pPr marL="342900" indent="-342900" algn="l" rtl="0">
              <a:buFont typeface="Arial" panose="020B0604020202020204" pitchFamily="34" charset="0"/>
              <a:buChar char="•"/>
            </a:pPr>
            <a:r>
              <a:rPr lang="fr-FR" sz="1600" dirty="0">
                <a:solidFill>
                  <a:srgbClr val="000000"/>
                </a:solidFill>
              </a:rPr>
              <a:t>Cette vidéo expliquera les bases de VLSM.</a:t>
            </a:r>
          </a:p>
        </p:txBody>
      </p:sp>
    </p:spTree>
    <p:extLst>
      <p:ext uri="{BB962C8B-B14F-4D97-AF65-F5344CB8AC3E}">
        <p14:creationId xmlns:p14="http://schemas.microsoft.com/office/powerpoint/2010/main" val="635394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309967"/>
            <a:ext cx="8345488" cy="731837"/>
          </a:xfrm>
        </p:spPr>
        <p:txBody>
          <a:bodyPr/>
          <a:lstStyle/>
          <a:p>
            <a:pPr rtl="0"/>
            <a:r>
              <a:rPr lang="fr-FR" sz="1600"/>
              <a:t>VLSM</a:t>
            </a:r>
            <a:r>
              <a:rPr lang="en-US" dirty="0"/>
              <a:t/>
            </a:r>
            <a:br>
              <a:rPr lang="en-US" dirty="0"/>
            </a:br>
            <a:r>
              <a:rPr lang="fr-FR" sz="2400"/>
              <a:t>Vidéo - Exemple de VLSM</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24222" y="1250626"/>
            <a:ext cx="8280057" cy="3073946"/>
          </a:xfrm>
        </p:spPr>
        <p:txBody>
          <a:bodyPr/>
          <a:lstStyle/>
          <a:p>
            <a:pPr marL="342900" indent="-342900" algn="l" rtl="0">
              <a:buFont typeface="Arial" panose="020B0604020202020204" pitchFamily="34" charset="0"/>
              <a:buChar char="•"/>
            </a:pPr>
            <a:r>
              <a:rPr lang="fr-FR" sz="1600" dirty="0">
                <a:solidFill>
                  <a:srgbClr val="000000"/>
                </a:solidFill>
              </a:rPr>
              <a:t>Cette vidéo présentera la création de sous-réseaux spécifiques aux besoins du réseau.</a:t>
            </a:r>
          </a:p>
        </p:txBody>
      </p:sp>
    </p:spTree>
    <p:extLst>
      <p:ext uri="{BB962C8B-B14F-4D97-AF65-F5344CB8AC3E}">
        <p14:creationId xmlns:p14="http://schemas.microsoft.com/office/powerpoint/2010/main" val="185747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178230"/>
            <a:ext cx="8345488" cy="731837"/>
          </a:xfrm>
        </p:spPr>
        <p:txBody>
          <a:bodyPr/>
          <a:lstStyle/>
          <a:p>
            <a:pPr rtl="0"/>
            <a:r>
              <a:rPr lang="fr-FR" sz="2400" dirty="0"/>
              <a:t>Conservation des adresses IPv4</a:t>
            </a:r>
            <a:r>
              <a:rPr lang="fr-FR" sz="1600" dirty="0"/>
              <a:t>VLSM</a:t>
            </a:r>
            <a:r>
              <a:rPr lang="en-US" dirty="0"/>
              <a:t/>
            </a:r>
            <a:br>
              <a:rPr lang="en-US" dirty="0"/>
            </a:br>
            <a:endParaRPr lang="en-US" dirty="0"/>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8280057" cy="1510709"/>
          </a:xfrm>
        </p:spPr>
        <p:txBody>
          <a:bodyPr/>
          <a:lstStyle/>
          <a:p>
            <a:pPr marL="0" indent="0" algn="l" rtl="0"/>
            <a:r>
              <a:rPr lang="fr-FR" sz="1600" dirty="0">
                <a:solidFill>
                  <a:srgbClr val="000000"/>
                </a:solidFill>
              </a:rPr>
              <a:t>Compte tenu de la topologie, 7 sous-réseaux sont nécessaires (c'est-à-dire quatre LAN et trois liaisons WAN) et le plus grand nombre d'hôtes se trouve dans le bureau D avec 28 hôtes.</a:t>
            </a:r>
          </a:p>
          <a:p>
            <a:pPr marL="342900" indent="-342900" algn="l">
              <a:buFont typeface="Arial" panose="020B0604020202020204" pitchFamily="34" charset="0"/>
              <a:buChar char="•"/>
            </a:pPr>
            <a:endParaRPr lang="en-US" sz="1600" dirty="0">
              <a:solidFill>
                <a:srgbClr val="000000"/>
              </a:solidFill>
            </a:endParaRPr>
          </a:p>
          <a:p>
            <a:pPr marL="342900" indent="-342900" algn="l" rtl="0">
              <a:buFont typeface="Arial" panose="020B0604020202020204" pitchFamily="34" charset="0"/>
              <a:buChar char="•"/>
            </a:pPr>
            <a:r>
              <a:rPr lang="fr-FR" sz="1600" dirty="0">
                <a:solidFill>
                  <a:srgbClr val="000000"/>
                </a:solidFill>
              </a:rPr>
              <a:t>Un masque /27 fournirait 8 sous-réseaux de 30 adresses IP hôtes et prendrait donc en charge cette topologie.</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3D6B421B-63BE-47B3-B5D3-2A12580CC07D}"/>
              </a:ext>
            </a:extLst>
          </p:cNvPr>
          <p:cNvPicPr>
            <a:picLocks noChangeAspect="1"/>
          </p:cNvPicPr>
          <p:nvPr/>
        </p:nvPicPr>
        <p:blipFill>
          <a:blip r:embed="rId3"/>
          <a:stretch>
            <a:fillRect/>
          </a:stretch>
        </p:blipFill>
        <p:spPr>
          <a:xfrm>
            <a:off x="1730096" y="2771225"/>
            <a:ext cx="5683805" cy="1542972"/>
          </a:xfrm>
          <a:prstGeom prst="rect">
            <a:avLst/>
          </a:prstGeom>
        </p:spPr>
      </p:pic>
    </p:spTree>
    <p:extLst>
      <p:ext uri="{BB962C8B-B14F-4D97-AF65-F5344CB8AC3E}">
        <p14:creationId xmlns:p14="http://schemas.microsoft.com/office/powerpoint/2010/main" val="3774275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0"/>
            <a:ext cx="8345488" cy="731837"/>
          </a:xfrm>
        </p:spPr>
        <p:txBody>
          <a:bodyPr/>
          <a:lstStyle/>
          <a:p>
            <a:pPr rtl="0"/>
            <a:r>
              <a:rPr lang="fr-FR" sz="1600"/>
              <a:t>VLSM</a:t>
            </a:r>
            <a:r>
              <a:rPr lang="en-US" dirty="0"/>
              <a:t/>
            </a:r>
            <a:br>
              <a:rPr lang="en-US" dirty="0"/>
            </a:br>
            <a:r>
              <a:rPr lang="fr-FR" sz="2400"/>
              <a:t>Conservation des adresses IPv4 (suite)</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6091377" cy="944845"/>
          </a:xfrm>
        </p:spPr>
        <p:txBody>
          <a:bodyPr/>
          <a:lstStyle/>
          <a:p>
            <a:pPr marL="0" indent="0" algn="l" rtl="0"/>
            <a:r>
              <a:rPr lang="fr-FR" sz="1600">
                <a:solidFill>
                  <a:srgbClr val="000000"/>
                </a:solidFill>
              </a:rPr>
              <a:t>Cependant, les liaisons WAN point à point nécessitent seulement deux adresses et gaspillent donc 28 adresses chacune pour un total de 84 adresses inutilisées.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xmlns:c15="http://schemas.microsoft.com/office/drawing/2012/chart" xmlns:c="http://schemas.openxmlformats.org/drawingml/2006/chart" xmlns="" id="{3739215E-8970-45B2-8162-265CF46FAA0E}"/>
              </a:ext>
            </a:extLst>
          </p:cNvPr>
          <p:cNvPicPr>
            <a:picLocks noChangeAspect="1"/>
          </p:cNvPicPr>
          <p:nvPr/>
        </p:nvPicPr>
        <p:blipFill>
          <a:blip r:embed="rId3"/>
          <a:stretch>
            <a:fillRect/>
          </a:stretch>
        </p:blipFill>
        <p:spPr>
          <a:xfrm>
            <a:off x="6632093" y="731837"/>
            <a:ext cx="2221789" cy="944845"/>
          </a:xfrm>
          <a:prstGeom prst="rect">
            <a:avLst/>
          </a:prstGeom>
        </p:spPr>
      </p:pic>
      <p:pic>
        <p:nvPicPr>
          <p:cNvPr id="2" name="Picture 1">
            <a:extLst>
              <a:ext uri="{FF2B5EF4-FFF2-40B4-BE49-F238E27FC236}">
                <a16:creationId xmlns:a16="http://schemas.microsoft.com/office/drawing/2014/main" xmlns:c15="http://schemas.microsoft.com/office/drawing/2012/chart" xmlns:c="http://schemas.openxmlformats.org/drawingml/2006/chart" xmlns="" id="{3D6B421B-63BE-47B3-B5D3-2A12580CC07D}"/>
              </a:ext>
            </a:extLst>
          </p:cNvPr>
          <p:cNvPicPr>
            <a:picLocks noChangeAspect="1"/>
          </p:cNvPicPr>
          <p:nvPr/>
        </p:nvPicPr>
        <p:blipFill>
          <a:blip r:embed="rId4"/>
          <a:stretch>
            <a:fillRect/>
          </a:stretch>
        </p:blipFill>
        <p:spPr>
          <a:xfrm>
            <a:off x="1730097" y="1706710"/>
            <a:ext cx="5683805" cy="1542972"/>
          </a:xfrm>
          <a:prstGeom prst="rect">
            <a:avLst/>
          </a:prstGeom>
        </p:spPr>
      </p:pic>
      <p:sp>
        <p:nvSpPr>
          <p:cNvPr id="6" name="Content Placeholder 3">
            <a:extLst>
              <a:ext uri="{FF2B5EF4-FFF2-40B4-BE49-F238E27FC236}">
                <a16:creationId xmlns:a16="http://schemas.microsoft.com/office/drawing/2014/main" xmlns:c15="http://schemas.microsoft.com/office/drawing/2012/chart" xmlns:c="http://schemas.openxmlformats.org/drawingml/2006/chart" xmlns="" id="{C9D0A209-0C20-474A-8988-82BCE662C636}"/>
              </a:ext>
            </a:extLst>
          </p:cNvPr>
          <p:cNvSpPr txBox="1">
            <a:spLocks/>
          </p:cNvSpPr>
          <p:nvPr/>
        </p:nvSpPr>
        <p:spPr>
          <a:xfrm>
            <a:off x="431971" y="3343237"/>
            <a:ext cx="8280058" cy="13049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fr-FR" sz="1600">
                <a:solidFill>
                  <a:srgbClr val="000000"/>
                </a:solidFill>
              </a:rPr>
              <a:t>L'application d'un schéma de création de sous-réseaux classique à un scénario n'est pas très efficace.</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fr-FR" sz="1600">
                <a:solidFill>
                  <a:srgbClr val="000000"/>
                </a:solidFill>
              </a:rPr>
              <a:t>VLSM a été développé pour éviter le gaspillage d'adresses en nous permettant de segmenter un réseau en sous-réseau.</a:t>
            </a:r>
          </a:p>
        </p:txBody>
      </p:sp>
    </p:spTree>
    <p:extLst>
      <p:ext uri="{BB962C8B-B14F-4D97-AF65-F5344CB8AC3E}">
        <p14:creationId xmlns:p14="http://schemas.microsoft.com/office/powerpoint/2010/main" val="201712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162732" y="15498"/>
            <a:ext cx="8345488" cy="731837"/>
          </a:xfrm>
        </p:spPr>
        <p:txBody>
          <a:bodyPr/>
          <a:lstStyle/>
          <a:p>
            <a:pPr rtl="0"/>
            <a:r>
              <a:rPr lang="fr-FR" sz="1600" dirty="0"/>
              <a:t>VLSM</a:t>
            </a:r>
            <a:r>
              <a:rPr lang="en-US" dirty="0"/>
              <a:t/>
            </a:r>
            <a:br>
              <a:rPr lang="en-US" dirty="0"/>
            </a:br>
            <a:r>
              <a:rPr lang="fr-FR" sz="2400" dirty="0"/>
              <a:t>VLSM</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288406" y="855350"/>
            <a:ext cx="5519249" cy="2411390"/>
          </a:xfrm>
        </p:spPr>
        <p:txBody>
          <a:bodyPr/>
          <a:lstStyle/>
          <a:p>
            <a:pPr marL="342900" indent="-342900" algn="l" rtl="0">
              <a:buFont typeface="Arial" panose="020B0604020202020204" pitchFamily="34" charset="0"/>
              <a:buChar char="•"/>
            </a:pPr>
            <a:r>
              <a:rPr lang="fr-FR" sz="1400" dirty="0">
                <a:solidFill>
                  <a:srgbClr val="000000"/>
                </a:solidFill>
              </a:rPr>
              <a:t>Le côté gauche affiche le schéma de sous-réseau traditionnel (c'est-à-dire le même masque de sous-réseau) tandis que le côté droit illustre comment le VLSM peut être utilisé pour segmenter un réseau en sous-réseau et diviser le dernier sous-réseau en huit /30 sous-réseaux.</a:t>
            </a:r>
          </a:p>
          <a:p>
            <a:pPr marL="342900" indent="-342900" algn="l">
              <a:buFont typeface="Arial" panose="020B0604020202020204" pitchFamily="34" charset="0"/>
              <a:buChar char="•"/>
            </a:pPr>
            <a:endParaRPr lang="en-CA" sz="1400" dirty="0">
              <a:solidFill>
                <a:srgbClr val="000000"/>
              </a:solidFill>
            </a:endParaRPr>
          </a:p>
          <a:p>
            <a:pPr marL="342900" indent="-342900" algn="l" rtl="0">
              <a:buFont typeface="Arial" panose="020B0604020202020204" pitchFamily="34" charset="0"/>
              <a:buChar char="•"/>
            </a:pPr>
            <a:r>
              <a:rPr lang="fr-FR" sz="1400" dirty="0">
                <a:solidFill>
                  <a:srgbClr val="000000"/>
                </a:solidFill>
              </a:rPr>
              <a:t>Lorsque vous utilisez le VLSM, commencez toujours par vous assurer que les exigences en matière d'hôte du plus grand sous-réseau sont atteintes, puis continuez la segmentation de </a:t>
            </a:r>
            <a:r>
              <a:rPr lang="fr-FR" sz="1400" dirty="0" err="1">
                <a:solidFill>
                  <a:srgbClr val="000000"/>
                </a:solidFill>
              </a:rPr>
              <a:t>reseau</a:t>
            </a:r>
            <a:r>
              <a:rPr lang="fr-FR" sz="1400" dirty="0">
                <a:solidFill>
                  <a:srgbClr val="000000"/>
                </a:solidFill>
              </a:rPr>
              <a:t> jusqu'à ce que les exigences d'hôte du plus petit sous-réseau soient atteintes.</a:t>
            </a:r>
          </a:p>
          <a:p>
            <a:pPr marL="342900" indent="-342900" algn="l">
              <a:buFont typeface="Arial" panose="020B0604020202020204" pitchFamily="34" charset="0"/>
              <a:buChar char="•"/>
            </a:pPr>
            <a:endParaRPr lang="en-CA" sz="1400" dirty="0">
              <a:solidFill>
                <a:srgbClr val="000000"/>
              </a:solidFill>
            </a:endParaRPr>
          </a:p>
          <a:p>
            <a:pPr marL="342900" indent="-342900" algn="l" rtl="0">
              <a:buFont typeface="Arial" panose="020B0604020202020204" pitchFamily="34" charset="0"/>
              <a:buChar char="•"/>
            </a:pPr>
            <a:r>
              <a:rPr lang="fr-FR" sz="1400" dirty="0">
                <a:solidFill>
                  <a:srgbClr val="000000"/>
                </a:solidFill>
              </a:rPr>
              <a:t>La topologie ainsi obtenue grâce à l'application de VLSM.</a:t>
            </a:r>
          </a:p>
        </p:txBody>
      </p:sp>
      <p:pic>
        <p:nvPicPr>
          <p:cNvPr id="9" name="Picture 8">
            <a:extLst>
              <a:ext uri="{FF2B5EF4-FFF2-40B4-BE49-F238E27FC236}">
                <a16:creationId xmlns:a16="http://schemas.microsoft.com/office/drawing/2014/main" xmlns:c15="http://schemas.microsoft.com/office/drawing/2012/chart" xmlns:c="http://schemas.openxmlformats.org/drawingml/2006/chart" xmlns="" id="{1C165FDB-636B-41FC-BD50-01D67FA8F4AC}"/>
              </a:ext>
            </a:extLst>
          </p:cNvPr>
          <p:cNvPicPr>
            <a:picLocks noChangeAspect="1"/>
          </p:cNvPicPr>
          <p:nvPr/>
        </p:nvPicPr>
        <p:blipFill>
          <a:blip r:embed="rId3"/>
          <a:stretch>
            <a:fillRect/>
          </a:stretch>
        </p:blipFill>
        <p:spPr>
          <a:xfrm>
            <a:off x="5807655" y="1413776"/>
            <a:ext cx="3199159" cy="1960964"/>
          </a:xfrm>
          <a:prstGeom prst="rect">
            <a:avLst/>
          </a:prstGeom>
        </p:spPr>
      </p:pic>
      <p:pic>
        <p:nvPicPr>
          <p:cNvPr id="8" name="Picture 7">
            <a:extLst>
              <a:ext uri="{FF2B5EF4-FFF2-40B4-BE49-F238E27FC236}">
                <a16:creationId xmlns:a16="http://schemas.microsoft.com/office/drawing/2014/main" xmlns:c15="http://schemas.microsoft.com/office/drawing/2012/chart" xmlns:c="http://schemas.openxmlformats.org/drawingml/2006/chart" xmlns="" id="{7745AD4C-7A7F-4FE5-B2F2-0DE8D4398B37}"/>
              </a:ext>
            </a:extLst>
          </p:cNvPr>
          <p:cNvPicPr>
            <a:picLocks noChangeAspect="1"/>
          </p:cNvPicPr>
          <p:nvPr/>
        </p:nvPicPr>
        <p:blipFill>
          <a:blip r:embed="rId4"/>
          <a:stretch>
            <a:fillRect/>
          </a:stretch>
        </p:blipFill>
        <p:spPr>
          <a:xfrm>
            <a:off x="2208508" y="3820767"/>
            <a:ext cx="3599147" cy="1154949"/>
          </a:xfrm>
          <a:prstGeom prst="rect">
            <a:avLst/>
          </a:prstGeom>
        </p:spPr>
      </p:pic>
    </p:spTree>
    <p:extLst>
      <p:ext uri="{BB962C8B-B14F-4D97-AF65-F5344CB8AC3E}">
        <p14:creationId xmlns:p14="http://schemas.microsoft.com/office/powerpoint/2010/main" val="31086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61994" y="108488"/>
            <a:ext cx="8345488" cy="731837"/>
          </a:xfrm>
        </p:spPr>
        <p:txBody>
          <a:bodyPr/>
          <a:lstStyle/>
          <a:p>
            <a:pPr rtl="0"/>
            <a:r>
              <a:rPr lang="fr-FR" sz="1600" dirty="0"/>
              <a:t>VLSM</a:t>
            </a:r>
            <a:r>
              <a:rPr lang="en-US" dirty="0"/>
              <a:t/>
            </a:r>
            <a:br>
              <a:rPr lang="en-US" dirty="0"/>
            </a:br>
            <a:r>
              <a:rPr lang="fr-FR" sz="2400" dirty="0"/>
              <a:t>Attribution d'adresse de topologie VLSM</a:t>
            </a:r>
            <a:r>
              <a:rPr lang="fr-FR" sz="1600" dirty="0"/>
              <a:t> </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0" y="1095643"/>
            <a:ext cx="8280057" cy="788446"/>
          </a:xfrm>
        </p:spPr>
        <p:txBody>
          <a:bodyPr/>
          <a:lstStyle/>
          <a:p>
            <a:pPr marL="342900" indent="-342900" algn="l" rtl="0">
              <a:buFont typeface="Arial" panose="020B0604020202020204" pitchFamily="34" charset="0"/>
              <a:buChar char="•"/>
            </a:pPr>
            <a:r>
              <a:rPr lang="fr-FR" sz="1600" dirty="0">
                <a:solidFill>
                  <a:srgbClr val="000000"/>
                </a:solidFill>
              </a:rPr>
              <a:t>Grâce aux sous-réseaux VLSM, les réseaux LAN et les routeurs peuvent être traités sans gaspillage inutile, comme indiqué dans le diagramme de topologie logique.</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xmlns:c15="http://schemas.microsoft.com/office/drawing/2012/chart" xmlns:c="http://schemas.openxmlformats.org/drawingml/2006/chart" xmlns="" id="{682F67DF-F387-422D-A1F1-5FB6AE72223B}"/>
              </a:ext>
            </a:extLst>
          </p:cNvPr>
          <p:cNvPicPr>
            <a:picLocks noChangeAspect="1"/>
          </p:cNvPicPr>
          <p:nvPr/>
        </p:nvPicPr>
        <p:blipFill>
          <a:blip r:embed="rId3"/>
          <a:stretch>
            <a:fillRect/>
          </a:stretch>
        </p:blipFill>
        <p:spPr>
          <a:xfrm>
            <a:off x="984799" y="2010394"/>
            <a:ext cx="7174401" cy="2753604"/>
          </a:xfrm>
          <a:prstGeom prst="rect">
            <a:avLst/>
          </a:prstGeom>
        </p:spPr>
      </p:pic>
    </p:spTree>
    <p:extLst>
      <p:ext uri="{BB962C8B-B14F-4D97-AF65-F5344CB8AC3E}">
        <p14:creationId xmlns:p14="http://schemas.microsoft.com/office/powerpoint/2010/main" val="109721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2307353"/>
            <a:ext cx="7848344" cy="929640"/>
          </a:xfrm>
        </p:spPr>
        <p:txBody>
          <a:bodyPr/>
          <a:lstStyle/>
          <a:p>
            <a:pPr rtl="0"/>
            <a:r>
              <a:rPr lang="fr-FR" dirty="0">
                <a:solidFill>
                  <a:schemeClr val="accent5">
                    <a:lumMod val="40000"/>
                    <a:lumOff val="60000"/>
                  </a:schemeClr>
                </a:solidFill>
              </a:rPr>
              <a:t>11.9 La conception structurée</a:t>
            </a:r>
            <a:r>
              <a:rPr lang="en-CA" dirty="0">
                <a:solidFill>
                  <a:schemeClr val="accent5">
                    <a:lumMod val="40000"/>
                    <a:lumOff val="60000"/>
                  </a:schemeClr>
                </a:solidFill>
              </a:rPr>
              <a:t/>
            </a:r>
            <a:br>
              <a:rPr lang="en-CA" dirty="0">
                <a:solidFill>
                  <a:schemeClr val="accent5">
                    <a:lumMod val="40000"/>
                    <a:lumOff val="60000"/>
                  </a:schemeClr>
                </a:solidFill>
              </a:rPr>
            </a:br>
            <a:endParaRPr lang="en-CA"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214535095"/>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0"/>
            <a:ext cx="8345488" cy="731837"/>
          </a:xfrm>
        </p:spPr>
        <p:txBody>
          <a:bodyPr/>
          <a:lstStyle/>
          <a:p>
            <a:pPr rtl="0"/>
            <a:r>
              <a:rPr lang="fr-FR" sz="1600"/>
              <a:t>La conception structurée </a:t>
            </a:r>
            <a:r>
              <a:rPr lang="en-US" dirty="0"/>
              <a:t/>
            </a:r>
            <a:br>
              <a:rPr lang="en-US" dirty="0"/>
            </a:br>
            <a:r>
              <a:rPr lang="fr-FR" sz="2400"/>
              <a:t>Planification de l'adressage réseau</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8280057" cy="3073946"/>
          </a:xfrm>
        </p:spPr>
        <p:txBody>
          <a:bodyPr/>
          <a:lstStyle/>
          <a:p>
            <a:pPr marL="0" indent="0" algn="l" rtl="0"/>
            <a:r>
              <a:rPr lang="fr-FR" sz="1600">
                <a:solidFill>
                  <a:srgbClr val="000000"/>
                </a:solidFill>
              </a:rPr>
              <a:t>La planification des sous-réseaux nécessite de développer une solution évolutive pour un réseau d'entreprise. </a:t>
            </a:r>
          </a:p>
          <a:p>
            <a:pPr marL="342900" indent="-342900" algn="l" rtl="0">
              <a:buFont typeface="Arial" panose="020B0604020202020204" pitchFamily="34" charset="0"/>
              <a:buChar char="•"/>
            </a:pPr>
            <a:r>
              <a:rPr lang="fr-FR" sz="1400">
                <a:solidFill>
                  <a:srgbClr val="000000"/>
                </a:solidFill>
              </a:rPr>
              <a:t>Pour élaborer un schéma d'adressage IPv4 à l'échelle du réseau, vous devez savoir combien de sous-réseaux sont nécessaires, combien d'hôtes particulier un sous-réseau requiert, quels périphériques font partie du sous-réseau, quelles parties de votre réseau utilisent des adresses privées et lesquelles utilisent des adresses publiques, et bien d'autres facteurs déterminants. </a:t>
            </a:r>
          </a:p>
          <a:p>
            <a:pPr marL="342900" indent="-342900" algn="l">
              <a:buFont typeface="Arial" panose="020B0604020202020204" pitchFamily="34" charset="0"/>
              <a:buChar char="•"/>
            </a:pPr>
            <a:endParaRPr lang="en-CA" sz="1400" dirty="0">
              <a:solidFill>
                <a:srgbClr val="000000"/>
              </a:solidFill>
            </a:endParaRPr>
          </a:p>
          <a:p>
            <a:pPr marL="0" indent="0" algn="l" rtl="0"/>
            <a:r>
              <a:rPr lang="fr-FR" sz="1600">
                <a:solidFill>
                  <a:srgbClr val="000000"/>
                </a:solidFill>
              </a:rPr>
              <a:t>Observez les besoins de l'entreprise en termes d'utilisation du réseau et la structure appropriée des sous-réseaux. </a:t>
            </a:r>
          </a:p>
          <a:p>
            <a:pPr marL="342900" indent="-342900" algn="l" rtl="0">
              <a:buFont typeface="Arial" panose="020B0604020202020204" pitchFamily="34" charset="0"/>
              <a:buChar char="•"/>
            </a:pPr>
            <a:r>
              <a:rPr lang="fr-FR" sz="1400">
                <a:solidFill>
                  <a:srgbClr val="000000"/>
                </a:solidFill>
              </a:rPr>
              <a:t>Effectuer une étude des besoins du réseau en examinant l'ensemble du réseau afin de déterminer comment chaque zone sera segmentée. </a:t>
            </a:r>
          </a:p>
          <a:p>
            <a:pPr marL="342900" indent="-342900" algn="l" rtl="0">
              <a:buFont typeface="Arial" panose="020B0604020202020204" pitchFamily="34" charset="0"/>
              <a:buChar char="•"/>
            </a:pPr>
            <a:r>
              <a:rPr lang="fr-FR" sz="1400">
                <a:solidFill>
                  <a:srgbClr val="000000"/>
                </a:solidFill>
              </a:rPr>
              <a:t>Déterminez le nombre des sous-réseaux d'hôte disponibles et le nombre de sous-réseaux nécessaires. </a:t>
            </a:r>
          </a:p>
          <a:p>
            <a:pPr marL="342900" indent="-342900" algn="l" rtl="0">
              <a:buFont typeface="Arial" panose="020B0604020202020204" pitchFamily="34" charset="0"/>
              <a:buChar char="•"/>
            </a:pPr>
            <a:r>
              <a:rPr lang="fr-FR" sz="1400">
                <a:solidFill>
                  <a:srgbClr val="000000"/>
                </a:solidFill>
              </a:rPr>
              <a:t>Déterminez les pools d'adresses DHCP et les pools VLAN de couche 2.</a:t>
            </a:r>
          </a:p>
        </p:txBody>
      </p:sp>
    </p:spTree>
    <p:extLst>
      <p:ext uri="{BB962C8B-B14F-4D97-AF65-F5344CB8AC3E}">
        <p14:creationId xmlns:p14="http://schemas.microsoft.com/office/powerpoint/2010/main" val="267447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0"/>
            <a:ext cx="8345488" cy="731837"/>
          </a:xfrm>
        </p:spPr>
        <p:txBody>
          <a:bodyPr/>
          <a:lstStyle/>
          <a:p>
            <a:pPr rtl="0"/>
            <a:r>
              <a:rPr lang="fr-FR" sz="1600"/>
              <a:t>Conception structurée</a:t>
            </a:r>
            <a:r>
              <a:rPr lang="en-US" dirty="0"/>
              <a:t/>
            </a:r>
            <a:br>
              <a:rPr lang="en-US" dirty="0"/>
            </a:br>
            <a:r>
              <a:rPr lang="fr-FR" sz="2400"/>
              <a:t>Attribution d'adresse de périphérique</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855419"/>
            <a:ext cx="8280057" cy="3073946"/>
          </a:xfrm>
        </p:spPr>
        <p:txBody>
          <a:bodyPr/>
          <a:lstStyle/>
          <a:p>
            <a:pPr marL="0" indent="0" algn="l" rtl="0"/>
            <a:r>
              <a:rPr lang="fr-FR" sz="1600">
                <a:solidFill>
                  <a:srgbClr val="000000"/>
                </a:solidFill>
              </a:rPr>
              <a:t>Dans un réseau, il existe différents types d'appareils nécessitant des adresses:</a:t>
            </a:r>
          </a:p>
          <a:p>
            <a:pPr marL="342900" indent="-342900" algn="l" rtl="0">
              <a:buFont typeface="Arial" panose="020B0604020202020204" pitchFamily="34" charset="0"/>
              <a:buChar char="•"/>
            </a:pPr>
            <a:r>
              <a:rPr lang="fr-FR" sz="1400" b="1">
                <a:solidFill>
                  <a:srgbClr val="000000"/>
                </a:solidFill>
              </a:rPr>
              <a:t>Clients des utilisateurs finaux </a:t>
            </a:r>
            <a:r>
              <a:rPr lang="fr-FR" sz="1400">
                <a:solidFill>
                  <a:srgbClr val="000000"/>
                </a:solidFill>
              </a:rPr>
              <a:t>- La plupart utilisent DHCP pour réduire les erreurs et la charge pesant sur le personnel de support réseau. Les clients IPv6 peuvent obtenir des informations d'adressage avec DHCPv6 ou SLAAC.</a:t>
            </a:r>
          </a:p>
          <a:p>
            <a:pPr marL="342900" indent="-342900" algn="l" rtl="0">
              <a:buFont typeface="Arial" panose="020B0604020202020204" pitchFamily="34" charset="0"/>
              <a:buChar char="•"/>
            </a:pPr>
            <a:r>
              <a:rPr lang="fr-FR" sz="1400" b="1">
                <a:solidFill>
                  <a:srgbClr val="000000"/>
                </a:solidFill>
              </a:rPr>
              <a:t>Les serveurs et les périphériques </a:t>
            </a:r>
            <a:r>
              <a:rPr lang="fr-FR" sz="1400">
                <a:solidFill>
                  <a:srgbClr val="000000"/>
                </a:solidFill>
              </a:rPr>
              <a:t>doivent avoir une adresse IP statique prévisible.</a:t>
            </a:r>
            <a:r>
              <a:rPr lang="fr-FR" sz="1400" b="1">
                <a:solidFill>
                  <a:srgbClr val="000000"/>
                </a:solidFill>
              </a:rPr>
              <a:t> </a:t>
            </a:r>
          </a:p>
          <a:p>
            <a:pPr marL="342900" indent="-342900" algn="l" rtl="0">
              <a:buFont typeface="Arial" panose="020B0604020202020204" pitchFamily="34" charset="0"/>
              <a:buChar char="•"/>
            </a:pPr>
            <a:r>
              <a:rPr lang="fr-FR" sz="1400" b="1">
                <a:solidFill>
                  <a:srgbClr val="000000"/>
                </a:solidFill>
              </a:rPr>
              <a:t>Serveurs accessibles à partir l'internet </a:t>
            </a:r>
            <a:r>
              <a:rPr lang="fr-FR" sz="1400">
                <a:solidFill>
                  <a:srgbClr val="000000"/>
                </a:solidFill>
              </a:rPr>
              <a:t>— Les serveurs doivent avoir une adresse IPv4 publique, le plus souvent accessible via NAT.</a:t>
            </a:r>
            <a:r>
              <a:rPr lang="fr-FR" sz="1400" b="1">
                <a:solidFill>
                  <a:srgbClr val="000000"/>
                </a:solidFill>
              </a:rPr>
              <a:t> </a:t>
            </a:r>
          </a:p>
          <a:p>
            <a:pPr marL="342900" indent="-342900" algn="l" rtl="0">
              <a:buFont typeface="Arial" panose="020B0604020202020204" pitchFamily="34" charset="0"/>
              <a:buChar char="•"/>
            </a:pPr>
            <a:r>
              <a:rPr lang="fr-FR" sz="1400" b="1">
                <a:solidFill>
                  <a:srgbClr val="000000"/>
                </a:solidFill>
              </a:rPr>
              <a:t>Les périphériques intermédiaires </a:t>
            </a:r>
            <a:r>
              <a:rPr lang="fr-FR" sz="1400">
                <a:solidFill>
                  <a:srgbClr val="000000"/>
                </a:solidFill>
              </a:rPr>
              <a:t>– Des adresses sont attribuées à ces périphériques pour la gestion, la surveillance et la sécurité du réseau.</a:t>
            </a:r>
            <a:r>
              <a:rPr lang="fr-FR" sz="1400" b="1">
                <a:solidFill>
                  <a:srgbClr val="000000"/>
                </a:solidFill>
              </a:rPr>
              <a:t> </a:t>
            </a:r>
          </a:p>
          <a:p>
            <a:pPr marL="342900" indent="-342900" algn="l" rtl="0">
              <a:buFont typeface="Arial" panose="020B0604020202020204" pitchFamily="34" charset="0"/>
              <a:buChar char="•"/>
            </a:pPr>
            <a:r>
              <a:rPr lang="fr-FR" sz="1400" b="1">
                <a:solidFill>
                  <a:srgbClr val="000000"/>
                </a:solidFill>
              </a:rPr>
              <a:t>Passerelle</a:t>
            </a:r>
            <a:r>
              <a:rPr lang="fr-FR" sz="1400">
                <a:solidFill>
                  <a:srgbClr val="000000"/>
                </a:solidFill>
              </a:rPr>
              <a:t> : les routeurs et les périphériques de pare-feu sont une passerelle pour les hôtes de ce réseau. </a:t>
            </a:r>
          </a:p>
          <a:p>
            <a:pPr marL="342900" indent="-342900" algn="l">
              <a:buFont typeface="Arial" panose="020B0604020202020204" pitchFamily="34" charset="0"/>
              <a:buChar char="•"/>
            </a:pPr>
            <a:endParaRPr lang="en-CA" sz="1600" dirty="0">
              <a:solidFill>
                <a:srgbClr val="000000"/>
              </a:solidFill>
            </a:endParaRPr>
          </a:p>
          <a:p>
            <a:pPr marL="0" indent="0" algn="l" rtl="0"/>
            <a:r>
              <a:rPr lang="fr-FR" sz="1600">
                <a:solidFill>
                  <a:srgbClr val="000000"/>
                </a:solidFill>
              </a:rPr>
              <a:t>Lors du développement d'un schéma d'adressage IP, il est généralement recommandé que vous définissiez un modèle d'attribution des adresses pour chaque type de périphérique. </a:t>
            </a:r>
          </a:p>
        </p:txBody>
      </p:sp>
    </p:spTree>
    <p:extLst>
      <p:ext uri="{BB962C8B-B14F-4D97-AF65-F5344CB8AC3E}">
        <p14:creationId xmlns:p14="http://schemas.microsoft.com/office/powerpoint/2010/main" val="51032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216976"/>
            <a:ext cx="8345488" cy="731837"/>
          </a:xfrm>
        </p:spPr>
        <p:txBody>
          <a:bodyPr/>
          <a:lstStyle/>
          <a:p>
            <a:pPr rtl="0"/>
            <a:r>
              <a:rPr lang="fr-FR" sz="1600" dirty="0"/>
              <a:t>Conception structurée</a:t>
            </a:r>
            <a:r>
              <a:rPr lang="en-US" dirty="0"/>
              <a:t/>
            </a:r>
            <a:br>
              <a:rPr lang="en-US" dirty="0"/>
            </a:br>
            <a:r>
              <a:rPr lang="fr-FR" sz="2400" dirty="0" err="1"/>
              <a:t>Packet</a:t>
            </a:r>
            <a:r>
              <a:rPr lang="fr-FR" sz="2400" dirty="0"/>
              <a:t> Tracer - Pratique de conception et mise en œuvre d'un système d'adressage avec des VLSM</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55219" y="1204131"/>
            <a:ext cx="8280057" cy="3073946"/>
          </a:xfrm>
        </p:spPr>
        <p:txBody>
          <a:bodyPr/>
          <a:lstStyle/>
          <a:p>
            <a:pPr marL="0" indent="0" algn="l" rtl="0">
              <a:spcBef>
                <a:spcPts val="0"/>
              </a:spcBef>
            </a:pPr>
            <a:r>
              <a:rPr lang="fr-FR" sz="1600" dirty="0">
                <a:solidFill>
                  <a:srgbClr val="000000"/>
                </a:solidFill>
              </a:rPr>
              <a:t>Dans le cadre de ce </a:t>
            </a:r>
            <a:r>
              <a:rPr lang="fr-FR" sz="1600" dirty="0" err="1">
                <a:solidFill>
                  <a:srgbClr val="000000"/>
                </a:solidFill>
              </a:rPr>
              <a:t>Packet</a:t>
            </a:r>
            <a:r>
              <a:rPr lang="fr-FR" sz="1600" dirty="0">
                <a:solidFill>
                  <a:srgbClr val="000000"/>
                </a:solidFill>
              </a:rPr>
              <a:t> Tracer, vous ferez ce qui suit :</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dirty="0">
                <a:solidFill>
                  <a:srgbClr val="000000"/>
                </a:solidFill>
              </a:rPr>
              <a:t>Étudier les besoins du réseau</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dirty="0">
                <a:solidFill>
                  <a:srgbClr val="000000"/>
                </a:solidFill>
              </a:rPr>
              <a:t>Concevoir le schéma d'adressage VLSM</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dirty="0">
                <a:solidFill>
                  <a:srgbClr val="000000"/>
                </a:solidFill>
              </a:rPr>
              <a:t>Attribuer des adresses IP aux périphériques et vérifier la connectivité</a:t>
            </a:r>
          </a:p>
          <a:p>
            <a:pPr marL="342900" indent="-34290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318658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7422" y="1817263"/>
            <a:ext cx="8280314" cy="970280"/>
          </a:xfrm>
        </p:spPr>
        <p:txBody>
          <a:bodyPr/>
          <a:lstStyle/>
          <a:p>
            <a:pPr rtl="0"/>
            <a:r>
              <a:rPr lang="fr-FR" dirty="0">
                <a:solidFill>
                  <a:schemeClr val="accent5">
                    <a:lumMod val="40000"/>
                    <a:lumOff val="60000"/>
                  </a:schemeClr>
                </a:solidFill>
              </a:rPr>
              <a:t>11.10 Module pratique et questionnaire</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0" y="480448"/>
            <a:ext cx="9144000" cy="731837"/>
          </a:xfrm>
        </p:spPr>
        <p:txBody>
          <a:bodyPr/>
          <a:lstStyle/>
          <a:p>
            <a:pPr rtl="0"/>
            <a:r>
              <a:rPr lang="fr-FR" sz="1600" dirty="0"/>
              <a:t>La conception structurée</a:t>
            </a:r>
            <a:r>
              <a:rPr lang="en-US" dirty="0"/>
              <a:t/>
            </a:r>
            <a:br>
              <a:rPr lang="en-US" dirty="0"/>
            </a:br>
            <a:r>
              <a:rPr lang="fr-FR" sz="2300" dirty="0" err="1"/>
              <a:t>Packet</a:t>
            </a:r>
            <a:r>
              <a:rPr lang="fr-FR" sz="2300" dirty="0"/>
              <a:t> Tracer - Conception et mise en œuvre d'un schéma d'adressage VLSM</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24222" y="1390110"/>
            <a:ext cx="8280057" cy="3073946"/>
          </a:xfrm>
        </p:spPr>
        <p:txBody>
          <a:bodyPr/>
          <a:lstStyle/>
          <a:p>
            <a:pPr marL="0" indent="0" algn="l" rtl="0">
              <a:spcBef>
                <a:spcPts val="0"/>
              </a:spcBef>
            </a:pPr>
            <a:r>
              <a:rPr lang="fr-FR" sz="1600" dirty="0">
                <a:solidFill>
                  <a:srgbClr val="000000"/>
                </a:solidFill>
              </a:rPr>
              <a:t>Dans le cadre de ce </a:t>
            </a:r>
            <a:r>
              <a:rPr lang="fr-FR" sz="1600" dirty="0" err="1">
                <a:solidFill>
                  <a:srgbClr val="000000"/>
                </a:solidFill>
              </a:rPr>
              <a:t>Packet</a:t>
            </a:r>
            <a:r>
              <a:rPr lang="fr-FR" sz="1600" dirty="0">
                <a:solidFill>
                  <a:srgbClr val="000000"/>
                </a:solidFill>
              </a:rPr>
              <a:t> Tracer, vous ferez ce qui suit :</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dirty="0">
                <a:solidFill>
                  <a:srgbClr val="000000"/>
                </a:solidFill>
              </a:rPr>
              <a:t>Concevoir un schéma d'adressage IP VLSM compte tenu des exigences</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dirty="0">
                <a:solidFill>
                  <a:srgbClr val="000000"/>
                </a:solidFill>
              </a:rPr>
              <a:t>Configurer l'adressage sur les périphériques réseau et les hôtes</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dirty="0">
                <a:solidFill>
                  <a:srgbClr val="000000"/>
                </a:solidFill>
              </a:rPr>
              <a:t>Vérifier la connectivité IP</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dirty="0">
                <a:solidFill>
                  <a:srgbClr val="000000"/>
                </a:solidFill>
              </a:rPr>
              <a:t>Résolution des problèmes de connectivité.</a:t>
            </a: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c15="http://schemas.microsoft.com/office/drawing/2012/chart" xmlns:c="http://schemas.openxmlformats.org/drawingml/2006/chart" xmlns="" id="{C02AA8F8-1E43-384B-8982-C0BB94049B5C}"/>
              </a:ext>
            </a:extLst>
          </p:cNvPr>
          <p:cNvSpPr>
            <a:spLocks noGrp="1"/>
          </p:cNvSpPr>
          <p:nvPr>
            <p:ph type="title"/>
          </p:nvPr>
        </p:nvSpPr>
        <p:spPr>
          <a:xfrm>
            <a:off x="54244" y="232475"/>
            <a:ext cx="8345488" cy="731837"/>
          </a:xfrm>
        </p:spPr>
        <p:txBody>
          <a:bodyPr/>
          <a:lstStyle/>
          <a:p>
            <a:pPr rtl="0"/>
            <a:r>
              <a:rPr lang="fr-FR" sz="1600" dirty="0"/>
              <a:t>La conception structurée</a:t>
            </a:r>
            <a:r>
              <a:rPr lang="en-US" dirty="0"/>
              <a:t/>
            </a:r>
            <a:br>
              <a:rPr lang="en-US" dirty="0"/>
            </a:br>
            <a:r>
              <a:rPr lang="fr-FR" sz="2400" dirty="0"/>
              <a:t>Travaux pratiques - Conception et mise en œuvre d'un schéma d'adressage VLSM</a:t>
            </a:r>
          </a:p>
        </p:txBody>
      </p:sp>
      <p:sp>
        <p:nvSpPr>
          <p:cNvPr id="4" name="Content Placeholder 3">
            <a:extLst>
              <a:ext uri="{FF2B5EF4-FFF2-40B4-BE49-F238E27FC236}">
                <a16:creationId xmlns:a16="http://schemas.microsoft.com/office/drawing/2014/main" xmlns:c15="http://schemas.microsoft.com/office/drawing/2012/chart" xmlns:c="http://schemas.openxmlformats.org/drawingml/2006/chart" xmlns="" id="{50693879-5816-3444-9D50-A12F1F37F5DE}"/>
              </a:ext>
            </a:extLst>
          </p:cNvPr>
          <p:cNvSpPr>
            <a:spLocks noGrp="1"/>
          </p:cNvSpPr>
          <p:nvPr>
            <p:ph idx="1"/>
          </p:nvPr>
        </p:nvSpPr>
        <p:spPr>
          <a:xfrm>
            <a:off x="431971" y="1250626"/>
            <a:ext cx="8280057" cy="3073946"/>
          </a:xfrm>
        </p:spPr>
        <p:txBody>
          <a:bodyPr/>
          <a:lstStyle/>
          <a:p>
            <a:pPr marL="0" indent="0" algn="l" rtl="0"/>
            <a:r>
              <a:rPr lang="fr-FR" sz="1600" dirty="0">
                <a:solidFill>
                  <a:srgbClr val="000000"/>
                </a:solidFill>
              </a:rPr>
              <a:t>Au cours de ce travaux pratiques, vous réaliserez les objectifs suivants :</a:t>
            </a:r>
          </a:p>
          <a:p>
            <a:pPr marL="0" indent="0" algn="l"/>
            <a:endParaRPr lang="en-CA" sz="1600" dirty="0">
              <a:solidFill>
                <a:srgbClr val="000000"/>
              </a:solidFill>
            </a:endParaRPr>
          </a:p>
          <a:p>
            <a:pPr marL="342900" indent="-342900" algn="l" rtl="0">
              <a:buFont typeface="Arial" panose="020B0604020202020204" pitchFamily="34" charset="0"/>
              <a:buChar char="•"/>
            </a:pPr>
            <a:r>
              <a:rPr lang="fr-FR" sz="1600" dirty="0">
                <a:solidFill>
                  <a:srgbClr val="000000"/>
                </a:solidFill>
              </a:rPr>
              <a:t>Étudier les besoins du réseau</a:t>
            </a:r>
          </a:p>
          <a:p>
            <a:pPr marL="342900" indent="-342900" algn="l" rtl="0">
              <a:buFont typeface="Arial" panose="020B0604020202020204" pitchFamily="34" charset="0"/>
              <a:buChar char="•"/>
            </a:pPr>
            <a:r>
              <a:rPr lang="fr-FR" sz="1600" dirty="0">
                <a:solidFill>
                  <a:srgbClr val="000000"/>
                </a:solidFill>
              </a:rPr>
              <a:t>Concevoir le schéma d'adresses VLSM</a:t>
            </a:r>
          </a:p>
          <a:p>
            <a:pPr marL="342900" indent="-342900" algn="l" rtl="0">
              <a:buFont typeface="Arial" panose="020B0604020202020204" pitchFamily="34" charset="0"/>
              <a:buChar char="•"/>
            </a:pPr>
            <a:r>
              <a:rPr lang="fr-FR" sz="1600" dirty="0">
                <a:solidFill>
                  <a:srgbClr val="000000"/>
                </a:solidFill>
              </a:rPr>
              <a:t>Câbler et configurer le réseau IPv4</a:t>
            </a:r>
          </a:p>
        </p:txBody>
      </p:sp>
    </p:spTree>
    <p:extLst>
      <p:ext uri="{BB962C8B-B14F-4D97-AF65-F5344CB8AC3E}">
        <p14:creationId xmlns:p14="http://schemas.microsoft.com/office/powerpoint/2010/main" val="1575232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0" y="343610"/>
            <a:ext cx="9144000" cy="757551"/>
          </a:xfrm>
        </p:spPr>
        <p:txBody>
          <a:bodyPr/>
          <a:lstStyle/>
          <a:p>
            <a:pPr rtl="0"/>
            <a:r>
              <a:rPr lang="fr-FR" sz="1400" dirty="0">
                <a:latin typeface="Arial" charset="0"/>
              </a:rPr>
              <a:t>Module Pratique et Questionnaire</a:t>
            </a:r>
            <a:r>
              <a:rPr lang="en-US" dirty="0">
                <a:latin typeface="Arial" charset="0"/>
              </a:rPr>
              <a:t/>
            </a:r>
            <a:br>
              <a:rPr lang="en-US" dirty="0">
                <a:latin typeface="Arial" charset="0"/>
              </a:rPr>
            </a:br>
            <a:r>
              <a:rPr lang="fr-FR" dirty="0">
                <a:latin typeface="Arial" charset="0"/>
              </a:rPr>
              <a:t>Qu'est-ce que j'ai appris dans ce module?</a:t>
            </a:r>
          </a:p>
        </p:txBody>
      </p:sp>
      <p:sp>
        <p:nvSpPr>
          <p:cNvPr id="2" name="Content Placeholder 1">
            <a:extLst>
              <a:ext uri="{FF2B5EF4-FFF2-40B4-BE49-F238E27FC236}">
                <a16:creationId xmlns:a16="http://schemas.microsoft.com/office/drawing/2014/main" xmlns:c15="http://schemas.microsoft.com/office/drawing/2012/chart" xmlns:c="http://schemas.openxmlformats.org/drawingml/2006/chart" xmlns="" id="{BAC22E0C-A8B9-7D4B-BC8E-95F5947642E5}"/>
              </a:ext>
            </a:extLst>
          </p:cNvPr>
          <p:cNvSpPr>
            <a:spLocks noGrp="1"/>
          </p:cNvSpPr>
          <p:nvPr>
            <p:ph idx="1"/>
          </p:nvPr>
        </p:nvSpPr>
        <p:spPr>
          <a:xfrm>
            <a:off x="136316" y="1170903"/>
            <a:ext cx="8853286" cy="4155319"/>
          </a:xfrm>
        </p:spPr>
        <p:txBody>
          <a:bodyPr/>
          <a:lstStyle/>
          <a:p>
            <a:pPr marL="182563" indent="-166688" rtl="0">
              <a:spcBef>
                <a:spcPts val="300"/>
              </a:spcBef>
              <a:spcAft>
                <a:spcPts val="300"/>
              </a:spcAft>
              <a:buFont typeface="Arial" panose="020B0604020202020204" pitchFamily="34" charset="0"/>
              <a:buChar char="•"/>
            </a:pPr>
            <a:r>
              <a:rPr lang="fr-FR" sz="1400" dirty="0"/>
              <a:t>La structure d'adressage IP est constituée d'une adresse réseau hiérarchique 32 bits qui identifie un réseau et une partie hôte. Les périphériques réseau utilisent un processus appelé </a:t>
            </a:r>
            <a:r>
              <a:rPr lang="fr-FR" sz="1400" dirty="0" err="1"/>
              <a:t>ANDing</a:t>
            </a:r>
            <a:r>
              <a:rPr lang="fr-FR" sz="1400" dirty="0"/>
              <a:t> à l'aide de l'adresse IP et du masque de sous-réseau associé pour identifier les parties réseau et hôte.</a:t>
            </a:r>
          </a:p>
          <a:p>
            <a:pPr marL="182563" indent="-166688" rtl="0">
              <a:spcBef>
                <a:spcPts val="300"/>
              </a:spcBef>
              <a:spcAft>
                <a:spcPts val="300"/>
              </a:spcAft>
              <a:buFont typeface="Arial" panose="020B0604020202020204" pitchFamily="34" charset="0"/>
              <a:buChar char="•"/>
            </a:pPr>
            <a:r>
              <a:rPr lang="fr-FR" sz="1400" dirty="0"/>
              <a:t>Les paquets IPv4 de destination peuvent être monodiffusion, diffusion et multidiffusion.</a:t>
            </a:r>
          </a:p>
          <a:p>
            <a:pPr marL="182563" indent="-166688" rtl="0">
              <a:spcBef>
                <a:spcPts val="300"/>
              </a:spcBef>
              <a:spcAft>
                <a:spcPts val="300"/>
              </a:spcAft>
              <a:buFont typeface="Arial" panose="020B0604020202020204" pitchFamily="34" charset="0"/>
              <a:buChar char="•"/>
            </a:pPr>
            <a:r>
              <a:rPr lang="fr-FR" sz="1400" dirty="0"/>
              <a:t>Il existe des adresses IP routables globalement telles qu'assignées par l'IANA et il existe trois plages d'adresses IP privées qui ne peuvent pas être routées globalement mais peuvent être utilisées sur tous les réseaux privés internes.</a:t>
            </a:r>
          </a:p>
          <a:p>
            <a:pPr marL="182563" indent="-166688" rtl="0">
              <a:spcBef>
                <a:spcPts val="300"/>
              </a:spcBef>
              <a:spcAft>
                <a:spcPts val="300"/>
              </a:spcAft>
              <a:buFont typeface="Arial" panose="020B0604020202020204" pitchFamily="34" charset="0"/>
              <a:buChar char="•"/>
            </a:pPr>
            <a:r>
              <a:rPr lang="fr-FR" sz="1400" dirty="0"/>
              <a:t>Réduisez les grands domaines de diffusion à l'aide de sous-réseaux pour créer des domaines de diffusion plus petits, réduire le trafic réseau global et améliorer les performances du réseau. </a:t>
            </a:r>
          </a:p>
          <a:p>
            <a:pPr marL="182563" indent="-166688" rtl="0">
              <a:spcBef>
                <a:spcPts val="300"/>
              </a:spcBef>
              <a:spcAft>
                <a:spcPts val="300"/>
              </a:spcAft>
              <a:buFont typeface="Arial" panose="020B0604020202020204" pitchFamily="34" charset="0"/>
              <a:buChar char="•"/>
            </a:pPr>
            <a:r>
              <a:rPr lang="fr-FR" sz="1400" dirty="0"/>
              <a:t>Créer des sous-réseaux IPv4 en utilisant un ou plusieurs bits d'hôte en tant que bits réseau. Cependant, les réseaux sont plus facilement segmentés en sous-réseaux à la limite des octets /8, /16 et /24.</a:t>
            </a:r>
          </a:p>
          <a:p>
            <a:pPr marL="182563" indent="-166688" rtl="0">
              <a:spcBef>
                <a:spcPts val="300"/>
              </a:spcBef>
              <a:spcAft>
                <a:spcPts val="300"/>
              </a:spcAft>
              <a:buFont typeface="Arial" panose="020B0604020202020204" pitchFamily="34" charset="0"/>
              <a:buChar char="•"/>
            </a:pPr>
            <a:r>
              <a:rPr lang="fr-FR" sz="1400" dirty="0"/>
              <a:t>Les plus grands réseaux peuvent être segmenter en sous-réseaux aux limites /8 ou /16.</a:t>
            </a:r>
          </a:p>
          <a:p>
            <a:pPr marL="182563" indent="-166688" rtl="0">
              <a:spcBef>
                <a:spcPts val="300"/>
              </a:spcBef>
              <a:spcAft>
                <a:spcPts val="300"/>
              </a:spcAft>
              <a:buFont typeface="Arial" panose="020B0604020202020204" pitchFamily="34" charset="0"/>
              <a:buChar char="•"/>
            </a:pPr>
            <a:r>
              <a:rPr lang="fr-FR" sz="1400" dirty="0"/>
              <a:t>Utilisez VLSM pour réduire le nombre d'adresses hôtes inutilisées par sous-réseau.</a:t>
            </a:r>
          </a:p>
          <a:p>
            <a:pPr marL="173037" indent="-342900">
              <a:spcBef>
                <a:spcPts val="300"/>
              </a:spcBef>
              <a:spcAft>
                <a:spcPts val="300"/>
              </a:spcAft>
              <a:buFont typeface="Arial" panose="020B0604020202020204" pitchFamily="34" charset="0"/>
              <a:buChar char="•"/>
            </a:pPr>
            <a:endParaRPr lang="en-US" sz="14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0" y="273868"/>
            <a:ext cx="9144000" cy="757551"/>
          </a:xfrm>
        </p:spPr>
        <p:txBody>
          <a:bodyPr/>
          <a:lstStyle/>
          <a:p>
            <a:pPr rtl="0"/>
            <a:r>
              <a:rPr lang="fr-FR" sz="1400" dirty="0">
                <a:latin typeface="Arial" charset="0"/>
              </a:rPr>
              <a:t>Module pratique et questionnaire</a:t>
            </a:r>
            <a:r>
              <a:rPr lang="en-US" dirty="0">
                <a:latin typeface="Arial" charset="0"/>
              </a:rPr>
              <a:t/>
            </a:r>
            <a:br>
              <a:rPr lang="en-US" dirty="0">
                <a:latin typeface="Arial" charset="0"/>
              </a:rPr>
            </a:br>
            <a:r>
              <a:rPr lang="fr-FR" dirty="0">
                <a:latin typeface="Arial" charset="0"/>
              </a:rPr>
              <a:t>Qu'est-ce que j'ai appris dans ce module? (Suite)</a:t>
            </a:r>
          </a:p>
        </p:txBody>
      </p:sp>
      <p:sp>
        <p:nvSpPr>
          <p:cNvPr id="2" name="Content Placeholder 1">
            <a:extLst>
              <a:ext uri="{FF2B5EF4-FFF2-40B4-BE49-F238E27FC236}">
                <a16:creationId xmlns:a16="http://schemas.microsoft.com/office/drawing/2014/main" xmlns:c15="http://schemas.microsoft.com/office/drawing/2012/chart" xmlns:c="http://schemas.openxmlformats.org/drawingml/2006/chart" xmlns="" id="{BAC22E0C-A8B9-7D4B-BC8E-95F5947642E5}"/>
              </a:ext>
            </a:extLst>
          </p:cNvPr>
          <p:cNvSpPr>
            <a:spLocks noGrp="1"/>
          </p:cNvSpPr>
          <p:nvPr>
            <p:ph idx="1"/>
          </p:nvPr>
        </p:nvSpPr>
        <p:spPr>
          <a:xfrm>
            <a:off x="97570" y="1054666"/>
            <a:ext cx="8853286" cy="4155319"/>
          </a:xfrm>
        </p:spPr>
        <p:txBody>
          <a:bodyPr/>
          <a:lstStyle/>
          <a:p>
            <a:pPr marL="182563" indent="-166688" rtl="0">
              <a:spcBef>
                <a:spcPts val="300"/>
              </a:spcBef>
              <a:spcAft>
                <a:spcPts val="300"/>
              </a:spcAft>
              <a:buFont typeface="Arial" panose="020B0604020202020204" pitchFamily="34" charset="0"/>
              <a:buChar char="•"/>
            </a:pPr>
            <a:r>
              <a:rPr lang="fr-FR" sz="1600" dirty="0"/>
              <a:t>la méthode VLSM permet de diviser un espace réseau en parties inégales. Commencez toujours par répondre aux besoins en hôtes du plus grand sous-réseau. Poursuivez la segmentation jusqu'à ce que les besoins en hôtes du plus petit sous-réseau soient satisfaits. </a:t>
            </a:r>
          </a:p>
          <a:p>
            <a:pPr marL="182563" indent="-166688" rtl="0">
              <a:spcBef>
                <a:spcPts val="300"/>
              </a:spcBef>
              <a:spcAft>
                <a:spcPts val="300"/>
              </a:spcAft>
              <a:buFont typeface="Arial" panose="020B0604020202020204" pitchFamily="34" charset="0"/>
              <a:buChar char="•"/>
            </a:pPr>
            <a:r>
              <a:rPr lang="fr-FR" sz="1600" dirty="0"/>
              <a:t>Lorsque vous créez un système d'adressage réseau, tenez compte des exigences internes, DMZ et externes. Utiliser un système d'adressage IP interne cohérent avec un modèle défini d'attribution des adresses à chaque type de périphérique.</a:t>
            </a:r>
          </a:p>
        </p:txBody>
      </p:sp>
    </p:spTree>
    <p:custDataLst>
      <p:tags r:id="rId1"/>
    </p:custDataLst>
    <p:extLst>
      <p:ext uri="{BB962C8B-B14F-4D97-AF65-F5344CB8AC3E}">
        <p14:creationId xmlns:p14="http://schemas.microsoft.com/office/powerpoint/2010/main" val="3916308058"/>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fr-FR" sz="1400">
                <a:latin typeface="Arial" charset="0"/>
              </a:rPr>
              <a:t>Module 11: IPv4 Addressing</a:t>
            </a:r>
            <a:r>
              <a:rPr lang="en-US" dirty="0">
                <a:latin typeface="Arial" charset="0"/>
              </a:rPr>
              <a:t/>
            </a:r>
            <a:br>
              <a:rPr lang="en-US" dirty="0">
                <a:latin typeface="Arial" charset="0"/>
              </a:rPr>
            </a:br>
            <a:r>
              <a:rPr lang="fr-FR">
                <a:latin typeface="Arial" charset="0"/>
              </a:rPr>
              <a:t>New Terms and Commands</a:t>
            </a:r>
          </a:p>
        </p:txBody>
      </p:sp>
      <p:graphicFrame>
        <p:nvGraphicFramePr>
          <p:cNvPr id="9" name="Table 9">
            <a:extLst>
              <a:ext uri="{FF2B5EF4-FFF2-40B4-BE49-F238E27FC236}">
                <a16:creationId xmlns:a16="http://schemas.microsoft.com/office/drawing/2014/main" xmlns:c15="http://schemas.microsoft.com/office/drawing/2012/chart" xmlns:c="http://schemas.openxmlformats.org/drawingml/2006/chart" xmlns="" id="{F2480B83-AF5E-4A70-B69B-F1E3A8FAC758}"/>
              </a:ext>
            </a:extLst>
          </p:cNvPr>
          <p:cNvGraphicFramePr>
            <a:graphicFrameLocks noGrp="1"/>
          </p:cNvGraphicFramePr>
          <p:nvPr>
            <p:ph idx="1"/>
            <p:extLst>
              <p:ext uri="{D42A27DB-BD31-4B8C-83A1-F6EECF244321}">
                <p14:modId xmlns:p14="http://schemas.microsoft.com/office/powerpoint/2010/main" val="3603603940"/>
              </p:ext>
            </p:extLst>
          </p:nvPr>
        </p:nvGraphicFramePr>
        <p:xfrm>
          <a:off x="144463" y="798513"/>
          <a:ext cx="8853486" cy="307848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xmlns:c15="http://schemas.microsoft.com/office/drawing/2012/chart" xmlns:c="http://schemas.openxmlformats.org/drawingml/2006/chart" xmlns="" val="3270854437"/>
                    </a:ext>
                  </a:extLst>
                </a:gridCol>
                <a:gridCol w="4426743">
                  <a:extLst>
                    <a:ext uri="{9D8B030D-6E8A-4147-A177-3AD203B41FA5}">
                      <a16:colId xmlns:a16="http://schemas.microsoft.com/office/drawing/2014/main" xmlns:c15="http://schemas.microsoft.com/office/drawing/2012/chart" xmlns:c="http://schemas.openxmlformats.org/drawingml/2006/chart" xmlns="" val="1988644124"/>
                    </a:ext>
                  </a:extLst>
                </a:gridCol>
              </a:tblGrid>
              <a:tr h="370840">
                <a:tc>
                  <a:txBody>
                    <a:bodyPr/>
                    <a:lstStyle/>
                    <a:p>
                      <a:pPr marL="285750" indent="-285750" rtl="0">
                        <a:buFont typeface="Arial" panose="020B0604020202020204" pitchFamily="34" charset="0"/>
                        <a:buChar char="•"/>
                      </a:pPr>
                      <a:r>
                        <a:rPr lang="fr-FR" b="0">
                          <a:solidFill>
                            <a:srgbClr val="000000"/>
                          </a:solidFill>
                        </a:rPr>
                        <a:t>prefix length</a:t>
                      </a:r>
                    </a:p>
                    <a:p>
                      <a:pPr marL="285750" indent="-285750" rtl="0">
                        <a:buFont typeface="Arial" panose="020B0604020202020204" pitchFamily="34" charset="0"/>
                        <a:buChar char="•"/>
                      </a:pPr>
                      <a:r>
                        <a:rPr lang="fr-FR" b="0">
                          <a:solidFill>
                            <a:srgbClr val="000000"/>
                          </a:solidFill>
                        </a:rPr>
                        <a:t>logical AND</a:t>
                      </a:r>
                    </a:p>
                    <a:p>
                      <a:pPr marL="285750" indent="-285750" rtl="0">
                        <a:buFont typeface="Arial" panose="020B0604020202020204" pitchFamily="34" charset="0"/>
                        <a:buChar char="•"/>
                      </a:pPr>
                      <a:r>
                        <a:rPr lang="fr-FR" b="0">
                          <a:solidFill>
                            <a:srgbClr val="000000"/>
                          </a:solidFill>
                        </a:rPr>
                        <a:t>network address</a:t>
                      </a:r>
                    </a:p>
                    <a:p>
                      <a:pPr marL="285750" indent="-285750" rtl="0">
                        <a:buFont typeface="Arial" panose="020B0604020202020204" pitchFamily="34" charset="0"/>
                        <a:buChar char="•"/>
                      </a:pPr>
                      <a:r>
                        <a:rPr lang="fr-FR" b="0">
                          <a:solidFill>
                            <a:srgbClr val="000000"/>
                          </a:solidFill>
                        </a:rPr>
                        <a:t>broadcast address</a:t>
                      </a:r>
                    </a:p>
                    <a:p>
                      <a:pPr marL="285750" indent="-285750" rtl="0">
                        <a:buFont typeface="Arial" panose="020B0604020202020204" pitchFamily="34" charset="0"/>
                        <a:buChar char="•"/>
                      </a:pPr>
                      <a:r>
                        <a:rPr lang="fr-FR" b="0">
                          <a:solidFill>
                            <a:srgbClr val="000000"/>
                          </a:solidFill>
                        </a:rPr>
                        <a:t>first usable address</a:t>
                      </a:r>
                    </a:p>
                    <a:p>
                      <a:pPr marL="285750" indent="-285750" rtl="0">
                        <a:buFont typeface="Arial" panose="020B0604020202020204" pitchFamily="34" charset="0"/>
                        <a:buChar char="•"/>
                      </a:pPr>
                      <a:r>
                        <a:rPr lang="fr-FR" b="0">
                          <a:solidFill>
                            <a:srgbClr val="000000"/>
                          </a:solidFill>
                        </a:rPr>
                        <a:t>last usable address</a:t>
                      </a:r>
                    </a:p>
                    <a:p>
                      <a:pPr marL="285750" indent="-285750" rtl="0">
                        <a:buFont typeface="Arial" panose="020B0604020202020204" pitchFamily="34" charset="0"/>
                        <a:buChar char="•"/>
                      </a:pPr>
                      <a:r>
                        <a:rPr lang="fr-FR" b="0">
                          <a:solidFill>
                            <a:srgbClr val="000000"/>
                          </a:solidFill>
                        </a:rPr>
                        <a:t>unicast, broadcast, and multicast transmissions</a:t>
                      </a:r>
                    </a:p>
                    <a:p>
                      <a:pPr marL="285750" indent="-285750" rtl="0">
                        <a:buFont typeface="Arial" panose="020B0604020202020204" pitchFamily="34" charset="0"/>
                        <a:buChar char="•"/>
                      </a:pPr>
                      <a:r>
                        <a:rPr lang="fr-FR" b="0">
                          <a:solidFill>
                            <a:srgbClr val="000000"/>
                          </a:solidFill>
                        </a:rPr>
                        <a:t>private addresses</a:t>
                      </a:r>
                    </a:p>
                    <a:p>
                      <a:pPr marL="285750" indent="-285750" rtl="0">
                        <a:buFont typeface="Arial" panose="020B0604020202020204" pitchFamily="34" charset="0"/>
                        <a:buChar char="•"/>
                      </a:pPr>
                      <a:r>
                        <a:rPr lang="fr-FR" b="0">
                          <a:solidFill>
                            <a:srgbClr val="000000"/>
                          </a:solidFill>
                        </a:rPr>
                        <a:t>public addresses</a:t>
                      </a:r>
                    </a:p>
                    <a:p>
                      <a:pPr marL="285750" indent="-285750" rtl="0">
                        <a:buFont typeface="Arial" panose="020B0604020202020204" pitchFamily="34" charset="0"/>
                        <a:buChar char="•"/>
                      </a:pPr>
                      <a:r>
                        <a:rPr lang="fr-FR" b="0">
                          <a:solidFill>
                            <a:srgbClr val="000000"/>
                          </a:solidFill>
                        </a:rPr>
                        <a:t>Network Address Translation (NAT)</a:t>
                      </a:r>
                    </a:p>
                    <a:p>
                      <a:pPr marL="285750" indent="-285750" rtl="0">
                        <a:buFont typeface="Arial" panose="020B0604020202020204" pitchFamily="34" charset="0"/>
                        <a:buChar char="•"/>
                      </a:pPr>
                      <a:r>
                        <a:rPr lang="fr-FR" b="0">
                          <a:solidFill>
                            <a:srgbClr val="000000"/>
                          </a:solidFill>
                        </a:rPr>
                        <a:t>loopback addresses</a:t>
                      </a:r>
                    </a:p>
                    <a:p>
                      <a:pPr marL="285750" indent="-285750" rtl="0">
                        <a:buFont typeface="Arial" panose="020B0604020202020204" pitchFamily="34" charset="0"/>
                        <a:buChar char="•"/>
                      </a:pPr>
                      <a:r>
                        <a:rPr lang="fr-FR" b="0">
                          <a:solidFill>
                            <a:srgbClr val="000000"/>
                          </a:solidFill>
                        </a:rPr>
                        <a:t>Automatic Private IP Addressing (APIPA) addresses</a:t>
                      </a:r>
                    </a:p>
                    <a:p>
                      <a:pPr marL="285750" indent="-285750" rtl="0">
                        <a:buFont typeface="Arial" panose="020B0604020202020204" pitchFamily="34" charset="0"/>
                        <a:buChar char="•"/>
                      </a:pPr>
                      <a:r>
                        <a:rPr lang="fr-FR" b="0">
                          <a:solidFill>
                            <a:srgbClr val="000000"/>
                          </a:solidFill>
                        </a:rPr>
                        <a:t>classful addressing (Class A, B, C, D, and 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fr-FR" b="0">
                          <a:solidFill>
                            <a:srgbClr val="000000"/>
                          </a:solidFill>
                        </a:rPr>
                        <a:t>Internet Assigned Numbers Authority (IANA)</a:t>
                      </a:r>
                    </a:p>
                    <a:p>
                      <a:pPr rtl="0"/>
                      <a:r>
                        <a:rPr lang="fr-FR" b="0">
                          <a:solidFill>
                            <a:srgbClr val="000000"/>
                          </a:solidFill>
                        </a:rPr>
                        <a:t>Regional Internet Registries (RIRs)</a:t>
                      </a:r>
                    </a:p>
                    <a:p>
                      <a:pPr rtl="0"/>
                      <a:r>
                        <a:rPr lang="fr-FR" b="0">
                          <a:solidFill>
                            <a:srgbClr val="000000"/>
                          </a:solidFill>
                        </a:rPr>
                        <a:t>AfriNIC, APNIC, ARIN, LACNIC, and RIPE NCC </a:t>
                      </a:r>
                    </a:p>
                    <a:p>
                      <a:pPr rtl="0"/>
                      <a:r>
                        <a:rPr lang="fr-FR" b="0">
                          <a:solidFill>
                            <a:srgbClr val="000000"/>
                          </a:solidFill>
                        </a:rPr>
                        <a:t>broadcast domains</a:t>
                      </a:r>
                    </a:p>
                    <a:p>
                      <a:pPr rtl="0"/>
                      <a:r>
                        <a:rPr lang="fr-FR" b="0">
                          <a:solidFill>
                            <a:srgbClr val="000000"/>
                          </a:solidFill>
                        </a:rPr>
                        <a:t>subnets</a:t>
                      </a:r>
                    </a:p>
                    <a:p>
                      <a:pPr rtl="0"/>
                      <a:r>
                        <a:rPr lang="fr-FR" b="0">
                          <a:solidFill>
                            <a:srgbClr val="000000"/>
                          </a:solidFill>
                        </a:rPr>
                        <a:t>octet boundary</a:t>
                      </a:r>
                    </a:p>
                    <a:p>
                      <a:pPr rtl="0"/>
                      <a:r>
                        <a:rPr lang="fr-FR" b="0">
                          <a:solidFill>
                            <a:srgbClr val="000000"/>
                          </a:solidFill>
                        </a:rPr>
                        <a:t>variable-length subnet mask (VLSM) </a:t>
                      </a:r>
                    </a:p>
                    <a:p>
                      <a:endParaRPr lang="en-US" b="0"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c15="http://schemas.microsoft.com/office/drawing/2012/chart" xmlns:c="http://schemas.openxmlformats.org/drawingml/2006/chart" xmlns=""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xmlns=""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10375</TotalTime>
  <Words>5855</Words>
  <Application>Microsoft Office PowerPoint</Application>
  <PresentationFormat>On-screen Show (16:9)</PresentationFormat>
  <Paragraphs>1041</Paragraphs>
  <Slides>72</Slides>
  <Notes>70</Notes>
  <HiddenSlides>13</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Default Theme</vt:lpstr>
      <vt:lpstr>Module 11: Adressage IPv4</vt:lpstr>
      <vt:lpstr>Instructor Materials – Module 11 Planning Guide</vt:lpstr>
      <vt:lpstr>What to Expect in this Module</vt:lpstr>
      <vt:lpstr>What to Expect in this Module (Cont.)</vt:lpstr>
      <vt:lpstr>Check Your Understanding</vt:lpstr>
      <vt:lpstr>Module 11: Activities</vt:lpstr>
      <vt:lpstr>Module 11: Activities (Cont.)</vt:lpstr>
      <vt:lpstr>Module 11: Activities (Cont.)</vt:lpstr>
      <vt:lpstr>Module 11: Best Practices</vt:lpstr>
      <vt:lpstr>Module 11: Best Practices (Cont.)</vt:lpstr>
      <vt:lpstr>Module 11: Best Practices (Cont.)</vt:lpstr>
      <vt:lpstr>Module 11: Best Practices (Cont.)</vt:lpstr>
      <vt:lpstr>Module 11: Best Practices (Cont.)</vt:lpstr>
      <vt:lpstr>Module 11: Adressage IPv4</vt:lpstr>
      <vt:lpstr>Objectifs du Module</vt:lpstr>
      <vt:lpstr>11.1 Structure de l'adresse IPv4 </vt:lpstr>
      <vt:lpstr>La structure d'une adresse IPv4 Les parties réseau et hôte</vt:lpstr>
      <vt:lpstr>La structure d'une adresse IPv4 Le masque de sous-réseau</vt:lpstr>
      <vt:lpstr>La structure d'une adresse La longueur de préfixe</vt:lpstr>
      <vt:lpstr>Structure d'adresse IPv4 Détermination du réseau: AND (ET) logique</vt:lpstr>
      <vt:lpstr>La structure d'une adresse IPv4 Démonstration vidéo - réseau, hôte et adresses de diffusion</vt:lpstr>
      <vt:lpstr>La structure d'une adresse IPv4 Adresses réseau, d'hôte et de diffusion</vt:lpstr>
      <vt:lpstr>11.2 Adresses IPv4 de monodiffusion, de diffusion et de multidiffusion</vt:lpstr>
      <vt:lpstr>Adresses IPv4 de monodiffusion, de diffusion et de multidiffusion Monodiffusion</vt:lpstr>
      <vt:lpstr>Adresses IPv4 de monodiffusion, de diffusion et de multidiffusion Diffusion</vt:lpstr>
      <vt:lpstr>Adresses IPv4 de monodiffusion, de diffusion et de multidiffusion Multidiffusion</vt:lpstr>
      <vt:lpstr>11.3 Types d'adresses IPv4</vt:lpstr>
      <vt:lpstr>Types d'adresses IPv4 Les adresses IPv4 publiques et privées</vt:lpstr>
      <vt:lpstr>Types d'adresses IPv4 Routage vers l'internet</vt:lpstr>
      <vt:lpstr>Les types d'adresses IPv4 Les adresses IPv4 des utilisateurs spéciaux</vt:lpstr>
      <vt:lpstr>Les types d'adresses IPv4 Ancien système d'adressage par classe</vt:lpstr>
      <vt:lpstr>Types d'adresses IPv4  Attribution des adresses IP</vt:lpstr>
      <vt:lpstr>11.4 Segmentation du réseau </vt:lpstr>
      <vt:lpstr>La segmentation du réseau  Domaines de diffusion et de segmentation</vt:lpstr>
      <vt:lpstr>Segmentation du réseau Problèmes liés aux domaines de diffusion importants</vt:lpstr>
      <vt:lpstr>Segmentation du réseau Pourquoi créer des sous-réseaux ?</vt:lpstr>
      <vt:lpstr>11.5 Segmentation un réseau IPv4 en sous-réseaux </vt:lpstr>
      <vt:lpstr>Segmenter un réseau IPv4 en sous-réseaux Segmentation des réseaux à la limite d'octet</vt:lpstr>
      <vt:lpstr>Segmenter un réseau IPv4 en sous-réseaux  Création de sous-réseaux au niveau de la limite d'octet (suite)</vt:lpstr>
      <vt:lpstr>Segmenter un réseau IPv4 en sous-réseaux Création de sous-réseaux au niveau de la limite d'octet</vt:lpstr>
      <vt:lpstr>Segmenter un réseau IPv4 en sous-réseaux Démonstration vidéo – Le masque de sous-réseau</vt:lpstr>
      <vt:lpstr>Segmentation un réseau IPv4 en sous-réseaux Démonstration vidéo – Segmenter en sous-réseaux à l'aide du nombre magique</vt:lpstr>
      <vt:lpstr>Segmentation un réseau IPv4 en sous- réseaux Packet Tracer - Segmentation un réseau IPv4 en sous- réseaux</vt:lpstr>
      <vt:lpstr>11.6 Création de sous-réseaux avec le préfixe /16 et /8</vt:lpstr>
      <vt:lpstr>Sous-réseaux avec le préfixe /16 et /8 Créer des sous-réseaux avec un préfixe /16</vt:lpstr>
      <vt:lpstr>Création de sous-réseaux avec le préfixe /16 et /8 Créer 100 sous-réseaux avec un préfixe /16</vt:lpstr>
      <vt:lpstr>Création de sous-réseaux avec le préfixe /8 Créer 100 sous-réseaux avec un préfixe /8</vt:lpstr>
      <vt:lpstr>Création de sous-réseaux avec le préfixe /16 et /8 Démonstration vidéo - Segmentation en sous-réseaux sur plusieurs octets</vt:lpstr>
      <vt:lpstr>Création de sous-réseaux avec le préfixe /16 et /8 Travaux pratiques - Formules de calcul des sous-réseaux IPv4</vt:lpstr>
      <vt:lpstr>11.7 Segmentation du réseau selon ses besoins</vt:lpstr>
      <vt:lpstr>Sous-réseau pour répondre aux exigences Sous-réseau privé et espace d'adressage IPv4 public</vt:lpstr>
      <vt:lpstr>Segmentation du réseau selon ses besoins Réduire les adresses IPv4 de l'hôte inutilisées et maximiser les sous-réseaux</vt:lpstr>
      <vt:lpstr>Segmentation du réseau selon ses besoins Exemple de besoins d'un réseau</vt:lpstr>
      <vt:lpstr>Segmentation du réseau selon ses besoins Packet Tracer - Scénario de segmentation en sous-réseaux</vt:lpstr>
      <vt:lpstr>11.8 VLSM </vt:lpstr>
      <vt:lpstr> Vidéo VLSM — Notions de base VLSM</vt:lpstr>
      <vt:lpstr>VLSM Vidéo - Exemple de VLSM</vt:lpstr>
      <vt:lpstr>Conservation des adresses IPv4VLSM </vt:lpstr>
      <vt:lpstr>VLSM Conservation des adresses IPv4 (suite)</vt:lpstr>
      <vt:lpstr>VLSM VLSM</vt:lpstr>
      <vt:lpstr>VLSM Attribution d'adresse de topologie VLSM </vt:lpstr>
      <vt:lpstr>11.9 La conception structurée </vt:lpstr>
      <vt:lpstr>La conception structurée  Planification de l'adressage réseau</vt:lpstr>
      <vt:lpstr>Conception structurée Attribution d'adresse de périphérique</vt:lpstr>
      <vt:lpstr>Conception structurée Packet Tracer - Pratique de conception et mise en œuvre d'un système d'adressage avec des VLSM</vt:lpstr>
      <vt:lpstr>11.10 Module pratique et questionnaire</vt:lpstr>
      <vt:lpstr>La conception structurée Packet Tracer - Conception et mise en œuvre d'un schéma d'adressage VLSM</vt:lpstr>
      <vt:lpstr>La conception structurée Travaux pratiques - Conception et mise en œuvre d'un schéma d'adressage VLSM</vt:lpstr>
      <vt:lpstr>Module Pratique et Questionnaire Qu'est-ce que j'ai appris dans ce module?</vt:lpstr>
      <vt:lpstr>Module pratique et questionnaire Qu'est-ce que j'ai appris dans ce module? (Suite)</vt:lpstr>
      <vt:lpstr>Module 11: IPv4 Addressing New Terms and Commands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Rasha Ismail</cp:lastModifiedBy>
  <cp:revision>297</cp:revision>
  <dcterms:created xsi:type="dcterms:W3CDTF">2019-10-18T06:21:22Z</dcterms:created>
  <dcterms:modified xsi:type="dcterms:W3CDTF">2020-06-02T09:29:57Z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