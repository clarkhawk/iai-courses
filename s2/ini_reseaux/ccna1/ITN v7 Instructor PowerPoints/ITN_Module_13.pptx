
<file path=[Content_Types].xml><?xml version="1.0" encoding="utf-8"?>
<Types xmlns="http://schemas.openxmlformats.org/package/2006/content-types">
  <Default Extension="jpeg" ContentType="image/jpe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tags/tag13.xml" ContentType="application/vnd.openxmlformats-officedocument.presentationml.tags+xml"/>
  <Override PartName="/ppt/notesSlides/notesSlide10.xml" ContentType="application/vnd.openxmlformats-officedocument.presentationml.notesSlide+xml"/>
  <Override PartName="/ppt/tags/tag14.xml" ContentType="application/vnd.openxmlformats-officedocument.presentationml.tags+xml"/>
  <Override PartName="/ppt/notesSlides/notesSlide11.xml" ContentType="application/vnd.openxmlformats-officedocument.presentationml.notesSlide+xml"/>
  <Override PartName="/ppt/tags/tag15.xml" ContentType="application/vnd.openxmlformats-officedocument.presentationml.tags+xml"/>
  <Override PartName="/ppt/notesSlides/notesSlide12.xml" ContentType="application/vnd.openxmlformats-officedocument.presentationml.notesSlide+xml"/>
  <Override PartName="/ppt/tags/tag16.xml" ContentType="application/vnd.openxmlformats-officedocument.presentationml.tags+xml"/>
  <Override PartName="/ppt/notesSlides/notesSlide13.xml" ContentType="application/vnd.openxmlformats-officedocument.presentationml.notesSlide+xml"/>
  <Override PartName="/ppt/tags/tag17.xml" ContentType="application/vnd.openxmlformats-officedocument.presentationml.tags+xml"/>
  <Override PartName="/ppt/notesSlides/notesSlide14.xml" ContentType="application/vnd.openxmlformats-officedocument.presentationml.notesSlide+xml"/>
  <Override PartName="/ppt/tags/tag18.xml" ContentType="application/vnd.openxmlformats-officedocument.presentationml.tags+xml"/>
  <Override PartName="/ppt/notesSlides/notesSlide15.xml" ContentType="application/vnd.openxmlformats-officedocument.presentationml.notesSlide+xml"/>
  <Override PartName="/ppt/tags/tag19.xml" ContentType="application/vnd.openxmlformats-officedocument.presentationml.tags+xml"/>
  <Override PartName="/ppt/notesSlides/notesSlide16.xml" ContentType="application/vnd.openxmlformats-officedocument.presentationml.notesSlide+xml"/>
  <Override PartName="/ppt/tags/tag20.xml" ContentType="application/vnd.openxmlformats-officedocument.presentationml.tags+xml"/>
  <Override PartName="/ppt/notesSlides/notesSlide17.xml" ContentType="application/vnd.openxmlformats-officedocument.presentationml.notesSlide+xml"/>
  <Override PartName="/ppt/tags/tag21.xml" ContentType="application/vnd.openxmlformats-officedocument.presentationml.tags+xml"/>
  <Override PartName="/ppt/notesSlides/notesSlide18.xml" ContentType="application/vnd.openxmlformats-officedocument.presentationml.notesSlide+xml"/>
  <Override PartName="/ppt/tags/tag22.xml" ContentType="application/vnd.openxmlformats-officedocument.presentationml.tags+xml"/>
  <Override PartName="/ppt/notesSlides/notesSlide19.xml" ContentType="application/vnd.openxmlformats-officedocument.presentationml.notesSlide+xml"/>
  <Override PartName="/ppt/tags/tag23.xml" ContentType="application/vnd.openxmlformats-officedocument.presentationml.tags+xml"/>
  <Override PartName="/ppt/notesSlides/notesSlide20.xml" ContentType="application/vnd.openxmlformats-officedocument.presentationml.notesSlide+xml"/>
  <Override PartName="/ppt/tags/tag24.xml" ContentType="application/vnd.openxmlformats-officedocument.presentationml.tags+xml"/>
  <Override PartName="/ppt/notesSlides/notesSlide21.xml" ContentType="application/vnd.openxmlformats-officedocument.presentationml.notesSlide+xml"/>
  <Override PartName="/ppt/tags/tag25.xml" ContentType="application/vnd.openxmlformats-officedocument.presentationml.tags+xml"/>
  <Override PartName="/ppt/notesSlides/notesSlide22.xml" ContentType="application/vnd.openxmlformats-officedocument.presentationml.notesSlide+xml"/>
  <Override PartName="/ppt/tags/tag26.xml" ContentType="application/vnd.openxmlformats-officedocument.presentationml.tags+xml"/>
  <Override PartName="/ppt/notesSlides/notesSlide23.xml" ContentType="application/vnd.openxmlformats-officedocument.presentationml.notesSlide+xml"/>
  <Override PartName="/ppt/tags/tag27.xml" ContentType="application/vnd.openxmlformats-officedocument.presentationml.tags+xml"/>
  <Override PartName="/ppt/notesSlides/notesSlide24.xml" ContentType="application/vnd.openxmlformats-officedocument.presentationml.notesSlide+xml"/>
  <Override PartName="/ppt/tags/tag28.xml" ContentType="application/vnd.openxmlformats-officedocument.presentationml.tags+xml"/>
  <Override PartName="/ppt/notesSlides/notesSlide25.xml" ContentType="application/vnd.openxmlformats-officedocument.presentationml.notesSlide+xml"/>
  <Override PartName="/ppt/tags/tag29.xml" ContentType="application/vnd.openxmlformats-officedocument.presentationml.tags+xml"/>
  <Override PartName="/ppt/notesSlides/notesSlide26.xml" ContentType="application/vnd.openxmlformats-officedocument.presentationml.notesSlide+xml"/>
  <Override PartName="/ppt/tags/tag30.xml" ContentType="application/vnd.openxmlformats-officedocument.presentationml.tags+xml"/>
  <Override PartName="/ppt/notesSlides/notesSlide27.xml" ContentType="application/vnd.openxmlformats-officedocument.presentationml.notesSlide+xml"/>
  <Override PartName="/ppt/tags/tag31.xml" ContentType="application/vnd.openxmlformats-officedocument.presentationml.tags+xml"/>
  <Override PartName="/ppt/notesSlides/notesSlide28.xml" ContentType="application/vnd.openxmlformats-officedocument.presentationml.notesSlide+xml"/>
  <Override PartName="/ppt/tags/tag32.xml" ContentType="application/vnd.openxmlformats-officedocument.presentationml.tags+xml"/>
  <Override PartName="/ppt/notesSlides/notesSlide29.xml" ContentType="application/vnd.openxmlformats-officedocument.presentationml.notesSlide+xml"/>
  <Override PartName="/ppt/tags/tag33.xml" ContentType="application/vnd.openxmlformats-officedocument.presentationml.tags+xml"/>
  <Override PartName="/ppt/notesSlides/notesSlide30.xml" ContentType="application/vnd.openxmlformats-officedocument.presentationml.notesSlide+xml"/>
  <Override PartName="/ppt/tags/tag34.xml" ContentType="application/vnd.openxmlformats-officedocument.presentationml.tags+xml"/>
  <Override PartName="/ppt/notesSlides/notesSlide31.xml" ContentType="application/vnd.openxmlformats-officedocument.presentationml.notesSlide+xml"/>
  <Override PartName="/ppt/tags/tag35.xml" ContentType="application/vnd.openxmlformats-officedocument.presentationml.tags+xml"/>
  <Override PartName="/ppt/notesSlides/notesSlide32.xml" ContentType="application/vnd.openxmlformats-officedocument.presentationml.notesSlide+xml"/>
  <Override PartName="/ppt/tags/tag36.xml" ContentType="application/vnd.openxmlformats-officedocument.presentationml.tags+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37"/>
  </p:notesMasterIdLst>
  <p:sldIdLst>
    <p:sldId id="513" r:id="rId2"/>
    <p:sldId id="730" r:id="rId3"/>
    <p:sldId id="1070" r:id="rId4"/>
    <p:sldId id="1071" r:id="rId5"/>
    <p:sldId id="1053" r:id="rId6"/>
    <p:sldId id="763" r:id="rId7"/>
    <p:sldId id="1055" r:id="rId8"/>
    <p:sldId id="1056" r:id="rId9"/>
    <p:sldId id="876" r:id="rId10"/>
    <p:sldId id="1058" r:id="rId11"/>
    <p:sldId id="759" r:id="rId12"/>
    <p:sldId id="788" r:id="rId13"/>
    <p:sldId id="790" r:id="rId14"/>
    <p:sldId id="927" r:id="rId15"/>
    <p:sldId id="928" r:id="rId16"/>
    <p:sldId id="929" r:id="rId17"/>
    <p:sldId id="1069" r:id="rId18"/>
    <p:sldId id="1072" r:id="rId19"/>
    <p:sldId id="1073" r:id="rId20"/>
    <p:sldId id="1074" r:id="rId21"/>
    <p:sldId id="886" r:id="rId22"/>
    <p:sldId id="792" r:id="rId23"/>
    <p:sldId id="881" r:id="rId24"/>
    <p:sldId id="930" r:id="rId25"/>
    <p:sldId id="795" r:id="rId26"/>
    <p:sldId id="959" r:id="rId27"/>
    <p:sldId id="1075" r:id="rId28"/>
    <p:sldId id="1067" r:id="rId29"/>
    <p:sldId id="1068" r:id="rId30"/>
    <p:sldId id="957" r:id="rId31"/>
    <p:sldId id="1066" r:id="rId32"/>
    <p:sldId id="1065" r:id="rId33"/>
    <p:sldId id="958" r:id="rId34"/>
    <p:sldId id="874" r:id="rId35"/>
    <p:sldId id="291" r:id="rId36"/>
  </p:sldIdLst>
  <p:sldSz cx="9144000" cy="5143500" type="screen16x9"/>
  <p:notesSz cx="6858000" cy="9144000"/>
  <p:custDataLst>
    <p:tags r:id="rId38"/>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447" autoAdjust="0"/>
    <p:restoredTop sz="86356" autoAdjust="0"/>
  </p:normalViewPr>
  <p:slideViewPr>
    <p:cSldViewPr snapToGrid="0" showGuides="1">
      <p:cViewPr varScale="1">
        <p:scale>
          <a:sx n="130" d="100"/>
          <a:sy n="130" d="100"/>
        </p:scale>
        <p:origin x="672" y="120"/>
      </p:cViewPr>
      <p:guideLst>
        <p:guide orient="horz" pos="1620"/>
        <p:guide pos="336"/>
      </p:guideLst>
    </p:cSldViewPr>
  </p:slideViewPr>
  <p:outlineViewPr>
    <p:cViewPr>
      <p:scale>
        <a:sx n="33" d="100"/>
        <a:sy n="33" d="100"/>
      </p:scale>
      <p:origin x="0" y="-226704"/>
    </p:cViewPr>
  </p:outlineViewPr>
  <p:notesTextViewPr>
    <p:cViewPr>
      <p:scale>
        <a:sx n="100" d="100"/>
        <a:sy n="100" d="100"/>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6/7/2020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Programme Cisco Networking Academy</a:t>
            </a:r>
          </a:p>
          <a:p>
            <a:pPr rtl="0"/>
            <a:r>
              <a:rPr lang="fr-FR">
                <a:solidFill>
                  <a:schemeClr val="accent5">
                    <a:lumMod val="40000"/>
                    <a:lumOff val="60000"/>
                  </a:schemeClr>
                </a:solidFill>
              </a:rPr>
              <a:t>Introduction aux Réseaux v7.0 (ITN)</a:t>
            </a:r>
          </a:p>
          <a:p>
            <a:pPr rtl="0"/>
            <a:r>
              <a:rPr lang="fr-FR"/>
              <a:t>Module 13: ICMP</a:t>
            </a:r>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pPr algn="r"/>
              <a:t>2</a:t>
            </a:fld>
            <a:endParaRPr sz="800" b="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rtl="0"/>
            <a:fld id="{ACE20BE7-F2F3-4E26-9454-50B18F790A4E}" type="slidenum">
              <a:rPr sz="800" b="0">
                <a:ea typeface="ＭＳ Ｐゴシック" pitchFamily="34" charset="-128"/>
              </a:rPr>
              <a:pPr algn="r"/>
              <a:t>5</a:t>
            </a:fld>
            <a:endParaRPr sz="800" b="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a:t>6</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7</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9001040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8</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4286534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Programme Cisco Networking Academy</a:t>
            </a:r>
          </a:p>
          <a:p>
            <a:pPr rtl="0"/>
            <a:r>
              <a:rPr lang="fr-FR">
                <a:solidFill>
                  <a:schemeClr val="accent5">
                    <a:lumMod val="40000"/>
                    <a:lumOff val="60000"/>
                  </a:schemeClr>
                </a:solidFill>
              </a:rPr>
              <a:t>Introduction aux Réseaux v7.0 (ITN)</a:t>
            </a:r>
          </a:p>
          <a:p>
            <a:pPr rtl="0"/>
            <a:r>
              <a:rPr lang="fr-FR"/>
              <a:t>Module 13: ICMP</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9</a:t>
            </a:fld>
            <a:endParaRPr/>
          </a:p>
        </p:txBody>
      </p:sp>
    </p:spTree>
    <p:extLst>
      <p:ext uri="{BB962C8B-B14F-4D97-AF65-F5344CB8AC3E}">
        <p14:creationId xmlns:p14="http://schemas.microsoft.com/office/powerpoint/2010/main" val="508118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solidFill>
                  <a:prstClr val="black"/>
                </a:solidFill>
              </a:rPr>
              <a:pPr algn="r"/>
              <a:t>10</a:t>
            </a:fld>
            <a:endParaRPr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13 — ICMP</a:t>
            </a:r>
          </a:p>
          <a:p>
            <a:pPr rtl="0">
              <a:lnSpc>
                <a:spcPct val="80000"/>
              </a:lnSpc>
              <a:buFontTx/>
              <a:buNone/>
            </a:pPr>
            <a:r>
              <a:rPr lang="fr-FR" sz="1200" kern="1200">
                <a:solidFill>
                  <a:schemeClr val="tx1"/>
                </a:solidFill>
                <a:latin typeface="Arial" charset="0"/>
                <a:ea typeface="ＭＳ Ｐゴシック" charset="0"/>
                <a:cs typeface="ＭＳ Ｐゴシック" charset="0"/>
              </a:rPr>
              <a:t>13.0.2- Qu'est ce que je vais apprendre à faire dans ce module?</a:t>
            </a:r>
          </a:p>
          <a:p>
            <a:pPr>
              <a:buFontTx/>
              <a:buNone/>
            </a:pPr>
            <a:endParaRPr lang="en-GB" dirty="0"/>
          </a:p>
        </p:txBody>
      </p:sp>
    </p:spTree>
    <p:extLst>
      <p:ext uri="{BB962C8B-B14F-4D97-AF65-F5344CB8AC3E}">
        <p14:creationId xmlns:p14="http://schemas.microsoft.com/office/powerpoint/2010/main" val="30808916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13 — ICMP</a:t>
            </a:r>
          </a:p>
          <a:p>
            <a:pPr rtl="0">
              <a:lnSpc>
                <a:spcPct val="80000"/>
              </a:lnSpc>
              <a:buFontTx/>
              <a:buNone/>
            </a:pPr>
            <a:r>
              <a:rPr lang="fr-FR" sz="1200" kern="1200">
                <a:solidFill>
                  <a:schemeClr val="tx1"/>
                </a:solidFill>
                <a:latin typeface="Arial" charset="0"/>
                <a:ea typeface="ＭＳ Ｐゴシック" charset="0"/>
                <a:cs typeface="ＭＳ Ｐゴシック" charset="0"/>
              </a:rPr>
              <a:t>13.1 – Messages ICMP</a:t>
            </a:r>
          </a:p>
        </p:txBody>
      </p:sp>
      <p:sp>
        <p:nvSpPr>
          <p:cNvPr id="4" name="Slide Number Placeholder 3"/>
          <p:cNvSpPr>
            <a:spLocks noGrp="1"/>
          </p:cNvSpPr>
          <p:nvPr>
            <p:ph type="sldNum" sz="quarter" idx="10"/>
          </p:nvPr>
        </p:nvSpPr>
        <p:spPr/>
        <p:txBody>
          <a:bodyPr/>
          <a:lstStyle/>
          <a:p>
            <a:pPr rtl="0"/>
            <a:fld id="{5641018C-6CAF-B84E-B92C-ECB119457FBA}" type="slidenum">
              <a:rPr/>
              <a:t>11</a:t>
            </a:fld>
            <a:endParaRPr/>
          </a:p>
        </p:txBody>
      </p:sp>
    </p:spTree>
    <p:extLst>
      <p:ext uri="{BB962C8B-B14F-4D97-AF65-F5344CB8AC3E}">
        <p14:creationId xmlns:p14="http://schemas.microsoft.com/office/powerpoint/2010/main" val="625529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12</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13 — ICMP</a:t>
            </a:r>
          </a:p>
          <a:p>
            <a:pPr rtl="0">
              <a:lnSpc>
                <a:spcPct val="80000"/>
              </a:lnSpc>
              <a:buFontTx/>
              <a:buNone/>
            </a:pPr>
            <a:r>
              <a:rPr lang="fr-FR" sz="1200" kern="1200">
                <a:solidFill>
                  <a:schemeClr val="tx1"/>
                </a:solidFill>
                <a:latin typeface="Arial" charset="0"/>
                <a:ea typeface="ＭＳ Ｐゴシック" charset="0"/>
                <a:cs typeface="ＭＳ Ｐゴシック" charset="0"/>
              </a:rPr>
              <a:t>13.1 – Messages ICMP</a:t>
            </a:r>
          </a:p>
          <a:p>
            <a:pPr rtl="0">
              <a:lnSpc>
                <a:spcPct val="80000"/>
              </a:lnSpc>
              <a:buFontTx/>
              <a:buNone/>
            </a:pPr>
            <a:r>
              <a:rPr lang="fr-FR"/>
              <a:t>13.1.1 — Messages ICMPv4 et ICMPv6</a:t>
            </a:r>
          </a:p>
        </p:txBody>
      </p:sp>
    </p:spTree>
    <p:extLst>
      <p:ext uri="{BB962C8B-B14F-4D97-AF65-F5344CB8AC3E}">
        <p14:creationId xmlns:p14="http://schemas.microsoft.com/office/powerpoint/2010/main" val="34275545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13</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13 — ICMP</a:t>
            </a:r>
          </a:p>
          <a:p>
            <a:pPr rtl="0">
              <a:lnSpc>
                <a:spcPct val="80000"/>
              </a:lnSpc>
              <a:buFontTx/>
              <a:buNone/>
            </a:pPr>
            <a:r>
              <a:rPr lang="fr-FR" sz="1200" kern="1200">
                <a:solidFill>
                  <a:schemeClr val="tx1"/>
                </a:solidFill>
                <a:latin typeface="Arial" charset="0"/>
                <a:ea typeface="ＭＳ Ｐゴシック" charset="0"/>
                <a:cs typeface="ＭＳ Ｐゴシック" charset="0"/>
              </a:rPr>
              <a:t>13.1 – Messages ICMP</a:t>
            </a:r>
          </a:p>
          <a:p>
            <a:pPr rtl="0">
              <a:lnSpc>
                <a:spcPct val="80000"/>
              </a:lnSpc>
              <a:buFontTx/>
              <a:buNone/>
            </a:pPr>
            <a:r>
              <a:rPr lang="fr-FR"/>
              <a:t>13.1.2 - Accessibilité de l'Hôte</a:t>
            </a:r>
          </a:p>
        </p:txBody>
      </p:sp>
    </p:spTree>
    <p:extLst>
      <p:ext uri="{BB962C8B-B14F-4D97-AF65-F5344CB8AC3E}">
        <p14:creationId xmlns:p14="http://schemas.microsoft.com/office/powerpoint/2010/main" val="7853359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14</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13 — ICMP</a:t>
            </a:r>
          </a:p>
          <a:p>
            <a:pPr rtl="0">
              <a:lnSpc>
                <a:spcPct val="80000"/>
              </a:lnSpc>
              <a:buFontTx/>
              <a:buNone/>
            </a:pPr>
            <a:r>
              <a:rPr lang="fr-FR" sz="1200" kern="1200">
                <a:solidFill>
                  <a:schemeClr val="tx1"/>
                </a:solidFill>
                <a:latin typeface="Arial" charset="0"/>
                <a:ea typeface="ＭＳ Ｐゴシック" charset="0"/>
                <a:cs typeface="ＭＳ Ｐゴシック" charset="0"/>
              </a:rPr>
              <a:t>13.1 – Messages ICMP</a:t>
            </a:r>
          </a:p>
          <a:p>
            <a:pPr rtl="0">
              <a:lnSpc>
                <a:spcPct val="80000"/>
              </a:lnSpc>
              <a:buFontTx/>
              <a:buNone/>
            </a:pPr>
            <a:r>
              <a:rPr lang="fr-FR"/>
              <a:t>13.1.3 – Destination ou Service Inaccessible</a:t>
            </a:r>
          </a:p>
        </p:txBody>
      </p:sp>
    </p:spTree>
    <p:extLst>
      <p:ext uri="{BB962C8B-B14F-4D97-AF65-F5344CB8AC3E}">
        <p14:creationId xmlns:p14="http://schemas.microsoft.com/office/powerpoint/2010/main" val="37970739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15</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13 — ICMP</a:t>
            </a:r>
          </a:p>
          <a:p>
            <a:pPr rtl="0">
              <a:lnSpc>
                <a:spcPct val="80000"/>
              </a:lnSpc>
              <a:buFontTx/>
              <a:buNone/>
            </a:pPr>
            <a:r>
              <a:rPr lang="fr-FR" sz="1200" kern="1200">
                <a:solidFill>
                  <a:schemeClr val="tx1"/>
                </a:solidFill>
                <a:latin typeface="Arial" charset="0"/>
                <a:ea typeface="ＭＳ Ｐゴシック" charset="0"/>
                <a:cs typeface="ＭＳ Ｐゴシック" charset="0"/>
              </a:rPr>
              <a:t>13.1 – Messages ICMP</a:t>
            </a:r>
          </a:p>
          <a:p>
            <a:pPr rtl="0">
              <a:lnSpc>
                <a:spcPct val="80000"/>
              </a:lnSpc>
              <a:buFontTx/>
              <a:buNone/>
            </a:pPr>
            <a:r>
              <a:rPr lang="fr-FR"/>
              <a:t>13.1.4 – Délai dépassé</a:t>
            </a:r>
          </a:p>
        </p:txBody>
      </p:sp>
    </p:spTree>
    <p:extLst>
      <p:ext uri="{BB962C8B-B14F-4D97-AF65-F5344CB8AC3E}">
        <p14:creationId xmlns:p14="http://schemas.microsoft.com/office/powerpoint/2010/main" val="40504938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16</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13 — ICMP</a:t>
            </a:r>
          </a:p>
          <a:p>
            <a:pPr rtl="0">
              <a:lnSpc>
                <a:spcPct val="80000"/>
              </a:lnSpc>
              <a:buFontTx/>
              <a:buNone/>
            </a:pPr>
            <a:r>
              <a:rPr lang="fr-FR" sz="1200" kern="1200">
                <a:solidFill>
                  <a:schemeClr val="tx1"/>
                </a:solidFill>
                <a:latin typeface="Arial" charset="0"/>
                <a:ea typeface="ＭＳ Ｐゴシック" charset="0"/>
                <a:cs typeface="ＭＳ Ｐゴシック" charset="0"/>
              </a:rPr>
              <a:t>13.1 – Messages ICMP</a:t>
            </a:r>
          </a:p>
          <a:p>
            <a:pPr rtl="0">
              <a:lnSpc>
                <a:spcPct val="80000"/>
              </a:lnSpc>
              <a:buFontTx/>
              <a:buNone/>
            </a:pPr>
            <a:r>
              <a:rPr lang="fr-FR"/>
              <a:t>13.1.5 – Messages ICMPv6</a:t>
            </a:r>
          </a:p>
        </p:txBody>
      </p:sp>
    </p:spTree>
    <p:extLst>
      <p:ext uri="{BB962C8B-B14F-4D97-AF65-F5344CB8AC3E}">
        <p14:creationId xmlns:p14="http://schemas.microsoft.com/office/powerpoint/2010/main" val="27085794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17</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13 — ICMP</a:t>
            </a:r>
          </a:p>
          <a:p>
            <a:pPr rtl="0">
              <a:lnSpc>
                <a:spcPct val="80000"/>
              </a:lnSpc>
              <a:buFontTx/>
              <a:buNone/>
            </a:pPr>
            <a:r>
              <a:rPr lang="fr-FR" sz="1200" kern="1200">
                <a:solidFill>
                  <a:schemeClr val="tx1"/>
                </a:solidFill>
                <a:latin typeface="Arial" charset="0"/>
                <a:ea typeface="ＭＳ Ｐゴシック" charset="0"/>
                <a:cs typeface="ＭＳ Ｐゴシック" charset="0"/>
              </a:rPr>
              <a:t>13.1 – Messages ICMP</a:t>
            </a:r>
          </a:p>
          <a:p>
            <a:pPr rtl="0">
              <a:lnSpc>
                <a:spcPct val="80000"/>
              </a:lnSpc>
              <a:buFontTx/>
              <a:buNone/>
            </a:pPr>
            <a:r>
              <a:rPr lang="fr-FR"/>
              <a:t>13.1.5 — Messages ICMPv6 (suite)</a:t>
            </a:r>
          </a:p>
        </p:txBody>
      </p:sp>
    </p:spTree>
    <p:extLst>
      <p:ext uri="{BB962C8B-B14F-4D97-AF65-F5344CB8AC3E}">
        <p14:creationId xmlns:p14="http://schemas.microsoft.com/office/powerpoint/2010/main" val="21135534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18</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13 — ICMP</a:t>
            </a:r>
          </a:p>
          <a:p>
            <a:pPr rtl="0">
              <a:lnSpc>
                <a:spcPct val="80000"/>
              </a:lnSpc>
              <a:buFontTx/>
              <a:buNone/>
            </a:pPr>
            <a:r>
              <a:rPr lang="fr-FR" sz="1200" kern="1200">
                <a:solidFill>
                  <a:schemeClr val="tx1"/>
                </a:solidFill>
                <a:latin typeface="Arial" charset="0"/>
                <a:ea typeface="ＭＳ Ｐゴシック" charset="0"/>
                <a:cs typeface="ＭＳ Ｐゴシック" charset="0"/>
              </a:rPr>
              <a:t>13.1 – Messages ICMP</a:t>
            </a:r>
          </a:p>
          <a:p>
            <a:pPr rtl="0">
              <a:lnSpc>
                <a:spcPct val="80000"/>
              </a:lnSpc>
              <a:buFontTx/>
              <a:buNone/>
            </a:pPr>
            <a:r>
              <a:rPr lang="fr-FR"/>
              <a:t>13.1.5 — Messages ICMPv6 (suite)</a:t>
            </a:r>
          </a:p>
        </p:txBody>
      </p:sp>
    </p:spTree>
    <p:extLst>
      <p:ext uri="{BB962C8B-B14F-4D97-AF65-F5344CB8AC3E}">
        <p14:creationId xmlns:p14="http://schemas.microsoft.com/office/powerpoint/2010/main" val="548495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19</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13 — ICMP</a:t>
            </a:r>
          </a:p>
          <a:p>
            <a:pPr rtl="0">
              <a:lnSpc>
                <a:spcPct val="80000"/>
              </a:lnSpc>
              <a:buFontTx/>
              <a:buNone/>
            </a:pPr>
            <a:r>
              <a:rPr lang="fr-FR" sz="1200" kern="1200">
                <a:solidFill>
                  <a:schemeClr val="tx1"/>
                </a:solidFill>
                <a:latin typeface="Arial" charset="0"/>
                <a:ea typeface="ＭＳ Ｐゴシック" charset="0"/>
                <a:cs typeface="ＭＳ Ｐゴシック" charset="0"/>
              </a:rPr>
              <a:t>13.1 – Messages ICMP</a:t>
            </a:r>
          </a:p>
          <a:p>
            <a:pPr rtl="0">
              <a:lnSpc>
                <a:spcPct val="80000"/>
              </a:lnSpc>
              <a:buFontTx/>
              <a:buNone/>
            </a:pPr>
            <a:r>
              <a:rPr lang="fr-FR"/>
              <a:t>13.1.5 — Messages ICMPv6 (suite)</a:t>
            </a:r>
          </a:p>
        </p:txBody>
      </p:sp>
    </p:spTree>
    <p:extLst>
      <p:ext uri="{BB962C8B-B14F-4D97-AF65-F5344CB8AC3E}">
        <p14:creationId xmlns:p14="http://schemas.microsoft.com/office/powerpoint/2010/main" val="21222220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20</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13 — ICMP</a:t>
            </a:r>
          </a:p>
          <a:p>
            <a:pPr rtl="0">
              <a:lnSpc>
                <a:spcPct val="80000"/>
              </a:lnSpc>
              <a:buFontTx/>
              <a:buNone/>
            </a:pPr>
            <a:r>
              <a:rPr lang="fr-FR" sz="1200" kern="1200">
                <a:solidFill>
                  <a:schemeClr val="tx1"/>
                </a:solidFill>
                <a:latin typeface="Arial" charset="0"/>
                <a:ea typeface="ＭＳ Ｐゴシック" charset="0"/>
                <a:cs typeface="ＭＳ Ｐゴシック" charset="0"/>
              </a:rPr>
              <a:t>13.1 – Messages ICMP</a:t>
            </a:r>
          </a:p>
          <a:p>
            <a:pPr rtl="0">
              <a:lnSpc>
                <a:spcPct val="80000"/>
              </a:lnSpc>
              <a:buFontTx/>
              <a:buNone/>
            </a:pPr>
            <a:r>
              <a:rPr lang="fr-FR"/>
              <a:t>13.1.5 – Messages ICMPv6</a:t>
            </a:r>
          </a:p>
          <a:p>
            <a:pPr rtl="0">
              <a:lnSpc>
                <a:spcPct val="80000"/>
              </a:lnSpc>
              <a:buFontTx/>
              <a:buNone/>
            </a:pPr>
            <a:r>
              <a:rPr lang="fr-FR"/>
              <a:t>13.1.6 —  Vérifiez votre compréhension — Messages ICMP</a:t>
            </a:r>
          </a:p>
        </p:txBody>
      </p:sp>
    </p:spTree>
    <p:extLst>
      <p:ext uri="{BB962C8B-B14F-4D97-AF65-F5344CB8AC3E}">
        <p14:creationId xmlns:p14="http://schemas.microsoft.com/office/powerpoint/2010/main" val="3138221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13 — ICMP</a:t>
            </a:r>
          </a:p>
          <a:p>
            <a:pPr rtl="0">
              <a:lnSpc>
                <a:spcPct val="80000"/>
              </a:lnSpc>
              <a:buFontTx/>
              <a:buNone/>
            </a:pPr>
            <a:r>
              <a:rPr lang="fr-FR" sz="1200" kern="1200">
                <a:solidFill>
                  <a:schemeClr val="tx1"/>
                </a:solidFill>
                <a:latin typeface="Arial" charset="0"/>
                <a:ea typeface="ＭＳ Ｐゴシック" charset="0"/>
                <a:cs typeface="ＭＳ Ｐゴシック" charset="0"/>
              </a:rPr>
              <a:t>13.2 Tests à l'aide des commandes ping et traceroute</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21</a:t>
            </a:fld>
            <a:endParaRPr>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22</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13 — ICMP</a:t>
            </a:r>
          </a:p>
          <a:p>
            <a:pPr rtl="0">
              <a:lnSpc>
                <a:spcPct val="80000"/>
              </a:lnSpc>
              <a:buFontTx/>
              <a:buNone/>
            </a:pPr>
            <a:r>
              <a:rPr lang="fr-FR" sz="1200" kern="1200">
                <a:solidFill>
                  <a:schemeClr val="tx1"/>
                </a:solidFill>
                <a:latin typeface="Arial" charset="0"/>
                <a:ea typeface="ＭＳ Ｐゴシック" charset="0"/>
                <a:cs typeface="ＭＳ Ｐゴシック" charset="0"/>
              </a:rPr>
              <a:t>13.2 - Tests à l'aide des commandes ping et traceroute</a:t>
            </a:r>
          </a:p>
          <a:p>
            <a:pPr rtl="0">
              <a:lnSpc>
                <a:spcPct val="80000"/>
              </a:lnSpc>
              <a:buFontTx/>
              <a:buNone/>
            </a:pPr>
            <a:r>
              <a:rPr lang="fr-FR" sz="1200" b="0" kern="1200">
                <a:solidFill>
                  <a:schemeClr val="tx1"/>
                </a:solidFill>
                <a:latin typeface="Arial" charset="0"/>
                <a:ea typeface="ＭＳ Ｐゴシック" charset="0"/>
              </a:rPr>
              <a:t>13.2.1 — Ping — Test de connectivité</a:t>
            </a:r>
          </a:p>
          <a:p>
            <a:pPr>
              <a:lnSpc>
                <a:spcPct val="80000"/>
              </a:lnSpc>
              <a:buFontTx/>
              <a:buNone/>
            </a:pPr>
            <a:endParaRPr lang="en-US" dirty="0"/>
          </a:p>
        </p:txBody>
      </p:sp>
    </p:spTree>
    <p:extLst>
      <p:ext uri="{BB962C8B-B14F-4D97-AF65-F5344CB8AC3E}">
        <p14:creationId xmlns:p14="http://schemas.microsoft.com/office/powerpoint/2010/main" val="11566048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23</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13 — ICMP</a:t>
            </a:r>
          </a:p>
          <a:p>
            <a:pPr rtl="0">
              <a:lnSpc>
                <a:spcPct val="80000"/>
              </a:lnSpc>
              <a:buFontTx/>
              <a:buNone/>
            </a:pPr>
            <a:r>
              <a:rPr lang="fr-FR" sz="1200" kern="1200">
                <a:solidFill>
                  <a:schemeClr val="tx1"/>
                </a:solidFill>
                <a:latin typeface="Arial" charset="0"/>
                <a:ea typeface="ＭＳ Ｐゴシック" charset="0"/>
                <a:cs typeface="ＭＳ Ｐゴシック" charset="0"/>
              </a:rPr>
              <a:t>13.2 - Tests à l'aide des commandes ping et traceroute</a:t>
            </a:r>
          </a:p>
          <a:p>
            <a:pPr rtl="0">
              <a:lnSpc>
                <a:spcPct val="80000"/>
              </a:lnSpc>
              <a:buFontTx/>
              <a:buNone/>
            </a:pPr>
            <a:r>
              <a:rPr lang="fr-FR" sz="1200" b="0" kern="1200">
                <a:solidFill>
                  <a:schemeClr val="tx1"/>
                </a:solidFill>
                <a:latin typeface="Arial" charset="0"/>
                <a:ea typeface="ＭＳ Ｐゴシック" charset="0"/>
              </a:rPr>
              <a:t>13.2.2 – Ping le Loopback</a:t>
            </a:r>
          </a:p>
        </p:txBody>
      </p:sp>
    </p:spTree>
    <p:extLst>
      <p:ext uri="{BB962C8B-B14F-4D97-AF65-F5344CB8AC3E}">
        <p14:creationId xmlns:p14="http://schemas.microsoft.com/office/powerpoint/2010/main" val="42226918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pPr/>
              <a:t>24</a:t>
            </a:fld>
            <a:endParaRPr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13 — ICMP</a:t>
            </a:r>
          </a:p>
          <a:p>
            <a:pPr rtl="0">
              <a:lnSpc>
                <a:spcPct val="80000"/>
              </a:lnSpc>
              <a:buFontTx/>
              <a:buNone/>
            </a:pPr>
            <a:r>
              <a:rPr lang="fr-FR" sz="1200" kern="1200">
                <a:solidFill>
                  <a:schemeClr val="tx1"/>
                </a:solidFill>
                <a:latin typeface="Arial" charset="0"/>
                <a:ea typeface="ＭＳ Ｐゴシック" charset="0"/>
                <a:cs typeface="ＭＳ Ｐゴシック" charset="0"/>
              </a:rPr>
              <a:t>13.2 - Tests à l'aide des commandes ping et traceroute</a:t>
            </a:r>
          </a:p>
          <a:p>
            <a:pPr rtl="0">
              <a:lnSpc>
                <a:spcPct val="80000"/>
              </a:lnSpc>
              <a:buFontTx/>
              <a:buNone/>
            </a:pPr>
            <a:r>
              <a:rPr lang="fr-FR" sz="1200" b="0" kern="1200">
                <a:solidFill>
                  <a:schemeClr val="tx1"/>
                </a:solidFill>
                <a:latin typeface="Arial" charset="0"/>
                <a:ea typeface="ＭＳ Ｐゴシック" charset="0"/>
              </a:rPr>
              <a:t>13.2.3 - Ping de la passerelle par défaut</a:t>
            </a:r>
          </a:p>
        </p:txBody>
      </p:sp>
    </p:spTree>
    <p:extLst>
      <p:ext uri="{BB962C8B-B14F-4D97-AF65-F5344CB8AC3E}">
        <p14:creationId xmlns:p14="http://schemas.microsoft.com/office/powerpoint/2010/main" val="32754801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13 — ICMP</a:t>
            </a:r>
          </a:p>
          <a:p>
            <a:pPr rtl="0">
              <a:lnSpc>
                <a:spcPct val="80000"/>
              </a:lnSpc>
              <a:buFontTx/>
              <a:buNone/>
            </a:pPr>
            <a:r>
              <a:rPr lang="fr-FR" sz="1200" kern="1200">
                <a:solidFill>
                  <a:schemeClr val="tx1"/>
                </a:solidFill>
                <a:latin typeface="Arial" charset="0"/>
                <a:ea typeface="ＭＳ Ｐゴシック" charset="0"/>
                <a:cs typeface="ＭＳ Ｐゴシック" charset="0"/>
              </a:rPr>
              <a:t>13.2 - Tests à l'aide des commandes ping et traceroute</a:t>
            </a:r>
          </a:p>
          <a:p>
            <a:pPr rtl="0">
              <a:lnSpc>
                <a:spcPct val="80000"/>
              </a:lnSpc>
              <a:buFontTx/>
              <a:buNone/>
            </a:pPr>
            <a:r>
              <a:rPr lang="fr-FR" sz="1200" b="0" kern="1200">
                <a:solidFill>
                  <a:schemeClr val="tx1"/>
                </a:solidFill>
                <a:latin typeface="Arial" charset="0"/>
                <a:ea typeface="ＭＳ Ｐゴシック" charset="0"/>
              </a:rPr>
              <a:t>13.2.4 - Ping d'un hôte distant</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25</a:t>
            </a:fld>
            <a:endParaRPr>
              <a:solidFill>
                <a:prstClr val="black"/>
              </a:solidFill>
            </a:endParaRPr>
          </a:p>
        </p:txBody>
      </p:sp>
    </p:spTree>
    <p:extLst>
      <p:ext uri="{BB962C8B-B14F-4D97-AF65-F5344CB8AC3E}">
        <p14:creationId xmlns:p14="http://schemas.microsoft.com/office/powerpoint/2010/main" val="8765288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13 — ICMP</a:t>
            </a:r>
          </a:p>
          <a:p>
            <a:pPr rtl="0">
              <a:lnSpc>
                <a:spcPct val="80000"/>
              </a:lnSpc>
              <a:buFontTx/>
              <a:buNone/>
            </a:pPr>
            <a:r>
              <a:rPr lang="fr-FR" sz="1200" kern="1200">
                <a:solidFill>
                  <a:schemeClr val="tx1"/>
                </a:solidFill>
                <a:latin typeface="Arial" charset="0"/>
                <a:ea typeface="ＭＳ Ｐゴシック" charset="0"/>
                <a:cs typeface="ＭＳ Ｐゴシック" charset="0"/>
              </a:rPr>
              <a:t>13.2 - Tests à l'aide des commandes ping et traceroute</a:t>
            </a:r>
          </a:p>
          <a:p>
            <a:pPr rtl="0">
              <a:lnSpc>
                <a:spcPct val="80000"/>
              </a:lnSpc>
              <a:buFontTx/>
              <a:buNone/>
            </a:pPr>
            <a:r>
              <a:rPr lang="fr-FR" sz="1200" b="0" kern="1200">
                <a:solidFill>
                  <a:schemeClr val="tx1"/>
                </a:solidFill>
                <a:latin typeface="Arial" charset="0"/>
                <a:ea typeface="ＭＳ Ｐゴシック" charset="0"/>
              </a:rPr>
              <a:t>13.2.5 – Traceroute – Tester le chemin</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26</a:t>
            </a:fld>
            <a:endParaRPr>
              <a:solidFill>
                <a:prstClr val="black"/>
              </a:solidFill>
            </a:endParaRPr>
          </a:p>
        </p:txBody>
      </p:sp>
    </p:spTree>
    <p:extLst>
      <p:ext uri="{BB962C8B-B14F-4D97-AF65-F5344CB8AC3E}">
        <p14:creationId xmlns:p14="http://schemas.microsoft.com/office/powerpoint/2010/main" val="7932355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13 — ICMP</a:t>
            </a:r>
          </a:p>
          <a:p>
            <a:pPr rtl="0">
              <a:lnSpc>
                <a:spcPct val="80000"/>
              </a:lnSpc>
              <a:buFontTx/>
              <a:buNone/>
            </a:pPr>
            <a:r>
              <a:rPr lang="fr-FR" sz="1200" kern="1200">
                <a:solidFill>
                  <a:schemeClr val="tx1"/>
                </a:solidFill>
                <a:latin typeface="Arial" charset="0"/>
                <a:ea typeface="ＭＳ Ｐゴシック" charset="0"/>
                <a:cs typeface="ＭＳ Ｐゴシック" charset="0"/>
              </a:rPr>
              <a:t>13.2 - Tests à l'aide des commandes ping et traceroute</a:t>
            </a:r>
          </a:p>
          <a:p>
            <a:pPr rtl="0">
              <a:lnSpc>
                <a:spcPct val="80000"/>
              </a:lnSpc>
              <a:buFontTx/>
              <a:buNone/>
            </a:pPr>
            <a:r>
              <a:rPr lang="fr-FR" sz="1200" b="0" kern="1200">
                <a:solidFill>
                  <a:schemeClr val="tx1"/>
                </a:solidFill>
                <a:latin typeface="Arial" charset="0"/>
                <a:ea typeface="ＭＳ Ｐゴシック" charset="0"/>
              </a:rPr>
              <a:t>13.2.5 — Traceroute — Tester le chemin (suite)</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27</a:t>
            </a:fld>
            <a:endParaRPr>
              <a:solidFill>
                <a:prstClr val="black"/>
              </a:solidFill>
            </a:endParaRPr>
          </a:p>
        </p:txBody>
      </p:sp>
    </p:spTree>
    <p:extLst>
      <p:ext uri="{BB962C8B-B14F-4D97-AF65-F5344CB8AC3E}">
        <p14:creationId xmlns:p14="http://schemas.microsoft.com/office/powerpoint/2010/main" val="41975278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pPr/>
              <a:t>28</a:t>
            </a:fld>
            <a:endParaRPr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13 — ICMP</a:t>
            </a:r>
          </a:p>
          <a:p>
            <a:pPr rtl="0">
              <a:lnSpc>
                <a:spcPct val="80000"/>
              </a:lnSpc>
              <a:buFontTx/>
              <a:buNone/>
            </a:pPr>
            <a:r>
              <a:rPr lang="fr-FR" sz="1200" kern="1200">
                <a:solidFill>
                  <a:schemeClr val="tx1"/>
                </a:solidFill>
                <a:latin typeface="Arial" charset="0"/>
                <a:ea typeface="ＭＳ Ｐゴシック" charset="0"/>
                <a:cs typeface="ＭＳ Ｐゴシック" charset="0"/>
              </a:rPr>
              <a:t>13.2 - Tests à l'aide des commandes ping et traceroute</a:t>
            </a:r>
          </a:p>
          <a:p>
            <a:pPr rtl="0">
              <a:lnSpc>
                <a:spcPct val="80000"/>
              </a:lnSpc>
              <a:buFontTx/>
              <a:buNone/>
            </a:pPr>
            <a:r>
              <a:rPr lang="fr-FR" sz="1200" b="0" kern="1200">
                <a:solidFill>
                  <a:schemeClr val="tx1"/>
                </a:solidFill>
                <a:latin typeface="Arial" charset="0"/>
                <a:ea typeface="ＭＳ Ｐゴシック" charset="0"/>
              </a:rPr>
              <a:t>13.2.6 – Packet Tracer - Vérifier l'adressage IPv4 et Ipv6</a:t>
            </a:r>
          </a:p>
        </p:txBody>
      </p:sp>
    </p:spTree>
    <p:extLst>
      <p:ext uri="{BB962C8B-B14F-4D97-AF65-F5344CB8AC3E}">
        <p14:creationId xmlns:p14="http://schemas.microsoft.com/office/powerpoint/2010/main" val="30868064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pPr/>
              <a:t>29</a:t>
            </a:fld>
            <a:endParaRPr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13 — ICMP</a:t>
            </a:r>
          </a:p>
          <a:p>
            <a:pPr rtl="0">
              <a:lnSpc>
                <a:spcPct val="80000"/>
              </a:lnSpc>
              <a:buFontTx/>
              <a:buNone/>
            </a:pPr>
            <a:r>
              <a:rPr lang="fr-FR" sz="1200" kern="1200">
                <a:solidFill>
                  <a:schemeClr val="tx1"/>
                </a:solidFill>
                <a:latin typeface="Arial" charset="0"/>
                <a:ea typeface="ＭＳ Ｐゴシック" charset="0"/>
                <a:cs typeface="ＭＳ Ｐゴシック" charset="0"/>
              </a:rPr>
              <a:t>13.2 - Tests à l'aide des commandes ping et traceroute</a:t>
            </a:r>
          </a:p>
          <a:p>
            <a:pPr rtl="0">
              <a:lnSpc>
                <a:spcPct val="80000"/>
              </a:lnSpc>
              <a:buFontTx/>
              <a:buNone/>
            </a:pPr>
            <a:r>
              <a:rPr lang="fr-FR" sz="1200" b="0" kern="1200">
                <a:solidFill>
                  <a:schemeClr val="tx1"/>
                </a:solidFill>
                <a:latin typeface="Arial" charset="0"/>
                <a:ea typeface="ＭＳ Ｐゴシック" charset="0"/>
              </a:rPr>
              <a:t>13.2.6 – Packet Tracer - Utiliser les commandes Ping et Traceroute pour tester la connectivité du réseau.</a:t>
            </a:r>
          </a:p>
        </p:txBody>
      </p:sp>
    </p:spTree>
    <p:extLst>
      <p:ext uri="{BB962C8B-B14F-4D97-AF65-F5344CB8AC3E}">
        <p14:creationId xmlns:p14="http://schemas.microsoft.com/office/powerpoint/2010/main" val="10129187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13 — ICMP</a:t>
            </a:r>
          </a:p>
          <a:p>
            <a:pPr rtl="0">
              <a:lnSpc>
                <a:spcPct val="80000"/>
              </a:lnSpc>
              <a:buFontTx/>
              <a:buNone/>
            </a:pPr>
            <a:r>
              <a:rPr lang="fr-FR" sz="1200" kern="1200">
                <a:solidFill>
                  <a:schemeClr val="tx1"/>
                </a:solidFill>
                <a:latin typeface="Arial" charset="0"/>
                <a:ea typeface="ＭＳ Ｐゴシック" charset="0"/>
                <a:cs typeface="ＭＳ Ｐゴシック" charset="0"/>
              </a:rPr>
              <a:t>13.3 - Module pratique et questionnaire</a:t>
            </a:r>
          </a:p>
          <a:p>
            <a:pPr>
              <a:lnSpc>
                <a:spcPct val="80000"/>
              </a:lnSpc>
              <a:buFontTx/>
              <a:buNone/>
            </a:pPr>
            <a:endParaRPr lang="en-GB" b="0" dirty="0"/>
          </a:p>
        </p:txBody>
      </p:sp>
      <p:sp>
        <p:nvSpPr>
          <p:cNvPr id="4" name="Slide Number Placeholder 3"/>
          <p:cNvSpPr>
            <a:spLocks noGrp="1"/>
          </p:cNvSpPr>
          <p:nvPr>
            <p:ph type="sldNum" sz="quarter" idx="10"/>
          </p:nvPr>
        </p:nvSpPr>
        <p:spPr/>
        <p:txBody>
          <a:bodyPr/>
          <a:lstStyle/>
          <a:p>
            <a:pPr rtl="0"/>
            <a:fld id="{5641018C-6CAF-B84E-B92C-ECB119457FBA}" type="slidenum">
              <a:rPr/>
              <a:t>30</a:t>
            </a:fld>
            <a:endParaRPr/>
          </a:p>
        </p:txBody>
      </p:sp>
    </p:spTree>
    <p:extLst>
      <p:ext uri="{BB962C8B-B14F-4D97-AF65-F5344CB8AC3E}">
        <p14:creationId xmlns:p14="http://schemas.microsoft.com/office/powerpoint/2010/main" val="22171436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pPr/>
              <a:t>31</a:t>
            </a:fld>
            <a:endParaRPr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13 — ICMP</a:t>
            </a:r>
          </a:p>
          <a:p>
            <a:pPr rtl="0">
              <a:lnSpc>
                <a:spcPct val="80000"/>
              </a:lnSpc>
              <a:buFontTx/>
              <a:buNone/>
            </a:pPr>
            <a:r>
              <a:rPr lang="fr-FR" sz="1200" kern="1200">
                <a:solidFill>
                  <a:schemeClr val="tx1"/>
                </a:solidFill>
                <a:latin typeface="Arial" charset="0"/>
                <a:ea typeface="ＭＳ Ｐゴシック" charset="0"/>
                <a:cs typeface="ＭＳ Ｐゴシック" charset="0"/>
              </a:rPr>
              <a:t>13.3 - Module pratique et questionnaire</a:t>
            </a:r>
          </a:p>
          <a:p>
            <a:pPr rtl="0">
              <a:lnSpc>
                <a:spcPct val="80000"/>
              </a:lnSpc>
              <a:buFontTx/>
              <a:buNone/>
            </a:pPr>
            <a:r>
              <a:rPr lang="fr-FR" sz="1200" kern="1200">
                <a:solidFill>
                  <a:schemeClr val="tx1"/>
                </a:solidFill>
                <a:latin typeface="Arial" charset="0"/>
                <a:ea typeface="ＭＳ Ｐゴシック" charset="0"/>
                <a:cs typeface="ＭＳ Ｐゴシック" charset="0"/>
              </a:rPr>
              <a:t>13.3.1 — Packet Tracer — Utilisation d'ICMP pour tester et corriger la connectivité réseau</a:t>
            </a:r>
          </a:p>
        </p:txBody>
      </p:sp>
    </p:spTree>
    <p:extLst>
      <p:ext uri="{BB962C8B-B14F-4D97-AF65-F5344CB8AC3E}">
        <p14:creationId xmlns:p14="http://schemas.microsoft.com/office/powerpoint/2010/main" val="17067927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pPr/>
              <a:t>32</a:t>
            </a:fld>
            <a:endParaRPr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13 — ICMP</a:t>
            </a:r>
          </a:p>
          <a:p>
            <a:pPr rtl="0">
              <a:lnSpc>
                <a:spcPct val="80000"/>
              </a:lnSpc>
              <a:buFontTx/>
              <a:buNone/>
            </a:pPr>
            <a:r>
              <a:rPr lang="fr-FR" sz="1200" kern="1200">
                <a:solidFill>
                  <a:schemeClr val="tx1"/>
                </a:solidFill>
                <a:latin typeface="Arial" charset="0"/>
                <a:ea typeface="ＭＳ Ｐゴシック" charset="0"/>
                <a:cs typeface="ＭＳ Ｐゴシック" charset="0"/>
              </a:rPr>
              <a:t>13.3 - Module pratique et questionnaire</a:t>
            </a:r>
          </a:p>
          <a:p>
            <a:pPr rtl="0">
              <a:lnSpc>
                <a:spcPct val="80000"/>
              </a:lnSpc>
              <a:buFontTx/>
              <a:buNone/>
            </a:pPr>
            <a:r>
              <a:rPr lang="fr-FR" sz="1200" kern="1200">
                <a:solidFill>
                  <a:schemeClr val="tx1"/>
                </a:solidFill>
                <a:latin typeface="Arial" charset="0"/>
                <a:ea typeface="ＭＳ Ｐゴシック" charset="0"/>
                <a:cs typeface="ＭＳ Ｐゴシック" charset="0"/>
              </a:rPr>
              <a:t>13.3.2 - Travail Pratique - Utiliser Ping et Traceroute pour tester la connectivité des réseaux</a:t>
            </a:r>
          </a:p>
        </p:txBody>
      </p:sp>
    </p:spTree>
    <p:extLst>
      <p:ext uri="{BB962C8B-B14F-4D97-AF65-F5344CB8AC3E}">
        <p14:creationId xmlns:p14="http://schemas.microsoft.com/office/powerpoint/2010/main" val="16816433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33</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13 — ICMP</a:t>
            </a:r>
          </a:p>
          <a:p>
            <a:pPr rtl="0">
              <a:lnSpc>
                <a:spcPct val="80000"/>
              </a:lnSpc>
              <a:buFontTx/>
              <a:buNone/>
            </a:pPr>
            <a:r>
              <a:rPr lang="fr-FR" sz="1200" kern="1200">
                <a:solidFill>
                  <a:schemeClr val="tx1"/>
                </a:solidFill>
                <a:latin typeface="Arial" charset="0"/>
                <a:ea typeface="ＭＳ Ｐゴシック" charset="0"/>
                <a:cs typeface="ＭＳ Ｐゴシック" charset="0"/>
              </a:rPr>
              <a:t>13.3 - Module pratique et questionnaire</a:t>
            </a:r>
          </a:p>
          <a:p>
            <a:pPr rtl="0">
              <a:lnSpc>
                <a:spcPct val="80000"/>
              </a:lnSpc>
              <a:buFontTx/>
              <a:buNone/>
            </a:pPr>
            <a:r>
              <a:rPr lang="fr-FR" sz="1200" kern="1200">
                <a:solidFill>
                  <a:schemeClr val="tx1"/>
                </a:solidFill>
                <a:latin typeface="Arial" charset="0"/>
                <a:ea typeface="ＭＳ Ｐゴシック" charset="0"/>
                <a:cs typeface="ＭＳ Ｐゴシック" charset="0"/>
              </a:rPr>
              <a:t>13.3.3 – Qu'est-ce que j'ai appris dans ce module?</a:t>
            </a:r>
          </a:p>
          <a:p>
            <a:pPr rtl="0">
              <a:lnSpc>
                <a:spcPct val="80000"/>
              </a:lnSpc>
              <a:buFontTx/>
              <a:buNone/>
            </a:pPr>
            <a:r>
              <a:rPr lang="fr-FR" sz="1200" kern="1200">
                <a:solidFill>
                  <a:schemeClr val="tx1"/>
                </a:solidFill>
                <a:latin typeface="Arial" charset="0"/>
                <a:ea typeface="ＭＳ Ｐゴシック" charset="0"/>
                <a:cs typeface="ＭＳ Ｐゴシック" charset="0"/>
              </a:rPr>
              <a:t>13.3.4 — Module Questionnaire - ICMP</a:t>
            </a:r>
          </a:p>
        </p:txBody>
      </p:sp>
    </p:spTree>
    <p:extLst>
      <p:ext uri="{BB962C8B-B14F-4D97-AF65-F5344CB8AC3E}">
        <p14:creationId xmlns:p14="http://schemas.microsoft.com/office/powerpoint/2010/main" val="14768241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a:t>34</a:t>
            </a:fld>
            <a:endParaRPr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fr-FR" sz="1200" kern="1200">
                <a:solidFill>
                  <a:schemeClr val="tx1"/>
                </a:solidFill>
                <a:latin typeface="Arial" charset="0"/>
                <a:ea typeface="ＭＳ Ｐゴシック" charset="0"/>
                <a:cs typeface="ＭＳ Ｐゴシック" charset="0"/>
              </a:rPr>
              <a:t>13 – ICMP</a:t>
            </a:r>
          </a:p>
          <a:p>
            <a:pPr marL="0" marR="0" lvl="0" indent="0" algn="l" defTabSz="457200" rtl="0" eaLnBrk="1" fontAlgn="auto" latinLnBrk="0" hangingPunct="1">
              <a:lnSpc>
                <a:spcPct val="80000"/>
              </a:lnSpc>
              <a:spcBef>
                <a:spcPts val="0"/>
              </a:spcBef>
              <a:spcAft>
                <a:spcPts val="0"/>
              </a:spcAft>
              <a:buClrTx/>
              <a:buSzTx/>
              <a:buFontTx/>
              <a:buNone/>
              <a:tabLst/>
              <a:defRPr/>
            </a:pPr>
            <a:r>
              <a:rPr lang="fr-FR"/>
              <a:t>New Terms and Commands</a:t>
            </a:r>
          </a:p>
        </p:txBody>
      </p:sp>
    </p:spTree>
    <p:extLst>
      <p:ext uri="{BB962C8B-B14F-4D97-AF65-F5344CB8AC3E}">
        <p14:creationId xmlns:p14="http://schemas.microsoft.com/office/powerpoint/2010/main" val="22467429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35</a:t>
            </a:fld>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fr-FR" sz="600">
                <a:solidFill>
                  <a:schemeClr val="accent5">
                    <a:lumMod val="50000"/>
                  </a:schemeClr>
                </a:solidFill>
                <a:latin typeface="+mn-lt"/>
                <a:ea typeface="+mn-ea"/>
                <a:cs typeface="CiscoSans Thin"/>
              </a:rPr>
              <a:t>© 2016 Cisco et/ou ses filiales. Tous droits réservés.   Informations confidentielles de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fr-FR" sz="600">
                <a:solidFill>
                  <a:schemeClr val="accent3">
                    <a:lumMod val="85000"/>
                  </a:schemeClr>
                </a:solidFill>
                <a:latin typeface="+mn-lt"/>
                <a:ea typeface="+mn-ea"/>
                <a:cs typeface="CiscoSans Thin"/>
              </a:rPr>
              <a:t>© 2016 Cisco et/ou ses filiales. Tous droits réservés.   Informations confidentielles de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4.xml"/><Relationship Id="rId4" Type="http://schemas.openxmlformats.org/officeDocument/2006/relationships/image" Target="../media/image3.tiff"/></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ags" Target="../tags/tag16.xml"/><Relationship Id="rId4" Type="http://schemas.openxmlformats.org/officeDocument/2006/relationships/image" Target="../media/image4.tiff"/></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ags" Target="../tags/tag18.xml"/><Relationship Id="rId4" Type="http://schemas.openxmlformats.org/officeDocument/2006/relationships/image" Target="../media/image5.tiff"/></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ags" Target="../tags/tag19.xml"/><Relationship Id="rId4" Type="http://schemas.openxmlformats.org/officeDocument/2006/relationships/image" Target="../media/image6.tiff"/></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ags" Target="../tags/tag20.xml"/><Relationship Id="rId4" Type="http://schemas.openxmlformats.org/officeDocument/2006/relationships/image" Target="../media/image7.tiff"/></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21.xml"/><Relationship Id="rId4" Type="http://schemas.openxmlformats.org/officeDocument/2006/relationships/image" Target="../media/image8.tif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ags" Target="../tags/tag23.xml"/><Relationship Id="rId5" Type="http://schemas.openxmlformats.org/officeDocument/2006/relationships/image" Target="../media/image10.tiff"/><Relationship Id="rId4" Type="http://schemas.openxmlformats.org/officeDocument/2006/relationships/image" Target="../media/image9.tiff"/></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ags" Target="../tags/tag24.xml"/><Relationship Id="rId4" Type="http://schemas.openxmlformats.org/officeDocument/2006/relationships/image" Target="../media/image11.tiff"/></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tags" Target="../tags/tag25.xml"/><Relationship Id="rId4" Type="http://schemas.openxmlformats.org/officeDocument/2006/relationships/image" Target="../media/image12.tiff"/></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3.xml"/><Relationship Id="rId1" Type="http://schemas.openxmlformats.org/officeDocument/2006/relationships/tags" Target="../tags/tag26.xml"/><Relationship Id="rId4" Type="http://schemas.openxmlformats.org/officeDocument/2006/relationships/image" Target="../media/image13.tiff"/></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3.xml"/><Relationship Id="rId1" Type="http://schemas.openxmlformats.org/officeDocument/2006/relationships/tags" Target="../tags/tag27.xml"/><Relationship Id="rId4" Type="http://schemas.openxmlformats.org/officeDocument/2006/relationships/image" Target="../media/image14.tiff"/></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3.xml"/><Relationship Id="rId1" Type="http://schemas.openxmlformats.org/officeDocument/2006/relationships/tags" Target="../tags/tag28.xml"/><Relationship Id="rId4" Type="http://schemas.openxmlformats.org/officeDocument/2006/relationships/image" Target="../media/image15.tiff"/></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3.xml"/><Relationship Id="rId1" Type="http://schemas.openxmlformats.org/officeDocument/2006/relationships/tags" Target="../tags/tag29.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tags" Target="../tags/tag30.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ags" Target="../tags/tag3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tags" Target="../tags/tag3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tags" Target="../tags/tag3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tags" Target="../tags/tag3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tags" Target="../tags/tag3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0.xml"/><Relationship Id="rId1" Type="http://schemas.openxmlformats.org/officeDocument/2006/relationships/tags" Target="../tags/tag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pPr rtl="0"/>
            <a:r>
              <a:rPr lang="fr-FR">
                <a:solidFill>
                  <a:schemeClr val="accent5">
                    <a:lumMod val="40000"/>
                    <a:lumOff val="60000"/>
                  </a:schemeClr>
                </a:solidFill>
              </a:rPr>
              <a:t>Module 13: ICMP</a:t>
            </a:r>
          </a:p>
        </p:txBody>
      </p:sp>
      <p:sp>
        <p:nvSpPr>
          <p:cNvPr id="7" name="Subtitle 6"/>
          <p:cNvSpPr>
            <a:spLocks noGrp="1"/>
          </p:cNvSpPr>
          <p:nvPr>
            <p:ph type="subTitle" idx="1"/>
          </p:nvPr>
        </p:nvSpPr>
        <p:spPr>
          <a:xfrm>
            <a:off x="469497" y="3809526"/>
            <a:ext cx="2368954" cy="902174"/>
          </a:xfrm>
        </p:spPr>
        <p:txBody>
          <a:bodyPr/>
          <a:lstStyle/>
          <a:p>
            <a:pPr rtl="0"/>
            <a:r>
              <a:rPr lang="fr-FR">
                <a:solidFill>
                  <a:schemeClr val="accent5">
                    <a:lumMod val="40000"/>
                    <a:lumOff val="60000"/>
                  </a:schemeClr>
                </a:solidFill>
              </a:rPr>
              <a:t>Introduction aux Réseaux v7.0 (ITN)</a:t>
            </a:r>
          </a:p>
          <a:p>
            <a:endParaRPr lang="en-US" dirty="0"/>
          </a:p>
        </p:txBody>
      </p:sp>
      <p:sp>
        <p:nvSpPr>
          <p:cNvPr id="8" name="Text Placeholder 4">
            <a:extLst>
              <a:ext uri="{FF2B5EF4-FFF2-40B4-BE49-F238E27FC236}">
                <a16:creationId xmlns:a16="http://schemas.microsoft.com/office/drawing/2014/main" id="{BEB47D15-D5FF-407F-9026-3FDC57137DCD}"/>
              </a:ext>
            </a:extLst>
          </p:cNvPr>
          <p:cNvSpPr>
            <a:spLocks noGrp="1"/>
          </p:cNvSpPr>
          <p:nvPr/>
        </p:nvSpPr>
        <p:spPr>
          <a:xfrm>
            <a:off x="469497" y="3198175"/>
            <a:ext cx="5925246" cy="299001"/>
          </a:xfrm>
          <a:prstGeom prst="rect">
            <a:avLst/>
          </a:prstGeom>
        </p:spPr>
        <p:txBody>
          <a:bodyPr lIns="91420" tIns="45710" rIns="91420" bIns="45710"/>
          <a:lstStyle>
            <a:lvl1pPr marL="0" indent="0" algn="l" defTabSz="684213" rtl="0" eaLnBrk="1" fontAlgn="base" hangingPunct="1">
              <a:lnSpc>
                <a:spcPct val="95000"/>
              </a:lnSpc>
              <a:spcBef>
                <a:spcPts val="1075"/>
              </a:spcBef>
              <a:spcAft>
                <a:spcPct val="0"/>
              </a:spcAft>
              <a:buClr>
                <a:schemeClr val="tx2"/>
              </a:buClr>
              <a:buSzPct val="90000"/>
              <a:buFont typeface="Arial" panose="020B0604020202020204" pitchFamily="34" charset="0"/>
              <a:buNone/>
              <a:defRPr lang="en-US" sz="2000" kern="1200" baseline="0">
                <a:solidFill>
                  <a:schemeClr val="bg2"/>
                </a:solidFill>
                <a:latin typeface="+mj-lt"/>
                <a:ea typeface="ＭＳ Ｐゴシック" charset="0"/>
                <a:cs typeface="CiscoSans"/>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r>
              <a:rPr lang="fr-FR" dirty="0">
                <a:solidFill>
                  <a:schemeClr val="bg2">
                    <a:lumMod val="40000"/>
                    <a:lumOff val="60000"/>
                  </a:schemeClr>
                </a:solidFill>
              </a:rPr>
              <a:t>Contenu Pédagogique de l'instructeur</a:t>
            </a:r>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pPr rtl="0"/>
            <a:r>
              <a:rPr lang="fr-FR"/>
              <a:t>Instructor Materials – Module 13 Planning Guide</a:t>
            </a:r>
          </a:p>
        </p:txBody>
      </p:sp>
      <p:sp>
        <p:nvSpPr>
          <p:cNvPr id="2" name="Content Placeholder 1">
            <a:extLst>
              <a:ext uri="{FF2B5EF4-FFF2-40B4-BE49-F238E27FC236}">
                <a16:creationId xmlns:a16="http://schemas.microsoft.com/office/drawing/2014/main" id="{69142AA6-DB6D-47A4-A3ED-81E849BCED40}"/>
              </a:ext>
            </a:extLst>
          </p:cNvPr>
          <p:cNvSpPr>
            <a:spLocks noGrp="1"/>
          </p:cNvSpPr>
          <p:nvPr>
            <p:ph idx="1"/>
          </p:nvPr>
        </p:nvSpPr>
        <p:spPr/>
        <p:txBody>
          <a:bodyPr/>
          <a:lstStyle/>
          <a:p>
            <a:pPr marL="0" indent="0" rtl="0">
              <a:buNone/>
            </a:pPr>
            <a:r>
              <a:rPr lang="fr-FR"/>
              <a:t>This PowerPoint deck is divided in two parts:</a:t>
            </a:r>
          </a:p>
          <a:p>
            <a:pPr rtl="0">
              <a:buFont typeface="Arial" panose="020B0604020202020204" pitchFamily="34" charset="0"/>
              <a:buChar char="•"/>
            </a:pPr>
            <a:r>
              <a:rPr lang="fr-FR"/>
              <a:t>Instructor Planning Guide</a:t>
            </a:r>
          </a:p>
          <a:p>
            <a:pPr lvl="1" rtl="0">
              <a:buFont typeface="Arial" panose="020B0604020202020204" pitchFamily="34" charset="0"/>
              <a:buChar char="•"/>
            </a:pPr>
            <a:r>
              <a:rPr lang="fr-FR"/>
              <a:t>Information to help you become familiar with the module</a:t>
            </a:r>
          </a:p>
          <a:p>
            <a:pPr lvl="1" rtl="0">
              <a:buFont typeface="Arial" panose="020B0604020202020204" pitchFamily="34" charset="0"/>
              <a:buChar char="•"/>
            </a:pPr>
            <a:r>
              <a:rPr lang="fr-FR"/>
              <a:t>Teaching aids</a:t>
            </a:r>
          </a:p>
          <a:p>
            <a:pPr rtl="0">
              <a:buFont typeface="Arial" panose="020B0604020202020204" pitchFamily="34" charset="0"/>
              <a:buChar char="•"/>
            </a:pPr>
            <a:r>
              <a:rPr lang="fr-FR"/>
              <a:t>Instructor Class Presentation</a:t>
            </a:r>
          </a:p>
          <a:p>
            <a:pPr lvl="1" rtl="0"/>
            <a:r>
              <a:rPr lang="fr-FR"/>
              <a:t>Optional slides that you can use in the classroom</a:t>
            </a:r>
          </a:p>
          <a:p>
            <a:pPr lvl="1" rtl="0"/>
            <a:r>
              <a:rPr lang="fr-FR"/>
              <a:t>Begins on slide # 9</a:t>
            </a:r>
          </a:p>
          <a:p>
            <a:pPr marL="142875" lvl="1" indent="0" algn="ctr" rtl="0">
              <a:buNone/>
            </a:pPr>
            <a:r>
              <a:rPr lang="fr-FR" sz="1600" b="1"/>
              <a:t>Note</a:t>
            </a:r>
            <a:r>
              <a:rPr lang="fr-FR" sz="1600"/>
              <a:t>: Remove the Planning Guide from this presentation before sharing with anyone.</a:t>
            </a:r>
          </a:p>
          <a:p>
            <a:pPr marL="0" indent="0" rtl="0">
              <a:buNone/>
            </a:pPr>
            <a:r>
              <a:rPr lang="fr-FR" sz="1600" b="1">
                <a:solidFill>
                  <a:schemeClr val="accent4"/>
                </a:solidFill>
              </a:rPr>
              <a:t>For additional help and resources go to the Instructor Home Page and Course Resources for this course. You also can visit the professional development site on netacad.com, the official Cisco Networking Academy Facebook page, or Instructor Only FB group.</a:t>
            </a:r>
          </a:p>
          <a:p>
            <a:pPr marL="0" indent="0">
              <a:buNone/>
            </a:pPr>
            <a:endParaRPr lang="en-US" dirty="0"/>
          </a:p>
        </p:txBody>
      </p:sp>
    </p:spTree>
    <p:custDataLst>
      <p:tags r:id="rId1"/>
    </p:custDataLst>
    <p:extLst>
      <p:ext uri="{BB962C8B-B14F-4D97-AF65-F5344CB8AC3E}">
        <p14:creationId xmlns:p14="http://schemas.microsoft.com/office/powerpoint/2010/main" val="359958195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rtl="0"/>
            <a:r>
              <a:rPr lang="fr-FR"/>
              <a:t>To facilitate learning, the following features within the GUI may be included in this module:</a:t>
            </a:r>
          </a:p>
          <a:p>
            <a:endParaRPr lang="en-US" dirty="0"/>
          </a:p>
          <a:p>
            <a:endParaRPr lang="en-US" dirty="0"/>
          </a:p>
          <a:p>
            <a:pPr marL="0" indent="0">
              <a:buNone/>
            </a:pPr>
            <a:endParaRPr lang="en-US" dirty="0"/>
          </a:p>
        </p:txBody>
      </p:sp>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pPr rtl="0"/>
            <a:r>
              <a:rPr lang="fr-FR"/>
              <a:t>What to Expect in this Module</a:t>
            </a:r>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pPr rtl="0"/>
                      <a:r>
                        <a:rPr lang="fr-FR"/>
                        <a:t>Feature</a:t>
                      </a:r>
                    </a:p>
                  </a:txBody>
                  <a:tcPr/>
                </a:tc>
                <a:tc>
                  <a:txBody>
                    <a:bodyPr/>
                    <a:lstStyle/>
                    <a:p>
                      <a:pPr rtl="0"/>
                      <a:r>
                        <a:rPr lang="fr-FR"/>
                        <a:t>Description</a:t>
                      </a:r>
                    </a:p>
                  </a:txBody>
                  <a:tcPr/>
                </a:tc>
                <a:extLst>
                  <a:ext uri="{0D108BD9-81ED-4DB2-BD59-A6C34878D82A}">
                    <a16:rowId xmlns:a16="http://schemas.microsoft.com/office/drawing/2014/main" val="367710602"/>
                  </a:ext>
                </a:extLst>
              </a:tr>
              <a:tr h="331556">
                <a:tc>
                  <a:txBody>
                    <a:bodyPr/>
                    <a:lstStyle/>
                    <a:p>
                      <a:pPr algn="l" rtl="0" fontAlgn="b"/>
                      <a:r>
                        <a:rPr lang="fr-FR" sz="1400" b="0" i="0" u="none" strike="noStrike">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fr-FR" sz="1400" b="0" i="0" u="none" strike="noStrike">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fr-FR" sz="1400" b="0" i="0" u="none" strike="noStrike">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fr-FR"/>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fr-FR" sz="1400" b="0" i="0" u="none" strike="noStrike">
                          <a:solidFill>
                            <a:srgbClr val="000000"/>
                          </a:solidFill>
                          <a:effectLst/>
                          <a:latin typeface="+mn-lt"/>
                        </a:rPr>
                        <a:t>Interactive Activities</a:t>
                      </a:r>
                    </a:p>
                  </a:txBody>
                  <a:tcPr marL="9525" marR="9525" marT="9525" marB="0" anchor="b"/>
                </a:tc>
                <a:tc>
                  <a:txBody>
                    <a:bodyPr/>
                    <a:lstStyle/>
                    <a:p>
                      <a:pPr rtl="0"/>
                      <a:r>
                        <a:rPr lang="fr-FR"/>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rtl="0" fontAlgn="b"/>
                      <a:r>
                        <a:rPr lang="fr-FR" sz="1400" b="0" i="0" u="none" strike="noStrike">
                          <a:solidFill>
                            <a:srgbClr val="000000"/>
                          </a:solidFill>
                          <a:effectLst/>
                          <a:latin typeface="+mn-lt"/>
                        </a:rPr>
                        <a:t>Syntax Checker</a:t>
                      </a:r>
                    </a:p>
                  </a:txBody>
                  <a:tcPr marL="9525" marR="9525" marT="9525" marB="0" anchor="b"/>
                </a:tc>
                <a:tc>
                  <a:txBody>
                    <a:bodyPr/>
                    <a:lstStyle/>
                    <a:p>
                      <a:pPr rtl="0"/>
                      <a:r>
                        <a:rPr lang="fr-FR"/>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rtl="0" fontAlgn="b"/>
                      <a:r>
                        <a:rPr lang="fr-FR" sz="1400" b="0" i="0" u="none" strike="noStrike">
                          <a:solidFill>
                            <a:srgbClr val="000000"/>
                          </a:solidFill>
                          <a:effectLst/>
                          <a:latin typeface="+mn-lt"/>
                        </a:rPr>
                        <a:t>PT Activity</a:t>
                      </a:r>
                    </a:p>
                  </a:txBody>
                  <a:tcPr marL="9525" marR="9525" marT="9525" marB="0" anchor="b"/>
                </a:tc>
                <a:tc>
                  <a:txBody>
                    <a:bodyPr/>
                    <a:lstStyle/>
                    <a:p>
                      <a:pPr rtl="0"/>
                      <a:r>
                        <a:rPr lang="fr-FR"/>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rtl="0" fontAlgn="b"/>
                      <a:r>
                        <a:rPr lang="fr-FR" sz="1400" b="1" i="0" u="none" strike="noStrike">
                          <a:solidFill>
                            <a:schemeClr val="bg1"/>
                          </a:solidFill>
                          <a:effectLst/>
                          <a:latin typeface="+mn-lt"/>
                        </a:rPr>
                        <a:t>Feature</a:t>
                      </a:r>
                    </a:p>
                  </a:txBody>
                  <a:tcPr marL="9525" marR="9525" marT="9525" marB="0" anchor="b"/>
                </a:tc>
                <a:tc>
                  <a:txBody>
                    <a:bodyPr/>
                    <a:lstStyle/>
                    <a:p>
                      <a:pPr rtl="0"/>
                      <a:r>
                        <a:rPr lang="fr-FR"/>
                        <a:t>Description</a:t>
                      </a:r>
                    </a:p>
                  </a:txBody>
                  <a:tcPr/>
                </a:tc>
                <a:extLst>
                  <a:ext uri="{0D108BD9-81ED-4DB2-BD59-A6C34878D82A}">
                    <a16:rowId xmlns:a16="http://schemas.microsoft.com/office/drawing/2014/main" val="3768427975"/>
                  </a:ext>
                </a:extLst>
              </a:tr>
              <a:tr h="265091">
                <a:tc>
                  <a:txBody>
                    <a:bodyPr/>
                    <a:lstStyle/>
                    <a:p>
                      <a:pPr algn="l" rtl="0" fontAlgn="b"/>
                      <a:r>
                        <a:rPr lang="fr-FR" sz="1400" b="0" i="0" u="none" strike="noStrike">
                          <a:solidFill>
                            <a:srgbClr val="000000"/>
                          </a:solidFill>
                          <a:effectLst/>
                          <a:latin typeface="+mn-lt"/>
                        </a:rPr>
                        <a:t>Hands-On Labs</a:t>
                      </a:r>
                    </a:p>
                  </a:txBody>
                  <a:tcPr marL="9525" marR="9525" marT="9525" marB="0" anchor="b"/>
                </a:tc>
                <a:tc>
                  <a:txBody>
                    <a:bodyPr/>
                    <a:lstStyle/>
                    <a:p>
                      <a:pPr rtl="0"/>
                      <a:r>
                        <a:rPr lang="fr-FR"/>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fr-FR" sz="1400" b="0" i="0" u="none" strike="noStrike">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fr-FR"/>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rtl="0" fontAlgn="b"/>
                      <a:r>
                        <a:rPr lang="fr-FR" sz="1400" b="0" i="0" u="none" strike="noStrike">
                          <a:solidFill>
                            <a:srgbClr val="000000"/>
                          </a:solidFill>
                          <a:effectLst/>
                          <a:latin typeface="+mn-lt"/>
                        </a:rPr>
                        <a:t>Module Quizzes</a:t>
                      </a:r>
                    </a:p>
                  </a:txBody>
                  <a:tcPr marL="9525" marR="9525" marT="9525" marB="0" anchor="b"/>
                </a:tc>
                <a:tc>
                  <a:txBody>
                    <a:bodyPr/>
                    <a:lstStyle/>
                    <a:p>
                      <a:pPr rtl="0"/>
                      <a:r>
                        <a:rPr lang="fr-FR"/>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rtl="0" fontAlgn="b"/>
                      <a:r>
                        <a:rPr lang="fr-FR" sz="1400" b="0" i="0" u="none" strike="noStrike">
                          <a:solidFill>
                            <a:srgbClr val="000000"/>
                          </a:solidFill>
                          <a:effectLst/>
                          <a:latin typeface="+mn-lt"/>
                        </a:rPr>
                        <a:t>Module Summary</a:t>
                      </a:r>
                    </a:p>
                  </a:txBody>
                  <a:tcPr marL="9525" marR="9525" marT="9525" marB="0" anchor="b"/>
                </a:tc>
                <a:tc>
                  <a:txBody>
                    <a:bodyPr/>
                    <a:lstStyle/>
                    <a:p>
                      <a:pPr rtl="0"/>
                      <a:r>
                        <a:rPr lang="fr-FR"/>
                        <a:t>Briefly recaps module content.</a:t>
                      </a:r>
                    </a:p>
                  </a:txBody>
                  <a:tcPr/>
                </a:tc>
                <a:extLst>
                  <a:ext uri="{0D108BD9-81ED-4DB2-BD59-A6C34878D82A}">
                    <a16:rowId xmlns:a16="http://schemas.microsoft.com/office/drawing/2014/main" val="2267046280"/>
                  </a:ext>
                </a:extLst>
              </a:tr>
            </a:tbl>
          </a:graphicData>
        </a:graphic>
      </p:graphicFrame>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pPr rtl="0"/>
            <a:r>
              <a:rPr lang="fr-FR"/>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r>
              <a:rPr lang="fr-FR"/>
              <a:t>To facilitate learning, the following features may be included in this module:</a:t>
            </a:r>
          </a:p>
          <a:p>
            <a:pPr marL="0" indent="0">
              <a:buNone/>
            </a:pPr>
            <a:endParaRPr lang="en-US" dirty="0"/>
          </a:p>
          <a:p>
            <a:pPr marL="0" indent="0">
              <a:buFont typeface="Wingdings" panose="05000000000000000000" pitchFamily="2" charset="2"/>
              <a:buNone/>
            </a:pPr>
            <a:endParaRPr lang="en-US" dirty="0"/>
          </a:p>
        </p:txBody>
      </p:sp>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rtl="0" eaLnBrk="1" hangingPunct="1"/>
            <a:r>
              <a:rPr lang="fr-FR"/>
              <a:t>Check Your Understanding</a:t>
            </a:r>
          </a:p>
        </p:txBody>
      </p:sp>
      <p:sp>
        <p:nvSpPr>
          <p:cNvPr id="4" name="Rectangle 34">
            <a:extLst>
              <a:ext uri="{FF2B5EF4-FFF2-40B4-BE49-F238E27FC236}">
                <a16:creationId xmlns:a16="http://schemas.microsoft.com/office/drawing/2014/main" id="{08FDDB5E-A0F2-A445-A3E2-506D151576AB}"/>
              </a:ext>
            </a:extLst>
          </p:cNvPr>
          <p:cNvSpPr txBox="1">
            <a:spLocks noChangeArrowheads="1"/>
          </p:cNvSpPr>
          <p:nvPr/>
        </p:nvSpPr>
        <p:spPr bwMode="auto">
          <a:xfrm>
            <a:off x="132715" y="982690"/>
            <a:ext cx="8878570" cy="3643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spcBef>
                <a:spcPct val="30000"/>
              </a:spcBef>
              <a:buFont typeface="Arial" panose="020B0604020202020204" pitchFamily="34" charset="0"/>
              <a:buChar char="•"/>
            </a:pPr>
            <a:r>
              <a:rPr lang="fr-FR"/>
              <a:t>Check Your Understanding activities are designed to let students quickly determine if they understand the content and can proceed, or if they need to review. </a:t>
            </a:r>
          </a:p>
          <a:p>
            <a:pPr rtl="0">
              <a:spcBef>
                <a:spcPct val="30000"/>
              </a:spcBef>
              <a:buFont typeface="Arial" panose="020B0604020202020204" pitchFamily="34" charset="0"/>
              <a:buChar char="•"/>
            </a:pPr>
            <a:r>
              <a:rPr lang="fr-FR"/>
              <a:t>Check Your Understanding activities </a:t>
            </a:r>
            <a:r>
              <a:rPr lang="fr-FR" b="1" i="1"/>
              <a:t>do not </a:t>
            </a:r>
            <a:r>
              <a:rPr lang="fr-FR"/>
              <a:t>affect student grades.</a:t>
            </a:r>
          </a:p>
          <a:p>
            <a:pPr rtl="0">
              <a:spcBef>
                <a:spcPct val="30000"/>
              </a:spcBef>
              <a:buFont typeface="Arial" panose="020B0604020202020204" pitchFamily="34" charset="0"/>
              <a:buChar char="•"/>
            </a:pPr>
            <a:r>
              <a:rPr lang="fr-FR"/>
              <a:t>There are no separate slides for these activities in the PPT. They are listed in the notes area of the slide that appears before these activities.</a:t>
            </a:r>
          </a:p>
          <a:p>
            <a:pPr marL="0" indent="0">
              <a:spcBef>
                <a:spcPct val="30000"/>
              </a:spcBef>
              <a:buFont typeface="Wingdings" panose="05000000000000000000" pitchFamily="2" charset="2"/>
              <a:buNone/>
            </a:pPr>
            <a:endParaRPr lang="en-US" dirty="0"/>
          </a:p>
          <a:p>
            <a:pPr>
              <a:spcBef>
                <a:spcPct val="30000"/>
              </a:spcBef>
            </a:pPr>
            <a:endParaRPr lang="en-US" dirty="0"/>
          </a:p>
        </p:txBody>
      </p:sp>
    </p:spTree>
    <p:custDataLst>
      <p:tags r:id="rId1"/>
    </p:custDataLst>
    <p:extLst>
      <p:ext uri="{BB962C8B-B14F-4D97-AF65-F5344CB8AC3E}">
        <p14:creationId xmlns:p14="http://schemas.microsoft.com/office/powerpoint/2010/main" val="3447270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rtl="0" eaLnBrk="1" hangingPunct="1"/>
            <a:r>
              <a:rPr lang="fr-FR"/>
              <a:t>Module 13: Activities</a:t>
            </a:r>
          </a:p>
        </p:txBody>
      </p:sp>
      <p:sp>
        <p:nvSpPr>
          <p:cNvPr id="6147" name="Rectangle 34"/>
          <p:cNvSpPr>
            <a:spLocks noGrp="1" noChangeArrowheads="1"/>
          </p:cNvSpPr>
          <p:nvPr>
            <p:ph idx="1"/>
          </p:nvPr>
        </p:nvSpPr>
        <p:spPr>
          <a:xfrm>
            <a:off x="144065" y="798945"/>
            <a:ext cx="8695135" cy="348414"/>
          </a:xfrm>
        </p:spPr>
        <p:txBody>
          <a:bodyPr/>
          <a:lstStyle/>
          <a:p>
            <a:pPr marL="0" indent="0" rtl="0">
              <a:spcBef>
                <a:spcPct val="30000"/>
              </a:spcBef>
              <a:buNone/>
            </a:pPr>
            <a:r>
              <a:rPr lang="fr-FR"/>
              <a:t>What activities are associated with this module?</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958280488"/>
              </p:ext>
            </p:extLst>
          </p:nvPr>
        </p:nvGraphicFramePr>
        <p:xfrm>
          <a:off x="457291" y="1368681"/>
          <a:ext cx="8229418" cy="2406138"/>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fr-FR" sz="120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200"/>
                        <a:t>Activity Type</a:t>
                      </a:r>
                    </a:p>
                  </a:txBody>
                  <a:tcPr marL="68580" marR="68580" marT="34290" marB="34290" anchor="ctr"/>
                </a:tc>
                <a:tc>
                  <a:txBody>
                    <a:bodyPr/>
                    <a:lstStyle/>
                    <a:p>
                      <a:pPr rtl="0"/>
                      <a:r>
                        <a:rPr lang="fr-FR" sz="1200"/>
                        <a:t>Activity Name</a:t>
                      </a:r>
                    </a:p>
                  </a:txBody>
                  <a:tcPr marL="68580" marR="68580" marT="34290" marB="34290" anchor="ctr"/>
                </a:tc>
                <a:tc>
                  <a:txBody>
                    <a:bodyPr/>
                    <a:lstStyle/>
                    <a:p>
                      <a:pPr rtl="0"/>
                      <a:r>
                        <a:rPr lang="fr-FR" sz="1200"/>
                        <a:t>Optional?</a:t>
                      </a:r>
                    </a:p>
                  </a:txBody>
                  <a:tcPr marL="68580" marR="68580" marT="34290" marB="34290" anchor="ctr"/>
                </a:tc>
                <a:extLst>
                  <a:ext uri="{0D108BD9-81ED-4DB2-BD59-A6C34878D82A}">
                    <a16:rowId xmlns:a16="http://schemas.microsoft.com/office/drawing/2014/main" val="10000"/>
                  </a:ext>
                </a:extLst>
              </a:tr>
              <a:tr h="350784">
                <a:tc>
                  <a:txBody>
                    <a:bodyPr/>
                    <a:lstStyle/>
                    <a:p>
                      <a:pPr algn="ctr" rtl="0"/>
                      <a:r>
                        <a:rPr lang="fr-FR" sz="1100"/>
                        <a:t>13.1.6</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a:t>Check Your Understanding</a:t>
                      </a:r>
                    </a:p>
                  </a:txBody>
                  <a:tcPr marL="68580" marR="68580" marT="34290" marB="34290" anchor="ctr"/>
                </a:tc>
                <a:tc>
                  <a:txBody>
                    <a:bodyPr/>
                    <a:lstStyle/>
                    <a:p>
                      <a:pPr rtl="0"/>
                      <a:r>
                        <a:rPr lang="fr-FR" sz="1100"/>
                        <a:t>ICMP Message</a:t>
                      </a:r>
                    </a:p>
                  </a:txBody>
                  <a:tcPr marL="68580" marR="68580" marT="34290" marB="34290" anchor="ctr"/>
                </a:tc>
                <a:tc>
                  <a:txBody>
                    <a:bodyPr/>
                    <a:lstStyle/>
                    <a:p>
                      <a:pPr rtl="0"/>
                      <a:r>
                        <a:rPr lang="fr-FR" sz="1100"/>
                        <a:t>Recommended</a:t>
                      </a:r>
                    </a:p>
                  </a:txBody>
                  <a:tcPr marL="68580" marR="68580" marT="34290" marB="34290" anchor="ctr"/>
                </a:tc>
                <a:extLst>
                  <a:ext uri="{0D108BD9-81ED-4DB2-BD59-A6C34878D82A}">
                    <a16:rowId xmlns:a16="http://schemas.microsoft.com/office/drawing/2014/main" val="10001"/>
                  </a:ext>
                </a:extLst>
              </a:tr>
              <a:tr h="350784">
                <a:tc>
                  <a:txBody>
                    <a:bodyPr/>
                    <a:lstStyle/>
                    <a:p>
                      <a:pPr algn="ctr" rtl="0"/>
                      <a:r>
                        <a:rPr lang="fr-FR" sz="1100"/>
                        <a:t>13.2.6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Packet Tracer</a:t>
                      </a:r>
                    </a:p>
                  </a:txBody>
                  <a:tcPr marL="68580" marR="68580" marT="34290" marB="34290" anchor="ctr"/>
                </a:tc>
                <a:tc>
                  <a:txBody>
                    <a:bodyPr/>
                    <a:lstStyle/>
                    <a:p>
                      <a:pPr rtl="0"/>
                      <a:r>
                        <a:rPr lang="fr-FR" sz="1100"/>
                        <a:t>Verify IPv4 and IPv6 Addressing</a:t>
                      </a:r>
                    </a:p>
                  </a:txBody>
                  <a:tcPr marL="68580" marR="68580" marT="34290" marB="34290" anchor="ctr"/>
                </a:tc>
                <a:tc>
                  <a:txBody>
                    <a:bodyPr/>
                    <a:lstStyle/>
                    <a:p>
                      <a:pPr rtl="0"/>
                      <a:r>
                        <a:rPr lang="fr-FR" sz="1100"/>
                        <a:t>Recommended</a:t>
                      </a:r>
                    </a:p>
                  </a:txBody>
                  <a:tcPr marL="68580" marR="68580" marT="34290" marB="34290" anchor="ctr"/>
                </a:tc>
                <a:extLst>
                  <a:ext uri="{0D108BD9-81ED-4DB2-BD59-A6C34878D82A}">
                    <a16:rowId xmlns:a16="http://schemas.microsoft.com/office/drawing/2014/main" val="10006"/>
                  </a:ext>
                </a:extLst>
              </a:tr>
              <a:tr h="350784">
                <a:tc>
                  <a:txBody>
                    <a:bodyPr/>
                    <a:lstStyle/>
                    <a:p>
                      <a:pPr algn="ctr" rtl="0"/>
                      <a:r>
                        <a:rPr lang="fr-FR" sz="1100"/>
                        <a:t>13.2.7</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Use Ping and Traceroute to Test Network Connectivity</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10008"/>
                  </a:ext>
                </a:extLst>
              </a:tr>
              <a:tr h="350784">
                <a:tc>
                  <a:txBody>
                    <a:bodyPr/>
                    <a:lstStyle/>
                    <a:p>
                      <a:pPr algn="ctr" rtl="0"/>
                      <a:r>
                        <a:rPr lang="fr-FR" sz="1100"/>
                        <a:t>13.3.1</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Use ICMP to Test and Correct Network Connectivity</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2582900979"/>
                  </a:ext>
                </a:extLst>
              </a:tr>
              <a:tr h="350784">
                <a:tc>
                  <a:txBody>
                    <a:bodyPr/>
                    <a:lstStyle/>
                    <a:p>
                      <a:pPr algn="ctr" rtl="0"/>
                      <a:r>
                        <a:rPr lang="fr-FR" sz="1100"/>
                        <a:t>13.3.2</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Use Ping and Traceroute to Test Network Connectivity</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3522544737"/>
                  </a:ext>
                </a:extLst>
              </a:tr>
              <a:tr h="350784">
                <a:tc>
                  <a:txBody>
                    <a:bodyPr/>
                    <a:lstStyle/>
                    <a:p>
                      <a:pPr algn="ctr" rtl="0"/>
                      <a:r>
                        <a:rPr lang="fr-FR" sz="1100"/>
                        <a:t>13.3.4</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a:t>Module Quiz</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ICMP</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3001172460"/>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fr-FR"/>
              <a:t>Module 13: Best Practices</a:t>
            </a:r>
          </a:p>
        </p:txBody>
      </p:sp>
      <p:sp>
        <p:nvSpPr>
          <p:cNvPr id="11266" name="Rectangle 34"/>
          <p:cNvSpPr>
            <a:spLocks noGrp="1" noChangeArrowheads="1"/>
          </p:cNvSpPr>
          <p:nvPr>
            <p:ph idx="1"/>
          </p:nvPr>
        </p:nvSpPr>
        <p:spPr>
          <a:xfrm>
            <a:off x="144065" y="798944"/>
            <a:ext cx="8853286" cy="3690863"/>
          </a:xfrm>
        </p:spPr>
        <p:txBody>
          <a:bodyPr/>
          <a:lstStyle/>
          <a:p>
            <a:pPr marL="0" indent="0" rtl="0">
              <a:lnSpc>
                <a:spcPct val="85000"/>
              </a:lnSpc>
              <a:spcBef>
                <a:spcPct val="30000"/>
              </a:spcBef>
              <a:buNone/>
            </a:pPr>
            <a:r>
              <a:rPr lang="fr-FR" sz="1600"/>
              <a:t>Prior to teaching Module 13, the instructor should:</a:t>
            </a:r>
          </a:p>
          <a:p>
            <a:pPr rtl="0">
              <a:lnSpc>
                <a:spcPct val="85000"/>
              </a:lnSpc>
              <a:spcBef>
                <a:spcPct val="30000"/>
              </a:spcBef>
              <a:buFont typeface="Arial" panose="020B0604020202020204" pitchFamily="34" charset="0"/>
              <a:buChar char="•"/>
            </a:pPr>
            <a:r>
              <a:rPr lang="fr-FR" sz="1600"/>
              <a:t>Review the activities and assessments for this module.</a:t>
            </a:r>
          </a:p>
          <a:p>
            <a:pPr rtl="0">
              <a:lnSpc>
                <a:spcPct val="85000"/>
              </a:lnSpc>
              <a:spcBef>
                <a:spcPct val="30000"/>
              </a:spcBef>
              <a:buFont typeface="Arial" panose="020B0604020202020204" pitchFamily="34" charset="0"/>
              <a:buChar char="•"/>
            </a:pPr>
            <a:r>
              <a:rPr lang="fr-FR" sz="1600"/>
              <a:t>Try to include as many questions as possible to keep students engaged during classroom presentation.</a:t>
            </a:r>
          </a:p>
          <a:p>
            <a:pPr rtl="0">
              <a:lnSpc>
                <a:spcPct val="85000"/>
              </a:lnSpc>
              <a:spcBef>
                <a:spcPct val="30000"/>
              </a:spcBef>
              <a:buFont typeface="Arial" panose="020B0604020202020204" pitchFamily="34" charset="0"/>
              <a:buChar char="•"/>
            </a:pPr>
            <a:r>
              <a:rPr lang="fr-FR" sz="1600"/>
              <a:t>After this Module, the IP Addressing Exam is available, covering Modules 11-13.</a:t>
            </a:r>
          </a:p>
          <a:p>
            <a:pPr marL="0" indent="0">
              <a:lnSpc>
                <a:spcPct val="85000"/>
              </a:lnSpc>
              <a:spcBef>
                <a:spcPct val="30000"/>
              </a:spcBef>
              <a:buNone/>
            </a:pPr>
            <a:endParaRPr lang="en-US" sz="1600" dirty="0"/>
          </a:p>
          <a:p>
            <a:pPr marL="0" indent="0" rtl="0">
              <a:lnSpc>
                <a:spcPct val="85000"/>
              </a:lnSpc>
              <a:spcBef>
                <a:spcPct val="30000"/>
              </a:spcBef>
              <a:buNone/>
            </a:pPr>
            <a:r>
              <a:rPr lang="fr-FR" sz="1600"/>
              <a:t>Section 13.1</a:t>
            </a:r>
          </a:p>
          <a:p>
            <a:pPr lvl="1" rtl="0">
              <a:lnSpc>
                <a:spcPct val="85000"/>
              </a:lnSpc>
              <a:spcBef>
                <a:spcPct val="30000"/>
              </a:spcBef>
              <a:buFont typeface="Arial" panose="020B0604020202020204" pitchFamily="34" charset="0"/>
              <a:buChar char="•"/>
            </a:pPr>
            <a:r>
              <a:rPr lang="fr-FR" sz="1600"/>
              <a:t>Ask the students or have a class discussion:</a:t>
            </a:r>
          </a:p>
          <a:p>
            <a:pPr lvl="2" rtl="0">
              <a:lnSpc>
                <a:spcPct val="85000"/>
              </a:lnSpc>
              <a:spcBef>
                <a:spcPct val="30000"/>
              </a:spcBef>
              <a:buFont typeface="Arial" panose="020B0604020202020204" pitchFamily="34" charset="0"/>
              <a:buChar char="•"/>
            </a:pPr>
            <a:r>
              <a:rPr lang="fr-FR" sz="1600"/>
              <a:t>Explain the similarities and differences between ICMPv4 and ICMPv6.</a:t>
            </a:r>
          </a:p>
          <a:p>
            <a:pPr lvl="2" rtl="0">
              <a:lnSpc>
                <a:spcPct val="85000"/>
              </a:lnSpc>
              <a:spcBef>
                <a:spcPct val="30000"/>
              </a:spcBef>
              <a:buFont typeface="Arial" panose="020B0604020202020204" pitchFamily="34" charset="0"/>
              <a:buChar char="•"/>
            </a:pPr>
            <a:r>
              <a:rPr lang="fr-FR" sz="1600"/>
              <a:t>What do you think would cause a destination to be unreachable?</a:t>
            </a:r>
          </a:p>
          <a:p>
            <a:pPr lvl="2" rtl="0">
              <a:lnSpc>
                <a:spcPct val="85000"/>
              </a:lnSpc>
              <a:spcBef>
                <a:spcPct val="30000"/>
              </a:spcBef>
              <a:buFont typeface="Arial" panose="020B0604020202020204" pitchFamily="34" charset="0"/>
              <a:buChar char="•"/>
            </a:pPr>
            <a:r>
              <a:rPr lang="fr-FR" sz="1600"/>
              <a:t>Why would a network administrator deny ICMP messages from an outside source?</a:t>
            </a:r>
          </a:p>
          <a:p>
            <a:pPr marL="0" indent="0">
              <a:lnSpc>
                <a:spcPct val="85000"/>
              </a:lnSpc>
              <a:spcBef>
                <a:spcPct val="30000"/>
              </a:spcBef>
              <a:buNone/>
            </a:pPr>
            <a:endParaRPr lang="en-US" dirty="0"/>
          </a:p>
          <a:p>
            <a:pPr marL="0" indent="0">
              <a:lnSpc>
                <a:spcPct val="85000"/>
              </a:lnSpc>
              <a:spcBef>
                <a:spcPct val="30000"/>
              </a:spcBef>
              <a:buNone/>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155670768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fr-FR"/>
              <a:t>Module 13: Best Practices (Cont.) </a:t>
            </a:r>
          </a:p>
        </p:txBody>
      </p:sp>
      <p:sp>
        <p:nvSpPr>
          <p:cNvPr id="11266" name="Rectangle 34"/>
          <p:cNvSpPr>
            <a:spLocks noGrp="1" noChangeArrowheads="1"/>
          </p:cNvSpPr>
          <p:nvPr>
            <p:ph idx="1"/>
          </p:nvPr>
        </p:nvSpPr>
        <p:spPr>
          <a:xfrm>
            <a:off x="144065" y="798944"/>
            <a:ext cx="8853286" cy="3818775"/>
          </a:xfrm>
        </p:spPr>
        <p:txBody>
          <a:bodyPr/>
          <a:lstStyle/>
          <a:p>
            <a:pPr marL="0" indent="0" rtl="0">
              <a:lnSpc>
                <a:spcPct val="85000"/>
              </a:lnSpc>
              <a:spcBef>
                <a:spcPct val="30000"/>
              </a:spcBef>
              <a:buNone/>
            </a:pPr>
            <a:r>
              <a:rPr lang="fr-FR" sz="1600"/>
              <a:t>Section 13.2</a:t>
            </a:r>
          </a:p>
          <a:p>
            <a:pPr lvl="1" rtl="0">
              <a:lnSpc>
                <a:spcPct val="85000"/>
              </a:lnSpc>
              <a:spcBef>
                <a:spcPct val="30000"/>
              </a:spcBef>
            </a:pPr>
            <a:r>
              <a:rPr lang="fr-FR" sz="1600"/>
              <a:t>Ask the students or have a class discussion:</a:t>
            </a:r>
          </a:p>
          <a:p>
            <a:pPr lvl="2" rtl="0">
              <a:lnSpc>
                <a:spcPct val="85000"/>
              </a:lnSpc>
              <a:spcBef>
                <a:spcPct val="30000"/>
              </a:spcBef>
            </a:pPr>
            <a:r>
              <a:rPr lang="fr-FR" sz="1600"/>
              <a:t>What are the differences between ping and traceroute?</a:t>
            </a:r>
          </a:p>
          <a:p>
            <a:pPr lvl="2" rtl="0">
              <a:lnSpc>
                <a:spcPct val="85000"/>
              </a:lnSpc>
              <a:spcBef>
                <a:spcPct val="30000"/>
              </a:spcBef>
            </a:pPr>
            <a:r>
              <a:rPr lang="fr-FR" sz="1600"/>
              <a:t>Why would you ping the loopback address of a device?</a:t>
            </a:r>
          </a:p>
          <a:p>
            <a:pPr lvl="2" rtl="0">
              <a:lnSpc>
                <a:spcPct val="85000"/>
              </a:lnSpc>
              <a:spcBef>
                <a:spcPct val="30000"/>
              </a:spcBef>
            </a:pPr>
            <a:r>
              <a:rPr lang="fr-FR" sz="1600"/>
              <a:t>In what situations would you use the ping/traceroute command?</a:t>
            </a:r>
          </a:p>
          <a:p>
            <a:pPr lvl="2">
              <a:lnSpc>
                <a:spcPct val="85000"/>
              </a:lnSpc>
              <a:spcBef>
                <a:spcPct val="30000"/>
              </a:spcBef>
            </a:pPr>
            <a:endParaRPr lang="en-US" dirty="0"/>
          </a:p>
          <a:p>
            <a:pPr lvl="1">
              <a:lnSpc>
                <a:spcPct val="85000"/>
              </a:lnSpc>
              <a:spcBef>
                <a:spcPct val="30000"/>
              </a:spcBef>
            </a:pPr>
            <a:endParaRPr lang="en-US" dirty="0"/>
          </a:p>
          <a:p>
            <a:pPr lvl="2">
              <a:lnSpc>
                <a:spcPct val="85000"/>
              </a:lnSpc>
              <a:spcBef>
                <a:spcPct val="30000"/>
              </a:spcBef>
            </a:pPr>
            <a:endParaRPr lang="en-US" dirty="0"/>
          </a:p>
          <a:p>
            <a:pPr marL="0" indent="0">
              <a:lnSpc>
                <a:spcPct val="85000"/>
              </a:lnSpc>
              <a:spcBef>
                <a:spcPct val="30000"/>
              </a:spcBef>
              <a:buNone/>
            </a:pPr>
            <a:endParaRPr lang="en-US" dirty="0"/>
          </a:p>
          <a:p>
            <a:pPr marL="0" indent="0">
              <a:lnSpc>
                <a:spcPct val="85000"/>
              </a:lnSpc>
              <a:spcBef>
                <a:spcPct val="30000"/>
              </a:spcBef>
              <a:buNone/>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49388794"/>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260316"/>
            <a:ext cx="6672708" cy="1136308"/>
          </a:xfrm>
        </p:spPr>
        <p:txBody>
          <a:bodyPr/>
          <a:lstStyle/>
          <a:p>
            <a:pPr rtl="0"/>
            <a:r>
              <a:rPr lang="fr-FR">
                <a:solidFill>
                  <a:schemeClr val="accent5">
                    <a:lumMod val="40000"/>
                    <a:lumOff val="60000"/>
                  </a:schemeClr>
                </a:solidFill>
              </a:rPr>
              <a:t>Module 13: ICMP</a:t>
            </a:r>
            <a:br>
              <a:rPr lang="en-US" dirty="0">
                <a:solidFill>
                  <a:schemeClr val="accent5">
                    <a:lumMod val="40000"/>
                    <a:lumOff val="60000"/>
                  </a:schemeClr>
                </a:solidFill>
              </a:rPr>
            </a:br>
            <a:endParaRPr lang="en-US" dirty="0">
              <a:solidFill>
                <a:schemeClr val="accent5">
                  <a:lumMod val="40000"/>
                  <a:lumOff val="60000"/>
                </a:schemeClr>
              </a:solidFill>
            </a:endParaRPr>
          </a:p>
        </p:txBody>
      </p:sp>
      <p:sp>
        <p:nvSpPr>
          <p:cNvPr id="7" name="Subtitle 6"/>
          <p:cNvSpPr>
            <a:spLocks noGrp="1"/>
          </p:cNvSpPr>
          <p:nvPr>
            <p:ph type="subTitle" idx="1"/>
          </p:nvPr>
        </p:nvSpPr>
        <p:spPr>
          <a:xfrm>
            <a:off x="469497" y="3809526"/>
            <a:ext cx="2368954" cy="902174"/>
          </a:xfrm>
        </p:spPr>
        <p:txBody>
          <a:bodyPr/>
          <a:lstStyle/>
          <a:p>
            <a:pPr rtl="0"/>
            <a:r>
              <a:rPr lang="fr-FR">
                <a:solidFill>
                  <a:schemeClr val="accent5">
                    <a:lumMod val="40000"/>
                    <a:lumOff val="60000"/>
                  </a:schemeClr>
                </a:solidFill>
              </a:rPr>
              <a:t>Introduction aux Réseaux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41393"/>
            <a:ext cx="9144000" cy="669321"/>
          </a:xfrm>
        </p:spPr>
        <p:txBody>
          <a:bodyPr/>
          <a:lstStyle/>
          <a:p>
            <a:pPr rtl="0" eaLnBrk="1" hangingPunct="1"/>
            <a:r>
              <a:rPr lang="fr-FR"/>
              <a:t>Objectifs du Module</a:t>
            </a:r>
          </a:p>
        </p:txBody>
      </p:sp>
      <p:sp>
        <p:nvSpPr>
          <p:cNvPr id="4099" name="Rectangle 34"/>
          <p:cNvSpPr>
            <a:spLocks noGrp="1" noChangeArrowheads="1"/>
          </p:cNvSpPr>
          <p:nvPr>
            <p:ph idx="1"/>
          </p:nvPr>
        </p:nvSpPr>
        <p:spPr>
          <a:xfrm>
            <a:off x="0" y="798944"/>
            <a:ext cx="9006840" cy="669320"/>
          </a:xfrm>
        </p:spPr>
        <p:txBody>
          <a:bodyPr/>
          <a:lstStyle/>
          <a:p>
            <a:pPr marL="188912" lvl="1" indent="0" rtl="0">
              <a:buNone/>
            </a:pPr>
            <a:r>
              <a:rPr lang="fr-FR" sz="1600" b="1"/>
              <a:t>Titre du module</a:t>
            </a:r>
            <a:r>
              <a:rPr lang="fr-FR" sz="1600"/>
              <a:t>: ICMP</a:t>
            </a:r>
          </a:p>
          <a:p>
            <a:pPr marL="188912" lvl="1" indent="0" rtl="0">
              <a:buNone/>
            </a:pPr>
            <a:r>
              <a:rPr lang="fr-FR" sz="1600" b="1"/>
              <a:t>Objectif du Module</a:t>
            </a:r>
            <a:r>
              <a:rPr lang="fr-FR" sz="1600"/>
              <a:t>: Utiliser divers outils pour tester la connectivité des réseaux.</a:t>
            </a:r>
          </a:p>
          <a:p>
            <a:pPr marL="327818" lvl="2" indent="0">
              <a:buNone/>
            </a:pPr>
            <a:endParaRPr lang="en-US" sz="1150" dirty="0"/>
          </a:p>
        </p:txBody>
      </p:sp>
      <p:graphicFrame>
        <p:nvGraphicFramePr>
          <p:cNvPr id="4" name="Table 3">
            <a:extLst>
              <a:ext uri="{FF2B5EF4-FFF2-40B4-BE49-F238E27FC236}">
                <a16:creationId xmlns:a16="http://schemas.microsoft.com/office/drawing/2014/main" id="{73C07AB0-6822-FB4C-9445-25B1C20C98B1}"/>
              </a:ext>
            </a:extLst>
          </p:cNvPr>
          <p:cNvGraphicFramePr>
            <a:graphicFrameLocks noGrp="1"/>
          </p:cNvGraphicFramePr>
          <p:nvPr>
            <p:extLst>
              <p:ext uri="{D42A27DB-BD31-4B8C-83A1-F6EECF244321}">
                <p14:modId xmlns:p14="http://schemas.microsoft.com/office/powerpoint/2010/main" val="3650485866"/>
              </p:ext>
            </p:extLst>
          </p:nvPr>
        </p:nvGraphicFramePr>
        <p:xfrm>
          <a:off x="663479" y="1754987"/>
          <a:ext cx="7679882" cy="1282359"/>
        </p:xfrm>
        <a:graphic>
          <a:graphicData uri="http://schemas.openxmlformats.org/drawingml/2006/table">
            <a:tbl>
              <a:tblPr firstRow="1" firstCol="1" bandRow="1">
                <a:tableStyleId>{5C22544A-7EE6-4342-B048-85BDC9FD1C3A}</a:tableStyleId>
              </a:tblPr>
              <a:tblGrid>
                <a:gridCol w="3839941">
                  <a:extLst>
                    <a:ext uri="{9D8B030D-6E8A-4147-A177-3AD203B41FA5}">
                      <a16:colId xmlns:a16="http://schemas.microsoft.com/office/drawing/2014/main" val="1523797708"/>
                    </a:ext>
                  </a:extLst>
                </a:gridCol>
                <a:gridCol w="3839941">
                  <a:extLst>
                    <a:ext uri="{9D8B030D-6E8A-4147-A177-3AD203B41FA5}">
                      <a16:colId xmlns:a16="http://schemas.microsoft.com/office/drawing/2014/main" val="2750207184"/>
                    </a:ext>
                  </a:extLst>
                </a:gridCol>
              </a:tblGrid>
              <a:tr h="228725">
                <a:tc>
                  <a:txBody>
                    <a:bodyPr/>
                    <a:lstStyle/>
                    <a:p>
                      <a:pPr marL="0" marR="0" rtl="0">
                        <a:lnSpc>
                          <a:spcPct val="107000"/>
                        </a:lnSpc>
                        <a:spcBef>
                          <a:spcPts val="0"/>
                        </a:spcBef>
                        <a:spcAft>
                          <a:spcPts val="0"/>
                        </a:spcAft>
                      </a:pPr>
                      <a:r>
                        <a:rPr lang="fr-FR" sz="1050">
                          <a:effectLst/>
                        </a:rPr>
                        <a:t>Titre du Rubrique</a:t>
                      </a:r>
                    </a:p>
                  </a:txBody>
                  <a:tcPr marL="68580" marR="68580" marT="0" marB="0"/>
                </a:tc>
                <a:tc>
                  <a:txBody>
                    <a:bodyPr/>
                    <a:lstStyle/>
                    <a:p>
                      <a:pPr marL="0" marR="0" rtl="0">
                        <a:lnSpc>
                          <a:spcPct val="107000"/>
                        </a:lnSpc>
                        <a:spcBef>
                          <a:spcPts val="0"/>
                        </a:spcBef>
                        <a:spcAft>
                          <a:spcPts val="0"/>
                        </a:spcAft>
                      </a:pPr>
                      <a:r>
                        <a:rPr lang="fr-FR" sz="1050">
                          <a:effectLst/>
                        </a:rPr>
                        <a:t>Objectif du Rubrique</a:t>
                      </a:r>
                    </a:p>
                  </a:txBody>
                  <a:tcPr marL="68580" marR="68580" marT="0" marB="0"/>
                </a:tc>
                <a:extLst>
                  <a:ext uri="{0D108BD9-81ED-4DB2-BD59-A6C34878D82A}">
                    <a16:rowId xmlns:a16="http://schemas.microsoft.com/office/drawing/2014/main" val="1874061904"/>
                  </a:ext>
                </a:extLst>
              </a:tr>
              <a:tr h="469315">
                <a:tc>
                  <a:txBody>
                    <a:bodyPr/>
                    <a:lstStyle/>
                    <a:p>
                      <a:pPr rtl="0" fontAlgn="ctr"/>
                      <a:r>
                        <a:rPr lang="fr-FR" sz="1050" b="1">
                          <a:effectLst/>
                        </a:rPr>
                        <a:t>Messages ICMP</a:t>
                      </a:r>
                    </a:p>
                  </a:txBody>
                  <a:tcPr marL="47625" marR="47625" marT="47625" marB="47625" anchor="ctr"/>
                </a:tc>
                <a:tc>
                  <a:txBody>
                    <a:bodyPr/>
                    <a:lstStyle/>
                    <a:p>
                      <a:pPr rtl="0" fontAlgn="ctr"/>
                      <a:r>
                        <a:rPr lang="fr-FR" sz="1050" b="0">
                          <a:effectLst/>
                        </a:rPr>
                        <a:t>Expliquer comment le protocole ICMP sert à tester la connectivité du réseau.</a:t>
                      </a:r>
                    </a:p>
                  </a:txBody>
                  <a:tcPr marL="47625" marR="47625" marT="47625" marB="47625" anchor="ctr"/>
                </a:tc>
                <a:extLst>
                  <a:ext uri="{0D108BD9-81ED-4DB2-BD59-A6C34878D82A}">
                    <a16:rowId xmlns:a16="http://schemas.microsoft.com/office/drawing/2014/main" val="1646858405"/>
                  </a:ext>
                </a:extLst>
              </a:tr>
              <a:tr h="584319">
                <a:tc>
                  <a:txBody>
                    <a:bodyPr/>
                    <a:lstStyle/>
                    <a:p>
                      <a:pPr rtl="0" fontAlgn="ctr"/>
                      <a:r>
                        <a:rPr lang="fr-FR" sz="1050" b="1">
                          <a:effectLst/>
                        </a:rPr>
                        <a:t>Tests à l'aide des commandes ping et traceroute</a:t>
                      </a:r>
                    </a:p>
                  </a:txBody>
                  <a:tcPr marL="47625" marR="47625" marT="47625" marB="47625" anchor="ctr"/>
                </a:tc>
                <a:tc>
                  <a:txBody>
                    <a:bodyPr/>
                    <a:lstStyle/>
                    <a:p>
                      <a:pPr rtl="0" fontAlgn="ctr"/>
                      <a:r>
                        <a:rPr lang="fr-FR" sz="1050" b="0">
                          <a:effectLst/>
                        </a:rPr>
                        <a:t>Utiliser les utilitaires Ping et Traceroute pour tester la connectivité du réseau.</a:t>
                      </a:r>
                    </a:p>
                  </a:txBody>
                  <a:tcPr marL="47625" marR="47625" marT="47625" marB="47625" anchor="ctr"/>
                </a:tc>
                <a:extLst>
                  <a:ext uri="{0D108BD9-81ED-4DB2-BD59-A6C34878D82A}">
                    <a16:rowId xmlns:a16="http://schemas.microsoft.com/office/drawing/2014/main" val="3216917477"/>
                  </a:ext>
                </a:extLst>
              </a:tr>
            </a:tbl>
          </a:graphicData>
        </a:graphic>
      </p:graphicFrame>
    </p:spTree>
    <p:custDataLst>
      <p:tags r:id="rId1"/>
    </p:custDataLst>
    <p:extLst>
      <p:ext uri="{BB962C8B-B14F-4D97-AF65-F5344CB8AC3E}">
        <p14:creationId xmlns:p14="http://schemas.microsoft.com/office/powerpoint/2010/main" val="834003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fr-FR">
                <a:solidFill>
                  <a:schemeClr val="accent5">
                    <a:lumMod val="40000"/>
                    <a:lumOff val="60000"/>
                  </a:schemeClr>
                </a:solidFill>
              </a:rPr>
              <a:t>13.1 Messages ICMP</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fr-FR" sz="1600"/>
              <a:t>Messages ICMP</a:t>
            </a:r>
            <a:br>
              <a:rPr lang="en-US" altLang="en-US" dirty="0"/>
            </a:br>
            <a:r>
              <a:rPr lang="fr-FR"/>
              <a:t>Messages ICMPv4 et ICMPv6</a:t>
            </a:r>
          </a:p>
        </p:txBody>
      </p:sp>
      <p:sp>
        <p:nvSpPr>
          <p:cNvPr id="8195" name="Rectangle 6"/>
          <p:cNvSpPr>
            <a:spLocks noGrp="1" noChangeArrowheads="1"/>
          </p:cNvSpPr>
          <p:nvPr>
            <p:ph idx="1"/>
          </p:nvPr>
        </p:nvSpPr>
        <p:spPr>
          <a:xfrm>
            <a:off x="144065" y="888396"/>
            <a:ext cx="8712259" cy="3621959"/>
          </a:xfrm>
        </p:spPr>
        <p:txBody>
          <a:bodyPr/>
          <a:lstStyle/>
          <a:p>
            <a:pPr rtl="0">
              <a:buFont typeface="Arial" panose="020B0604020202020204" pitchFamily="34" charset="0"/>
              <a:buChar char="•"/>
            </a:pPr>
            <a:r>
              <a:rPr lang="fr-FR" sz="1600"/>
              <a:t>ICMP (Internet Control Message Protocol) fournit des commentaires sur les problèmes liés au traitement des paquets IP sous certaines conditions.</a:t>
            </a:r>
          </a:p>
          <a:p>
            <a:pPr rtl="0">
              <a:buFont typeface="Arial" panose="020B0604020202020204" pitchFamily="34" charset="0"/>
              <a:buChar char="•"/>
            </a:pPr>
            <a:r>
              <a:rPr lang="fr-FR" sz="1600"/>
              <a:t>ICMPv4 est le protocole de message des réseaux IPv4. ICMPv6 est le protocole de messagerie pour IPv6 et inclut des fonctionnalités supplémentaires.</a:t>
            </a:r>
          </a:p>
          <a:p>
            <a:pPr rtl="0">
              <a:buFont typeface="Arial" panose="020B0604020202020204" pitchFamily="34" charset="0"/>
              <a:buChar char="•"/>
            </a:pPr>
            <a:r>
              <a:rPr lang="fr-FR" sz="1600"/>
              <a:t>Les messages ICMP communs à ICMPv4 et à ICMPv6 sont notamment les suivants:</a:t>
            </a:r>
          </a:p>
          <a:p>
            <a:pPr lvl="2" rtl="0">
              <a:buFont typeface="Arial" panose="020B0604020202020204" pitchFamily="34" charset="0"/>
              <a:buChar char="•"/>
            </a:pPr>
            <a:r>
              <a:rPr lang="fr-FR" sz="1600"/>
              <a:t>Accessibilité de l'Hôte</a:t>
            </a:r>
          </a:p>
          <a:p>
            <a:pPr lvl="2" rtl="0">
              <a:buFont typeface="Arial" panose="020B0604020202020204" pitchFamily="34" charset="0"/>
              <a:buChar char="•"/>
            </a:pPr>
            <a:r>
              <a:rPr lang="fr-FR" sz="1600"/>
              <a:t>Destination ou service inaccessible</a:t>
            </a:r>
          </a:p>
          <a:p>
            <a:pPr lvl="2" rtl="0">
              <a:buFont typeface="Arial" panose="020B0604020202020204" pitchFamily="34" charset="0"/>
              <a:buChar char="•"/>
            </a:pPr>
            <a:r>
              <a:rPr lang="fr-FR" sz="1600"/>
              <a:t>Délai dépassé</a:t>
            </a:r>
          </a:p>
          <a:p>
            <a:pPr marL="0" indent="0">
              <a:buNone/>
            </a:pPr>
            <a:endParaRPr lang="en-US" sz="1600" dirty="0"/>
          </a:p>
          <a:p>
            <a:pPr marL="0" indent="0" rtl="0">
              <a:buNone/>
            </a:pPr>
            <a:r>
              <a:rPr lang="fr-FR" sz="1600"/>
              <a:t>Remarque : les messages ICMPv4 ne sont pas obligatoires et ne sont souvent pas autorisés au sein d'un réseau pour des raisons de sécurité. </a:t>
            </a:r>
          </a:p>
          <a:p>
            <a:pPr>
              <a:buFont typeface="Arial" panose="020B0604020202020204" pitchFamily="34" charset="0"/>
              <a:buChar char="•"/>
            </a:pPr>
            <a:endParaRPr lang="en-US" dirty="0"/>
          </a:p>
          <a:p>
            <a:endParaRPr lang="en-US" altLang="ja-JP" dirty="0"/>
          </a:p>
        </p:txBody>
      </p:sp>
    </p:spTree>
    <p:custDataLst>
      <p:tags r:id="rId1"/>
    </p:custDataLst>
    <p:extLst>
      <p:ext uri="{BB962C8B-B14F-4D97-AF65-F5344CB8AC3E}">
        <p14:creationId xmlns:p14="http://schemas.microsoft.com/office/powerpoint/2010/main" val="49223303"/>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fr-FR" sz="1600"/>
              <a:t>Messages ICMP</a:t>
            </a:r>
            <a:br>
              <a:rPr lang="en-US" altLang="en-US" dirty="0"/>
            </a:br>
            <a:r>
              <a:rPr lang="fr-FR"/>
              <a:t>Accessibilité de l'hôte</a:t>
            </a:r>
          </a:p>
        </p:txBody>
      </p:sp>
      <p:sp>
        <p:nvSpPr>
          <p:cNvPr id="8195" name="Rectangle 6"/>
          <p:cNvSpPr>
            <a:spLocks noGrp="1" noChangeArrowheads="1"/>
          </p:cNvSpPr>
          <p:nvPr>
            <p:ph idx="1"/>
          </p:nvPr>
        </p:nvSpPr>
        <p:spPr>
          <a:xfrm>
            <a:off x="145357" y="798944"/>
            <a:ext cx="3939626" cy="3735939"/>
          </a:xfrm>
        </p:spPr>
        <p:txBody>
          <a:bodyPr/>
          <a:lstStyle/>
          <a:p>
            <a:pPr marL="0" indent="0" rtl="0">
              <a:buNone/>
            </a:pPr>
            <a:r>
              <a:rPr lang="fr-FR" sz="1600"/>
              <a:t>ICMP Echo Message peut être utilisé pour tester l'accessibilité d'un hôte sur un réseau IP. </a:t>
            </a:r>
          </a:p>
          <a:p>
            <a:pPr marL="0" indent="0" rtl="0">
              <a:buNone/>
            </a:pPr>
            <a:r>
              <a:rPr lang="fr-FR" sz="1600"/>
              <a:t>Dans l'exemple:</a:t>
            </a:r>
          </a:p>
          <a:p>
            <a:pPr lvl="1" rtl="0">
              <a:buFont typeface="Arial" panose="020B0604020202020204" pitchFamily="34" charset="0"/>
              <a:buChar char="•"/>
            </a:pPr>
            <a:r>
              <a:rPr lang="fr-FR" sz="1600"/>
              <a:t>L’hôte local envoie un message ICMP Echo Request (Demande d’écho) à un autre hôte. </a:t>
            </a:r>
          </a:p>
          <a:p>
            <a:pPr lvl="1" rtl="0">
              <a:buFont typeface="Arial" panose="020B0604020202020204" pitchFamily="34" charset="0"/>
              <a:buChar char="•"/>
            </a:pPr>
            <a:r>
              <a:rPr lang="fr-FR" sz="1600"/>
              <a:t>Si l'hôte est disponible, l'hôte de destination répond en envoyant une réponse d'écho.</a:t>
            </a:r>
          </a:p>
        </p:txBody>
      </p:sp>
      <p:pic>
        <p:nvPicPr>
          <p:cNvPr id="3" name="Picture 2">
            <a:extLst>
              <a:ext uri="{FF2B5EF4-FFF2-40B4-BE49-F238E27FC236}">
                <a16:creationId xmlns:a16="http://schemas.microsoft.com/office/drawing/2014/main" id="{60678897-C92D-774A-A01F-030F0E281DB0}"/>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4572000" y="1419595"/>
            <a:ext cx="3939626" cy="2304309"/>
          </a:xfrm>
          <a:prstGeom prst="rect">
            <a:avLst/>
          </a:prstGeom>
        </p:spPr>
      </p:pic>
    </p:spTree>
    <p:custDataLst>
      <p:tags r:id="rId1"/>
    </p:custDataLst>
    <p:extLst>
      <p:ext uri="{BB962C8B-B14F-4D97-AF65-F5344CB8AC3E}">
        <p14:creationId xmlns:p14="http://schemas.microsoft.com/office/powerpoint/2010/main" val="2638466440"/>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fr-FR" sz="1600"/>
              <a:t>Messages ICMP</a:t>
            </a:r>
            <a:br>
              <a:rPr lang="en-US" altLang="en-US" dirty="0"/>
            </a:br>
            <a:r>
              <a:rPr lang="fr-FR"/>
              <a:t>Destination ou service inaccessible</a:t>
            </a:r>
          </a:p>
        </p:txBody>
      </p:sp>
      <p:sp>
        <p:nvSpPr>
          <p:cNvPr id="8195" name="Rectangle 6"/>
          <p:cNvSpPr>
            <a:spLocks noGrp="1" noChangeArrowheads="1"/>
          </p:cNvSpPr>
          <p:nvPr>
            <p:ph idx="1"/>
          </p:nvPr>
        </p:nvSpPr>
        <p:spPr>
          <a:xfrm>
            <a:off x="145357" y="925513"/>
            <a:ext cx="8813708" cy="985480"/>
          </a:xfrm>
        </p:spPr>
        <p:txBody>
          <a:bodyPr/>
          <a:lstStyle/>
          <a:p>
            <a:pPr rtl="0">
              <a:spcAft>
                <a:spcPts val="100"/>
              </a:spcAft>
              <a:buFont typeface="Arial" panose="020B0604020202020204" pitchFamily="34" charset="0"/>
              <a:buChar char="•"/>
            </a:pPr>
            <a:r>
              <a:rPr lang="fr-FR" sz="1600"/>
              <a:t>Un message ICMP Destination Inaccessible peut être utilisé pour avertir la source qu'une destination ou un service est inaccessible. </a:t>
            </a:r>
          </a:p>
          <a:p>
            <a:pPr rtl="0">
              <a:spcAft>
                <a:spcPts val="100"/>
              </a:spcAft>
              <a:buFont typeface="Arial" panose="020B0604020202020204" pitchFamily="34" charset="0"/>
              <a:buChar char="•"/>
            </a:pPr>
            <a:r>
              <a:rPr lang="fr-FR" sz="1600"/>
              <a:t>Ce message comprend un code indiquant pourquoi le paquet n'a pas pu être livré.</a:t>
            </a:r>
          </a:p>
          <a:p>
            <a:pPr>
              <a:spcAft>
                <a:spcPts val="100"/>
              </a:spcAft>
              <a:buFont typeface="Arial" panose="020B0604020202020204" pitchFamily="34" charset="0"/>
              <a:buChar char="•"/>
            </a:pPr>
            <a:endParaRPr lang="en-US" dirty="0"/>
          </a:p>
        </p:txBody>
      </p:sp>
      <p:sp>
        <p:nvSpPr>
          <p:cNvPr id="9" name="Rectangle 6">
            <a:extLst>
              <a:ext uri="{FF2B5EF4-FFF2-40B4-BE49-F238E27FC236}">
                <a16:creationId xmlns:a16="http://schemas.microsoft.com/office/drawing/2014/main" id="{898E910B-FDD9-474A-9233-995BD7304EDB}"/>
              </a:ext>
            </a:extLst>
          </p:cNvPr>
          <p:cNvSpPr txBox="1">
            <a:spLocks noChangeArrowheads="1"/>
          </p:cNvSpPr>
          <p:nvPr/>
        </p:nvSpPr>
        <p:spPr bwMode="auto">
          <a:xfrm>
            <a:off x="297554" y="1939458"/>
            <a:ext cx="3734792" cy="2278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rtl="0">
              <a:buNone/>
            </a:pPr>
            <a:r>
              <a:rPr lang="fr-FR" sz="1600" b="1"/>
              <a:t>Certains des codes de Destination Inaccessible pour l'ICMPv4 sont:</a:t>
            </a:r>
          </a:p>
          <a:p>
            <a:pPr lvl="2" rtl="0">
              <a:buFont typeface="Arial" panose="020B0604020202020204" pitchFamily="34" charset="0"/>
              <a:buChar char="•"/>
            </a:pPr>
            <a:r>
              <a:rPr lang="fr-FR" sz="1400"/>
              <a:t>0 - Réseau inaccessible</a:t>
            </a:r>
          </a:p>
          <a:p>
            <a:pPr lvl="2" rtl="0">
              <a:buFont typeface="Arial" panose="020B0604020202020204" pitchFamily="34" charset="0"/>
              <a:buChar char="•"/>
            </a:pPr>
            <a:r>
              <a:rPr lang="fr-FR" sz="1400"/>
              <a:t>1 - Hôte inaccessible</a:t>
            </a:r>
          </a:p>
          <a:p>
            <a:pPr lvl="2" rtl="0">
              <a:buFont typeface="Arial" panose="020B0604020202020204" pitchFamily="34" charset="0"/>
              <a:buChar char="•"/>
            </a:pPr>
            <a:r>
              <a:rPr lang="fr-FR" sz="1400"/>
              <a:t>2 - Protocole inaccessible</a:t>
            </a:r>
          </a:p>
          <a:p>
            <a:pPr lvl="2" rtl="0">
              <a:buFont typeface="Arial" panose="020B0604020202020204" pitchFamily="34" charset="0"/>
              <a:buChar char="•"/>
            </a:pPr>
            <a:r>
              <a:rPr lang="fr-FR" sz="1400"/>
              <a:t>3 - Port inaccessible</a:t>
            </a:r>
          </a:p>
          <a:p>
            <a:pPr>
              <a:spcAft>
                <a:spcPts val="100"/>
              </a:spcAft>
              <a:buFont typeface="Arial" panose="020B0604020202020204" pitchFamily="34" charset="0"/>
              <a:buChar char="•"/>
            </a:pPr>
            <a:endParaRPr lang="en-US" dirty="0"/>
          </a:p>
        </p:txBody>
      </p:sp>
      <p:sp>
        <p:nvSpPr>
          <p:cNvPr id="10" name="Rectangle 6">
            <a:extLst>
              <a:ext uri="{FF2B5EF4-FFF2-40B4-BE49-F238E27FC236}">
                <a16:creationId xmlns:a16="http://schemas.microsoft.com/office/drawing/2014/main" id="{6623918D-06F7-E94D-A789-9059464B1965}"/>
              </a:ext>
            </a:extLst>
          </p:cNvPr>
          <p:cNvSpPr txBox="1">
            <a:spLocks noChangeArrowheads="1"/>
          </p:cNvSpPr>
          <p:nvPr/>
        </p:nvSpPr>
        <p:spPr bwMode="auto">
          <a:xfrm>
            <a:off x="4184542" y="1911937"/>
            <a:ext cx="4876331" cy="2377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rtl="0">
              <a:buNone/>
            </a:pPr>
            <a:r>
              <a:rPr lang="fr-FR" sz="1600" b="1"/>
              <a:t>Certains des codes de Destination Inaccessible pour l'ICMPv6 sont:</a:t>
            </a:r>
          </a:p>
          <a:p>
            <a:pPr lvl="2" rtl="0">
              <a:buFont typeface="Arial" panose="020B0604020202020204" pitchFamily="34" charset="0"/>
              <a:buChar char="•"/>
            </a:pPr>
            <a:r>
              <a:rPr lang="fr-FR" sz="1400"/>
              <a:t>0 - Pas de route vers la destination</a:t>
            </a:r>
          </a:p>
          <a:p>
            <a:pPr lvl="2" rtl="0">
              <a:buFont typeface="Arial" panose="020B0604020202020204" pitchFamily="34" charset="0"/>
              <a:buChar char="•"/>
            </a:pPr>
            <a:r>
              <a:rPr lang="fr-FR" sz="1400"/>
              <a:t>1 - La communication avec la destination est interdite administrativement (p. ex., pare-feu)</a:t>
            </a:r>
          </a:p>
          <a:p>
            <a:pPr lvl="2" rtl="0">
              <a:buFont typeface="Arial" panose="020B0604020202020204" pitchFamily="34" charset="0"/>
              <a:buChar char="•"/>
            </a:pPr>
            <a:r>
              <a:rPr lang="fr-FR" sz="1400"/>
              <a:t>2 - Au-delà de la portée de l'adresse source</a:t>
            </a:r>
          </a:p>
          <a:p>
            <a:pPr lvl="2" rtl="0">
              <a:buFont typeface="Arial" panose="020B0604020202020204" pitchFamily="34" charset="0"/>
              <a:buChar char="•"/>
            </a:pPr>
            <a:r>
              <a:rPr lang="fr-FR" sz="1400"/>
              <a:t>3 - Adresse inaccessible</a:t>
            </a:r>
          </a:p>
          <a:p>
            <a:pPr lvl="2" rtl="0">
              <a:buFont typeface="Arial" panose="020B0604020202020204" pitchFamily="34" charset="0"/>
              <a:buChar char="•"/>
            </a:pPr>
            <a:r>
              <a:rPr lang="fr-FR" sz="1400"/>
              <a:t>4 - Port inaccessible</a:t>
            </a:r>
          </a:p>
          <a:p>
            <a:pPr>
              <a:spcAft>
                <a:spcPts val="100"/>
              </a:spcAft>
              <a:buFont typeface="Arial" panose="020B0604020202020204" pitchFamily="34" charset="0"/>
              <a:buChar char="•"/>
            </a:pPr>
            <a:endParaRPr lang="en-US" dirty="0"/>
          </a:p>
        </p:txBody>
      </p:sp>
      <p:sp>
        <p:nvSpPr>
          <p:cNvPr id="6" name="TextBox 5">
            <a:extLst>
              <a:ext uri="{FF2B5EF4-FFF2-40B4-BE49-F238E27FC236}">
                <a16:creationId xmlns:a16="http://schemas.microsoft.com/office/drawing/2014/main" id="{7A8A4D57-5541-C14B-AAE5-49D28F7EBB1D}"/>
              </a:ext>
            </a:extLst>
          </p:cNvPr>
          <p:cNvSpPr txBox="1"/>
          <p:nvPr/>
        </p:nvSpPr>
        <p:spPr>
          <a:xfrm>
            <a:off x="889462" y="4415528"/>
            <a:ext cx="8069603" cy="307777"/>
          </a:xfrm>
          <a:prstGeom prst="rect">
            <a:avLst/>
          </a:prstGeom>
          <a:noFill/>
        </p:spPr>
        <p:txBody>
          <a:bodyPr wrap="square" rtlCol="0">
            <a:spAutoFit/>
          </a:bodyPr>
          <a:lstStyle/>
          <a:p>
            <a:pPr rtl="0"/>
            <a:r>
              <a:rPr lang="fr-FR" sz="1400" b="1"/>
              <a:t>Remarque</a:t>
            </a:r>
            <a:r>
              <a:rPr lang="fr-FR" sz="1400"/>
              <a:t>: ICMPv6 a des codes similaires mais légèrement différents pour les messages "Destination Inaccessible"</a:t>
            </a:r>
            <a:r>
              <a:rPr lang="fr-FR" sz="1200"/>
              <a:t>.</a:t>
            </a:r>
          </a:p>
        </p:txBody>
      </p:sp>
    </p:spTree>
    <p:custDataLst>
      <p:tags r:id="rId1"/>
    </p:custDataLst>
    <p:extLst>
      <p:ext uri="{BB962C8B-B14F-4D97-AF65-F5344CB8AC3E}">
        <p14:creationId xmlns:p14="http://schemas.microsoft.com/office/powerpoint/2010/main" val="411678066"/>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noChangeArrowheads="1"/>
          </p:cNvSpPr>
          <p:nvPr>
            <p:ph type="title"/>
          </p:nvPr>
        </p:nvSpPr>
        <p:spPr/>
        <p:txBody>
          <a:bodyPr/>
          <a:lstStyle/>
          <a:p>
            <a:pPr rtl="0"/>
            <a:r>
              <a:rPr lang="fr-FR" sz="1600"/>
              <a:t>Messages ICMP </a:t>
            </a:r>
            <a:br>
              <a:rPr lang="en-US" altLang="en-US" sz="1600" dirty="0"/>
            </a:br>
            <a:r>
              <a:rPr lang="fr-FR"/>
              <a:t>Délai Dépassé</a:t>
            </a:r>
          </a:p>
        </p:txBody>
      </p:sp>
      <p:sp>
        <p:nvSpPr>
          <p:cNvPr id="8195" name="Rectangle 2"/>
          <p:cNvSpPr>
            <a:spLocks noGrp="1" noChangeArrowheads="1"/>
          </p:cNvSpPr>
          <p:nvPr>
            <p:ph idx="1"/>
          </p:nvPr>
        </p:nvSpPr>
        <p:spPr>
          <a:xfrm>
            <a:off x="145356" y="823049"/>
            <a:ext cx="8782744" cy="1385895"/>
          </a:xfrm>
        </p:spPr>
        <p:txBody>
          <a:bodyPr/>
          <a:lstStyle/>
          <a:p>
            <a:pPr rtl="0">
              <a:buFont typeface="Arial" panose="020B0604020202020204" pitchFamily="34" charset="0"/>
              <a:buChar char="•"/>
            </a:pPr>
            <a:r>
              <a:rPr lang="fr-FR" sz="1600"/>
              <a:t>Lorsque le champ Durée de vie (TTL) d'un paquet est décrémenté à 0, un message ICMPv4 Délai dépassé est envoyé à l'hôte source. </a:t>
            </a:r>
          </a:p>
          <a:p>
            <a:pPr rtl="0">
              <a:buFont typeface="Arial" panose="020B0604020202020204" pitchFamily="34" charset="0"/>
              <a:buChar char="•"/>
            </a:pPr>
            <a:r>
              <a:rPr lang="fr-FR" sz="1600"/>
              <a:t>ICMPv6 envoie également un message Délai dépassé. Au lieu du champ TTL IPv4, ICMPv6 utilise le champ Hop Limit IPv6 pour déterminer si le paquet a expiré.</a:t>
            </a:r>
          </a:p>
          <a:p>
            <a:pPr>
              <a:buFont typeface="Arial" panose="020B0604020202020204" pitchFamily="34" charset="0"/>
              <a:buChar char="•"/>
            </a:pPr>
            <a:endParaRPr lang="en-US" dirty="0"/>
          </a:p>
        </p:txBody>
      </p:sp>
      <p:sp>
        <p:nvSpPr>
          <p:cNvPr id="2" name="TextBox 1">
            <a:extLst>
              <a:ext uri="{FF2B5EF4-FFF2-40B4-BE49-F238E27FC236}">
                <a16:creationId xmlns:a16="http://schemas.microsoft.com/office/drawing/2014/main" id="{9BC67C86-5F9A-0548-880C-0DE826966352}"/>
              </a:ext>
            </a:extLst>
          </p:cNvPr>
          <p:cNvSpPr txBox="1"/>
          <p:nvPr/>
        </p:nvSpPr>
        <p:spPr>
          <a:xfrm>
            <a:off x="748145" y="4156365"/>
            <a:ext cx="8395855" cy="323165"/>
          </a:xfrm>
          <a:prstGeom prst="rect">
            <a:avLst/>
          </a:prstGeom>
          <a:noFill/>
        </p:spPr>
        <p:txBody>
          <a:bodyPr wrap="square" rtlCol="0">
            <a:spAutoFit/>
          </a:bodyPr>
          <a:lstStyle/>
          <a:p>
            <a:pPr rtl="0"/>
            <a:r>
              <a:rPr lang="fr-FR" sz="1500" b="1"/>
              <a:t>Remarque</a:t>
            </a:r>
            <a:r>
              <a:rPr lang="fr-FR" sz="1500"/>
              <a:t>: les messages de Délai dépassé sont utilisés par l'outil de  </a:t>
            </a:r>
            <a:r>
              <a:rPr lang="fr-FR" sz="1500" b="1"/>
              <a:t>traceroute</a:t>
            </a:r>
            <a:r>
              <a:rPr lang="fr-FR" sz="1500"/>
              <a:t> .</a:t>
            </a:r>
          </a:p>
        </p:txBody>
      </p:sp>
      <p:pic>
        <p:nvPicPr>
          <p:cNvPr id="3" name="Picture 2">
            <a:extLst>
              <a:ext uri="{FF2B5EF4-FFF2-40B4-BE49-F238E27FC236}">
                <a16:creationId xmlns:a16="http://schemas.microsoft.com/office/drawing/2014/main" id="{39DB6FF1-3B75-884A-98F7-AAA4EC10694C}"/>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299541" y="2330681"/>
            <a:ext cx="4544918" cy="1385894"/>
          </a:xfrm>
          <a:prstGeom prst="rect">
            <a:avLst/>
          </a:prstGeom>
        </p:spPr>
      </p:pic>
    </p:spTree>
    <p:custDataLst>
      <p:tags r:id="rId1"/>
    </p:custDataLst>
    <p:extLst>
      <p:ext uri="{BB962C8B-B14F-4D97-AF65-F5344CB8AC3E}">
        <p14:creationId xmlns:p14="http://schemas.microsoft.com/office/powerpoint/2010/main" val="2942420759"/>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noChangeArrowheads="1"/>
          </p:cNvSpPr>
          <p:nvPr>
            <p:ph type="title"/>
          </p:nvPr>
        </p:nvSpPr>
        <p:spPr/>
        <p:txBody>
          <a:bodyPr/>
          <a:lstStyle/>
          <a:p>
            <a:pPr rtl="0"/>
            <a:r>
              <a:rPr lang="fr-FR" sz="1600"/>
              <a:t>Messages ICMP</a:t>
            </a:r>
            <a:br>
              <a:rPr lang="en-US" altLang="en-US" dirty="0"/>
            </a:br>
            <a:r>
              <a:rPr lang="fr-FR"/>
              <a:t>Messages ICMPv6</a:t>
            </a:r>
          </a:p>
        </p:txBody>
      </p:sp>
      <p:sp>
        <p:nvSpPr>
          <p:cNvPr id="8195" name="Rectangle 2"/>
          <p:cNvSpPr>
            <a:spLocks noGrp="1" noChangeArrowheads="1"/>
          </p:cNvSpPr>
          <p:nvPr>
            <p:ph idx="1"/>
          </p:nvPr>
        </p:nvSpPr>
        <p:spPr>
          <a:xfrm>
            <a:off x="145357" y="823049"/>
            <a:ext cx="8710408" cy="757551"/>
          </a:xfrm>
        </p:spPr>
        <p:txBody>
          <a:bodyPr/>
          <a:lstStyle/>
          <a:p>
            <a:pPr marL="0" indent="0" rtl="0">
              <a:buNone/>
            </a:pPr>
            <a:r>
              <a:rPr lang="fr-FR"/>
              <a:t>ICMPv6 dispose de nouvelles fonctionnalités et fonctionnalités améliorées introuvables dans ICMPv4, y compris quatre nouveaux protocoles dans le cadre du Neighbor Discovery Protocol (ND ou NDP).</a:t>
            </a:r>
          </a:p>
          <a:p>
            <a:pPr marL="0" indent="0">
              <a:buNone/>
            </a:pPr>
            <a:endParaRPr lang="en-US" dirty="0"/>
          </a:p>
          <a:p>
            <a:pPr>
              <a:buFont typeface="Arial" panose="020B0604020202020204" pitchFamily="34" charset="0"/>
              <a:buChar char="•"/>
            </a:pPr>
            <a:endParaRPr lang="en-US" dirty="0"/>
          </a:p>
          <a:p>
            <a:endParaRPr lang="en-US" dirty="0"/>
          </a:p>
        </p:txBody>
      </p:sp>
      <p:sp>
        <p:nvSpPr>
          <p:cNvPr id="6" name="Rectangle 2">
            <a:extLst>
              <a:ext uri="{FF2B5EF4-FFF2-40B4-BE49-F238E27FC236}">
                <a16:creationId xmlns:a16="http://schemas.microsoft.com/office/drawing/2014/main" id="{2F976EBF-CEA6-F248-A55E-CBB97E032AE8}"/>
              </a:ext>
            </a:extLst>
          </p:cNvPr>
          <p:cNvSpPr txBox="1">
            <a:spLocks noChangeArrowheads="1"/>
          </p:cNvSpPr>
          <p:nvPr/>
        </p:nvSpPr>
        <p:spPr bwMode="auto">
          <a:xfrm>
            <a:off x="348557" y="1751418"/>
            <a:ext cx="4045643" cy="1818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rtl="0">
              <a:buNone/>
            </a:pPr>
            <a:r>
              <a:rPr lang="fr-FR"/>
              <a:t>La messagerie entre un routeur IPv6 et un périphérique IPv6, y compris l'allocation d'adresses dynamique, est la suivante:</a:t>
            </a:r>
          </a:p>
          <a:p>
            <a:pPr lvl="1" rtl="0">
              <a:buFont typeface="Arial" panose="020B0604020202020204" pitchFamily="34" charset="0"/>
              <a:buChar char="•"/>
            </a:pPr>
            <a:r>
              <a:rPr lang="fr-FR" sz="1600"/>
              <a:t>Message de sollicitation de routeur (RS)</a:t>
            </a:r>
          </a:p>
          <a:p>
            <a:pPr lvl="1" rtl="0">
              <a:buFont typeface="Arial" panose="020B0604020202020204" pitchFamily="34" charset="0"/>
              <a:buChar char="•"/>
            </a:pPr>
            <a:r>
              <a:rPr lang="fr-FR" sz="1600"/>
              <a:t>Message d'annonce de routeur (RA)</a:t>
            </a:r>
          </a:p>
          <a:p>
            <a:pPr marL="0" indent="0">
              <a:buNone/>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7" name="Rectangle 2">
            <a:extLst>
              <a:ext uri="{FF2B5EF4-FFF2-40B4-BE49-F238E27FC236}">
                <a16:creationId xmlns:a16="http://schemas.microsoft.com/office/drawing/2014/main" id="{78E5DCA0-41BC-AC43-99C0-191FE281CB7B}"/>
              </a:ext>
            </a:extLst>
          </p:cNvPr>
          <p:cNvSpPr txBox="1">
            <a:spLocks noChangeArrowheads="1"/>
          </p:cNvSpPr>
          <p:nvPr/>
        </p:nvSpPr>
        <p:spPr bwMode="auto">
          <a:xfrm>
            <a:off x="4749802" y="1757246"/>
            <a:ext cx="4248843" cy="1842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rtl="0">
              <a:buNone/>
            </a:pPr>
            <a:r>
              <a:rPr lang="fr-FR"/>
              <a:t>La messagerie entre les périphériques IPv6, y compris la détection d'adresses en double et la résolution d'adresses, est la suivante:</a:t>
            </a:r>
          </a:p>
          <a:p>
            <a:pPr lvl="1" rtl="0">
              <a:buFont typeface="Arial" panose="020B0604020202020204" pitchFamily="34" charset="0"/>
              <a:buChar char="•"/>
            </a:pPr>
            <a:r>
              <a:rPr lang="fr-FR" sz="1600"/>
              <a:t>Message de sollicitation de voisin (NS)</a:t>
            </a:r>
          </a:p>
          <a:p>
            <a:pPr lvl="1" rtl="0">
              <a:buFont typeface="Arial" panose="020B0604020202020204" pitchFamily="34" charset="0"/>
              <a:buChar char="•"/>
            </a:pPr>
            <a:r>
              <a:rPr lang="fr-FR" sz="1600"/>
              <a:t>Messages d'annonce de voisin (NA)</a:t>
            </a:r>
          </a:p>
          <a:p>
            <a:pPr>
              <a:buFont typeface="Arial" panose="020B0604020202020204" pitchFamily="34" charset="0"/>
              <a:buChar char="•"/>
            </a:pPr>
            <a:endParaRPr lang="en-US" dirty="0"/>
          </a:p>
          <a:p>
            <a:pPr>
              <a:buFont typeface="Arial" panose="020B0604020202020204" pitchFamily="34" charset="0"/>
              <a:buChar char="•"/>
            </a:pPr>
            <a:endParaRPr lang="en-US" dirty="0"/>
          </a:p>
          <a:p>
            <a:endParaRPr lang="en-US" dirty="0"/>
          </a:p>
        </p:txBody>
      </p:sp>
      <p:sp>
        <p:nvSpPr>
          <p:cNvPr id="3" name="TextBox 2">
            <a:extLst>
              <a:ext uri="{FF2B5EF4-FFF2-40B4-BE49-F238E27FC236}">
                <a16:creationId xmlns:a16="http://schemas.microsoft.com/office/drawing/2014/main" id="{3CDF6FA9-ACBC-0A4F-A48F-82FD98FFD73C}"/>
              </a:ext>
            </a:extLst>
          </p:cNvPr>
          <p:cNvSpPr txBox="1"/>
          <p:nvPr/>
        </p:nvSpPr>
        <p:spPr>
          <a:xfrm>
            <a:off x="532015" y="3807746"/>
            <a:ext cx="8190058" cy="523220"/>
          </a:xfrm>
          <a:prstGeom prst="rect">
            <a:avLst/>
          </a:prstGeom>
          <a:noFill/>
        </p:spPr>
        <p:txBody>
          <a:bodyPr wrap="square" rtlCol="0">
            <a:spAutoFit/>
          </a:bodyPr>
          <a:lstStyle/>
          <a:p>
            <a:pPr rtl="0"/>
            <a:r>
              <a:rPr lang="fr-FR" sz="1400" b="1"/>
              <a:t>Remarque</a:t>
            </a:r>
            <a:r>
              <a:rPr lang="fr-FR" sz="1400"/>
              <a:t>: ICMPv6 ND inclut également le message de redirection, qui comporte une fonction similaire au message de redirection utilisé dans l'ICMPv4.</a:t>
            </a:r>
          </a:p>
        </p:txBody>
      </p:sp>
    </p:spTree>
    <p:custDataLst>
      <p:tags r:id="rId1"/>
    </p:custDataLst>
    <p:extLst>
      <p:ext uri="{BB962C8B-B14F-4D97-AF65-F5344CB8AC3E}">
        <p14:creationId xmlns:p14="http://schemas.microsoft.com/office/powerpoint/2010/main" val="314716202"/>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noChangeArrowheads="1"/>
          </p:cNvSpPr>
          <p:nvPr>
            <p:ph type="title"/>
          </p:nvPr>
        </p:nvSpPr>
        <p:spPr/>
        <p:txBody>
          <a:bodyPr/>
          <a:lstStyle/>
          <a:p>
            <a:pPr rtl="0"/>
            <a:r>
              <a:rPr lang="fr-FR" sz="1600"/>
              <a:t>Messages ICMP</a:t>
            </a:r>
            <a:br>
              <a:rPr lang="en-US" altLang="en-US" dirty="0"/>
            </a:br>
            <a:r>
              <a:rPr lang="fr-FR"/>
              <a:t>Messages ICMPv6 (suite)</a:t>
            </a:r>
          </a:p>
        </p:txBody>
      </p:sp>
      <p:sp>
        <p:nvSpPr>
          <p:cNvPr id="8195" name="Rectangle 2"/>
          <p:cNvSpPr>
            <a:spLocks noGrp="1" noChangeArrowheads="1"/>
          </p:cNvSpPr>
          <p:nvPr>
            <p:ph idx="1"/>
          </p:nvPr>
        </p:nvSpPr>
        <p:spPr>
          <a:xfrm>
            <a:off x="145357" y="823049"/>
            <a:ext cx="4157661" cy="3660051"/>
          </a:xfrm>
        </p:spPr>
        <p:txBody>
          <a:bodyPr/>
          <a:lstStyle/>
          <a:p>
            <a:pPr rtl="0">
              <a:buFont typeface="Arial" panose="020B0604020202020204" pitchFamily="34" charset="0"/>
              <a:buChar char="•"/>
            </a:pPr>
            <a:r>
              <a:rPr lang="fr-FR"/>
              <a:t>Les messages RA sont envoyés par des routeurs compatibles IPv6 toutes les 200 secondes pour fournir des informations d'adressage aux hôtes compatibles IPv6.</a:t>
            </a:r>
          </a:p>
          <a:p>
            <a:pPr rtl="0">
              <a:buFont typeface="Arial" panose="020B0604020202020204" pitchFamily="34" charset="0"/>
              <a:buChar char="•"/>
            </a:pPr>
            <a:r>
              <a:rPr lang="fr-FR"/>
              <a:t>Un message d'annonce de routeur peut inclure les informations d'adressage pour l'hôte telles que le préfixe, la longueur de préfixe, l'adresse DNS et le nom de domaine. </a:t>
            </a:r>
          </a:p>
          <a:p>
            <a:pPr rtl="0">
              <a:buFont typeface="Arial" panose="020B0604020202020204" pitchFamily="34" charset="0"/>
              <a:buChar char="•"/>
            </a:pPr>
            <a:r>
              <a:rPr lang="fr-FR"/>
              <a:t>Un hôte utilisant l'auto-configuration d'adresse sans état (SLAAC) définira sa passerelle par défaut sur l'adresse locale du routeur qui a envoyé le RA.</a:t>
            </a:r>
          </a:p>
          <a:p>
            <a:endParaRPr lang="en-US" dirty="0"/>
          </a:p>
        </p:txBody>
      </p:sp>
      <p:pic>
        <p:nvPicPr>
          <p:cNvPr id="4" name="Picture 3">
            <a:extLst>
              <a:ext uri="{FF2B5EF4-FFF2-40B4-BE49-F238E27FC236}">
                <a16:creationId xmlns:a16="http://schemas.microsoft.com/office/drawing/2014/main" id="{E905CC86-95BA-E54C-A71A-BFD4BA290D63}"/>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303018" y="1510074"/>
            <a:ext cx="4514531" cy="2286000"/>
          </a:xfrm>
          <a:prstGeom prst="rect">
            <a:avLst/>
          </a:prstGeom>
        </p:spPr>
      </p:pic>
    </p:spTree>
    <p:custDataLst>
      <p:tags r:id="rId1"/>
    </p:custDataLst>
    <p:extLst>
      <p:ext uri="{BB962C8B-B14F-4D97-AF65-F5344CB8AC3E}">
        <p14:creationId xmlns:p14="http://schemas.microsoft.com/office/powerpoint/2010/main" val="1134625139"/>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noChangeArrowheads="1"/>
          </p:cNvSpPr>
          <p:nvPr>
            <p:ph type="title"/>
          </p:nvPr>
        </p:nvSpPr>
        <p:spPr/>
        <p:txBody>
          <a:bodyPr/>
          <a:lstStyle/>
          <a:p>
            <a:pPr rtl="0"/>
            <a:r>
              <a:rPr lang="fr-FR" sz="1600"/>
              <a:t>Messages ICMP</a:t>
            </a:r>
            <a:br>
              <a:rPr lang="en-US" altLang="en-US" dirty="0"/>
            </a:br>
            <a:r>
              <a:rPr lang="fr-FR"/>
              <a:t>Messages ICMPv6 (suite)</a:t>
            </a:r>
          </a:p>
        </p:txBody>
      </p:sp>
      <p:sp>
        <p:nvSpPr>
          <p:cNvPr id="8195" name="Rectangle 2"/>
          <p:cNvSpPr>
            <a:spLocks noGrp="1" noChangeArrowheads="1"/>
          </p:cNvSpPr>
          <p:nvPr>
            <p:ph idx="1"/>
          </p:nvPr>
        </p:nvSpPr>
        <p:spPr>
          <a:xfrm>
            <a:off x="145357" y="823049"/>
            <a:ext cx="4157661" cy="3799751"/>
          </a:xfrm>
        </p:spPr>
        <p:txBody>
          <a:bodyPr/>
          <a:lstStyle/>
          <a:p>
            <a:pPr rtl="0">
              <a:buFont typeface="Arial" panose="020B0604020202020204" pitchFamily="34" charset="0"/>
              <a:buChar char="•"/>
            </a:pPr>
            <a:r>
              <a:rPr lang="fr-FR"/>
              <a:t>Un routeur compatible IPv6 enverra également un message RA en réponse à un message RS. </a:t>
            </a:r>
          </a:p>
          <a:p>
            <a:pPr rtl="0">
              <a:buFont typeface="Arial" panose="020B0604020202020204" pitchFamily="34" charset="0"/>
              <a:buChar char="•"/>
            </a:pPr>
            <a:r>
              <a:rPr lang="fr-FR"/>
              <a:t>Dans la figure, PC1 envoie un message RS pour déterminer comment recevoir ses informations d'adresse IPv6 dynamiquement. </a:t>
            </a:r>
          </a:p>
          <a:p>
            <a:pPr lvl="2" rtl="0"/>
            <a:r>
              <a:rPr lang="fr-FR"/>
              <a:t>R1 répond au RS avec un message RA.</a:t>
            </a:r>
          </a:p>
          <a:p>
            <a:pPr lvl="2" rtl="0"/>
            <a:r>
              <a:rPr lang="fr-FR"/>
              <a:t>PC1 envoie un message RS, «Salut, je viens de démarrer. Existe-t-il un routeur IPv6 sur le réseau? J'ai besoin de savoir comment obtenir les informations de mon adresse IPv6 dynamiquement.»</a:t>
            </a:r>
          </a:p>
          <a:p>
            <a:pPr lvl="2" rtl="0"/>
            <a:r>
              <a:rPr lang="fr-FR"/>
              <a:t>R1 répond avec un message RA. «Salut à tous les appareils compatibles IPv6. Je suis R1 et vous pouvez utiliser SLAAC pour créer une adresse de monodiffusion globale IPv6. Le préfixe est 2001:db8:acad:1::/64. Au fait, utilisez mon adresse locale fe80::1 comme passerelle par défaut".</a:t>
            </a:r>
          </a:p>
          <a:p>
            <a:endParaRPr lang="en-US" dirty="0"/>
          </a:p>
        </p:txBody>
      </p:sp>
      <p:pic>
        <p:nvPicPr>
          <p:cNvPr id="3" name="Picture 2">
            <a:extLst>
              <a:ext uri="{FF2B5EF4-FFF2-40B4-BE49-F238E27FC236}">
                <a16:creationId xmlns:a16="http://schemas.microsoft.com/office/drawing/2014/main" id="{7DAC9102-1918-5743-B869-C62CD1469B2B}"/>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572000" y="1352586"/>
            <a:ext cx="4157661" cy="2438328"/>
          </a:xfrm>
          <a:prstGeom prst="rect">
            <a:avLst/>
          </a:prstGeom>
        </p:spPr>
      </p:pic>
    </p:spTree>
    <p:custDataLst>
      <p:tags r:id="rId1"/>
    </p:custDataLst>
    <p:extLst>
      <p:ext uri="{BB962C8B-B14F-4D97-AF65-F5344CB8AC3E}">
        <p14:creationId xmlns:p14="http://schemas.microsoft.com/office/powerpoint/2010/main" val="2313983642"/>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noChangeArrowheads="1"/>
          </p:cNvSpPr>
          <p:nvPr>
            <p:ph type="title"/>
          </p:nvPr>
        </p:nvSpPr>
        <p:spPr/>
        <p:txBody>
          <a:bodyPr/>
          <a:lstStyle/>
          <a:p>
            <a:pPr rtl="0"/>
            <a:r>
              <a:rPr lang="fr-FR" sz="1600"/>
              <a:t>Messages ICMP</a:t>
            </a:r>
            <a:br>
              <a:rPr lang="en-US" altLang="en-US" dirty="0"/>
            </a:br>
            <a:r>
              <a:rPr lang="fr-FR"/>
              <a:t>Messages ICMPv6 (suite)</a:t>
            </a:r>
          </a:p>
        </p:txBody>
      </p:sp>
      <p:sp>
        <p:nvSpPr>
          <p:cNvPr id="8195" name="Rectangle 2"/>
          <p:cNvSpPr>
            <a:spLocks noGrp="1" noChangeArrowheads="1"/>
          </p:cNvSpPr>
          <p:nvPr>
            <p:ph idx="1"/>
          </p:nvPr>
        </p:nvSpPr>
        <p:spPr>
          <a:xfrm>
            <a:off x="145357" y="823049"/>
            <a:ext cx="4157661" cy="3660051"/>
          </a:xfrm>
        </p:spPr>
        <p:txBody>
          <a:bodyPr/>
          <a:lstStyle/>
          <a:p>
            <a:pPr rtl="0">
              <a:buFont typeface="Arial" panose="020B0604020202020204" pitchFamily="34" charset="0"/>
              <a:buChar char="•"/>
            </a:pPr>
            <a:r>
              <a:rPr lang="fr-FR"/>
              <a:t>Un périphérique auquel est attribuée une adresse IPv6 globale ou une adresse monodiffusion locale par lien peut effectuer une détection en double (DAD) pour s'assurer que l'adresse IPv6 est unique. </a:t>
            </a:r>
          </a:p>
          <a:p>
            <a:pPr rtl="0">
              <a:buFont typeface="Arial" panose="020B0604020202020204" pitchFamily="34" charset="0"/>
              <a:buChar char="•"/>
            </a:pPr>
            <a:r>
              <a:rPr lang="fr-FR"/>
              <a:t>Pour vérifier l'unicité d'une adresse, l'appareil enverra un message NS avec sa propre adresse IPv6 comme adresse IPv6 ciblée.</a:t>
            </a:r>
          </a:p>
          <a:p>
            <a:pPr rtl="0">
              <a:buFont typeface="Arial" panose="020B0604020202020204" pitchFamily="34" charset="0"/>
              <a:buChar char="•"/>
            </a:pPr>
            <a:r>
              <a:rPr lang="fr-FR"/>
              <a:t>Si un autre appareil sur le réseau possède cette adresse, il répondra par un message NA notifiant à l'appareil émetteur que l'adresse est utilisée. </a:t>
            </a:r>
          </a:p>
        </p:txBody>
      </p:sp>
      <p:sp>
        <p:nvSpPr>
          <p:cNvPr id="3" name="TextBox 2">
            <a:extLst>
              <a:ext uri="{FF2B5EF4-FFF2-40B4-BE49-F238E27FC236}">
                <a16:creationId xmlns:a16="http://schemas.microsoft.com/office/drawing/2014/main" id="{1C3CDF41-F219-924C-95C4-B899980D12C5}"/>
              </a:ext>
            </a:extLst>
          </p:cNvPr>
          <p:cNvSpPr txBox="1"/>
          <p:nvPr/>
        </p:nvSpPr>
        <p:spPr>
          <a:xfrm>
            <a:off x="4604396" y="3461804"/>
            <a:ext cx="4157660" cy="830997"/>
          </a:xfrm>
          <a:prstGeom prst="rect">
            <a:avLst/>
          </a:prstGeom>
          <a:noFill/>
        </p:spPr>
        <p:txBody>
          <a:bodyPr wrap="square" rtlCol="0">
            <a:spAutoFit/>
          </a:bodyPr>
          <a:lstStyle/>
          <a:p>
            <a:pPr rtl="0"/>
            <a:r>
              <a:rPr lang="fr-FR" sz="1600" b="1">
                <a:solidFill>
                  <a:srgbClr val="000000"/>
                </a:solidFill>
              </a:rPr>
              <a:t>Remarque</a:t>
            </a:r>
            <a:r>
              <a:rPr lang="fr-FR" sz="1600">
                <a:solidFill>
                  <a:srgbClr val="000000"/>
                </a:solidFill>
              </a:rPr>
              <a:t>: la DAD n'est pas obligatoire, mais la RFC 4861 recommande que la DAD soit effectuée sur les adresses de monodiffusion.</a:t>
            </a:r>
          </a:p>
        </p:txBody>
      </p:sp>
      <p:pic>
        <p:nvPicPr>
          <p:cNvPr id="4" name="Picture 3">
            <a:extLst>
              <a:ext uri="{FF2B5EF4-FFF2-40B4-BE49-F238E27FC236}">
                <a16:creationId xmlns:a16="http://schemas.microsoft.com/office/drawing/2014/main" id="{A2B839F5-37AA-4C48-B2FB-8047C0AB6D3B}"/>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572000" y="945822"/>
            <a:ext cx="4157660" cy="1707252"/>
          </a:xfrm>
          <a:prstGeom prst="rect">
            <a:avLst/>
          </a:prstGeom>
        </p:spPr>
      </p:pic>
    </p:spTree>
    <p:custDataLst>
      <p:tags r:id="rId1"/>
    </p:custDataLst>
    <p:extLst>
      <p:ext uri="{BB962C8B-B14F-4D97-AF65-F5344CB8AC3E}">
        <p14:creationId xmlns:p14="http://schemas.microsoft.com/office/powerpoint/2010/main" val="2336605895"/>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noChangeArrowheads="1"/>
          </p:cNvSpPr>
          <p:nvPr>
            <p:ph type="title"/>
          </p:nvPr>
        </p:nvSpPr>
        <p:spPr/>
        <p:txBody>
          <a:bodyPr/>
          <a:lstStyle/>
          <a:p>
            <a:pPr rtl="0"/>
            <a:r>
              <a:rPr lang="fr-FR" sz="1600"/>
              <a:t>Messages ICMP</a:t>
            </a:r>
            <a:br>
              <a:rPr lang="en-US" altLang="en-US" dirty="0"/>
            </a:br>
            <a:r>
              <a:rPr lang="fr-FR"/>
              <a:t>Messages ICMPv6 (suite)</a:t>
            </a:r>
          </a:p>
        </p:txBody>
      </p:sp>
      <p:sp>
        <p:nvSpPr>
          <p:cNvPr id="8195" name="Rectangle 2"/>
          <p:cNvSpPr>
            <a:spLocks noGrp="1" noChangeArrowheads="1"/>
          </p:cNvSpPr>
          <p:nvPr>
            <p:ph idx="1"/>
          </p:nvPr>
        </p:nvSpPr>
        <p:spPr>
          <a:xfrm>
            <a:off x="145357" y="823049"/>
            <a:ext cx="4157661" cy="3660051"/>
          </a:xfrm>
        </p:spPr>
        <p:txBody>
          <a:bodyPr/>
          <a:lstStyle/>
          <a:p>
            <a:pPr rtl="0">
              <a:buFont typeface="Arial" panose="020B0604020202020204" pitchFamily="34" charset="0"/>
              <a:buChar char="•"/>
            </a:pPr>
            <a:r>
              <a:rPr lang="fr-FR" sz="1600"/>
              <a:t>Pour déterminer l'adresse MAC de destination, le périphérique envoie un message de sollicitation de voisin à l'adresse du nœud sollicité. </a:t>
            </a:r>
          </a:p>
          <a:p>
            <a:pPr rtl="0">
              <a:buFont typeface="Arial" panose="020B0604020202020204" pitchFamily="34" charset="0"/>
              <a:buChar char="•"/>
            </a:pPr>
            <a:r>
              <a:rPr lang="fr-FR" sz="1600"/>
              <a:t>Le message comprendra l'adresse IPv6 connue (ciblée). Le périphérique portant l'adresse IPv6 ciblée répond par un message d'annonce de voisin qui inclut son adresse MAC Ethernet.</a:t>
            </a:r>
          </a:p>
          <a:p>
            <a:pPr rtl="0">
              <a:buFont typeface="Arial" panose="020B0604020202020204" pitchFamily="34" charset="0"/>
              <a:buChar char="•"/>
            </a:pPr>
            <a:r>
              <a:rPr lang="fr-FR" sz="1600"/>
              <a:t>Dans la figure, R1 envoie un message NS à 2001:db8:acad:1 : :10 demandant son adresse MAC. </a:t>
            </a:r>
          </a:p>
        </p:txBody>
      </p:sp>
      <p:pic>
        <p:nvPicPr>
          <p:cNvPr id="3" name="Picture 2">
            <a:extLst>
              <a:ext uri="{FF2B5EF4-FFF2-40B4-BE49-F238E27FC236}">
                <a16:creationId xmlns:a16="http://schemas.microsoft.com/office/drawing/2014/main" id="{EA79D8D0-E3FE-FD45-A338-76F4B075197F}"/>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572000" y="1428750"/>
            <a:ext cx="4444211" cy="2286000"/>
          </a:xfrm>
          <a:prstGeom prst="rect">
            <a:avLst/>
          </a:prstGeom>
        </p:spPr>
      </p:pic>
    </p:spTree>
    <p:custDataLst>
      <p:tags r:id="rId1"/>
    </p:custDataLst>
    <p:extLst>
      <p:ext uri="{BB962C8B-B14F-4D97-AF65-F5344CB8AC3E}">
        <p14:creationId xmlns:p14="http://schemas.microsoft.com/office/powerpoint/2010/main" val="1061525065"/>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8231464" cy="929640"/>
          </a:xfrm>
        </p:spPr>
        <p:txBody>
          <a:bodyPr/>
          <a:lstStyle/>
          <a:p>
            <a:pPr rtl="0"/>
            <a:r>
              <a:rPr lang="fr-FR" sz="4000">
                <a:solidFill>
                  <a:schemeClr val="accent5">
                    <a:lumMod val="40000"/>
                    <a:lumOff val="60000"/>
                  </a:schemeClr>
                </a:solidFill>
              </a:rPr>
              <a:t>13.2 Tests à l'aide des commandes ping et traceroute</a:t>
            </a:r>
          </a:p>
        </p:txBody>
      </p:sp>
    </p:spTree>
    <p:custDataLst>
      <p:tags r:id="rId1"/>
    </p:custDataLst>
    <p:extLst>
      <p:ext uri="{BB962C8B-B14F-4D97-AF65-F5344CB8AC3E}">
        <p14:creationId xmlns:p14="http://schemas.microsoft.com/office/powerpoint/2010/main" val="3488985433"/>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fr-FR" sz="1600"/>
              <a:t>Tests Ping et Traceroute</a:t>
            </a:r>
            <a:br>
              <a:rPr lang="en-US" altLang="en-US" dirty="0"/>
            </a:br>
            <a:r>
              <a:rPr lang="fr-FR"/>
              <a:t>Ping - Tester la connectivité</a:t>
            </a:r>
          </a:p>
        </p:txBody>
      </p:sp>
      <p:sp>
        <p:nvSpPr>
          <p:cNvPr id="8195" name="Rectangle 6"/>
          <p:cNvSpPr>
            <a:spLocks noGrp="1" noChangeArrowheads="1"/>
          </p:cNvSpPr>
          <p:nvPr>
            <p:ph idx="1"/>
          </p:nvPr>
        </p:nvSpPr>
        <p:spPr>
          <a:xfrm>
            <a:off x="170482" y="798943"/>
            <a:ext cx="4680488" cy="3819551"/>
          </a:xfrm>
        </p:spPr>
        <p:txBody>
          <a:bodyPr/>
          <a:lstStyle/>
          <a:p>
            <a:pPr rtl="0">
              <a:buFont typeface="Arial" panose="020B0604020202020204" pitchFamily="34" charset="0"/>
              <a:buChar char="•"/>
            </a:pPr>
            <a:r>
              <a:rPr lang="fr-FR"/>
              <a:t>La commande </a:t>
            </a:r>
            <a:r>
              <a:rPr lang="fr-FR" b="1"/>
              <a:t>ping</a:t>
            </a:r>
            <a:r>
              <a:rPr lang="fr-FR"/>
              <a:t> est un utilitaire de test IPv4 et IPv6 qui utilise les messages de requête d'écho ICMP et de réponse d'écho pour tester la connectivité entre les hôtes et fournit un résumé qui inclut le taux de réussite et le temps moyen aller-retour vers la destination.</a:t>
            </a:r>
          </a:p>
          <a:p>
            <a:pPr rtl="0">
              <a:buFont typeface="Arial" panose="020B0604020202020204" pitchFamily="34" charset="0"/>
              <a:buChar char="•"/>
            </a:pPr>
            <a:r>
              <a:rPr lang="fr-FR"/>
              <a:t>Si aucune réponse n'est reçue dans ce délai, la commande ping indique dans un message que la réponse n'a pas été reçue.</a:t>
            </a:r>
          </a:p>
          <a:p>
            <a:pPr rtl="0">
              <a:buFont typeface="Arial" panose="020B0604020202020204" pitchFamily="34" charset="0"/>
              <a:buChar char="•"/>
            </a:pPr>
            <a:r>
              <a:rPr lang="fr-FR"/>
              <a:t>Il est courant que le premier ping soit expiré si la résolution d'adresse (ARP ou ND) doit être effectuée avant d'envoyer la demande d'écho ICMP.</a:t>
            </a:r>
          </a:p>
          <a:p>
            <a:pPr>
              <a:buFont typeface="Arial" panose="020B0604020202020204" pitchFamily="34" charset="0"/>
              <a:buChar char="•"/>
            </a:pPr>
            <a:endParaRPr lang="en-US" dirty="0"/>
          </a:p>
        </p:txBody>
      </p:sp>
      <p:pic>
        <p:nvPicPr>
          <p:cNvPr id="2" name="Picture 1">
            <a:extLst>
              <a:ext uri="{FF2B5EF4-FFF2-40B4-BE49-F238E27FC236}">
                <a16:creationId xmlns:a16="http://schemas.microsoft.com/office/drawing/2014/main" id="{D6B07169-1985-DD4C-87D9-D70B46F10DB2}"/>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850970" y="1263987"/>
            <a:ext cx="4090970" cy="786725"/>
          </a:xfrm>
          <a:prstGeom prst="rect">
            <a:avLst/>
          </a:prstGeom>
        </p:spPr>
      </p:pic>
      <p:pic>
        <p:nvPicPr>
          <p:cNvPr id="3" name="Picture 2">
            <a:extLst>
              <a:ext uri="{FF2B5EF4-FFF2-40B4-BE49-F238E27FC236}">
                <a16:creationId xmlns:a16="http://schemas.microsoft.com/office/drawing/2014/main" id="{82182E35-608A-E447-8D75-DFC4D08277B5}"/>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4850971" y="2571749"/>
            <a:ext cx="4090969" cy="716351"/>
          </a:xfrm>
          <a:prstGeom prst="rect">
            <a:avLst/>
          </a:prstGeom>
        </p:spPr>
      </p:pic>
    </p:spTree>
    <p:custDataLst>
      <p:tags r:id="rId1"/>
    </p:custDataLst>
    <p:extLst>
      <p:ext uri="{BB962C8B-B14F-4D97-AF65-F5344CB8AC3E}">
        <p14:creationId xmlns:p14="http://schemas.microsoft.com/office/powerpoint/2010/main" val="3707270558"/>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fr-FR" sz="1600"/>
              <a:t>Tests Ping et Traceroute</a:t>
            </a:r>
            <a:br>
              <a:rPr lang="en-US" altLang="en-US" dirty="0"/>
            </a:br>
            <a:r>
              <a:rPr lang="fr-FR"/>
              <a:t>Ping le Loopback</a:t>
            </a:r>
          </a:p>
        </p:txBody>
      </p:sp>
      <p:sp>
        <p:nvSpPr>
          <p:cNvPr id="7" name="Rectangle 6">
            <a:extLst>
              <a:ext uri="{FF2B5EF4-FFF2-40B4-BE49-F238E27FC236}">
                <a16:creationId xmlns:a16="http://schemas.microsoft.com/office/drawing/2014/main" id="{1E3EA599-9EF6-BE44-900E-A2949CF66BC2}"/>
              </a:ext>
            </a:extLst>
          </p:cNvPr>
          <p:cNvSpPr>
            <a:spLocks noGrp="1" noChangeArrowheads="1"/>
          </p:cNvSpPr>
          <p:nvPr>
            <p:ph idx="1"/>
          </p:nvPr>
        </p:nvSpPr>
        <p:spPr>
          <a:xfrm>
            <a:off x="263471" y="866275"/>
            <a:ext cx="4091553" cy="3410950"/>
          </a:xfrm>
        </p:spPr>
        <p:txBody>
          <a:bodyPr/>
          <a:lstStyle/>
          <a:p>
            <a:pPr marL="0" indent="0" rtl="0">
              <a:spcAft>
                <a:spcPts val="100"/>
              </a:spcAft>
              <a:buNone/>
            </a:pPr>
            <a:r>
              <a:rPr lang="fr-FR" sz="1600"/>
              <a:t>Ping peut être utilisé pour tester la configuration interne d'IPv4 ou IPv6 sur l'hôte local. Pour réaliser ce test, nous exécutons la commande </a:t>
            </a:r>
            <a:r>
              <a:rPr lang="fr-FR" sz="1600" b="1"/>
              <a:t>ping</a:t>
            </a:r>
            <a:r>
              <a:rPr lang="fr-FR" sz="1600"/>
              <a:t> sur l'adresse de loopback locale 127.0.0.1 pour l'IPv4 (et ::1 pour l'IPv6).</a:t>
            </a:r>
          </a:p>
          <a:p>
            <a:pPr rtl="0">
              <a:spcAft>
                <a:spcPts val="100"/>
              </a:spcAft>
              <a:buFont typeface="Arial" panose="020B0604020202020204" pitchFamily="34" charset="0"/>
              <a:buChar char="•"/>
            </a:pPr>
            <a:r>
              <a:rPr lang="fr-FR" sz="1600"/>
              <a:t>Une réponse provenant de l'adresse 127.0.0.1 pour l'IPv4 ou ::1 pour l'IPv6 indique que le protocole IP est correctement installé sur l'hôte.</a:t>
            </a:r>
          </a:p>
          <a:p>
            <a:pPr rtl="0">
              <a:spcAft>
                <a:spcPts val="100"/>
              </a:spcAft>
              <a:buFont typeface="Arial" panose="020B0604020202020204" pitchFamily="34" charset="0"/>
              <a:buChar char="•"/>
            </a:pPr>
            <a:r>
              <a:rPr lang="fr-FR" sz="1600"/>
              <a:t>Un message d'erreur indique que le TCP/IP n'est pas opérationnel sur l'hôte.</a:t>
            </a:r>
          </a:p>
        </p:txBody>
      </p:sp>
      <p:pic>
        <p:nvPicPr>
          <p:cNvPr id="2" name="Picture 1">
            <a:extLst>
              <a:ext uri="{FF2B5EF4-FFF2-40B4-BE49-F238E27FC236}">
                <a16:creationId xmlns:a16="http://schemas.microsoft.com/office/drawing/2014/main" id="{DF8C49F4-B91A-1244-9292-6EABA4BBF84F}"/>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572000" y="835296"/>
            <a:ext cx="4392402" cy="3472908"/>
          </a:xfrm>
          <a:prstGeom prst="rect">
            <a:avLst/>
          </a:prstGeom>
        </p:spPr>
      </p:pic>
    </p:spTree>
    <p:custDataLst>
      <p:tags r:id="rId1"/>
    </p:custDataLst>
    <p:extLst>
      <p:ext uri="{BB962C8B-B14F-4D97-AF65-F5344CB8AC3E}">
        <p14:creationId xmlns:p14="http://schemas.microsoft.com/office/powerpoint/2010/main" val="4274422524"/>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118872"/>
            <a:ext cx="9144000" cy="592921"/>
          </a:xfrm>
        </p:spPr>
        <p:txBody>
          <a:bodyPr/>
          <a:lstStyle/>
          <a:p>
            <a:pPr rtl="0"/>
            <a:r>
              <a:rPr lang="fr-FR" sz="1600"/>
              <a:t>Tests Ping et Traceroute</a:t>
            </a:r>
            <a:br>
              <a:rPr lang="en-US" altLang="en-US" sz="1600" dirty="0"/>
            </a:br>
            <a:r>
              <a:rPr lang="fr-FR"/>
              <a:t>Ping la passerelle par défaut</a:t>
            </a:r>
          </a:p>
        </p:txBody>
      </p:sp>
      <p:sp>
        <p:nvSpPr>
          <p:cNvPr id="6" name="Rectangle 6">
            <a:extLst>
              <a:ext uri="{FF2B5EF4-FFF2-40B4-BE49-F238E27FC236}">
                <a16:creationId xmlns:a16="http://schemas.microsoft.com/office/drawing/2014/main" id="{9FD26DA6-0FF9-5641-9731-B0A4BDCFDDE7}"/>
              </a:ext>
            </a:extLst>
          </p:cNvPr>
          <p:cNvSpPr>
            <a:spLocks noGrp="1" noChangeArrowheads="1"/>
          </p:cNvSpPr>
          <p:nvPr>
            <p:ph idx="1"/>
          </p:nvPr>
        </p:nvSpPr>
        <p:spPr>
          <a:xfrm>
            <a:off x="179882" y="833733"/>
            <a:ext cx="4392118" cy="3904522"/>
          </a:xfrm>
        </p:spPr>
        <p:txBody>
          <a:bodyPr/>
          <a:lstStyle/>
          <a:p>
            <a:pPr marL="0" indent="0" rtl="0">
              <a:buNone/>
            </a:pPr>
            <a:r>
              <a:rPr lang="fr-FR"/>
              <a:t>La commande </a:t>
            </a:r>
            <a:r>
              <a:rPr lang="fr-FR" b="1"/>
              <a:t>ping </a:t>
            </a:r>
            <a:r>
              <a:rPr lang="fr-FR"/>
              <a:t>peut être utilisée pour tester la capacité d'un hôte à communiquer sur le réseau local. </a:t>
            </a:r>
          </a:p>
          <a:p>
            <a:pPr marL="0" indent="0" rtl="0">
              <a:buNone/>
            </a:pPr>
            <a:r>
              <a:rPr lang="fr-FR"/>
              <a:t>L'adresse de passerelle par défaut est le plus souvent utilisée car le routeur est normalement toujours opérationnel.</a:t>
            </a:r>
          </a:p>
          <a:p>
            <a:pPr lvl="2" rtl="0">
              <a:buFont typeface="Arial" panose="020B0604020202020204" pitchFamily="34" charset="0"/>
              <a:buChar char="•"/>
            </a:pPr>
            <a:r>
              <a:rPr lang="fr-FR" sz="1500"/>
              <a:t>Un </a:t>
            </a:r>
            <a:r>
              <a:rPr lang="fr-FR" sz="1500" b="1"/>
              <a:t>ping</a:t>
            </a:r>
            <a:r>
              <a:rPr lang="fr-FR" sz="1500"/>
              <a:t> réussi vers la passerelle par défaut indique que l'hôte et l'interface du routeur servant de passerelle par défaut sont tous deux opérationnels sur le réseau local.</a:t>
            </a:r>
          </a:p>
          <a:p>
            <a:pPr lvl="2" rtl="0">
              <a:buFont typeface="Arial" panose="020B0604020202020204" pitchFamily="34" charset="0"/>
              <a:buChar char="•"/>
            </a:pPr>
            <a:r>
              <a:rPr lang="fr-FR" sz="1500"/>
              <a:t>Si l'adresse de passerelle par défaut ne répond pas, un </a:t>
            </a:r>
            <a:r>
              <a:rPr lang="fr-FR" sz="1500" b="1"/>
              <a:t>ping</a:t>
            </a:r>
            <a:r>
              <a:rPr lang="fr-FR" sz="1500"/>
              <a:t> peut être envoyé à l'adresse IP d'un autre hôte sur le réseau local dont on sait qu'il est opérationnel.</a:t>
            </a:r>
          </a:p>
        </p:txBody>
      </p:sp>
      <p:pic>
        <p:nvPicPr>
          <p:cNvPr id="2" name="Picture 1">
            <a:extLst>
              <a:ext uri="{FF2B5EF4-FFF2-40B4-BE49-F238E27FC236}">
                <a16:creationId xmlns:a16="http://schemas.microsoft.com/office/drawing/2014/main" id="{0E8580A2-5FDB-A248-9DB3-A91C74ADE9E2}"/>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5221690" y="933022"/>
            <a:ext cx="3424286" cy="3277456"/>
          </a:xfrm>
          <a:prstGeom prst="rect">
            <a:avLst/>
          </a:prstGeom>
        </p:spPr>
      </p:pic>
    </p:spTree>
    <p:custDataLst>
      <p:tags r:id="rId1"/>
    </p:custDataLst>
    <p:extLst>
      <p:ext uri="{BB962C8B-B14F-4D97-AF65-F5344CB8AC3E}">
        <p14:creationId xmlns:p14="http://schemas.microsoft.com/office/powerpoint/2010/main" val="1124275094"/>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rtl="0"/>
            <a:r>
              <a:rPr lang="fr-FR" sz="1600"/>
              <a:t>Tests Ping et Traceroute</a:t>
            </a:r>
            <a:br>
              <a:rPr lang="en-US" altLang="en-US" sz="1600" dirty="0"/>
            </a:br>
            <a:r>
              <a:rPr lang="fr-FR"/>
              <a:t>Ping un hôte distant</a:t>
            </a:r>
          </a:p>
        </p:txBody>
      </p:sp>
      <p:sp>
        <p:nvSpPr>
          <p:cNvPr id="6" name="Rectangle 6">
            <a:extLst>
              <a:ext uri="{FF2B5EF4-FFF2-40B4-BE49-F238E27FC236}">
                <a16:creationId xmlns:a16="http://schemas.microsoft.com/office/drawing/2014/main" id="{FDB50C7D-A789-1947-A197-D4C18A6B4C22}"/>
              </a:ext>
            </a:extLst>
          </p:cNvPr>
          <p:cNvSpPr>
            <a:spLocks noGrp="1" noChangeArrowheads="1"/>
          </p:cNvSpPr>
          <p:nvPr>
            <p:ph idx="1"/>
          </p:nvPr>
        </p:nvSpPr>
        <p:spPr>
          <a:xfrm>
            <a:off x="134337" y="896222"/>
            <a:ext cx="4196594" cy="1970268"/>
          </a:xfrm>
        </p:spPr>
        <p:txBody>
          <a:bodyPr/>
          <a:lstStyle/>
          <a:p>
            <a:pPr marL="0" indent="0" rtl="0">
              <a:buNone/>
            </a:pPr>
            <a:r>
              <a:rPr lang="fr-FR" sz="1600"/>
              <a:t>La commande ping peut aussi être utilisée pour tester la capacité d'un hôte local à communiquer sur un interréseau.</a:t>
            </a:r>
          </a:p>
          <a:p>
            <a:pPr marL="0" indent="0" rtl="0">
              <a:buNone/>
            </a:pPr>
            <a:r>
              <a:rPr lang="fr-FR" sz="1600"/>
              <a:t>Un hôte local peut effectuer un ping sur un hôte sur un réseau distant. Un succès d'une requête </a:t>
            </a:r>
            <a:r>
              <a:rPr lang="fr-FR" sz="1600" b="1"/>
              <a:t>ping</a:t>
            </a:r>
            <a:r>
              <a:rPr lang="fr-FR" sz="1600"/>
              <a:t> sur l'interréseau confirme la communication sur le réseau local.</a:t>
            </a:r>
          </a:p>
          <a:p>
            <a:pPr marL="0" indent="0">
              <a:buNone/>
            </a:pPr>
            <a:endParaRPr lang="en-US" dirty="0"/>
          </a:p>
          <a:p>
            <a:endParaRPr lang="en-US" altLang="ja-JP" dirty="0"/>
          </a:p>
        </p:txBody>
      </p:sp>
      <p:sp>
        <p:nvSpPr>
          <p:cNvPr id="3" name="TextBox 2">
            <a:extLst>
              <a:ext uri="{FF2B5EF4-FFF2-40B4-BE49-F238E27FC236}">
                <a16:creationId xmlns:a16="http://schemas.microsoft.com/office/drawing/2014/main" id="{9C24F4E2-35B0-E842-9F7B-C37FDFAA35C7}"/>
              </a:ext>
            </a:extLst>
          </p:cNvPr>
          <p:cNvSpPr txBox="1"/>
          <p:nvPr/>
        </p:nvSpPr>
        <p:spPr>
          <a:xfrm>
            <a:off x="134338" y="3211692"/>
            <a:ext cx="4586100" cy="1292662"/>
          </a:xfrm>
          <a:prstGeom prst="rect">
            <a:avLst/>
          </a:prstGeom>
          <a:noFill/>
        </p:spPr>
        <p:txBody>
          <a:bodyPr wrap="square" rtlCol="0">
            <a:spAutoFit/>
          </a:bodyPr>
          <a:lstStyle/>
          <a:p>
            <a:pPr rtl="0"/>
            <a:r>
              <a:rPr lang="fr-FR" sz="1600" b="1">
                <a:solidFill>
                  <a:srgbClr val="000000"/>
                </a:solidFill>
              </a:rPr>
              <a:t>Remarque</a:t>
            </a:r>
            <a:r>
              <a:rPr lang="fr-FR" sz="1600">
                <a:solidFill>
                  <a:srgbClr val="000000"/>
                </a:solidFill>
              </a:rPr>
              <a:t>: de nombreux administrateurs de réseau limitent ou interdisent l'entrée de messages ICMP ; par conséquent, l'absence de réponse </a:t>
            </a:r>
            <a:r>
              <a:rPr lang="fr-FR" sz="1600" b="1">
                <a:solidFill>
                  <a:srgbClr val="000000"/>
                </a:solidFill>
              </a:rPr>
              <a:t>ping</a:t>
            </a:r>
            <a:r>
              <a:rPr lang="fr-FR" sz="1600">
                <a:solidFill>
                  <a:srgbClr val="000000"/>
                </a:solidFill>
              </a:rPr>
              <a:t> pourrait être due à des restrictions de sécurité.</a:t>
            </a:r>
          </a:p>
          <a:p>
            <a:endParaRPr lang="en-US" sz="1400" dirty="0">
              <a:solidFill>
                <a:srgbClr val="000000"/>
              </a:solidFill>
            </a:endParaRPr>
          </a:p>
        </p:txBody>
      </p:sp>
      <p:pic>
        <p:nvPicPr>
          <p:cNvPr id="2" name="Picture 1">
            <a:extLst>
              <a:ext uri="{FF2B5EF4-FFF2-40B4-BE49-F238E27FC236}">
                <a16:creationId xmlns:a16="http://schemas.microsoft.com/office/drawing/2014/main" id="{F2FB829A-A91A-AB49-9FE4-013BCA9D4C4A}"/>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720437" y="1310400"/>
            <a:ext cx="4096002" cy="2841690"/>
          </a:xfrm>
          <a:prstGeom prst="rect">
            <a:avLst/>
          </a:prstGeom>
        </p:spPr>
      </p:pic>
    </p:spTree>
    <p:custDataLst>
      <p:tags r:id="rId1"/>
    </p:custDataLst>
    <p:extLst>
      <p:ext uri="{BB962C8B-B14F-4D97-AF65-F5344CB8AC3E}">
        <p14:creationId xmlns:p14="http://schemas.microsoft.com/office/powerpoint/2010/main" val="2900830122"/>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rtl="0"/>
            <a:r>
              <a:rPr lang="fr-FR" sz="1600"/>
              <a:t>Tests Ping et Traceroute</a:t>
            </a:r>
            <a:br>
              <a:rPr lang="en-US" altLang="en-US" sz="1600" dirty="0"/>
            </a:br>
            <a:r>
              <a:rPr lang="fr-FR"/>
              <a:t>Traceroute – Tester le chemin</a:t>
            </a:r>
          </a:p>
        </p:txBody>
      </p:sp>
      <p:sp>
        <p:nvSpPr>
          <p:cNvPr id="6" name="Rectangle 6">
            <a:extLst>
              <a:ext uri="{FF2B5EF4-FFF2-40B4-BE49-F238E27FC236}">
                <a16:creationId xmlns:a16="http://schemas.microsoft.com/office/drawing/2014/main" id="{FDB50C7D-A789-1947-A197-D4C18A6B4C22}"/>
              </a:ext>
            </a:extLst>
          </p:cNvPr>
          <p:cNvSpPr>
            <a:spLocks noGrp="1" noChangeArrowheads="1"/>
          </p:cNvSpPr>
          <p:nvPr>
            <p:ph idx="1"/>
          </p:nvPr>
        </p:nvSpPr>
        <p:spPr>
          <a:xfrm>
            <a:off x="134337" y="896221"/>
            <a:ext cx="4244686" cy="3511391"/>
          </a:xfrm>
        </p:spPr>
        <p:txBody>
          <a:bodyPr/>
          <a:lstStyle/>
          <a:p>
            <a:pPr rtl="0">
              <a:buFont typeface="Arial" panose="020B0604020202020204" pitchFamily="34" charset="0"/>
              <a:buChar char="•"/>
            </a:pPr>
            <a:r>
              <a:rPr lang="fr-FR" sz="1600"/>
              <a:t>Traceroute (</a:t>
            </a:r>
            <a:r>
              <a:rPr lang="fr-FR" sz="1600" b="1"/>
              <a:t>tracert</a:t>
            </a:r>
            <a:r>
              <a:rPr lang="fr-FR" sz="1600"/>
              <a:t>) est un utilitaire qui est utilisé pour tester le chemin entre deux hôtes et fournir une liste des houblons qui ont été atteints avec succès le long de ce chemin.</a:t>
            </a:r>
          </a:p>
          <a:p>
            <a:pPr rtl="0">
              <a:buFont typeface="Arial" panose="020B0604020202020204" pitchFamily="34" charset="0"/>
              <a:buChar char="•"/>
            </a:pPr>
            <a:r>
              <a:rPr lang="fr-FR" sz="1600"/>
              <a:t>Traceroute fournit un temps d'aller-retour pour chaque saut le long du chemin et indique si un saut ne répond pas. Un astérisque (*) indique un paquet perdu ou sans réponse.</a:t>
            </a:r>
          </a:p>
          <a:p>
            <a:pPr rtl="0">
              <a:buFont typeface="Arial" panose="020B0604020202020204" pitchFamily="34" charset="0"/>
              <a:buChar char="•"/>
            </a:pPr>
            <a:r>
              <a:rPr lang="fr-FR" sz="1600"/>
              <a:t>Ces informations peuvent être utilisées pour localiser un routeur problématique dans le trajet ou peuvent indiquer que le routeur est configuré pour ne pas répondre. </a:t>
            </a:r>
          </a:p>
          <a:p>
            <a:endParaRPr lang="en-US" altLang="ja-JP" dirty="0"/>
          </a:p>
        </p:txBody>
      </p:sp>
      <p:sp>
        <p:nvSpPr>
          <p:cNvPr id="2" name="TextBox 1">
            <a:extLst>
              <a:ext uri="{FF2B5EF4-FFF2-40B4-BE49-F238E27FC236}">
                <a16:creationId xmlns:a16="http://schemas.microsoft.com/office/drawing/2014/main" id="{49CA48F9-FF91-354D-96A8-3191B5C595F6}"/>
              </a:ext>
            </a:extLst>
          </p:cNvPr>
          <p:cNvSpPr txBox="1"/>
          <p:nvPr/>
        </p:nvSpPr>
        <p:spPr>
          <a:xfrm>
            <a:off x="4379024" y="3067396"/>
            <a:ext cx="4609990" cy="1077218"/>
          </a:xfrm>
          <a:prstGeom prst="rect">
            <a:avLst/>
          </a:prstGeom>
          <a:noFill/>
        </p:spPr>
        <p:txBody>
          <a:bodyPr wrap="square" rtlCol="0">
            <a:spAutoFit/>
          </a:bodyPr>
          <a:lstStyle/>
          <a:p>
            <a:pPr rtl="0"/>
            <a:r>
              <a:rPr lang="fr-FR" sz="1600" b="1">
                <a:solidFill>
                  <a:srgbClr val="000000"/>
                </a:solidFill>
              </a:rPr>
              <a:t>Remarque</a:t>
            </a:r>
            <a:r>
              <a:rPr lang="fr-FR" sz="1600">
                <a:solidFill>
                  <a:srgbClr val="000000"/>
                </a:solidFill>
              </a:rPr>
              <a:t>: Traceroute utilise une fonction du champ TTL en IPv4 et du champ Hop Limit en IPv6 dans les en-têtes de la couche 3, ainsi que le message ICMP Délai dépassé.</a:t>
            </a:r>
          </a:p>
        </p:txBody>
      </p:sp>
      <p:pic>
        <p:nvPicPr>
          <p:cNvPr id="8" name="Picture 7">
            <a:extLst>
              <a:ext uri="{FF2B5EF4-FFF2-40B4-BE49-F238E27FC236}">
                <a16:creationId xmlns:a16="http://schemas.microsoft.com/office/drawing/2014/main" id="{9F21494A-A0E3-9244-9362-A528463A1147}"/>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764979" y="1525369"/>
            <a:ext cx="4102100" cy="1257300"/>
          </a:xfrm>
          <a:prstGeom prst="rect">
            <a:avLst/>
          </a:prstGeom>
        </p:spPr>
      </p:pic>
    </p:spTree>
    <p:custDataLst>
      <p:tags r:id="rId1"/>
    </p:custDataLst>
    <p:extLst>
      <p:ext uri="{BB962C8B-B14F-4D97-AF65-F5344CB8AC3E}">
        <p14:creationId xmlns:p14="http://schemas.microsoft.com/office/powerpoint/2010/main" val="679333839"/>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rtl="0"/>
            <a:r>
              <a:rPr lang="fr-FR" sz="1600"/>
              <a:t>Tests Ping et Traceroute</a:t>
            </a:r>
            <a:br>
              <a:rPr lang="en-US" altLang="en-US" sz="1600" dirty="0"/>
            </a:br>
            <a:r>
              <a:rPr lang="fr-FR"/>
              <a:t>Traceroute – Tester le chemin (suite)</a:t>
            </a:r>
          </a:p>
        </p:txBody>
      </p:sp>
      <p:sp>
        <p:nvSpPr>
          <p:cNvPr id="6" name="Rectangle 6">
            <a:extLst>
              <a:ext uri="{FF2B5EF4-FFF2-40B4-BE49-F238E27FC236}">
                <a16:creationId xmlns:a16="http://schemas.microsoft.com/office/drawing/2014/main" id="{FDB50C7D-A789-1947-A197-D4C18A6B4C22}"/>
              </a:ext>
            </a:extLst>
          </p:cNvPr>
          <p:cNvSpPr>
            <a:spLocks noGrp="1" noChangeArrowheads="1"/>
          </p:cNvSpPr>
          <p:nvPr>
            <p:ph idx="1"/>
          </p:nvPr>
        </p:nvSpPr>
        <p:spPr>
          <a:xfrm>
            <a:off x="134336" y="896222"/>
            <a:ext cx="4437663" cy="3716876"/>
          </a:xfrm>
        </p:spPr>
        <p:txBody>
          <a:bodyPr/>
          <a:lstStyle/>
          <a:p>
            <a:pPr rtl="0">
              <a:buFont typeface="Arial" panose="020B0604020202020204" pitchFamily="34" charset="0"/>
              <a:buChar char="•"/>
            </a:pPr>
            <a:r>
              <a:rPr lang="fr-FR" sz="1600"/>
              <a:t>Le premier message envoyé par traceroute aura une valeur de champ TTL de 1. Le TTL s'arrête alors au premier routeur. Ce routeur répond alors par un message ICMPv4 de Délai dépassé. </a:t>
            </a:r>
          </a:p>
          <a:p>
            <a:pPr rtl="0">
              <a:buFont typeface="Arial" panose="020B0604020202020204" pitchFamily="34" charset="0"/>
              <a:buChar char="•"/>
            </a:pPr>
            <a:r>
              <a:rPr lang="fr-FR" sz="1600"/>
              <a:t>Traceroute incrémente ensuite progressivement le champ TTL (2, 3, 4...) pour chaque séquence de messages. Cela fournit à la trace l'adresse de chaque saut au fur et à mesure que les paquets s'écoulent plus loin sur le chemin. </a:t>
            </a:r>
          </a:p>
          <a:p>
            <a:pPr rtl="0">
              <a:buFont typeface="Arial" panose="020B0604020202020204" pitchFamily="34" charset="0"/>
              <a:buChar char="•"/>
            </a:pPr>
            <a:r>
              <a:rPr lang="fr-FR" sz="1600"/>
              <a:t>Le champ TTL est incrémenté jusqu'à ce que la destination soit atteinte ou jusqu'à une valeur maximale prédéfinie.</a:t>
            </a:r>
          </a:p>
        </p:txBody>
      </p:sp>
      <p:pic>
        <p:nvPicPr>
          <p:cNvPr id="3" name="Picture 2">
            <a:extLst>
              <a:ext uri="{FF2B5EF4-FFF2-40B4-BE49-F238E27FC236}">
                <a16:creationId xmlns:a16="http://schemas.microsoft.com/office/drawing/2014/main" id="{13A49670-AFAC-444B-B6F1-217466A83CB4}"/>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764979" y="1213720"/>
            <a:ext cx="4127500" cy="2476500"/>
          </a:xfrm>
          <a:prstGeom prst="rect">
            <a:avLst/>
          </a:prstGeom>
        </p:spPr>
      </p:pic>
    </p:spTree>
    <p:custDataLst>
      <p:tags r:id="rId1"/>
    </p:custDataLst>
    <p:extLst>
      <p:ext uri="{BB962C8B-B14F-4D97-AF65-F5344CB8AC3E}">
        <p14:creationId xmlns:p14="http://schemas.microsoft.com/office/powerpoint/2010/main" val="3704505207"/>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133862"/>
            <a:ext cx="9144000" cy="592921"/>
          </a:xfrm>
        </p:spPr>
        <p:txBody>
          <a:bodyPr/>
          <a:lstStyle/>
          <a:p>
            <a:pPr rtl="0"/>
            <a:r>
              <a:rPr lang="fr-FR" sz="1600"/>
              <a:t>Tests Ping et Traceroute</a:t>
            </a:r>
            <a:br>
              <a:rPr lang="en-US" altLang="en-US" sz="1600" dirty="0"/>
            </a:br>
            <a:r>
              <a:rPr lang="fr-FR"/>
              <a:t>Packet Tracer –Vérifier l'adressage IPv4 et IPv6</a:t>
            </a:r>
          </a:p>
        </p:txBody>
      </p:sp>
      <p:sp>
        <p:nvSpPr>
          <p:cNvPr id="5" name="Rectangle 6">
            <a:extLst>
              <a:ext uri="{FF2B5EF4-FFF2-40B4-BE49-F238E27FC236}">
                <a16:creationId xmlns:a16="http://schemas.microsoft.com/office/drawing/2014/main" id="{90913010-55BD-654E-8C45-7CAB421D7CC5}"/>
              </a:ext>
            </a:extLst>
          </p:cNvPr>
          <p:cNvSpPr>
            <a:spLocks noGrp="1" noChangeArrowheads="1"/>
          </p:cNvSpPr>
          <p:nvPr>
            <p:ph idx="1"/>
          </p:nvPr>
        </p:nvSpPr>
        <p:spPr>
          <a:xfrm>
            <a:off x="179882" y="893005"/>
            <a:ext cx="8649325" cy="3522688"/>
          </a:xfrm>
        </p:spPr>
        <p:txBody>
          <a:bodyPr/>
          <a:lstStyle/>
          <a:p>
            <a:pPr marL="0" indent="0" rtl="0">
              <a:buNone/>
            </a:pPr>
            <a:r>
              <a:rPr lang="fr-FR" sz="1800"/>
              <a:t>Dans le cadre de ce Packet Tracer, vous ferez ce qui suit :</a:t>
            </a:r>
          </a:p>
          <a:p>
            <a:pPr rtl="0">
              <a:buFont typeface="Arial" panose="020B0604020202020204" pitchFamily="34" charset="0"/>
              <a:buChar char="•"/>
            </a:pPr>
            <a:r>
              <a:rPr lang="fr-FR" sz="1800"/>
              <a:t>Compléter la documentation du tableau d'adressage </a:t>
            </a:r>
          </a:p>
          <a:p>
            <a:pPr rtl="0">
              <a:buFont typeface="Arial" panose="020B0604020202020204" pitchFamily="34" charset="0"/>
              <a:buChar char="•"/>
            </a:pPr>
            <a:r>
              <a:rPr lang="fr-FR" sz="1800"/>
              <a:t>Tester la connectivité à l'aide de la commande ping</a:t>
            </a:r>
          </a:p>
          <a:p>
            <a:pPr rtl="0">
              <a:buFont typeface="Arial" panose="020B0604020202020204" pitchFamily="34" charset="0"/>
              <a:buChar char="•"/>
            </a:pPr>
            <a:r>
              <a:rPr lang="fr-FR" sz="1800"/>
              <a:t>Découvrez le chemin en traçant l'itinéraire</a:t>
            </a:r>
          </a:p>
          <a:p>
            <a:pPr marL="0" indent="0">
              <a:buNone/>
            </a:pPr>
            <a:endParaRPr lang="en-US" altLang="ja-JP" dirty="0"/>
          </a:p>
        </p:txBody>
      </p:sp>
    </p:spTree>
    <p:custDataLst>
      <p:tags r:id="rId1"/>
    </p:custDataLst>
    <p:extLst>
      <p:ext uri="{BB962C8B-B14F-4D97-AF65-F5344CB8AC3E}">
        <p14:creationId xmlns:p14="http://schemas.microsoft.com/office/powerpoint/2010/main" val="1390594509"/>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143838"/>
            <a:ext cx="9144000" cy="893852"/>
          </a:xfrm>
        </p:spPr>
        <p:txBody>
          <a:bodyPr/>
          <a:lstStyle/>
          <a:p>
            <a:pPr rtl="0"/>
            <a:r>
              <a:rPr lang="fr-FR" sz="1600"/>
              <a:t>Tests Ping et Traceroute</a:t>
            </a:r>
            <a:br>
              <a:rPr lang="en-US" altLang="en-US" sz="1600" dirty="0"/>
            </a:br>
            <a:r>
              <a:rPr lang="fr-FR"/>
              <a:t>Packet Tracer – Utiliser Ping et Traceroute pour tester la connectivité réseau</a:t>
            </a:r>
          </a:p>
        </p:txBody>
      </p:sp>
      <p:sp>
        <p:nvSpPr>
          <p:cNvPr id="5" name="Rectangle 6">
            <a:extLst>
              <a:ext uri="{FF2B5EF4-FFF2-40B4-BE49-F238E27FC236}">
                <a16:creationId xmlns:a16="http://schemas.microsoft.com/office/drawing/2014/main" id="{90913010-55BD-654E-8C45-7CAB421D7CC5}"/>
              </a:ext>
            </a:extLst>
          </p:cNvPr>
          <p:cNvSpPr>
            <a:spLocks noGrp="1" noChangeArrowheads="1"/>
          </p:cNvSpPr>
          <p:nvPr>
            <p:ph idx="1"/>
          </p:nvPr>
        </p:nvSpPr>
        <p:spPr>
          <a:xfrm>
            <a:off x="179882" y="1130156"/>
            <a:ext cx="8649325" cy="3426853"/>
          </a:xfrm>
        </p:spPr>
        <p:txBody>
          <a:bodyPr/>
          <a:lstStyle/>
          <a:p>
            <a:pPr marL="0" indent="0" rtl="0">
              <a:buNone/>
            </a:pPr>
            <a:r>
              <a:rPr lang="fr-FR" sz="1800"/>
              <a:t>Dans le cadre de ce Packet Tracer, vous ferez ce qui suit :</a:t>
            </a:r>
          </a:p>
          <a:p>
            <a:pPr rtl="0">
              <a:buFont typeface="Arial" panose="020B0604020202020204" pitchFamily="34" charset="0"/>
              <a:buChar char="•"/>
            </a:pPr>
            <a:r>
              <a:rPr lang="fr-FR" sz="1800"/>
              <a:t>Tester et restaurer la connectivité IPv4</a:t>
            </a:r>
          </a:p>
          <a:p>
            <a:pPr rtl="0">
              <a:buFont typeface="Arial" panose="020B0604020202020204" pitchFamily="34" charset="0"/>
              <a:buChar char="•"/>
            </a:pPr>
            <a:r>
              <a:rPr lang="fr-FR" sz="1800"/>
              <a:t>Tester et restaurer la connectivité IPv6</a:t>
            </a:r>
          </a:p>
          <a:p>
            <a:pPr marL="0" indent="0">
              <a:buNone/>
            </a:pPr>
            <a:endParaRPr lang="en-US" altLang="ja-JP" dirty="0"/>
          </a:p>
        </p:txBody>
      </p:sp>
    </p:spTree>
    <p:custDataLst>
      <p:tags r:id="rId1"/>
    </p:custDataLst>
    <p:extLst>
      <p:ext uri="{BB962C8B-B14F-4D97-AF65-F5344CB8AC3E}">
        <p14:creationId xmlns:p14="http://schemas.microsoft.com/office/powerpoint/2010/main" val="3849322436"/>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fr-FR">
                <a:solidFill>
                  <a:schemeClr val="accent5">
                    <a:lumMod val="40000"/>
                    <a:lumOff val="60000"/>
                  </a:schemeClr>
                </a:solidFill>
              </a:rPr>
              <a:t>13.3 Module pratique et questionnaire</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0"/>
            <a:ext cx="9144000" cy="1119882"/>
          </a:xfrm>
        </p:spPr>
        <p:txBody>
          <a:bodyPr/>
          <a:lstStyle/>
          <a:p>
            <a:pPr rtl="0"/>
            <a:r>
              <a:rPr lang="fr-FR" sz="1600"/>
              <a:t>Module Practice et Questionnaire</a:t>
            </a:r>
            <a:br>
              <a:rPr lang="en-US" altLang="en-US" sz="1600" dirty="0"/>
            </a:br>
            <a:r>
              <a:rPr lang="fr-FR"/>
              <a:t>Packet Tracer — Utiliser ICMP pour tester et corriger la connectivité réseau</a:t>
            </a:r>
          </a:p>
        </p:txBody>
      </p:sp>
      <p:sp>
        <p:nvSpPr>
          <p:cNvPr id="5" name="Rectangle 6">
            <a:extLst>
              <a:ext uri="{FF2B5EF4-FFF2-40B4-BE49-F238E27FC236}">
                <a16:creationId xmlns:a16="http://schemas.microsoft.com/office/drawing/2014/main" id="{90913010-55BD-654E-8C45-7CAB421D7CC5}"/>
              </a:ext>
            </a:extLst>
          </p:cNvPr>
          <p:cNvSpPr>
            <a:spLocks noGrp="1" noChangeArrowheads="1"/>
          </p:cNvSpPr>
          <p:nvPr>
            <p:ph idx="1"/>
          </p:nvPr>
        </p:nvSpPr>
        <p:spPr>
          <a:xfrm>
            <a:off x="179882" y="1119882"/>
            <a:ext cx="8649325" cy="3437127"/>
          </a:xfrm>
        </p:spPr>
        <p:txBody>
          <a:bodyPr/>
          <a:lstStyle/>
          <a:p>
            <a:pPr marL="0" indent="0" rtl="0">
              <a:buNone/>
            </a:pPr>
            <a:r>
              <a:rPr lang="fr-FR" sz="1800"/>
              <a:t>Dans le cadre de ce Packet Tracer, vous ferez ce qui suit :</a:t>
            </a:r>
          </a:p>
          <a:p>
            <a:pPr rtl="0">
              <a:buFont typeface="Arial" panose="020B0604020202020204" pitchFamily="34" charset="0"/>
              <a:buChar char="•"/>
            </a:pPr>
            <a:r>
              <a:rPr lang="fr-FR" sz="1800"/>
              <a:t>Utilisez ICMP pour localiser les problèmes de connectivité.</a:t>
            </a:r>
          </a:p>
          <a:p>
            <a:pPr rtl="0">
              <a:buFont typeface="Arial" panose="020B0604020202020204" pitchFamily="34" charset="0"/>
              <a:buChar char="•"/>
            </a:pPr>
            <a:r>
              <a:rPr lang="fr-FR" sz="1800"/>
              <a:t>Configurez les périphériques réseau pour corriger les problèmes de connectivité</a:t>
            </a:r>
            <a:r>
              <a:rPr lang="fr-FR"/>
              <a:t>.</a:t>
            </a:r>
          </a:p>
          <a:p>
            <a:endParaRPr lang="en-US" altLang="ja-JP" dirty="0"/>
          </a:p>
        </p:txBody>
      </p:sp>
    </p:spTree>
    <p:custDataLst>
      <p:tags r:id="rId1"/>
    </p:custDataLst>
    <p:extLst>
      <p:ext uri="{BB962C8B-B14F-4D97-AF65-F5344CB8AC3E}">
        <p14:creationId xmlns:p14="http://schemas.microsoft.com/office/powerpoint/2010/main" val="4195970949"/>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0"/>
            <a:ext cx="9144000" cy="810519"/>
          </a:xfrm>
        </p:spPr>
        <p:txBody>
          <a:bodyPr/>
          <a:lstStyle/>
          <a:p>
            <a:pPr rtl="0"/>
            <a:r>
              <a:rPr lang="fr-FR" sz="1600"/>
              <a:t>Module Pratique et Quiz</a:t>
            </a:r>
            <a:br>
              <a:rPr lang="en-US" altLang="en-US" dirty="0"/>
            </a:br>
            <a:r>
              <a:rPr lang="fr-FR"/>
              <a:t>Travail Pratique — Utiliser Ping et Traceroute pour tester la connectivité réseau</a:t>
            </a:r>
          </a:p>
        </p:txBody>
      </p:sp>
      <p:sp>
        <p:nvSpPr>
          <p:cNvPr id="5" name="Rectangle 6">
            <a:extLst>
              <a:ext uri="{FF2B5EF4-FFF2-40B4-BE49-F238E27FC236}">
                <a16:creationId xmlns:a16="http://schemas.microsoft.com/office/drawing/2014/main" id="{90913010-55BD-654E-8C45-7CAB421D7CC5}"/>
              </a:ext>
            </a:extLst>
          </p:cNvPr>
          <p:cNvSpPr>
            <a:spLocks noGrp="1" noChangeArrowheads="1"/>
          </p:cNvSpPr>
          <p:nvPr>
            <p:ph idx="1"/>
          </p:nvPr>
        </p:nvSpPr>
        <p:spPr>
          <a:xfrm>
            <a:off x="179882" y="1034322"/>
            <a:ext cx="8649325" cy="3522688"/>
          </a:xfrm>
        </p:spPr>
        <p:txBody>
          <a:bodyPr/>
          <a:lstStyle/>
          <a:p>
            <a:pPr marL="0" indent="0" rtl="0">
              <a:buNone/>
            </a:pPr>
            <a:r>
              <a:rPr lang="fr-FR" sz="1800"/>
              <a:t>Au cours de ce TP, vous aborderez les points suivants: </a:t>
            </a:r>
          </a:p>
          <a:p>
            <a:pPr rtl="0">
              <a:buFont typeface="Arial" panose="020B0604020202020204" pitchFamily="34" charset="0"/>
              <a:buChar char="•"/>
            </a:pPr>
            <a:r>
              <a:rPr lang="fr-FR" sz="1800"/>
              <a:t>Construire et configurer le réseau </a:t>
            </a:r>
          </a:p>
          <a:p>
            <a:pPr rtl="0">
              <a:buFont typeface="Arial" panose="020B0604020202020204" pitchFamily="34" charset="0"/>
              <a:buChar char="•"/>
            </a:pPr>
            <a:r>
              <a:rPr lang="fr-FR" sz="1800"/>
              <a:t>Utiliser la commande ping pour tester sommairement le réseau </a:t>
            </a:r>
          </a:p>
          <a:p>
            <a:pPr rtl="0">
              <a:buFont typeface="Arial" panose="020B0604020202020204" pitchFamily="34" charset="0"/>
              <a:buChar char="•"/>
            </a:pPr>
            <a:r>
              <a:rPr lang="fr-FR" sz="1800"/>
              <a:t>Utiliser les commandes Tracert et Traceroute pour les tests de base du réseau</a:t>
            </a:r>
          </a:p>
          <a:p>
            <a:pPr rtl="0">
              <a:buFont typeface="Arial" panose="020B0604020202020204" pitchFamily="34" charset="0"/>
              <a:buChar char="•"/>
            </a:pPr>
            <a:r>
              <a:rPr lang="fr-FR" sz="1800"/>
              <a:t>Résoudre les problèmes de topologie</a:t>
            </a:r>
          </a:p>
        </p:txBody>
      </p:sp>
    </p:spTree>
    <p:custDataLst>
      <p:tags r:id="rId1"/>
    </p:custDataLst>
    <p:extLst>
      <p:ext uri="{BB962C8B-B14F-4D97-AF65-F5344CB8AC3E}">
        <p14:creationId xmlns:p14="http://schemas.microsoft.com/office/powerpoint/2010/main" val="866380527"/>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fr-FR" sz="1600">
                <a:latin typeface="Arial" charset="0"/>
              </a:rPr>
              <a:t>Module Pratique et Questionnaire</a:t>
            </a:r>
            <a:br>
              <a:rPr lang="en-US" dirty="0">
                <a:latin typeface="Arial" charset="0"/>
              </a:rPr>
            </a:br>
            <a:r>
              <a:rPr lang="fr-FR">
                <a:latin typeface="Arial" charset="0"/>
              </a:rPr>
              <a:t>Qu'est-ce que j'ai appris dans ce module?</a:t>
            </a:r>
          </a:p>
        </p:txBody>
      </p:sp>
      <p:sp>
        <p:nvSpPr>
          <p:cNvPr id="4" name="Content Placeholder 3"/>
          <p:cNvSpPr>
            <a:spLocks noGrp="1"/>
          </p:cNvSpPr>
          <p:nvPr>
            <p:ph idx="1"/>
          </p:nvPr>
        </p:nvSpPr>
        <p:spPr>
          <a:xfrm>
            <a:off x="145357" y="798944"/>
            <a:ext cx="8641196" cy="3539376"/>
          </a:xfrm>
        </p:spPr>
        <p:txBody>
          <a:bodyPr/>
          <a:lstStyle/>
          <a:p>
            <a:pPr rtl="0">
              <a:lnSpc>
                <a:spcPct val="85000"/>
              </a:lnSpc>
              <a:spcBef>
                <a:spcPct val="30000"/>
              </a:spcBef>
              <a:buFont typeface="Arial" panose="020B0604020202020204" pitchFamily="34" charset="0"/>
              <a:buChar char="•"/>
            </a:pPr>
            <a:r>
              <a:rPr lang="fr-FR" sz="1600"/>
              <a:t>L'objectif des messages ICMP est de fournir un retour d'information sur les questions liées au traitement des paquets IP sous certaines conditions.</a:t>
            </a:r>
          </a:p>
          <a:p>
            <a:pPr rtl="0">
              <a:lnSpc>
                <a:spcPct val="85000"/>
              </a:lnSpc>
              <a:spcBef>
                <a:spcPct val="30000"/>
              </a:spcBef>
              <a:buFont typeface="Arial" panose="020B0604020202020204" pitchFamily="34" charset="0"/>
              <a:buChar char="•"/>
            </a:pPr>
            <a:r>
              <a:rPr lang="fr-FR" sz="1600"/>
              <a:t>Les messages ICMP communs à ICMPv4 et ICMPv6 sont les suivants: accessibilité de l'hôte, destination ou service inaccessible et délai dépassée. </a:t>
            </a:r>
          </a:p>
          <a:p>
            <a:pPr rtl="0">
              <a:lnSpc>
                <a:spcPct val="85000"/>
              </a:lnSpc>
              <a:spcBef>
                <a:spcPct val="30000"/>
              </a:spcBef>
              <a:buFont typeface="Arial" panose="020B0604020202020204" pitchFamily="34" charset="0"/>
              <a:buChar char="•"/>
            </a:pPr>
            <a:r>
              <a:rPr lang="fr-FR" sz="1600"/>
              <a:t>Les messages entre un routeur IPv6 et un périphérique IPv6, y compris l'allocation d'adresses dynamique, incluent RS et RA. Les messages entre les périphériques IPv6 incluent la redirection (similaire à IPv4), NS et NA.</a:t>
            </a:r>
          </a:p>
          <a:p>
            <a:pPr rtl="0">
              <a:lnSpc>
                <a:spcPct val="85000"/>
              </a:lnSpc>
              <a:spcBef>
                <a:spcPct val="30000"/>
              </a:spcBef>
              <a:buFont typeface="Arial" panose="020B0604020202020204" pitchFamily="34" charset="0"/>
              <a:buChar char="•"/>
            </a:pPr>
            <a:r>
              <a:rPr lang="fr-FR" sz="1600"/>
              <a:t>Ping (utilisé par IPv4 et IPv6) utilise les messages ICMP de demande d'écho et de réponse d'écho pour tester la connectivité entre les hôtes</a:t>
            </a:r>
          </a:p>
          <a:p>
            <a:pPr rtl="0">
              <a:lnSpc>
                <a:spcPct val="85000"/>
              </a:lnSpc>
              <a:spcBef>
                <a:spcPct val="30000"/>
              </a:spcBef>
              <a:buFont typeface="Arial" panose="020B0604020202020204" pitchFamily="34" charset="0"/>
              <a:buChar char="•"/>
            </a:pPr>
            <a:r>
              <a:rPr lang="fr-FR" sz="1600"/>
              <a:t>Ping peut être utilisé pour tester la configuration interne d'IPv4 ou IPv6 sur l'hôte local. </a:t>
            </a:r>
          </a:p>
          <a:p>
            <a:pPr rtl="0">
              <a:lnSpc>
                <a:spcPct val="85000"/>
              </a:lnSpc>
              <a:spcBef>
                <a:spcPct val="30000"/>
              </a:spcBef>
              <a:buFont typeface="Arial" panose="020B0604020202020204" pitchFamily="34" charset="0"/>
              <a:buChar char="•"/>
            </a:pPr>
            <a:r>
              <a:rPr lang="fr-FR" sz="1600"/>
              <a:t>Traceroute (tracert) génère une liste des sauts qui ont été atteintes avec succès le long du chemin.</a:t>
            </a:r>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rtl="0" eaLnBrk="1" hangingPunct="1"/>
            <a:r>
              <a:rPr lang="fr-FR" sz="1600">
                <a:latin typeface="Arial" charset="0"/>
              </a:rPr>
              <a:t>Module 13 : ICMP</a:t>
            </a:r>
            <a:br>
              <a:rPr lang="en-US" dirty="0">
                <a:latin typeface="Arial" charset="0"/>
              </a:rPr>
            </a:br>
            <a:r>
              <a:rPr lang="fr-FR">
                <a:latin typeface="Arial" charset="0"/>
              </a:rPr>
              <a:t>New Terms and Commands</a:t>
            </a:r>
          </a:p>
        </p:txBody>
      </p:sp>
      <p:sp>
        <p:nvSpPr>
          <p:cNvPr id="6" name="Content Placeholder 5">
            <a:extLst>
              <a:ext uri="{FF2B5EF4-FFF2-40B4-BE49-F238E27FC236}">
                <a16:creationId xmlns:a16="http://schemas.microsoft.com/office/drawing/2014/main" id="{CE0CCACF-BEF7-4889-8E50-CB443D959720}"/>
              </a:ext>
            </a:extLst>
          </p:cNvPr>
          <p:cNvSpPr>
            <a:spLocks noGrp="1"/>
          </p:cNvSpPr>
          <p:nvPr>
            <p:ph idx="1"/>
          </p:nvPr>
        </p:nvSpPr>
        <p:spPr/>
        <p:txBody>
          <a:bodyPr/>
          <a:lstStyle/>
          <a:p>
            <a:pPr marL="173038" indent="-173038" rtl="0">
              <a:spcBef>
                <a:spcPts val="200"/>
              </a:spcBef>
              <a:spcAft>
                <a:spcPts val="200"/>
              </a:spcAft>
              <a:buFont typeface="Arial" panose="020B0604020202020204" pitchFamily="34" charset="0"/>
              <a:buChar char="•"/>
            </a:pPr>
            <a:r>
              <a:rPr lang="fr-FR">
                <a:solidFill>
                  <a:schemeClr val="tx1"/>
                </a:solidFill>
              </a:rPr>
              <a:t>ICMP</a:t>
            </a:r>
          </a:p>
          <a:p>
            <a:pPr marL="173038" indent="-173038" rtl="0">
              <a:spcBef>
                <a:spcPts val="200"/>
              </a:spcBef>
              <a:spcAft>
                <a:spcPts val="200"/>
              </a:spcAft>
              <a:buFont typeface="Arial" panose="020B0604020202020204" pitchFamily="34" charset="0"/>
              <a:buChar char="•"/>
            </a:pPr>
            <a:r>
              <a:rPr lang="fr-FR">
                <a:solidFill>
                  <a:schemeClr val="tx1"/>
                </a:solidFill>
              </a:rPr>
              <a:t>ICMPv4</a:t>
            </a:r>
          </a:p>
          <a:p>
            <a:pPr marL="173038" indent="-173038" rtl="0">
              <a:spcBef>
                <a:spcPts val="200"/>
              </a:spcBef>
              <a:spcAft>
                <a:spcPts val="200"/>
              </a:spcAft>
              <a:buFont typeface="Arial" panose="020B0604020202020204" pitchFamily="34" charset="0"/>
              <a:buChar char="•"/>
            </a:pPr>
            <a:r>
              <a:rPr lang="fr-FR">
                <a:solidFill>
                  <a:schemeClr val="tx1"/>
                </a:solidFill>
              </a:rPr>
              <a:t>ICMPv6</a:t>
            </a:r>
          </a:p>
          <a:p>
            <a:pPr marL="173038" indent="-173038" rtl="0">
              <a:spcBef>
                <a:spcPts val="200"/>
              </a:spcBef>
              <a:spcAft>
                <a:spcPts val="200"/>
              </a:spcAft>
              <a:buFont typeface="Arial" panose="020B0604020202020204" pitchFamily="34" charset="0"/>
              <a:buChar char="•"/>
            </a:pPr>
            <a:r>
              <a:rPr lang="fr-FR">
                <a:solidFill>
                  <a:schemeClr val="tx1"/>
                </a:solidFill>
              </a:rPr>
              <a:t>ping</a:t>
            </a:r>
          </a:p>
          <a:p>
            <a:pPr marL="173038" indent="-173038" rtl="0">
              <a:spcBef>
                <a:spcPts val="200"/>
              </a:spcBef>
              <a:spcAft>
                <a:spcPts val="200"/>
              </a:spcAft>
              <a:buFont typeface="Arial" panose="020B0604020202020204" pitchFamily="34" charset="0"/>
              <a:buChar char="•"/>
            </a:pPr>
            <a:r>
              <a:rPr lang="fr-FR">
                <a:solidFill>
                  <a:schemeClr val="tx1"/>
                </a:solidFill>
              </a:rPr>
              <a:t>traceroute</a:t>
            </a:r>
          </a:p>
          <a:p>
            <a:pPr marL="173038" indent="-173038" rtl="0">
              <a:spcBef>
                <a:spcPts val="200"/>
              </a:spcBef>
              <a:spcAft>
                <a:spcPts val="200"/>
              </a:spcAft>
              <a:buFont typeface="Arial" panose="020B0604020202020204" pitchFamily="34" charset="0"/>
              <a:buChar char="•"/>
            </a:pPr>
            <a:r>
              <a:rPr lang="fr-FR">
                <a:solidFill>
                  <a:schemeClr val="tx1"/>
                </a:solidFill>
              </a:rPr>
              <a:t>tracert</a:t>
            </a:r>
          </a:p>
          <a:p>
            <a:pPr marL="173038" indent="-173038" rtl="0">
              <a:spcBef>
                <a:spcPts val="200"/>
              </a:spcBef>
              <a:spcAft>
                <a:spcPts val="200"/>
              </a:spcAft>
              <a:buFont typeface="Arial" panose="020B0604020202020204" pitchFamily="34" charset="0"/>
              <a:buChar char="•"/>
            </a:pPr>
            <a:r>
              <a:rPr lang="fr-FR">
                <a:solidFill>
                  <a:schemeClr val="tx1"/>
                </a:solidFill>
              </a:rPr>
              <a:t>Network Discovery Protocol</a:t>
            </a:r>
          </a:p>
          <a:p>
            <a:pPr marL="173038" indent="-173038" rtl="0">
              <a:spcBef>
                <a:spcPts val="200"/>
              </a:spcBef>
              <a:spcAft>
                <a:spcPts val="200"/>
              </a:spcAft>
              <a:buFont typeface="Arial" panose="020B0604020202020204" pitchFamily="34" charset="0"/>
              <a:buChar char="•"/>
            </a:pPr>
            <a:r>
              <a:rPr lang="fr-FR">
                <a:solidFill>
                  <a:schemeClr val="tx1"/>
                </a:solidFill>
              </a:rPr>
              <a:t>Router Solicitation (RS)</a:t>
            </a:r>
          </a:p>
          <a:p>
            <a:pPr marL="173038" indent="-173038" rtl="0">
              <a:spcBef>
                <a:spcPts val="200"/>
              </a:spcBef>
              <a:spcAft>
                <a:spcPts val="200"/>
              </a:spcAft>
              <a:buFont typeface="Arial" panose="020B0604020202020204" pitchFamily="34" charset="0"/>
              <a:buChar char="•"/>
            </a:pPr>
            <a:r>
              <a:rPr lang="fr-FR">
                <a:solidFill>
                  <a:schemeClr val="tx1"/>
                </a:solidFill>
              </a:rPr>
              <a:t>Router Advertisement (RA)</a:t>
            </a:r>
          </a:p>
          <a:p>
            <a:pPr marL="173038" indent="-173038" rtl="0">
              <a:spcBef>
                <a:spcPts val="200"/>
              </a:spcBef>
              <a:spcAft>
                <a:spcPts val="200"/>
              </a:spcAft>
              <a:buFont typeface="Arial" panose="020B0604020202020204" pitchFamily="34" charset="0"/>
              <a:buChar char="•"/>
            </a:pPr>
            <a:r>
              <a:rPr lang="fr-FR">
                <a:solidFill>
                  <a:schemeClr val="tx1"/>
                </a:solidFill>
              </a:rPr>
              <a:t>Neighbor Solicitation (NS)</a:t>
            </a:r>
          </a:p>
          <a:p>
            <a:pPr marL="173038" indent="-173038" rtl="0">
              <a:spcBef>
                <a:spcPts val="200"/>
              </a:spcBef>
              <a:spcAft>
                <a:spcPts val="200"/>
              </a:spcAft>
              <a:buFont typeface="Arial" panose="020B0604020202020204" pitchFamily="34" charset="0"/>
              <a:buChar char="•"/>
            </a:pPr>
            <a:r>
              <a:rPr lang="fr-FR">
                <a:solidFill>
                  <a:schemeClr val="tx1"/>
                </a:solidFill>
              </a:rPr>
              <a:t>Neighbor Advertisement (NA)</a:t>
            </a:r>
          </a:p>
          <a:p>
            <a:pPr marL="173038" indent="-173038" rtl="0">
              <a:spcBef>
                <a:spcPts val="200"/>
              </a:spcBef>
              <a:spcAft>
                <a:spcPts val="200"/>
              </a:spcAft>
              <a:buFont typeface="Arial" panose="020B0604020202020204" pitchFamily="34" charset="0"/>
              <a:buChar char="•"/>
            </a:pPr>
            <a:r>
              <a:rPr lang="fr-FR">
                <a:solidFill>
                  <a:schemeClr val="tx1"/>
                </a:solidFill>
              </a:rPr>
              <a:t>TTL</a:t>
            </a:r>
          </a:p>
          <a:p>
            <a:pPr marL="0" indent="0">
              <a:buNone/>
            </a:pPr>
            <a:endParaRPr lang="en-US" dirty="0"/>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9947</TotalTime>
  <Words>3171</Words>
  <Application>Microsoft Office PowerPoint</Application>
  <PresentationFormat>On-screen Show (16:9)</PresentationFormat>
  <Paragraphs>363</Paragraphs>
  <Slides>35</Slides>
  <Notes>33</Notes>
  <HiddenSlides>8</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CiscoSans ExtraLight</vt:lpstr>
      <vt:lpstr>Wingdings</vt:lpstr>
      <vt:lpstr>Default Theme</vt:lpstr>
      <vt:lpstr>Module 13: ICMP</vt:lpstr>
      <vt:lpstr>Instructor Materials – Module 13 Planning Guide</vt:lpstr>
      <vt:lpstr>What to Expect in this Module</vt:lpstr>
      <vt:lpstr>What to Expect in this Module (Cont.)</vt:lpstr>
      <vt:lpstr>Check Your Understanding</vt:lpstr>
      <vt:lpstr>Module 13: Activities</vt:lpstr>
      <vt:lpstr>Module 13: Best Practices</vt:lpstr>
      <vt:lpstr>Module 13: Best Practices (Cont.) </vt:lpstr>
      <vt:lpstr>Module 13: ICMP </vt:lpstr>
      <vt:lpstr>Objectifs du Module</vt:lpstr>
      <vt:lpstr>13.1 Messages ICMP</vt:lpstr>
      <vt:lpstr>Messages ICMP Messages ICMPv4 et ICMPv6</vt:lpstr>
      <vt:lpstr>Messages ICMP Accessibilité de l'hôte</vt:lpstr>
      <vt:lpstr>Messages ICMP Destination ou service inaccessible</vt:lpstr>
      <vt:lpstr>Messages ICMP  Délai Dépassé</vt:lpstr>
      <vt:lpstr>Messages ICMP Messages ICMPv6</vt:lpstr>
      <vt:lpstr>Messages ICMP Messages ICMPv6 (suite)</vt:lpstr>
      <vt:lpstr>Messages ICMP Messages ICMPv6 (suite)</vt:lpstr>
      <vt:lpstr>Messages ICMP Messages ICMPv6 (suite)</vt:lpstr>
      <vt:lpstr>Messages ICMP Messages ICMPv6 (suite)</vt:lpstr>
      <vt:lpstr>13.2 Tests à l'aide des commandes ping et traceroute</vt:lpstr>
      <vt:lpstr>Tests Ping et Traceroute Ping - Tester la connectivité</vt:lpstr>
      <vt:lpstr>Tests Ping et Traceroute Ping le Loopback</vt:lpstr>
      <vt:lpstr>Tests Ping et Traceroute Ping la passerelle par défaut</vt:lpstr>
      <vt:lpstr>Tests Ping et Traceroute Ping un hôte distant</vt:lpstr>
      <vt:lpstr>Tests Ping et Traceroute Traceroute – Tester le chemin</vt:lpstr>
      <vt:lpstr>Tests Ping et Traceroute Traceroute – Tester le chemin (suite)</vt:lpstr>
      <vt:lpstr>Tests Ping et Traceroute Packet Tracer –Vérifier l'adressage IPv4 et IPv6</vt:lpstr>
      <vt:lpstr>Tests Ping et Traceroute Packet Tracer – Utiliser Ping et Traceroute pour tester la connectivité réseau</vt:lpstr>
      <vt:lpstr>13.3 Module pratique et questionnaire</vt:lpstr>
      <vt:lpstr>Module Practice et Questionnaire Packet Tracer — Utiliser ICMP pour tester et corriger la connectivité réseau</vt:lpstr>
      <vt:lpstr>Module Pratique et Quiz Travail Pratique — Utiliser Ping et Traceroute pour tester la connectivité réseau</vt:lpstr>
      <vt:lpstr>Module Pratique et Questionnaire Qu'est-ce que j'ai appris dans ce module?</vt:lpstr>
      <vt:lpstr>Module 13 : ICMP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AMR AL-ENGBΛWY</cp:lastModifiedBy>
  <cp:revision>282</cp:revision>
  <dcterms:created xsi:type="dcterms:W3CDTF">2019-10-18T06:21:22Z</dcterms:created>
  <dcterms:modified xsi:type="dcterms:W3CDTF">2020-06-07T10:30:48Z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